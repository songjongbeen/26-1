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7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8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notesMasterIdLst>
    <p:notesMasterId r:id="rId35"/>
  </p:notesMasterIdLst>
  <p:sldIdLst>
    <p:sldId id="288" r:id="rId2"/>
    <p:sldId id="257" r:id="rId3"/>
    <p:sldId id="353" r:id="rId4"/>
    <p:sldId id="354" r:id="rId5"/>
    <p:sldId id="355" r:id="rId6"/>
    <p:sldId id="356" r:id="rId7"/>
    <p:sldId id="357" r:id="rId8"/>
    <p:sldId id="348" r:id="rId9"/>
    <p:sldId id="349" r:id="rId10"/>
    <p:sldId id="350" r:id="rId11"/>
    <p:sldId id="351" r:id="rId12"/>
    <p:sldId id="352" r:id="rId13"/>
    <p:sldId id="360" r:id="rId14"/>
    <p:sldId id="361" r:id="rId15"/>
    <p:sldId id="362" r:id="rId16"/>
    <p:sldId id="363" r:id="rId17"/>
    <p:sldId id="364" r:id="rId18"/>
    <p:sldId id="365" r:id="rId19"/>
    <p:sldId id="366" r:id="rId20"/>
    <p:sldId id="367" r:id="rId21"/>
    <p:sldId id="368" r:id="rId22"/>
    <p:sldId id="370" r:id="rId23"/>
    <p:sldId id="372" r:id="rId24"/>
    <p:sldId id="371" r:id="rId25"/>
    <p:sldId id="373" r:id="rId26"/>
    <p:sldId id="374" r:id="rId27"/>
    <p:sldId id="375" r:id="rId28"/>
    <p:sldId id="376" r:id="rId29"/>
    <p:sldId id="377" r:id="rId30"/>
    <p:sldId id="358" r:id="rId31"/>
    <p:sldId id="359" r:id="rId32"/>
    <p:sldId id="378" r:id="rId33"/>
    <p:sldId id="265" r:id="rId3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E5ECE"/>
    <a:srgbClr val="E2E5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242" autoAdjust="0"/>
  </p:normalViewPr>
  <p:slideViewPr>
    <p:cSldViewPr snapToGrid="0">
      <p:cViewPr varScale="1">
        <p:scale>
          <a:sx n="104" d="100"/>
          <a:sy n="104" d="100"/>
        </p:scale>
        <p:origin x="14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 err="1"/>
              <a:t>회사수</a:t>
            </a:r>
            <a:r>
              <a:rPr lang="ko-KR" altLang="en-US" dirty="0"/>
              <a:t> 및 수익비중</a:t>
            </a:r>
            <a:r>
              <a:rPr lang="ko-KR" altLang="en-US" baseline="0" dirty="0"/>
              <a:t> 변화 그래프</a:t>
            </a:r>
            <a:endParaRPr lang="ko-KR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총회사수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  <a:effectLst/>
          </c:spPr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Sheet1!$B$2:$B$6</c:f>
              <c:numCache>
                <c:formatCode>#,##0</c:formatCode>
                <c:ptCount val="5"/>
                <c:pt idx="0">
                  <c:v>73</c:v>
                </c:pt>
                <c:pt idx="1">
                  <c:v>77</c:v>
                </c:pt>
                <c:pt idx="2">
                  <c:v>78</c:v>
                </c:pt>
                <c:pt idx="3">
                  <c:v>82</c:v>
                </c:pt>
                <c:pt idx="4">
                  <c:v>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53-4338-883D-8652010B0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55126943"/>
        <c:axId val="175511686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정책수익비중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Sheet1!$C$2:$C$6</c:f>
              <c:numCache>
                <c:formatCode>#,##0.00</c:formatCode>
                <c:ptCount val="5"/>
                <c:pt idx="0">
                  <c:v>0.64383561643835618</c:v>
                </c:pt>
                <c:pt idx="1">
                  <c:v>0.70129870129870131</c:v>
                </c:pt>
                <c:pt idx="2">
                  <c:v>0.73750000000000004</c:v>
                </c:pt>
                <c:pt idx="3">
                  <c:v>0.69512195121951215</c:v>
                </c:pt>
                <c:pt idx="4">
                  <c:v>0.58333333333333337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953-4338-883D-8652010B0B4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사업화수익비중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Sheet1!$D$2:$D$6</c:f>
              <c:numCache>
                <c:formatCode>#,##0.00</c:formatCode>
                <c:ptCount val="5"/>
                <c:pt idx="0">
                  <c:v>0.36986301369863012</c:v>
                </c:pt>
                <c:pt idx="1">
                  <c:v>0.48051948051948051</c:v>
                </c:pt>
                <c:pt idx="2">
                  <c:v>0.52500000000000002</c:v>
                </c:pt>
                <c:pt idx="3">
                  <c:v>0.56097560975609762</c:v>
                </c:pt>
                <c:pt idx="4">
                  <c:v>0.59523809523809523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953-4338-883D-8652010B0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55128383"/>
        <c:axId val="1755123103"/>
      </c:lineChart>
      <c:catAx>
        <c:axId val="17551269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55116863"/>
        <c:crosses val="autoZero"/>
        <c:auto val="1"/>
        <c:lblAlgn val="ctr"/>
        <c:lblOffset val="100"/>
        <c:noMultiLvlLbl val="0"/>
      </c:catAx>
      <c:valAx>
        <c:axId val="17551168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55126943"/>
        <c:crosses val="autoZero"/>
        <c:crossBetween val="between"/>
      </c:valAx>
      <c:valAx>
        <c:axId val="1755123103"/>
        <c:scaling>
          <c:orientation val="minMax"/>
        </c:scaling>
        <c:delete val="0"/>
        <c:axPos val="r"/>
        <c:numFmt formatCode="#,##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55128383"/>
        <c:crosses val="max"/>
        <c:crossBetween val="between"/>
      </c:valAx>
      <c:catAx>
        <c:axId val="175512838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755123103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 err="1"/>
              <a:t>회사수</a:t>
            </a:r>
            <a:r>
              <a:rPr lang="ko-KR" altLang="en-US" dirty="0"/>
              <a:t> 및 수익비중</a:t>
            </a:r>
            <a:r>
              <a:rPr lang="ko-KR" altLang="en-US" baseline="0" dirty="0"/>
              <a:t> 변화 그래프</a:t>
            </a:r>
            <a:endParaRPr lang="ko-KR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총회사수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  <a:effectLst/>
          </c:spPr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Sheet1!$B$2:$B$6</c:f>
              <c:numCache>
                <c:formatCode>#,##0</c:formatCode>
                <c:ptCount val="5"/>
                <c:pt idx="0">
                  <c:v>73</c:v>
                </c:pt>
                <c:pt idx="1">
                  <c:v>77</c:v>
                </c:pt>
                <c:pt idx="2">
                  <c:v>78</c:v>
                </c:pt>
                <c:pt idx="3">
                  <c:v>82</c:v>
                </c:pt>
                <c:pt idx="4">
                  <c:v>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53-4338-883D-8652010B0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55126943"/>
        <c:axId val="175511686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이중형비중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Sheet1!$C$2:$C$6</c:f>
              <c:numCache>
                <c:formatCode>#,##0.00</c:formatCode>
                <c:ptCount val="5"/>
                <c:pt idx="0">
                  <c:v>0.25</c:v>
                </c:pt>
                <c:pt idx="1">
                  <c:v>0.43</c:v>
                </c:pt>
                <c:pt idx="2">
                  <c:v>0.48</c:v>
                </c:pt>
                <c:pt idx="3">
                  <c:v>0.5</c:v>
                </c:pt>
                <c:pt idx="4">
                  <c:v>0.4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953-4338-883D-8652010B0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55128383"/>
        <c:axId val="1755123103"/>
      </c:lineChart>
      <c:catAx>
        <c:axId val="17551269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55116863"/>
        <c:crosses val="autoZero"/>
        <c:auto val="1"/>
        <c:lblAlgn val="ctr"/>
        <c:lblOffset val="100"/>
        <c:noMultiLvlLbl val="0"/>
      </c:catAx>
      <c:valAx>
        <c:axId val="17551168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55126943"/>
        <c:crosses val="autoZero"/>
        <c:crossBetween val="between"/>
      </c:valAx>
      <c:valAx>
        <c:axId val="1755123103"/>
        <c:scaling>
          <c:orientation val="minMax"/>
        </c:scaling>
        <c:delete val="0"/>
        <c:axPos val="r"/>
        <c:numFmt formatCode="#,##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55128383"/>
        <c:crosses val="max"/>
        <c:crossBetween val="between"/>
      </c:valAx>
      <c:catAx>
        <c:axId val="175512838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75512310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이중형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초기 (0~3년)</c:v>
                </c:pt>
                <c:pt idx="1">
                  <c:v>중기 (4~7년)</c:v>
                </c:pt>
                <c:pt idx="2">
                  <c:v>성숙기 (8년 이상)</c:v>
                </c:pt>
              </c:strCache>
            </c:strRef>
          </c:cat>
          <c:val>
            <c:numRef>
              <c:f>Sheet1!$B$2:$B$4</c:f>
              <c:numCache>
                <c:formatCode>#,##0.00</c:formatCode>
                <c:ptCount val="3"/>
                <c:pt idx="0">
                  <c:v>7.2289156626506021E-2</c:v>
                </c:pt>
                <c:pt idx="1">
                  <c:v>0.45833333333333331</c:v>
                </c:pt>
                <c:pt idx="2">
                  <c:v>0.54166666666666663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F0-4DB7-BE9F-585862CB894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사업형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초기 (0~3년)</c:v>
                </c:pt>
                <c:pt idx="1">
                  <c:v>중기 (4~7년)</c:v>
                </c:pt>
                <c:pt idx="2">
                  <c:v>성숙기 (8년 이상)</c:v>
                </c:pt>
              </c:strCache>
            </c:strRef>
          </c:cat>
          <c:val>
            <c:numRef>
              <c:f>Sheet1!$C$2:$C$4</c:f>
              <c:numCache>
                <c:formatCode>#,##0.00</c:formatCode>
                <c:ptCount val="3"/>
                <c:pt idx="0">
                  <c:v>0.108433734939759</c:v>
                </c:pt>
                <c:pt idx="1">
                  <c:v>9.7222222222222224E-2</c:v>
                </c:pt>
                <c:pt idx="2">
                  <c:v>8.9285714285714288E-2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F0-4DB7-BE9F-585862CB894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무수익형</c:v>
                </c:pt>
              </c:strCache>
            </c:strRef>
          </c:tx>
          <c:spPr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초기 (0~3년)</c:v>
                </c:pt>
                <c:pt idx="1">
                  <c:v>중기 (4~7년)</c:v>
                </c:pt>
                <c:pt idx="2">
                  <c:v>성숙기 (8년 이상)</c:v>
                </c:pt>
              </c:strCache>
            </c:strRef>
          </c:cat>
          <c:val>
            <c:numRef>
              <c:f>Sheet1!$D$2:$D$4</c:f>
              <c:numCache>
                <c:formatCode>#,##0.00</c:formatCode>
                <c:ptCount val="3"/>
                <c:pt idx="0">
                  <c:v>0.38554216867469882</c:v>
                </c:pt>
                <c:pt idx="1">
                  <c:v>0.20833333333333329</c:v>
                </c:pt>
                <c:pt idx="2">
                  <c:v>0.1785714285714286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9F0-4DB7-BE9F-585862CB894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정책형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초기 (0~3년)</c:v>
                </c:pt>
                <c:pt idx="1">
                  <c:v>중기 (4~7년)</c:v>
                </c:pt>
                <c:pt idx="2">
                  <c:v>성숙기 (8년 이상)</c:v>
                </c:pt>
              </c:strCache>
            </c:strRef>
          </c:cat>
          <c:val>
            <c:numRef>
              <c:f>Sheet1!$E$2:$E$4</c:f>
              <c:numCache>
                <c:formatCode>#,##0.00</c:formatCode>
                <c:ptCount val="3"/>
                <c:pt idx="0">
                  <c:v>0.43373493975903621</c:v>
                </c:pt>
                <c:pt idx="1">
                  <c:v>0.2361111111111111</c:v>
                </c:pt>
                <c:pt idx="2">
                  <c:v>0.19047619047619049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9F0-4DB7-BE9F-585862CB89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75990576"/>
        <c:axId val="1975986256"/>
      </c:barChart>
      <c:catAx>
        <c:axId val="1975990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75986256"/>
        <c:crosses val="autoZero"/>
        <c:auto val="1"/>
        <c:lblAlgn val="ctr"/>
        <c:lblOffset val="100"/>
        <c:noMultiLvlLbl val="0"/>
      </c:catAx>
      <c:valAx>
        <c:axId val="1975986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75990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이중형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공동형</c:v>
                </c:pt>
                <c:pt idx="1">
                  <c:v>단독형</c:v>
                </c:pt>
              </c:strCache>
            </c:strRef>
          </c:cat>
          <c:val>
            <c:numRef>
              <c:f>Sheet1!$B$2:$B$3</c:f>
              <c:numCache>
                <c:formatCode>#,##0.00</c:formatCode>
                <c:ptCount val="2"/>
                <c:pt idx="0">
                  <c:v>0.7</c:v>
                </c:pt>
                <c:pt idx="1">
                  <c:v>0.38202247191011229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F0-4DB7-BE9F-585862CB894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사업형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공동형</c:v>
                </c:pt>
                <c:pt idx="1">
                  <c:v>단독형</c:v>
                </c:pt>
              </c:strCache>
            </c:strRef>
          </c:cat>
          <c:val>
            <c:numRef>
              <c:f>Sheet1!$C$2:$C$3</c:f>
              <c:numCache>
                <c:formatCode>#,##0.00</c:formatCode>
                <c:ptCount val="2"/>
                <c:pt idx="0">
                  <c:v>2.5000000000000001E-2</c:v>
                </c:pt>
                <c:pt idx="1">
                  <c:v>0.1039325842696629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F0-4DB7-BE9F-585862CB894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무수익형</c:v>
                </c:pt>
              </c:strCache>
            </c:strRef>
          </c:tx>
          <c:spPr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공동형</c:v>
                </c:pt>
                <c:pt idx="1">
                  <c:v>단독형</c:v>
                </c:pt>
              </c:strCache>
            </c:strRef>
          </c:cat>
          <c:val>
            <c:numRef>
              <c:f>Sheet1!$D$2:$D$3</c:f>
              <c:numCache>
                <c:formatCode>#,##0.00</c:formatCode>
                <c:ptCount val="2"/>
                <c:pt idx="0">
                  <c:v>0.1</c:v>
                </c:pt>
                <c:pt idx="1">
                  <c:v>0.24719101123595499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9F0-4DB7-BE9F-585862CB894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정책형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공동형</c:v>
                </c:pt>
                <c:pt idx="1">
                  <c:v>단독형</c:v>
                </c:pt>
              </c:strCache>
            </c:strRef>
          </c:cat>
          <c:val>
            <c:numRef>
              <c:f>Sheet1!$E$2:$E$3</c:f>
              <c:numCache>
                <c:formatCode>#,##0.00</c:formatCode>
                <c:ptCount val="2"/>
                <c:pt idx="0">
                  <c:v>0.17499999999999999</c:v>
                </c:pt>
                <c:pt idx="1">
                  <c:v>0.26685393258426959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9F0-4DB7-BE9F-585862CB89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75990576"/>
        <c:axId val="1975986256"/>
      </c:barChart>
      <c:catAx>
        <c:axId val="1975990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75986256"/>
        <c:crosses val="autoZero"/>
        <c:auto val="1"/>
        <c:lblAlgn val="ctr"/>
        <c:lblOffset val="100"/>
        <c:noMultiLvlLbl val="0"/>
      </c:catAx>
      <c:valAx>
        <c:axId val="1975986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75990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정책수익비중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비수도권</c:v>
                </c:pt>
                <c:pt idx="1">
                  <c:v>수도권</c:v>
                </c:pt>
              </c:strCache>
            </c:strRef>
          </c:cat>
          <c:val>
            <c:numRef>
              <c:f>Sheet1!$B$2:$B$3</c:f>
              <c:numCache>
                <c:formatCode>#,##0.00</c:formatCode>
                <c:ptCount val="2"/>
                <c:pt idx="0">
                  <c:v>0.69327731092436973</c:v>
                </c:pt>
                <c:pt idx="1">
                  <c:v>0.63924050632911389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65-4D9B-B087-85FA9AC374B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사업화수익비중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비수도권</c:v>
                </c:pt>
                <c:pt idx="1">
                  <c:v>수도권</c:v>
                </c:pt>
              </c:strCache>
            </c:strRef>
          </c:cat>
          <c:val>
            <c:numRef>
              <c:f>Sheet1!$C$2:$C$3</c:f>
              <c:numCache>
                <c:formatCode>#,##0.00</c:formatCode>
                <c:ptCount val="2"/>
                <c:pt idx="0">
                  <c:v>0.50420168067226889</c:v>
                </c:pt>
                <c:pt idx="1">
                  <c:v>0.51898734177215189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765-4D9B-B087-85FA9AC374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76047696"/>
        <c:axId val="1976054896"/>
      </c:barChart>
      <c:catAx>
        <c:axId val="1976047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76054896"/>
        <c:crosses val="autoZero"/>
        <c:auto val="1"/>
        <c:lblAlgn val="ctr"/>
        <c:lblOffset val="100"/>
        <c:noMultiLvlLbl val="0"/>
      </c:catAx>
      <c:valAx>
        <c:axId val="1976054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76047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CB8D08-34DA-4F78-8F9A-57C08BEFE083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8D9D0D-256A-4334-8FBF-FD40B2DA7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1582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4400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B54E4-A373-96BD-EFDC-3223438C4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0CE58B-F42E-737A-4EDB-F898520431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7B96DB-162A-967A-606E-E7B1BA47D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2C25E1-BE6D-C691-6B3D-045A503069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08487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840CE-F255-3AA9-198B-20748745E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59C8D8-4D12-0E1C-8E8D-CDF8AD929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8B3B59-43BC-8F9C-0E17-3F882ED48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E55DA5-9242-A589-7806-DD20F42ED2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28095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2EF1A-E943-BB39-0F39-456945A3E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3673395-42E3-5E0A-5F6F-0932E09C7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451D41-B2F9-5DD2-68AF-08FFBD7E8D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25E918-3699-AA30-C0BC-F6E3782278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8638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F3880-0389-5E81-71DE-3753B6E56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A7112E-BCC9-6583-B62B-3E88C33742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0AEAB2-9F25-9A3A-4D65-102C80C2D8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7513C5-5064-D210-8741-7ED11AFD70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86032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46FE8-2068-5129-9EBD-98D84A933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98043A-8821-A560-0D8C-F55428EFBA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3701EEE-6E34-3058-B880-92A93A85BF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D627F8-3D44-96FE-563D-0C8474C7A9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58339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D8E1B-9EF4-321E-0A3F-500388402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3E9D83-ACDD-07AA-C8C1-531294748A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8630E0-69C2-8251-E072-9B10879798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8E9B79-02F0-4DD6-F5D6-BB9E865F0D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4919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2B9E6-123C-A172-6BF2-00DF0947A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3D7DDC8-3B20-1638-797A-2D7F99305F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540213-57A2-E893-F3B8-C1693C1A11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405982-8B8D-6C26-2057-77304C9CB9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8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12D84-858A-C0F5-4A1E-6B29D6D09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707134D-0241-1F4E-2696-4A6AFC594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8E9F92-DF40-1675-5278-E049A1B502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0FA9A4-F04B-7AE8-6ACF-7922ABD5B1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20814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578E6-8ADE-41CB-91A4-E0E3655C1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B25433-C60F-F4FE-6B50-C3F86BBE1D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7C5F94-F329-1964-DDD2-D4E910C9D8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AE75BA-CD2D-16C6-757E-6A243A090E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7131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D4BC7-B808-8461-85FE-433A4ACF2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BC7FEB-94CD-3FA0-249C-27778AC266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404468-06D3-643F-0865-E2B91F8031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30FC8B-9344-396F-1AC8-918CAF40FE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0527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16AC2-AF27-EF58-3403-ACDAE4775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A20A97-F55D-5708-612D-F2055CA425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3A9F77-E8F4-5776-DA37-986B10AAFD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1CAECD-4773-D5BE-BF8A-45A610B5AE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41340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B0DEF-A814-1CE5-96C7-D00E678CE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7A17C8-89E0-EACF-4F69-BEC0783D77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9430BB-A75E-6DAA-5957-CC7938B766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9015C6-C844-E576-E84F-380016B562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29473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39D6E-F3ED-B8FB-F6F2-5236EEC28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16E950-A762-59DE-F878-A7425B7325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D93C512-C78B-4D07-113E-86D2FA0AD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7F99CE-2731-0B86-BD04-3E892BD2EA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75182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734E5-B1E7-BCF9-4939-875973700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827817-DE7D-044A-417D-DF8EC9E74F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DC14C4-6DCF-7A76-0DF3-6A21C89A4E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FB3728-3F55-7723-A651-983AB3940C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72924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E633A-465C-58E0-93E3-3B4AEBDDC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F0E23DB-D3F6-CC30-B6E3-2E88B8D2B4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517421-3937-67A5-E4A0-E6A87039CF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22633C-F5EA-0926-ECB8-A9999CB494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95393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4823E-58F1-1269-D502-754EDD21B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C8F283B-59D8-09DC-6607-957A3E3376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51D800-16CA-E26B-8C84-846A6BC2CD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7299F2-4D98-6599-2617-A26EC96F67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56316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A3F75-11F4-F264-0EA9-902E17A0F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01972A-F33C-1CDD-DD08-E329C8F6AD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B7BCC3-9926-ECEC-65EF-1D1C7BE2EB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002F10-45B4-8709-4B5A-8344942A90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02655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A1AC3-C0FD-A3B8-D3F6-3C6292928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1AAB9D-72A2-B3A6-37EC-4D608DFFF8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3BEEA9-526E-A718-12B6-0D8343362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D19E65-E5C8-0FB1-4CE4-497C757A3E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24042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2626E-CC1A-86C0-A7AC-3BD7A694F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19F387-3A64-4304-9EC0-5308A6FBD4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0AB8AE-17F0-9101-4C51-A81EB1DD4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C7BD8A-F8B8-F605-76B3-C1D7B255F2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7382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58EAE-7132-6F29-81A9-89A471561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FEFFC2-9092-F491-47DC-E9ED521C6B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286CB6-88CA-67C8-91C6-AA964EF4D1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1D8B9E-6A63-C59A-F5D7-A558D1B6B8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50527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7FBF4-D84B-451D-2C44-D111F24FC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F9405A-9404-696A-B763-D6B34A2DF2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E7D52C-FF57-5416-1AB0-F06E7B1605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727BBC-C423-0B2B-08B8-716AF37980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47738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77CAF-41B9-310E-B178-1BD5DF791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A9DFB8A-F1F0-1DD4-A480-9C22CADC59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68ED28-3E06-FA2B-E4FE-1EBAE3341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32E85F-230A-B044-C0D8-1F4C02572C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68388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6744D-AC26-FAB9-1C44-488F8DAB2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E429D23-BEE8-D2E1-A6F5-4E854FB93F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C5C654-100B-8DD0-BD23-785045F61A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C701B7-F2E8-FAE2-DF1D-0F3263E85D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76382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95B08-C7D9-0437-79CC-1DE4EB56E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B66F85-BB08-D77B-5ABC-DA569374E0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76698D-B37A-6A08-2313-49346B874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135E1D-D0E0-1C4A-F714-82C0BAC789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38989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6EA82-72EA-081D-3413-E257FAAA3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83235C-C10F-D7BB-8211-8BAAD7ED7E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70A150-A896-72F7-8338-A803397BF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CF6699-7E75-091D-A79B-3762255CCB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46802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468DB-A4DB-F77D-5DE7-6900CFF34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4DE037-3343-0EE4-FA78-7057ECE3AB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8DACEFB-2D83-8A70-0D47-06D5542607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7B596C-9F94-D99B-0DB1-856AA7CD80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38840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74E92-70AF-D9A2-3337-656447558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E84F571-9F41-508C-1A6B-304CE9CDDE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2FCCAC-AF2A-3BA1-58FE-EA72F7631A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148EE8-B597-9980-FA2E-37C9B3C50D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8558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F6F1E-6F16-095F-6069-CCA275D51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CC4746D-75DD-18BD-5575-7ED771B30A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0D62D8-50AC-F443-2779-B2B4CF4CE0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128400-9923-1D3F-A6DB-0F73D62318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23789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ACC4F-D6D4-6910-040C-631A2A036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A17966-86FF-F0FB-56C9-65AA37571E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014984-C9FE-86E0-AB5A-58E0DFD394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9F2869-CC98-7971-60E9-1C12DE93B5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29398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C6FBA-72A0-A1BC-75CA-235455015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25791E-A0C1-8CE6-1175-DC6271D67E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BE2E75-C73F-2190-644B-BC93F78322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A10F0E-D7DE-44CA-6D1B-A125794506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2984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8E5E-745C-407D-B425-C78EBF08D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1" y="822960"/>
            <a:ext cx="6057899" cy="5015169"/>
          </a:xfrm>
        </p:spPr>
        <p:txBody>
          <a:bodyPr anchor="t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7A4D5-56F4-4287-B174-56C55B18F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9113" y="3003642"/>
            <a:ext cx="3522199" cy="2900274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4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B9C19-FEE0-4852-B181-14A0DD77F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27DDF-01B7-463C-82BC-BBF429618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2056A-C3EE-4809-B1F3-1CEEEA266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240FCEE-B6E2-46D0-9BB0-F45F79545E9D}"/>
              </a:ext>
            </a:extLst>
          </p:cNvPr>
          <p:cNvCxnSpPr>
            <a:cxnSpLocks/>
          </p:cNvCxnSpPr>
          <p:nvPr/>
        </p:nvCxnSpPr>
        <p:spPr>
          <a:xfrm flipH="1">
            <a:off x="571501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D2FB83-3783-4477-80B5-DA5BF10BAF57}"/>
              </a:ext>
            </a:extLst>
          </p:cNvPr>
          <p:cNvCxnSpPr>
            <a:cxnSpLocks/>
          </p:cNvCxnSpPr>
          <p:nvPr/>
        </p:nvCxnSpPr>
        <p:spPr>
          <a:xfrm>
            <a:off x="7742482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83EA203-71D5-49C0-9626-FFA8E46787B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835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2ED8-7F53-4C03-A740-493E50798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11087-99A9-4100-B5F7-520880DE3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2075688"/>
            <a:ext cx="11059811" cy="3910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B4B20-1A65-4A26-B11E-6095083A1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D52D3-E985-4FEB-89B9-57C754711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A751A-C72D-47C1-A7A6-E8510A40C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820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81F78-07BF-45A9-92D4-E4E0A1E88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914255"/>
            <a:ext cx="6867115" cy="5009471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C2A83-A380-4828-BC68-C065C8BC5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39817" y="914399"/>
            <a:ext cx="2370268" cy="2670273"/>
          </a:xfrm>
        </p:spPr>
        <p:txBody>
          <a:bodyPr anchor="t">
            <a:normAutofit/>
          </a:bodyPr>
          <a:lstStyle>
            <a:lvl1pPr marL="0" indent="0">
              <a:lnSpc>
                <a:spcPct val="130000"/>
              </a:lnSpc>
              <a:buNone/>
              <a:defRPr sz="14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92B2F-8804-4195-A779-F5C67C25C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99C26-4411-4833-A917-A45E62D5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8C7C7-F862-434D-A87A-DECE9FD2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0BAA4B-C4C0-40C1-8DC8-B4E2F8A68E12}"/>
              </a:ext>
            </a:extLst>
          </p:cNvPr>
          <p:cNvCxnSpPr>
            <a:cxnSpLocks/>
          </p:cNvCxnSpPr>
          <p:nvPr/>
        </p:nvCxnSpPr>
        <p:spPr>
          <a:xfrm>
            <a:off x="8872625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0A2259-2540-4B32-A999-2B46A6790E3D}"/>
              </a:ext>
            </a:extLst>
          </p:cNvPr>
          <p:cNvCxnSpPr>
            <a:cxnSpLocks/>
          </p:cNvCxnSpPr>
          <p:nvPr/>
        </p:nvCxnSpPr>
        <p:spPr>
          <a:xfrm flipH="1">
            <a:off x="566094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EFB0ED-3F76-4403-AD0B-E738DD9D8CB6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5255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6BD5F-CF53-4DD5-B8C5-27BBA2BB8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09684"/>
            <a:ext cx="11049000" cy="105716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6C2E1-5D5E-409F-BEE8-F48CE86F5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9447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BBF823-1BFB-4CF0-BAF4-D660C8F1A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7082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F816E-EE02-44A4-8B81-B324ECFD7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4D9E4-A693-44D2-A3E8-E3AABC905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4F669F-4B8E-415D-A9BF-AD451F452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20AF959-FCDC-4B92-9324-06A06C0D56F2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05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F85E5-82C4-4BAE-B2B0-A078ABD6C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469" y="699118"/>
            <a:ext cx="11025062" cy="1063601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D15C7-F445-40F7-88F6-FD6526269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3468" y="2022883"/>
            <a:ext cx="5230469" cy="564079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52C35-AA8E-4154-8A78-7DE9590E1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469" y="2866031"/>
            <a:ext cx="5157787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57EAC6-567C-4A4A-BB10-57EC14B97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41470" y="2022883"/>
            <a:ext cx="5183188" cy="564080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9A083F-AD60-4437-B32A-44035D78AF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41470" y="2866031"/>
            <a:ext cx="5183188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DBF86F-3266-4551-B680-06F401FFE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B38FE-80F9-4582-B2E1-B067C288D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7BEF32-F637-47A1-9ED3-AFC4F79F3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0C508D4-7C99-4B8D-BCDE-F0001BD345D9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9BF61B-7951-48F4-982B-9401A483FFBF}"/>
              </a:ext>
            </a:extLst>
          </p:cNvPr>
          <p:cNvCxnSpPr>
            <a:cxnSpLocks/>
          </p:cNvCxnSpPr>
          <p:nvPr/>
        </p:nvCxnSpPr>
        <p:spPr>
          <a:xfrm flipH="1">
            <a:off x="577485" y="273859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3369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A94CB-6BE5-4B9E-B0A6-54F83B20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17452"/>
            <a:ext cx="11049000" cy="116183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8643C-1A5D-4F23-B0D7-5B46F5E45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1A3394-78CC-43B0-9762-5E826F8B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47F0A-1980-4E13-AB22-AE3B8AA44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E9D858B-8A9C-4235-B151-81C99A3D20D2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C7798B-3ECB-4076-8955-A82116BB0D2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566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C61D85-3E72-406F-AB26-B4ED9491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9C831E-4321-467E-9090-C89C48CF2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A9556-B3D8-4403-835F-11AE2D40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008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0AA48-D521-423D-B185-6490EF57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201" y="810344"/>
            <a:ext cx="3478084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4E6DD-DDD2-4ED6-B8A9-A8B6D7656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9809" y="931232"/>
            <a:ext cx="6700679" cy="507936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08F5E-AD33-4ACF-84C9-78B0FF6BE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500" y="2578608"/>
            <a:ext cx="3478783" cy="34172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7604E-7DD4-4497-B325-74F899E8A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2BEED-A8F6-4256-9539-4434694A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A1AA6-EE0B-48FD-A7DE-6CEE6A8C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F35B32-9A23-4805-94A6-96826D202139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2BA7DA-3944-40D4-91CD-40CA24DBB79B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BEA0B78-39E7-4039-B8BE-4F425688C6DF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68B99C-0744-42EE-9713-AB0CEC3F5D8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0047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12732-5D39-4B30-A499-D51BABC88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802204"/>
            <a:ext cx="3478787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AF5AEC-77BC-4A52-8A56-C6479CA6A2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23467" y="847384"/>
            <a:ext cx="6907844" cy="52168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0A9240-8762-4C7D-AF22-A844CB2EC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498" y="2574906"/>
            <a:ext cx="3478787" cy="34357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95685-E45D-4E74-8B78-D3B8E85C4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FCBA3-0FF5-47C2-901A-645F6185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30381-5320-46AD-A0B9-7C04B3E5A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57A432-D933-402A-8657-216EE20450EE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B1E0F3-D71B-436F-A10B-B6EA7125F684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EE64F5-2B48-4A2E-BA5E-1D37F1A7C9A3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99BF9AA-A2C8-4233-B597-EB11C6D6A0E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7322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9A0A-70FC-426A-8B3B-60FAF9806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F47EC6-9753-4ABC-BB66-64CCC8BA0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71499" y="2036363"/>
            <a:ext cx="11059811" cy="38707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84D9F-DC99-4B4C-98CF-178BBBB76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A6840-AC0B-4260-8368-08E0A22D2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5DAB8-EC07-4CCF-96EA-5D8ACDAE6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38F1AC-9961-4786-A189-20863DD97F68}"/>
              </a:ext>
            </a:extLst>
          </p:cNvPr>
          <p:cNvCxnSpPr>
            <a:cxnSpLocks/>
          </p:cNvCxnSpPr>
          <p:nvPr/>
        </p:nvCxnSpPr>
        <p:spPr>
          <a:xfrm flipH="1">
            <a:off x="571500" y="1780979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9449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75F678-EC03-4845-A51B-C90FA6A154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77953" y="797251"/>
            <a:ext cx="2483929" cy="52837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A8B4D-A39F-4528-975A-9C84BEE77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6094" y="797251"/>
            <a:ext cx="8101072" cy="52837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E4A23-6984-4AD1-A51D-600EDC263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73E28-C341-49CC-BAAB-0C0D1982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6D54A-8E86-4026-8DD0-5B0979BB8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B05DA4-DF32-4D7A-9E4D-36309C90C5BB}"/>
              </a:ext>
            </a:extLst>
          </p:cNvPr>
          <p:cNvCxnSpPr>
            <a:cxnSpLocks/>
          </p:cNvCxnSpPr>
          <p:nvPr/>
        </p:nvCxnSpPr>
        <p:spPr>
          <a:xfrm flipH="1">
            <a:off x="566094" y="57711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CC7262-4997-41E4-976D-BA82E148280F}"/>
              </a:ext>
            </a:extLst>
          </p:cNvPr>
          <p:cNvCxnSpPr>
            <a:cxnSpLocks/>
          </p:cNvCxnSpPr>
          <p:nvPr/>
        </p:nvCxnSpPr>
        <p:spPr>
          <a:xfrm flipV="1">
            <a:off x="8875226" y="571500"/>
            <a:ext cx="0" cy="57114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5063B5-E478-4C41-AD40-49A39AE07429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5335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E1467D-9ED1-4211-A71E-41C91C75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689289"/>
            <a:ext cx="11049000" cy="1084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8A6A1-C9C7-4FDF-B4DA-1E86B6A35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499" y="2075688"/>
            <a:ext cx="11059811" cy="3818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CC44A-C635-4CD0-90E9-D9503AF4C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36732" y="6397103"/>
            <a:ext cx="30919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fld id="{1C8322F6-1C60-46CF-968C-BC20E470F44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BF682-1A47-492C-81E3-9DB0A50EC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5782" y="639710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C814B-9105-44ED-98A9-D326B2E26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4553" y="6397103"/>
            <a:ext cx="700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6814345-41DE-42C5-8657-66C1417DF81A}"/>
              </a:ext>
            </a:extLst>
          </p:cNvPr>
          <p:cNvCxnSpPr>
            <a:cxnSpLocks/>
          </p:cNvCxnSpPr>
          <p:nvPr/>
        </p:nvCxnSpPr>
        <p:spPr>
          <a:xfrm flipH="1">
            <a:off x="566094" y="6286347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68E419-3727-4F5E-8840-AF149B33B0B7}"/>
              </a:ext>
            </a:extLst>
          </p:cNvPr>
          <p:cNvCxnSpPr>
            <a:cxnSpLocks/>
          </p:cNvCxnSpPr>
          <p:nvPr/>
        </p:nvCxnSpPr>
        <p:spPr>
          <a:xfrm flipH="1">
            <a:off x="577485" y="1883336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19B6EC-D7AE-452F-8D0C-D11BD3377F3E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6278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24" r:id="rId4"/>
    <p:sldLayoutId id="2147483725" r:id="rId5"/>
    <p:sldLayoutId id="2147483730" r:id="rId6"/>
    <p:sldLayoutId id="2147483726" r:id="rId7"/>
    <p:sldLayoutId id="2147483727" r:id="rId8"/>
    <p:sldLayoutId id="2147483728" r:id="rId9"/>
    <p:sldLayoutId id="2147483729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100" baseline="0">
          <a:solidFill>
            <a:schemeClr val="tx1"/>
          </a:solidFill>
          <a:latin typeface="Batang" panose="02030600000101010101" pitchFamily="18" charset="-127"/>
          <a:ea typeface="Batang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1041489@gmail.com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52EFEA85-236C-2B7C-8801-CA0257D68594}"/>
              </a:ext>
            </a:extLst>
          </p:cNvPr>
          <p:cNvSpPr txBox="1">
            <a:spLocks/>
          </p:cNvSpPr>
          <p:nvPr/>
        </p:nvSpPr>
        <p:spPr>
          <a:xfrm>
            <a:off x="433178" y="1031846"/>
            <a:ext cx="11325645" cy="1215547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spc="-100" baseline="0">
                <a:solidFill>
                  <a:schemeClr val="tx1"/>
                </a:solidFill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ctr">
              <a:lnSpc>
                <a:spcPts val="6000"/>
              </a:lnSpc>
            </a:pPr>
            <a:r>
              <a:rPr lang="ko-KR" altLang="en-US" dirty="0"/>
              <a:t>산학연협력기술지주회사의 운영모델 변화 분석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6D4EFC-803D-F5E1-188D-37AFC2FBCE04}"/>
              </a:ext>
            </a:extLst>
          </p:cNvPr>
          <p:cNvSpPr txBox="1"/>
          <p:nvPr/>
        </p:nvSpPr>
        <p:spPr>
          <a:xfrm>
            <a:off x="504280" y="2247393"/>
            <a:ext cx="11183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/>
              <a:t>Analysis of Changes in Business</a:t>
            </a:r>
            <a:r>
              <a:rPr lang="ko-KR" altLang="en-US" dirty="0"/>
              <a:t> </a:t>
            </a:r>
            <a:r>
              <a:rPr lang="en-US" altLang="ko-KR" dirty="0"/>
              <a:t>Model</a:t>
            </a:r>
            <a:r>
              <a:rPr lang="ko-KR" altLang="en-US" dirty="0"/>
              <a:t> </a:t>
            </a:r>
            <a:r>
              <a:rPr lang="en-US" altLang="ko-KR" dirty="0"/>
              <a:t>of</a:t>
            </a:r>
            <a:r>
              <a:rPr lang="ko-KR" altLang="en-US" dirty="0"/>
              <a:t> </a:t>
            </a:r>
            <a:r>
              <a:rPr lang="en-US" altLang="ko-KR" dirty="0"/>
              <a:t>Industry-Academia-Research Technology Holding Companies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4626AA-195B-7251-627D-9A08E2A5A3F2}"/>
              </a:ext>
            </a:extLst>
          </p:cNvPr>
          <p:cNvSpPr txBox="1"/>
          <p:nvPr/>
        </p:nvSpPr>
        <p:spPr>
          <a:xfrm>
            <a:off x="7134245" y="3706983"/>
            <a:ext cx="462457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2400" dirty="0" err="1">
                <a:latin typeface="+mj-lt"/>
              </a:rPr>
              <a:t>송종빈</a:t>
            </a:r>
            <a:r>
              <a:rPr lang="ko-KR" altLang="en-US" sz="2400" dirty="0"/>
              <a:t> </a:t>
            </a:r>
            <a:r>
              <a:rPr lang="en-US" altLang="ko-KR" sz="2400" dirty="0"/>
              <a:t>(Jongbeen Song)</a:t>
            </a:r>
          </a:p>
          <a:p>
            <a:pPr algn="r"/>
            <a:endParaRPr lang="en-US" altLang="ko-KR" sz="1400" dirty="0"/>
          </a:p>
          <a:p>
            <a:pPr algn="r"/>
            <a:r>
              <a:rPr lang="ko-KR" altLang="en-US" sz="1400" dirty="0"/>
              <a:t>고려대학교 </a:t>
            </a:r>
            <a:r>
              <a:rPr lang="ko-KR" altLang="en-US" sz="1400" dirty="0" err="1"/>
              <a:t>과학기술학협동과정</a:t>
            </a:r>
            <a:r>
              <a:rPr lang="ko-KR" altLang="en-US" sz="1400" dirty="0"/>
              <a:t> 석사과정</a:t>
            </a:r>
            <a:endParaRPr lang="en-US" altLang="ko-KR" sz="1400" dirty="0"/>
          </a:p>
          <a:p>
            <a:pPr algn="r"/>
            <a:r>
              <a:rPr lang="en-US" altLang="ko-KR" sz="1400" dirty="0">
                <a:hlinkClick r:id="rId2"/>
              </a:rPr>
              <a:t>1041489@gmail.com</a:t>
            </a:r>
            <a:endParaRPr lang="ko-KR" alt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5A5137-B82A-BFBD-66DE-801154A7FEF7}"/>
              </a:ext>
            </a:extLst>
          </p:cNvPr>
          <p:cNvSpPr txBox="1"/>
          <p:nvPr/>
        </p:nvSpPr>
        <p:spPr>
          <a:xfrm>
            <a:off x="433178" y="5905238"/>
            <a:ext cx="752481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Term Project Presentation: 26-1 Business Modeling Analysis; MOT716</a:t>
            </a:r>
          </a:p>
          <a:p>
            <a:endParaRPr lang="en-US" altLang="ko-KR" sz="1200" dirty="0"/>
          </a:p>
          <a:p>
            <a:r>
              <a:rPr lang="en-US" altLang="ko-KR" sz="1200" dirty="0"/>
              <a:t>BM-Final-2025020399-JongbeenSong</a:t>
            </a:r>
            <a:endParaRPr lang="ko-KR" alt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63DDD5-0DBB-3592-A256-7777D0E6CC1F}"/>
              </a:ext>
            </a:extLst>
          </p:cNvPr>
          <p:cNvSpPr txBox="1"/>
          <p:nvPr/>
        </p:nvSpPr>
        <p:spPr>
          <a:xfrm>
            <a:off x="10347888" y="6336125"/>
            <a:ext cx="12687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dirty="0"/>
              <a:t>2026. 06. 10.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2989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F4846A-86BB-E33F-8B50-56D961591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연구 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B8A756-57B3-37FA-6E0F-83C974C807C1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/>
              <a:t>산학연협력기술지주회사의 현재</a:t>
            </a:r>
            <a:endParaRPr lang="en-US" altLang="ko-KR" b="1" dirty="0"/>
          </a:p>
          <a:p>
            <a:r>
              <a:rPr lang="ko-KR" altLang="en-US" dirty="0"/>
              <a:t>산학연협력기술지주회사는 </a:t>
            </a:r>
            <a:r>
              <a:rPr lang="en-US" altLang="ko-KR" dirty="0"/>
              <a:t>2024</a:t>
            </a:r>
            <a:r>
              <a:rPr lang="ko-KR" altLang="en-US" dirty="0"/>
              <a:t>년 기준 </a:t>
            </a:r>
            <a:r>
              <a:rPr lang="en-US" altLang="ko-KR" dirty="0"/>
              <a:t>84</a:t>
            </a:r>
            <a:r>
              <a:rPr lang="ko-KR" altLang="en-US" dirty="0"/>
              <a:t>개사로 양적 성장을 이루었음</a:t>
            </a:r>
            <a:endParaRPr lang="en-US" altLang="ko-KR" dirty="0"/>
          </a:p>
          <a:p>
            <a:r>
              <a:rPr lang="ko-KR" altLang="en-US" dirty="0"/>
              <a:t>그러나</a:t>
            </a:r>
            <a:r>
              <a:rPr lang="en-US" altLang="ko-KR" dirty="0"/>
              <a:t>, </a:t>
            </a:r>
            <a:r>
              <a:rPr lang="ko-KR" altLang="en-US" dirty="0"/>
              <a:t>이러한 제도의 확산이 실제 자립적 사업화 역량의 강화로 직결되었는지는 검토가 필요</a:t>
            </a:r>
            <a:endParaRPr lang="en-US" altLang="ko-KR" dirty="0"/>
          </a:p>
          <a:p>
            <a:r>
              <a:rPr lang="ko-KR" altLang="en-US" dirty="0"/>
              <a:t>한국 기술지주회사는 사업화 조직으로 설계되었음에도 불구하고</a:t>
            </a:r>
            <a:r>
              <a:rPr lang="en-US" altLang="ko-KR" dirty="0"/>
              <a:t>, </a:t>
            </a:r>
            <a:r>
              <a:rPr lang="ko-KR" altLang="en-US" dirty="0"/>
              <a:t>초기 </a:t>
            </a:r>
            <a:r>
              <a:rPr lang="en-US" altLang="ko-KR" dirty="0"/>
              <a:t>‘</a:t>
            </a:r>
            <a:r>
              <a:rPr lang="ko-KR" altLang="en-US" dirty="0"/>
              <a:t>죽음의 계곡</a:t>
            </a:r>
            <a:r>
              <a:rPr lang="en-US" altLang="ko-KR" dirty="0"/>
              <a:t>‘</a:t>
            </a:r>
            <a:r>
              <a:rPr lang="ko-KR" altLang="en-US" dirty="0"/>
              <a:t>을 버티기 위한 현금흐름 창출을 목적으로 정부사업에 크게 의존함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최근 </a:t>
            </a:r>
            <a:r>
              <a:rPr lang="en-US" altLang="ko-KR" dirty="0"/>
              <a:t>5</a:t>
            </a:r>
            <a:r>
              <a:rPr lang="ko-KR" altLang="en-US" dirty="0" err="1"/>
              <a:t>년간의</a:t>
            </a:r>
            <a:r>
              <a:rPr lang="ko-KR" altLang="en-US" dirty="0"/>
              <a:t> 흐름을 보면</a:t>
            </a:r>
            <a:r>
              <a:rPr lang="en-US" altLang="ko-KR" dirty="0"/>
              <a:t>, </a:t>
            </a:r>
            <a:r>
              <a:rPr lang="ko-KR" altLang="en-US" dirty="0"/>
              <a:t>동일한 정책 환경 속에서도 일부 선도 기관을 중심으로 투자</a:t>
            </a:r>
            <a:r>
              <a:rPr lang="en-US" altLang="ko-KR" dirty="0"/>
              <a:t>·</a:t>
            </a:r>
            <a:r>
              <a:rPr lang="ko-KR" altLang="en-US" dirty="0"/>
              <a:t>회수 기능이 확대되는 조짐이 보임</a:t>
            </a:r>
            <a:endParaRPr lang="en-US" altLang="ko-KR" dirty="0"/>
          </a:p>
          <a:p>
            <a:r>
              <a:rPr lang="ko-KR" altLang="en-US" dirty="0"/>
              <a:t>이는 기술지주회사들이 단순 </a:t>
            </a:r>
            <a:r>
              <a:rPr lang="en-US" altLang="ko-KR" dirty="0"/>
              <a:t>‘</a:t>
            </a:r>
            <a:r>
              <a:rPr lang="ko-KR" altLang="en-US" dirty="0"/>
              <a:t>정책사업 수행조직</a:t>
            </a:r>
            <a:r>
              <a:rPr lang="en-US" altLang="ko-KR" dirty="0"/>
              <a:t>’</a:t>
            </a:r>
            <a:r>
              <a:rPr lang="ko-KR" altLang="en-US" dirty="0"/>
              <a:t>에 머무는 그룹과 </a:t>
            </a:r>
            <a:r>
              <a:rPr lang="en-US" altLang="ko-KR" dirty="0"/>
              <a:t>‘</a:t>
            </a:r>
            <a:r>
              <a:rPr lang="ko-KR" altLang="en-US" dirty="0"/>
              <a:t>투자 강화형 조직</a:t>
            </a:r>
            <a:r>
              <a:rPr lang="en-US" altLang="ko-KR" dirty="0"/>
              <a:t>‘</a:t>
            </a:r>
            <a:r>
              <a:rPr lang="ko-KR" altLang="en-US" dirty="0"/>
              <a:t>으로 이동하는 그룹으로 분화됨을 시사함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315D63-7DAB-5A7E-196C-17878E51DFA7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992590-6410-E215-A4E7-CB19B379620C}"/>
              </a:ext>
            </a:extLst>
          </p:cNvPr>
          <p:cNvSpPr txBox="1"/>
          <p:nvPr/>
        </p:nvSpPr>
        <p:spPr>
          <a:xfrm>
            <a:off x="560690" y="14987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BM-Final-2025020399-JongbeenSong</a:t>
            </a:r>
          </a:p>
        </p:txBody>
      </p:sp>
    </p:spTree>
    <p:extLst>
      <p:ext uri="{BB962C8B-B14F-4D97-AF65-F5344CB8AC3E}">
        <p14:creationId xmlns:p14="http://schemas.microsoft.com/office/powerpoint/2010/main" val="525530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CA412-EF18-E03D-3484-87CF0BFB1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6FF7DF-B17F-AD84-33A4-B9B728681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연구 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2D6498-6092-5523-BB1D-B0AA21FB0A34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/>
              <a:t>하이브리드 조직과 경로의존성</a:t>
            </a:r>
            <a:endParaRPr lang="en-US" altLang="ko-KR" b="1" dirty="0"/>
          </a:p>
          <a:p>
            <a:r>
              <a:rPr lang="ko-KR" altLang="en-US" dirty="0"/>
              <a:t>공공성과 시장성을 동시에 달성해야 하는 하이브리드 조직의 특성상</a:t>
            </a:r>
            <a:r>
              <a:rPr lang="en-US" altLang="ko-KR" dirty="0"/>
              <a:t>, </a:t>
            </a:r>
            <a:r>
              <a:rPr lang="ko-KR" altLang="en-US" dirty="0"/>
              <a:t>초기 정책사업 의존은 필연적 경로 의존성을 형성함</a:t>
            </a:r>
            <a:endParaRPr lang="en-US" altLang="ko-KR" dirty="0"/>
          </a:p>
          <a:p>
            <a:r>
              <a:rPr lang="ko-KR" altLang="en-US" dirty="0"/>
              <a:t>기존 개별 사례 중심 연구를 넘어</a:t>
            </a:r>
            <a:r>
              <a:rPr lang="en-US" altLang="ko-KR" dirty="0"/>
              <a:t>, </a:t>
            </a:r>
            <a:r>
              <a:rPr lang="ko-KR" altLang="en-US" dirty="0"/>
              <a:t>전국 단위 </a:t>
            </a:r>
            <a:r>
              <a:rPr lang="en-US" altLang="ko-KR" dirty="0"/>
              <a:t>5</a:t>
            </a:r>
            <a:r>
              <a:rPr lang="ko-KR" altLang="en-US" dirty="0"/>
              <a:t>개년 종단 데이터를 기반으로 생태계 전체의 </a:t>
            </a:r>
            <a:r>
              <a:rPr lang="en-US" altLang="ko-KR" dirty="0"/>
              <a:t>‘</a:t>
            </a:r>
            <a:r>
              <a:rPr lang="ko-KR" altLang="en-US" dirty="0"/>
              <a:t>진화적 이행 경로</a:t>
            </a:r>
            <a:r>
              <a:rPr lang="en-US" altLang="ko-KR" dirty="0"/>
              <a:t>’</a:t>
            </a:r>
            <a:r>
              <a:rPr lang="ko-KR" altLang="en-US" dirty="0"/>
              <a:t>와 </a:t>
            </a:r>
            <a:r>
              <a:rPr lang="en-US" altLang="ko-KR" dirty="0"/>
              <a:t>‘</a:t>
            </a:r>
            <a:r>
              <a:rPr lang="ko-KR" altLang="en-US" dirty="0"/>
              <a:t>그룹별 분화 양상</a:t>
            </a:r>
            <a:r>
              <a:rPr lang="en-US" altLang="ko-KR" dirty="0"/>
              <a:t>‘</a:t>
            </a:r>
            <a:r>
              <a:rPr lang="ko-KR" altLang="en-US" dirty="0"/>
              <a:t>을 규명함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ED162D-60D3-E13D-674A-7104A8AC8A65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10F7D4-7E4D-4963-4E79-9440327AD481}"/>
              </a:ext>
            </a:extLst>
          </p:cNvPr>
          <p:cNvSpPr txBox="1"/>
          <p:nvPr/>
        </p:nvSpPr>
        <p:spPr>
          <a:xfrm>
            <a:off x="560690" y="14987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BM-Final-2025020399-JongbeenSong</a:t>
            </a:r>
          </a:p>
        </p:txBody>
      </p:sp>
    </p:spTree>
    <p:extLst>
      <p:ext uri="{BB962C8B-B14F-4D97-AF65-F5344CB8AC3E}">
        <p14:creationId xmlns:p14="http://schemas.microsoft.com/office/powerpoint/2010/main" val="322411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010E2-7465-6326-C103-5F93772EE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447361-A6FB-3DDF-DE0A-A12F2A096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선행연구 검토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D68350-9C14-EDD1-2C59-95E6D5C899B2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/>
              <a:t>대학의 </a:t>
            </a:r>
            <a:r>
              <a:rPr lang="en-US" altLang="ko-KR" b="1" dirty="0"/>
              <a:t>‘</a:t>
            </a:r>
            <a:r>
              <a:rPr lang="ko-KR" altLang="en-US" b="1" dirty="0"/>
              <a:t>제</a:t>
            </a:r>
            <a:r>
              <a:rPr lang="en-US" altLang="ko-KR" b="1" dirty="0"/>
              <a:t>3</a:t>
            </a:r>
            <a:r>
              <a:rPr lang="ko-KR" altLang="en-US" b="1" dirty="0"/>
              <a:t>의 임무</a:t>
            </a:r>
            <a:r>
              <a:rPr lang="en-US" altLang="ko-KR" b="1" dirty="0"/>
              <a:t>’ </a:t>
            </a:r>
            <a:r>
              <a:rPr lang="ko-KR" altLang="en-US" b="1" dirty="0"/>
              <a:t>대두</a:t>
            </a:r>
            <a:endParaRPr lang="en-US" altLang="ko-KR" b="1" dirty="0"/>
          </a:p>
          <a:p>
            <a:r>
              <a:rPr lang="ko-KR" altLang="en-US" dirty="0"/>
              <a:t>전통적 교육</a:t>
            </a:r>
            <a:r>
              <a:rPr lang="en-US" altLang="ko-KR" dirty="0"/>
              <a:t>·</a:t>
            </a:r>
            <a:r>
              <a:rPr lang="ko-KR" altLang="en-US" dirty="0"/>
              <a:t>연구를</a:t>
            </a:r>
            <a:r>
              <a:rPr lang="en-US" altLang="ko-KR" dirty="0"/>
              <a:t> </a:t>
            </a:r>
            <a:r>
              <a:rPr lang="ko-KR" altLang="en-US" dirty="0"/>
              <a:t>넘어 사회</a:t>
            </a:r>
            <a:r>
              <a:rPr lang="en-US" altLang="ko-KR" dirty="0"/>
              <a:t>·</a:t>
            </a:r>
            <a:r>
              <a:rPr lang="ko-KR" altLang="en-US" dirty="0"/>
              <a:t>경제적 가치 창출이 강조됨 </a:t>
            </a:r>
            <a:r>
              <a:rPr lang="en-US" altLang="ko-KR" dirty="0"/>
              <a:t>(Marjanovic et al., 2026)</a:t>
            </a:r>
          </a:p>
          <a:p>
            <a:r>
              <a:rPr lang="ko-KR" altLang="en-US" dirty="0"/>
              <a:t>공공연구 성과 활용을 위해 기술이전전담조직</a:t>
            </a:r>
            <a:r>
              <a:rPr lang="en-US" altLang="ko-KR" dirty="0"/>
              <a:t>(TTO), </a:t>
            </a:r>
            <a:r>
              <a:rPr lang="ko-KR" altLang="en-US" dirty="0"/>
              <a:t>기술지주회사 등 중개조직 제도화 추진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b="1" dirty="0"/>
              <a:t>기존 선형적 성과 모델의 한계와 </a:t>
            </a:r>
            <a:r>
              <a:rPr lang="ko-KR" altLang="en-US" b="1" dirty="0" err="1"/>
              <a:t>재지향</a:t>
            </a:r>
            <a:endParaRPr lang="en-US" altLang="ko-KR" dirty="0"/>
          </a:p>
          <a:p>
            <a:r>
              <a:rPr lang="ko-KR" altLang="en-US" dirty="0"/>
              <a:t>특허 중심의 선형 모델은 대학 본연의 사회적 책무를 저해하고 단기 수익에 매몰될 우려 존재 </a:t>
            </a:r>
            <a:r>
              <a:rPr lang="en-US" altLang="ko-KR" dirty="0"/>
              <a:t>(Hayter, 2016)</a:t>
            </a:r>
          </a:p>
          <a:p>
            <a:r>
              <a:rPr lang="ko-KR" altLang="en-US" dirty="0"/>
              <a:t>단순 경제적 상업화를 넘어 사회적 문제 해결로의 임무 </a:t>
            </a:r>
            <a:r>
              <a:rPr lang="ko-KR" altLang="en-US" dirty="0" err="1"/>
              <a:t>재지향</a:t>
            </a:r>
            <a:r>
              <a:rPr lang="en-US" altLang="ko-KR" dirty="0"/>
              <a:t>(Mission-reorientation) </a:t>
            </a:r>
            <a:r>
              <a:rPr lang="ko-KR" altLang="en-US" dirty="0"/>
              <a:t>필요 </a:t>
            </a:r>
            <a:r>
              <a:rPr lang="en-US" altLang="ko-KR" dirty="0"/>
              <a:t>(Menter, 2024)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673202-3F36-6CED-CF02-1F8199D444A8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638090-5E8B-9694-8ABB-7B35CAA1474C}"/>
              </a:ext>
            </a:extLst>
          </p:cNvPr>
          <p:cNvSpPr txBox="1"/>
          <p:nvPr/>
        </p:nvSpPr>
        <p:spPr>
          <a:xfrm>
            <a:off x="560690" y="14987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BM-Final-2025020399-JongbeenSong</a:t>
            </a:r>
          </a:p>
        </p:txBody>
      </p:sp>
    </p:spTree>
    <p:extLst>
      <p:ext uri="{BB962C8B-B14F-4D97-AF65-F5344CB8AC3E}">
        <p14:creationId xmlns:p14="http://schemas.microsoft.com/office/powerpoint/2010/main" val="740671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13902-08F8-BB5B-E1BF-4470A4C45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4EE634-54E0-D23A-2016-BFB154749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선행연구 검토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7E398F-6491-526B-A4D6-F8CBAE573B3E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/>
              <a:t>하이브리드 </a:t>
            </a:r>
            <a:r>
              <a:rPr lang="ko-KR" altLang="en-US" b="1" dirty="0" err="1"/>
              <a:t>조직으로서의</a:t>
            </a:r>
            <a:r>
              <a:rPr lang="ko-KR" altLang="en-US" b="1" dirty="0"/>
              <a:t> 진화</a:t>
            </a:r>
            <a:r>
              <a:rPr lang="en-US" altLang="ko-KR" b="1" dirty="0"/>
              <a:t>(Divergence)</a:t>
            </a:r>
          </a:p>
          <a:p>
            <a:r>
              <a:rPr lang="ko-KR" altLang="ko-KR" dirty="0"/>
              <a:t>해외 기술지주회사는 기술이전과 초기 투자를 동시 수행하는 하이브리드 조직으로, 제한된 역량 내에서 다양한 경로로 진화함 (</a:t>
            </a:r>
            <a:r>
              <a:rPr lang="ko-KR" altLang="ko-KR" dirty="0" err="1"/>
              <a:t>Lindelöf</a:t>
            </a:r>
            <a:r>
              <a:rPr lang="ko-KR" altLang="ko-KR" dirty="0"/>
              <a:t> and </a:t>
            </a:r>
            <a:r>
              <a:rPr lang="ko-KR" altLang="ko-KR" dirty="0" err="1"/>
              <a:t>Hellberg</a:t>
            </a:r>
            <a:r>
              <a:rPr lang="ko-KR" altLang="ko-KR" dirty="0"/>
              <a:t>)</a:t>
            </a:r>
            <a:endParaRPr lang="en-US" altLang="ko-KR" dirty="0"/>
          </a:p>
          <a:p>
            <a:r>
              <a:rPr lang="ko-KR" altLang="en-US" dirty="0"/>
              <a:t>국내 정책 환경과 자원 조건에 따른 국내 고유 운영 모델의 다원화 가능성 시사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b="1" dirty="0"/>
              <a:t>국내 기술지주회사의 차별적 역할</a:t>
            </a:r>
            <a:endParaRPr lang="en-US" altLang="ko-KR" dirty="0"/>
          </a:p>
          <a:p>
            <a:r>
              <a:rPr lang="ko-KR" altLang="ko-KR" dirty="0"/>
              <a:t>일반 행정지원 조직(산학협력단 등)과 달리, 직접 사업화 및 투자 회수(</a:t>
            </a:r>
            <a:r>
              <a:rPr lang="ko-KR" altLang="ko-KR" dirty="0" err="1"/>
              <a:t>Exit</a:t>
            </a:r>
            <a:r>
              <a:rPr lang="ko-KR" altLang="ko-KR" dirty="0"/>
              <a:t>)를 수행하는 ‘</a:t>
            </a:r>
            <a:r>
              <a:rPr lang="ko-KR" altLang="ko-KR" dirty="0" err="1"/>
              <a:t>전문조직’으로</a:t>
            </a:r>
            <a:r>
              <a:rPr lang="ko-KR" altLang="ko-KR" dirty="0"/>
              <a:t> 기능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59B51B-DD0F-01FD-8533-B461B77B2A87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A6810E-A6D2-0FAE-1965-F45398BC303E}"/>
              </a:ext>
            </a:extLst>
          </p:cNvPr>
          <p:cNvSpPr txBox="1"/>
          <p:nvPr/>
        </p:nvSpPr>
        <p:spPr>
          <a:xfrm>
            <a:off x="560690" y="14987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BM-Final-2025020399-JongbeenSong</a:t>
            </a:r>
          </a:p>
        </p:txBody>
      </p:sp>
    </p:spTree>
    <p:extLst>
      <p:ext uri="{BB962C8B-B14F-4D97-AF65-F5344CB8AC3E}">
        <p14:creationId xmlns:p14="http://schemas.microsoft.com/office/powerpoint/2010/main" val="3659597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30825-D7DF-8058-5CC2-D7330E987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40D20F-F082-214B-CEA5-2E12FAC52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선행연구 검토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98B1DA-3135-E517-FE21-9541EC4F859A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/>
              <a:t>독자적 사업모델의 필요성</a:t>
            </a:r>
            <a:endParaRPr lang="en-US" altLang="ko-KR" b="1" dirty="0"/>
          </a:p>
          <a:p>
            <a:r>
              <a:rPr lang="ko-KR" altLang="ko-KR" dirty="0"/>
              <a:t>순수지주회사 모델을 넘어 </a:t>
            </a:r>
            <a:r>
              <a:rPr lang="ko-KR" altLang="ko-KR" dirty="0" err="1"/>
              <a:t>인큐베이팅</a:t>
            </a:r>
            <a:r>
              <a:rPr lang="ko-KR" altLang="ko-KR" dirty="0"/>
              <a:t>, 경영자문, 펀드 운용 등을 수행하는 사업지주회사로의 진화 필요성 제기 (</a:t>
            </a:r>
            <a:r>
              <a:rPr lang="ko-KR" altLang="ko-KR" dirty="0" err="1"/>
              <a:t>이현근·장재혁·한관희</a:t>
            </a:r>
            <a:r>
              <a:rPr lang="ko-KR" altLang="ko-KR" dirty="0"/>
              <a:t>, 2016)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b="1" dirty="0"/>
              <a:t>기존 선행연구의 한계</a:t>
            </a:r>
            <a:endParaRPr lang="en-US" altLang="ko-KR" b="1" dirty="0"/>
          </a:p>
          <a:p>
            <a:r>
              <a:rPr lang="ko-KR" altLang="ko-KR" dirty="0"/>
              <a:t>특정 시점의 규제 분석이나 일부 기관 대상의 정성적 사례연구에 편중됨</a:t>
            </a:r>
            <a:endParaRPr lang="en-US" altLang="ko-KR" dirty="0"/>
          </a:p>
          <a:p>
            <a:r>
              <a:rPr lang="ko-KR" altLang="ko-KR" dirty="0"/>
              <a:t>전국 단위 기술지주회사의 실제 수익구조 변화 및 정책 의존성 탈피 과정에 대한 종단적 실증분석 부족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8BA160-CE69-7B43-489C-A13F9E47E59A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F377EC-243B-B79F-53E2-8F171EA4170C}"/>
              </a:ext>
            </a:extLst>
          </p:cNvPr>
          <p:cNvSpPr txBox="1"/>
          <p:nvPr/>
        </p:nvSpPr>
        <p:spPr>
          <a:xfrm>
            <a:off x="560690" y="14987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BM-Final-2025020399-JongbeenSong</a:t>
            </a:r>
          </a:p>
        </p:txBody>
      </p:sp>
    </p:spTree>
    <p:extLst>
      <p:ext uri="{BB962C8B-B14F-4D97-AF65-F5344CB8AC3E}">
        <p14:creationId xmlns:p14="http://schemas.microsoft.com/office/powerpoint/2010/main" val="767854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6B52A-C84C-CADD-B68F-371A3F653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CB6A34-630B-1198-E5E0-04A9F7AB2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선행연구 검토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2F9D29-C748-B248-8668-B070EA577CF4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/>
              <a:t>전형적인 </a:t>
            </a:r>
            <a:r>
              <a:rPr lang="en-US" altLang="ko-KR" b="1" dirty="0"/>
              <a:t>‘</a:t>
            </a:r>
            <a:r>
              <a:rPr lang="ko-KR" altLang="en-US" b="1" dirty="0"/>
              <a:t>하이브리드 조직</a:t>
            </a:r>
            <a:r>
              <a:rPr lang="en-US" altLang="ko-KR" b="1" dirty="0"/>
              <a:t>’</a:t>
            </a:r>
            <a:r>
              <a:rPr lang="ko-KR" altLang="en-US" b="1" dirty="0"/>
              <a:t>의 속성</a:t>
            </a:r>
            <a:endParaRPr lang="en-US" altLang="ko-KR" b="1" dirty="0"/>
          </a:p>
          <a:p>
            <a:r>
              <a:rPr lang="ko-KR" altLang="ko-KR" dirty="0"/>
              <a:t>공적 임무(공공성 논리/정책 수행)와 시장 지향적 역할(시장성 논리/자립적 사업성)의 동시 추구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b="1" dirty="0"/>
              <a:t>조직 내 제도논리의 충돌과 조정</a:t>
            </a:r>
            <a:endParaRPr lang="en-US" altLang="ko-KR" b="1" dirty="0"/>
          </a:p>
          <a:p>
            <a:r>
              <a:rPr lang="ko-KR" altLang="ko-KR" dirty="0"/>
              <a:t>단일 제도의 이식이 아닌, 상충하는 제도논리를 </a:t>
            </a:r>
            <a:r>
              <a:rPr lang="ko-KR" altLang="ko-KR" dirty="0" err="1"/>
              <a:t>해석·조정</a:t>
            </a:r>
            <a:r>
              <a:rPr lang="ko-KR" altLang="ko-KR" dirty="0"/>
              <a:t>(</a:t>
            </a:r>
            <a:r>
              <a:rPr lang="ko-KR" altLang="ko-KR" dirty="0" err="1"/>
              <a:t>Interpretation</a:t>
            </a:r>
            <a:r>
              <a:rPr lang="ko-KR" altLang="ko-KR" dirty="0"/>
              <a:t>)해 나가는 축적의 과정임 (</a:t>
            </a:r>
            <a:r>
              <a:rPr lang="ko-KR" altLang="ko-KR" dirty="0" err="1"/>
              <a:t>Donegan</a:t>
            </a:r>
            <a:r>
              <a:rPr lang="ko-KR" altLang="ko-KR" dirty="0"/>
              <a:t> and </a:t>
            </a:r>
            <a:r>
              <a:rPr lang="ko-KR" altLang="ko-KR" dirty="0" err="1"/>
              <a:t>Feldman</a:t>
            </a:r>
            <a:r>
              <a:rPr lang="ko-KR" altLang="ko-KR" dirty="0"/>
              <a:t>, 2020)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b="1" dirty="0"/>
              <a:t>국내 생태계의 주요 쟁점</a:t>
            </a:r>
            <a:endParaRPr lang="en-US" altLang="ko-KR" dirty="0"/>
          </a:p>
          <a:p>
            <a:r>
              <a:rPr lang="ko-KR" altLang="en-US" dirty="0"/>
              <a:t>초기 </a:t>
            </a:r>
            <a:r>
              <a:rPr lang="ko-KR" altLang="ko-KR" dirty="0"/>
              <a:t>생존을 위한 ‘정책사업 논리(안정적 현금흐름)’ </a:t>
            </a:r>
            <a:r>
              <a:rPr lang="ko-KR" altLang="ko-KR" dirty="0" err="1"/>
              <a:t>vs</a:t>
            </a:r>
            <a:r>
              <a:rPr lang="ko-KR" altLang="ko-KR" dirty="0"/>
              <a:t> 자립을 위한 ‘</a:t>
            </a:r>
            <a:r>
              <a:rPr lang="ko-KR" altLang="ko-KR" dirty="0" err="1"/>
              <a:t>사업화·투자</a:t>
            </a:r>
            <a:r>
              <a:rPr lang="ko-KR" altLang="ko-KR" dirty="0"/>
              <a:t> 논리(고위험 수익 극대화)’의 경합</a:t>
            </a:r>
            <a:endParaRPr lang="en-US" altLang="ko-KR" dirty="0"/>
          </a:p>
          <a:p>
            <a:r>
              <a:rPr lang="ko-KR" altLang="ko-KR" dirty="0"/>
              <a:t>정부 재정 지원이 단순한 </a:t>
            </a:r>
            <a:r>
              <a:rPr lang="en-US" altLang="ko-KR" dirty="0"/>
              <a:t>‘</a:t>
            </a:r>
            <a:r>
              <a:rPr lang="ko-KR" altLang="ko-KR" dirty="0"/>
              <a:t>의존성 트랩</a:t>
            </a:r>
            <a:r>
              <a:rPr lang="en-US" altLang="ko-KR" dirty="0"/>
              <a:t>’</a:t>
            </a:r>
            <a:r>
              <a:rPr lang="ko-KR" altLang="ko-KR" dirty="0"/>
              <a:t>인지, 장기 역량 내재화를 위한 </a:t>
            </a:r>
            <a:r>
              <a:rPr lang="en-US" altLang="ko-KR" dirty="0"/>
              <a:t>‘</a:t>
            </a:r>
            <a:r>
              <a:rPr lang="ko-KR" altLang="ko-KR" dirty="0"/>
              <a:t>자원 축적의 마중물</a:t>
            </a:r>
            <a:r>
              <a:rPr lang="en-US" altLang="ko-KR" dirty="0"/>
              <a:t>’</a:t>
            </a:r>
            <a:r>
              <a:rPr lang="ko-KR" altLang="ko-KR" dirty="0"/>
              <a:t>인지 실증 검증 필요</a:t>
            </a:r>
          </a:p>
          <a:p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0084E6-4909-587E-8B4D-FE1A79CB60C8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BF4E31-1213-49D6-B4F0-A6BACF589CFA}"/>
              </a:ext>
            </a:extLst>
          </p:cNvPr>
          <p:cNvSpPr txBox="1"/>
          <p:nvPr/>
        </p:nvSpPr>
        <p:spPr>
          <a:xfrm>
            <a:off x="560690" y="14987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BM-Final-2025020399-JongbeenSong</a:t>
            </a:r>
          </a:p>
        </p:txBody>
      </p:sp>
    </p:spTree>
    <p:extLst>
      <p:ext uri="{BB962C8B-B14F-4D97-AF65-F5344CB8AC3E}">
        <p14:creationId xmlns:p14="http://schemas.microsoft.com/office/powerpoint/2010/main" val="2129626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43379-C0D6-8A12-2AD2-A9EE8FDA6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466F79-B2A9-34F8-7FB3-D61A45CBC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데이터 확보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67B2A2-4191-2D22-F809-746AB6E3D47D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/>
              <a:t>데이터 확보 과정</a:t>
            </a:r>
            <a:endParaRPr lang="en-US" altLang="ko-KR" dirty="0"/>
          </a:p>
          <a:p>
            <a:r>
              <a:rPr lang="ko-KR" altLang="en-US" dirty="0"/>
              <a:t>고려대학교 기술지주주식회사 투자관리 </a:t>
            </a:r>
            <a:r>
              <a:rPr lang="en-US" altLang="ko-KR" dirty="0"/>
              <a:t>2</a:t>
            </a:r>
            <a:r>
              <a:rPr lang="ko-KR" altLang="en-US" dirty="0"/>
              <a:t>본부 </a:t>
            </a:r>
            <a:r>
              <a:rPr lang="ko-KR" altLang="en-US" b="1" dirty="0"/>
              <a:t>손희영</a:t>
            </a:r>
            <a:r>
              <a:rPr lang="en-US" altLang="ko-KR" dirty="0"/>
              <a:t> </a:t>
            </a:r>
            <a:r>
              <a:rPr lang="ko-KR" altLang="en-US" dirty="0"/>
              <a:t>본부장을 통해</a:t>
            </a:r>
            <a:endParaRPr lang="en-US" altLang="ko-KR" dirty="0"/>
          </a:p>
          <a:p>
            <a:r>
              <a:rPr lang="ko-KR" altLang="en-US" dirty="0"/>
              <a:t>한국기술지주회사협회</a:t>
            </a:r>
            <a:r>
              <a:rPr lang="en-US" altLang="ko-KR" dirty="0"/>
              <a:t>(KATH)</a:t>
            </a:r>
            <a:r>
              <a:rPr lang="ko-KR" altLang="en-US" dirty="0"/>
              <a:t>의 아래 자료를 활용하였음</a:t>
            </a:r>
            <a:endParaRPr lang="en-US" altLang="ko-KR" dirty="0"/>
          </a:p>
          <a:p>
            <a:pPr lvl="1"/>
            <a:r>
              <a:rPr lang="en-US" altLang="ko-KR" dirty="0"/>
              <a:t>(</a:t>
            </a:r>
            <a:r>
              <a:rPr lang="ko-KR" altLang="en-US" dirty="0"/>
              <a:t>공개데이터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2020</a:t>
            </a:r>
            <a:r>
              <a:rPr lang="ko-KR" altLang="en-US" dirty="0"/>
              <a:t>년</a:t>
            </a:r>
            <a:r>
              <a:rPr lang="en-US" altLang="ko-KR" dirty="0"/>
              <a:t>~2024</a:t>
            </a:r>
            <a:r>
              <a:rPr lang="ko-KR" altLang="en-US" dirty="0"/>
              <a:t>년 조사보고서</a:t>
            </a:r>
            <a:endParaRPr lang="en-US" altLang="ko-KR" dirty="0"/>
          </a:p>
          <a:p>
            <a:pPr lvl="1"/>
            <a:r>
              <a:rPr lang="en-US" altLang="ko-KR" dirty="0"/>
              <a:t>(</a:t>
            </a:r>
            <a:r>
              <a:rPr lang="ko-KR" altLang="en-US" dirty="0"/>
              <a:t>추가 요청자료</a:t>
            </a:r>
            <a:r>
              <a:rPr lang="en-US" altLang="ko-KR" dirty="0"/>
              <a:t>) 2020</a:t>
            </a:r>
            <a:r>
              <a:rPr lang="ko-KR" altLang="en-US" dirty="0"/>
              <a:t>년</a:t>
            </a:r>
            <a:r>
              <a:rPr lang="en-US" altLang="ko-KR" dirty="0"/>
              <a:t>~2024</a:t>
            </a:r>
            <a:r>
              <a:rPr lang="ko-KR" altLang="en-US" dirty="0"/>
              <a:t>년 각 기관의 패널데이터</a:t>
            </a:r>
            <a:endParaRPr lang="en-US" altLang="ko-KR" dirty="0"/>
          </a:p>
          <a:p>
            <a:pPr lvl="2"/>
            <a:r>
              <a:rPr lang="ko-KR" altLang="en-US" dirty="0"/>
              <a:t>대학</a:t>
            </a:r>
            <a:r>
              <a:rPr lang="en-US" altLang="ko-KR" dirty="0"/>
              <a:t>/</a:t>
            </a:r>
            <a:r>
              <a:rPr lang="ko-KR" altLang="en-US" dirty="0"/>
              <a:t>기관</a:t>
            </a:r>
            <a:r>
              <a:rPr lang="en-US" altLang="ko-KR" dirty="0"/>
              <a:t>/</a:t>
            </a:r>
            <a:r>
              <a:rPr lang="ko-KR" altLang="en-US" dirty="0"/>
              <a:t>기업의 일반적인 특성</a:t>
            </a:r>
            <a:endParaRPr lang="en-US" altLang="ko-KR" dirty="0"/>
          </a:p>
          <a:p>
            <a:pPr lvl="2"/>
            <a:r>
              <a:rPr lang="ko-KR" altLang="en-US" dirty="0"/>
              <a:t>조직 및 규모 데이터</a:t>
            </a:r>
            <a:endParaRPr lang="en-US" altLang="ko-KR" dirty="0"/>
          </a:p>
          <a:p>
            <a:pPr lvl="2"/>
            <a:r>
              <a:rPr lang="ko-KR" altLang="en-US" dirty="0"/>
              <a:t>사업화 성과 데이터</a:t>
            </a:r>
            <a:endParaRPr lang="en-US" altLang="ko-KR" dirty="0"/>
          </a:p>
          <a:p>
            <a:pPr lvl="2"/>
            <a:r>
              <a:rPr lang="ko-KR" altLang="en-US" dirty="0"/>
              <a:t>자원동원 역량 데이터</a:t>
            </a:r>
            <a:endParaRPr lang="en-US" altLang="ko-KR" dirty="0"/>
          </a:p>
          <a:p>
            <a:pPr lvl="2"/>
            <a:r>
              <a:rPr lang="ko-KR" altLang="en-US" dirty="0"/>
              <a:t>수익구조 데이터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1CF32A-2EF7-3571-5091-3C9B75649C97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D1206C-25FB-4D26-0515-4F945CF658A6}"/>
              </a:ext>
            </a:extLst>
          </p:cNvPr>
          <p:cNvSpPr txBox="1"/>
          <p:nvPr/>
        </p:nvSpPr>
        <p:spPr>
          <a:xfrm>
            <a:off x="560690" y="14987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BM-Final-2025020399-JongbeenSong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55BB661-A35B-D524-0DCB-B169609C6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1355" y="1714500"/>
            <a:ext cx="243995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125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E139E-A178-7AB7-F4F8-91A074C68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3B9905-66ED-E0A5-C117-7AA877764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데이터 훑어보기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0782DD-80AC-4ED8-DECC-81CDB68C52B8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F0592B-D20D-F5FA-11CF-80E3B93B5767}"/>
              </a:ext>
            </a:extLst>
          </p:cNvPr>
          <p:cNvSpPr txBox="1"/>
          <p:nvPr/>
        </p:nvSpPr>
        <p:spPr>
          <a:xfrm>
            <a:off x="560690" y="14987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BM-Final-2025020399-JongbeenSong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1BAF7C1-11A2-4D0F-3233-2ED0ADDA5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500" y="1604723"/>
            <a:ext cx="10544269" cy="432430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6ACBCC1-FED4-7E9B-3442-4D44AC034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231" y="2923185"/>
            <a:ext cx="1813538" cy="168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9649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DE499-BD8C-E489-1E6D-B9211B8AB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6FD665-8D3F-074F-909B-A31CC17C1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가설 설정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B5ED1A-8801-C330-24B8-49AAAFB3F231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58CFB7-5B6D-FE3E-DAD9-8FF992EE6DD9}"/>
              </a:ext>
            </a:extLst>
          </p:cNvPr>
          <p:cNvSpPr txBox="1"/>
          <p:nvPr/>
        </p:nvSpPr>
        <p:spPr>
          <a:xfrm>
            <a:off x="560690" y="14987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BM-Final-2025020399-JongbeenSong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8B9478-ED16-DD24-9EF3-3A92BD506ED6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/>
              <a:t>RQ1. 2020~2024</a:t>
            </a:r>
            <a:r>
              <a:rPr lang="ko-KR" altLang="en-US" b="1" dirty="0"/>
              <a:t>년 동안 산학연 협력 기술지주회사 생태계에서 정책사업 수익과 사업화</a:t>
            </a:r>
            <a:r>
              <a:rPr lang="en-US" altLang="ko-KR" b="1" dirty="0"/>
              <a:t>-</a:t>
            </a:r>
            <a:r>
              <a:rPr lang="ko-KR" altLang="en-US" b="1" dirty="0"/>
              <a:t>투자수익의 결합 구조는 어떻게 변화하였는가</a:t>
            </a:r>
            <a:r>
              <a:rPr lang="en-US" altLang="ko-KR" b="1" dirty="0"/>
              <a:t>?</a:t>
            </a:r>
            <a:endParaRPr lang="en-US" altLang="ko-KR" dirty="0"/>
          </a:p>
          <a:p>
            <a:r>
              <a:rPr lang="ko-KR" altLang="en-US" dirty="0"/>
              <a:t>국책사업비 수익을 보유한 회사의 비중은 연도별로 어떻게 변화하였는가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자회사배당</a:t>
            </a:r>
            <a:r>
              <a:rPr lang="en-US" altLang="ko-KR" dirty="0"/>
              <a:t>, </a:t>
            </a:r>
            <a:r>
              <a:rPr lang="ko-KR" altLang="en-US" dirty="0"/>
              <a:t>지분매각</a:t>
            </a:r>
            <a:r>
              <a:rPr lang="en-US" altLang="ko-KR" dirty="0"/>
              <a:t>, </a:t>
            </a:r>
            <a:r>
              <a:rPr lang="ko-KR" altLang="en-US" dirty="0"/>
              <a:t>투자조합 배당 등 사업화</a:t>
            </a:r>
            <a:r>
              <a:rPr lang="en-US" altLang="ko-KR" dirty="0"/>
              <a:t>·</a:t>
            </a:r>
            <a:r>
              <a:rPr lang="ko-KR" altLang="en-US" dirty="0"/>
              <a:t>투자수익을 동시에 보유한 이중형 조직의 비중은 증가하고 있는가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정책형</a:t>
            </a:r>
            <a:r>
              <a:rPr lang="en-US" altLang="ko-KR" dirty="0"/>
              <a:t>, </a:t>
            </a:r>
            <a:r>
              <a:rPr lang="ko-KR" altLang="en-US" dirty="0"/>
              <a:t>사업형</a:t>
            </a:r>
            <a:r>
              <a:rPr lang="en-US" altLang="ko-KR" dirty="0"/>
              <a:t>, </a:t>
            </a:r>
            <a:r>
              <a:rPr lang="ko-KR" altLang="en-US" dirty="0"/>
              <a:t>이중형</a:t>
            </a:r>
            <a:r>
              <a:rPr lang="en-US" altLang="ko-KR" dirty="0"/>
              <a:t>, </a:t>
            </a:r>
            <a:r>
              <a:rPr lang="ko-KR" altLang="en-US" dirty="0"/>
              <a:t>무수익형 간 전환은 어떠한 방향으로 나타나는가</a:t>
            </a:r>
            <a:r>
              <a:rPr lang="en-US" altLang="ko-KR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7120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F7B02-CC84-F56A-53E5-60CC9BF94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4BA73C-6887-4CC4-7B1D-610468925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가설 설정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85A414-EC65-294C-B1EE-E9240B7F6200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7FDC64-0803-79F9-E217-D3592EFC14C8}"/>
              </a:ext>
            </a:extLst>
          </p:cNvPr>
          <p:cNvSpPr txBox="1"/>
          <p:nvPr/>
        </p:nvSpPr>
        <p:spPr>
          <a:xfrm>
            <a:off x="560690" y="14987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BM-Final-2025020399-JongbeenSong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A14287-AAAB-2E17-0F0F-75A206AFA267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/>
              <a:t>RQ2. </a:t>
            </a:r>
            <a:r>
              <a:rPr lang="ko-KR" altLang="en-US" b="1" dirty="0"/>
              <a:t>업력</a:t>
            </a:r>
            <a:r>
              <a:rPr lang="en-US" altLang="ko-KR" b="1" dirty="0"/>
              <a:t>, </a:t>
            </a:r>
            <a:r>
              <a:rPr lang="ko-KR" altLang="en-US" b="1" dirty="0"/>
              <a:t>설립유형</a:t>
            </a:r>
            <a:r>
              <a:rPr lang="en-US" altLang="ko-KR" b="1" dirty="0"/>
              <a:t>, </a:t>
            </a:r>
            <a:r>
              <a:rPr lang="ko-KR" altLang="en-US" b="1" dirty="0"/>
              <a:t>지역에 따라 정책형</a:t>
            </a:r>
            <a:r>
              <a:rPr lang="en-US" altLang="ko-KR" b="1" dirty="0"/>
              <a:t>, </a:t>
            </a:r>
            <a:r>
              <a:rPr lang="ko-KR" altLang="en-US" b="1" dirty="0"/>
              <a:t>사업형</a:t>
            </a:r>
            <a:r>
              <a:rPr lang="en-US" altLang="ko-KR" b="1" dirty="0"/>
              <a:t>, </a:t>
            </a:r>
            <a:r>
              <a:rPr lang="ko-KR" altLang="en-US" b="1" dirty="0"/>
              <a:t>이중형 수익구조의 분화가 어떻게 나타나는가</a:t>
            </a:r>
            <a:r>
              <a:rPr lang="en-US" altLang="ko-KR" b="1" dirty="0"/>
              <a:t>?</a:t>
            </a:r>
          </a:p>
          <a:p>
            <a:r>
              <a:rPr lang="ko-KR" altLang="en-US" dirty="0"/>
              <a:t>업력이 높은 기술지주회사일수록 정책형에서 이중형 또는 사업형으로 이동하는가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공동형 기술지주회사는 단독형보다 이중형 수익구조를 가질 가능성이 높은가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수도권과 비수도권</a:t>
            </a:r>
            <a:r>
              <a:rPr lang="en-US" altLang="ko-KR" dirty="0"/>
              <a:t>, </a:t>
            </a:r>
            <a:r>
              <a:rPr lang="ko-KR" altLang="en-US" dirty="0"/>
              <a:t>권역별 기술지주회사 간에 정책의존도와 </a:t>
            </a:r>
            <a:r>
              <a:rPr lang="ko-KR" altLang="en-US" dirty="0" err="1"/>
              <a:t>사업화수익</a:t>
            </a:r>
            <a:r>
              <a:rPr lang="ko-KR" altLang="en-US" dirty="0"/>
              <a:t> 발생 가능성에 차이가 있는가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지역 차이는 자본금</a:t>
            </a:r>
            <a:r>
              <a:rPr lang="en-US" altLang="ko-KR" dirty="0"/>
              <a:t>, </a:t>
            </a:r>
            <a:r>
              <a:rPr lang="ko-KR" altLang="en-US" dirty="0"/>
              <a:t>전담인력</a:t>
            </a:r>
            <a:r>
              <a:rPr lang="en-US" altLang="ko-KR" dirty="0"/>
              <a:t>, </a:t>
            </a:r>
            <a:r>
              <a:rPr lang="ko-KR" altLang="en-US" dirty="0"/>
              <a:t>자회사 규모의 차이를 통해 설명되는가</a:t>
            </a:r>
            <a:r>
              <a:rPr lang="en-US" altLang="ko-KR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30878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5E523-46E5-C26A-CF20-C8F8A86D1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8E2646-1464-5153-9347-77EC042B8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가설 설정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FF8DCE-B2BB-85F2-92EE-FFA9C443E31A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63B74F-4421-9DB3-A4D0-2C5BF16B75F0}"/>
              </a:ext>
            </a:extLst>
          </p:cNvPr>
          <p:cNvSpPr txBox="1"/>
          <p:nvPr/>
        </p:nvSpPr>
        <p:spPr>
          <a:xfrm>
            <a:off x="560690" y="14987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BM-Final-2025020399-JongbeenSong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FEAFA1-961B-6F05-73CA-68C2643D8787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/>
              <a:t>RQ3. </a:t>
            </a:r>
            <a:r>
              <a:rPr lang="ko-KR" altLang="en-US" b="1" dirty="0"/>
              <a:t>정책사업 수익은 기술지주회사의 인력</a:t>
            </a:r>
            <a:r>
              <a:rPr lang="en-US" altLang="ko-KR" b="1" dirty="0"/>
              <a:t>, </a:t>
            </a:r>
            <a:r>
              <a:rPr lang="ko-KR" altLang="en-US" b="1" dirty="0"/>
              <a:t>자회사 포트폴리오 및 후속 사업화 투자수익의 형성에 어떠한 관련성을 가지는가</a:t>
            </a:r>
            <a:r>
              <a:rPr lang="en-US" altLang="ko-KR" b="1" dirty="0"/>
              <a:t>?</a:t>
            </a:r>
          </a:p>
          <a:p>
            <a:r>
              <a:rPr lang="ko-KR" altLang="en-US" dirty="0"/>
              <a:t>국책사업비 수익이 존재하는 회사는 다음해 전담인력이 증가하는가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국책사업비 수익이 존재하는 회사는 다음해 신규 자회사 설립 수가 증가하는가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국책사업비 수익은 다음해 또는 </a:t>
            </a:r>
            <a:r>
              <a:rPr lang="en-US" altLang="ko-KR" dirty="0"/>
              <a:t>2</a:t>
            </a:r>
            <a:r>
              <a:rPr lang="ko-KR" altLang="en-US" dirty="0"/>
              <a:t>년 후 사업화</a:t>
            </a:r>
            <a:r>
              <a:rPr lang="en-US" altLang="ko-KR" dirty="0"/>
              <a:t>·</a:t>
            </a:r>
            <a:r>
              <a:rPr lang="ko-KR" altLang="en-US" dirty="0"/>
              <a:t>투자수익 발생 가능성을 높이는가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이러한 관계는 초기 조직과 성숙 조직에서 다르게 나타나는가</a:t>
            </a:r>
            <a:r>
              <a:rPr lang="en-US" altLang="ko-KR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09716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DDD46-2AA5-7139-FE76-7E35E5F2B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B8D871-5D57-E5D2-2295-D3B5AD4E6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가설 설정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E0818A-83CA-DC68-5179-2C74BA4A0E8E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5F7946-9F0E-2AA1-1238-0A36561988B7}"/>
              </a:ext>
            </a:extLst>
          </p:cNvPr>
          <p:cNvSpPr txBox="1"/>
          <p:nvPr/>
        </p:nvSpPr>
        <p:spPr>
          <a:xfrm>
            <a:off x="560690" y="14987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BM-Final-2025020399-JongbeenSong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7DDEDD-6B6F-B8D0-492A-0CBE807CE7F0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/>
              <a:t>RQ3. </a:t>
            </a:r>
            <a:r>
              <a:rPr lang="ko-KR" altLang="en-US" b="1" dirty="0"/>
              <a:t>정책사업 수익은 기술지주회사의 인력</a:t>
            </a:r>
            <a:r>
              <a:rPr lang="en-US" altLang="ko-KR" b="1" dirty="0"/>
              <a:t>, </a:t>
            </a:r>
            <a:r>
              <a:rPr lang="ko-KR" altLang="en-US" b="1" dirty="0"/>
              <a:t>자회사 포트폴리오 및 후속 사업화 투자수익의 형성에 어떠한 관련성을 가지는가</a:t>
            </a:r>
            <a:r>
              <a:rPr lang="en-US" altLang="ko-KR" b="1" dirty="0"/>
              <a:t>?</a:t>
            </a:r>
          </a:p>
          <a:p>
            <a:r>
              <a:rPr lang="ko-KR" altLang="en-US" dirty="0"/>
              <a:t>국책사업비 수익이 존재하는 회사는 다음해 전담인력이 증가하는가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국책사업비 수익이 존재하는 회사는 다음해 신규 자회사 설립 수가 증가하는가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국책사업비 수익은 다음해 또는 </a:t>
            </a:r>
            <a:r>
              <a:rPr lang="en-US" altLang="ko-KR" dirty="0"/>
              <a:t>2</a:t>
            </a:r>
            <a:r>
              <a:rPr lang="ko-KR" altLang="en-US" dirty="0"/>
              <a:t>년 후 사업화</a:t>
            </a:r>
            <a:r>
              <a:rPr lang="en-US" altLang="ko-KR" dirty="0"/>
              <a:t>·</a:t>
            </a:r>
            <a:r>
              <a:rPr lang="ko-KR" altLang="en-US" dirty="0"/>
              <a:t>투자수익 발생 가능성을 높이는가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이러한 관계는 초기 조직과 성숙 조직에서 다르게 나타나는가</a:t>
            </a:r>
            <a:r>
              <a:rPr lang="en-US" altLang="ko-KR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82027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252AD-8D78-C6B0-DEE0-57C58F48B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494D73-F1DB-D0A0-703A-880E2D08C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데이터 분석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A65870-535B-8250-5E1D-0A4DC7F6617D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B1FAA9-AF33-5F3A-D53B-18B22B4F6505}"/>
              </a:ext>
            </a:extLst>
          </p:cNvPr>
          <p:cNvSpPr txBox="1"/>
          <p:nvPr/>
        </p:nvSpPr>
        <p:spPr>
          <a:xfrm>
            <a:off x="560690" y="14987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BM-Final-2025020399-JongbeenSong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483D4C-AE29-7F90-1B2D-6E60AABA8EA0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국책사업비 수익을 보유한 회사의 비중은 연도별로 어떻게 변화하였는가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graphicFrame>
        <p:nvGraphicFramePr>
          <p:cNvPr id="11" name="차트 10">
            <a:extLst>
              <a:ext uri="{FF2B5EF4-FFF2-40B4-BE49-F238E27FC236}">
                <a16:creationId xmlns:a16="http://schemas.microsoft.com/office/drawing/2014/main" id="{7F5BD334-54AC-5E9D-EF59-AB572C7A57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3196682"/>
              </p:ext>
            </p:extLst>
          </p:nvPr>
        </p:nvGraphicFramePr>
        <p:xfrm>
          <a:off x="3155635" y="2139090"/>
          <a:ext cx="5880729" cy="39204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9893890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FFB12-73C9-D795-D552-397C55586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B0EBC2-D0D7-124D-5AF4-122FD25B6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데이터 분석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F8BC3B-C63C-569A-6612-35DCFE0C5C65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776758-C123-FD52-67E9-2A81B9BEDD98}"/>
              </a:ext>
            </a:extLst>
          </p:cNvPr>
          <p:cNvSpPr txBox="1"/>
          <p:nvPr/>
        </p:nvSpPr>
        <p:spPr>
          <a:xfrm>
            <a:off x="560690" y="14987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BM-Final-2025020399-JongbeenSong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2B3B2E-9D3B-85F3-A42B-EE6280827A9F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자회사배당</a:t>
            </a:r>
            <a:r>
              <a:rPr lang="en-US" altLang="ko-KR" dirty="0"/>
              <a:t>, </a:t>
            </a:r>
            <a:r>
              <a:rPr lang="ko-KR" altLang="en-US" dirty="0"/>
              <a:t>지분매각</a:t>
            </a:r>
            <a:r>
              <a:rPr lang="en-US" altLang="ko-KR" dirty="0"/>
              <a:t>, </a:t>
            </a:r>
            <a:r>
              <a:rPr lang="ko-KR" altLang="en-US" dirty="0"/>
              <a:t>투자조합 배당 등 사업화</a:t>
            </a:r>
            <a:r>
              <a:rPr lang="en-US" altLang="ko-KR" dirty="0"/>
              <a:t>·</a:t>
            </a:r>
            <a:r>
              <a:rPr lang="ko-KR" altLang="en-US" dirty="0"/>
              <a:t>투자수익을 동시에 보유한 이중형 조직의 비중은 증가하고 있는가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graphicFrame>
        <p:nvGraphicFramePr>
          <p:cNvPr id="11" name="차트 10">
            <a:extLst>
              <a:ext uri="{FF2B5EF4-FFF2-40B4-BE49-F238E27FC236}">
                <a16:creationId xmlns:a16="http://schemas.microsoft.com/office/drawing/2014/main" id="{44984D14-D621-E1CC-16C8-D52649F224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8006313"/>
              </p:ext>
            </p:extLst>
          </p:nvPr>
        </p:nvGraphicFramePr>
        <p:xfrm>
          <a:off x="3155635" y="2139090"/>
          <a:ext cx="5880729" cy="39204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53646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5773E-6AF6-8793-1A82-90A7DCC67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17B2FF-3F25-BB2A-0A81-1F9D5C548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데이터 분석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653BF5-06BB-B45A-DEDD-071CC599EB61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1A780C-66D8-CEE8-D7FA-3AA14D8E34E1}"/>
              </a:ext>
            </a:extLst>
          </p:cNvPr>
          <p:cNvSpPr txBox="1"/>
          <p:nvPr/>
        </p:nvSpPr>
        <p:spPr>
          <a:xfrm>
            <a:off x="560690" y="14987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BM-Final-2025020399-JongbeenSong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2AA3AD-3044-AFCE-AE6C-D9776D291E24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정책형</a:t>
            </a:r>
            <a:r>
              <a:rPr lang="en-US" altLang="ko-KR" dirty="0"/>
              <a:t>, </a:t>
            </a:r>
            <a:r>
              <a:rPr lang="ko-KR" altLang="en-US" dirty="0"/>
              <a:t>사업형</a:t>
            </a:r>
            <a:r>
              <a:rPr lang="en-US" altLang="ko-KR" dirty="0"/>
              <a:t>, </a:t>
            </a:r>
            <a:r>
              <a:rPr lang="ko-KR" altLang="en-US" dirty="0"/>
              <a:t>이중형</a:t>
            </a:r>
            <a:r>
              <a:rPr lang="en-US" altLang="ko-KR" dirty="0"/>
              <a:t>, </a:t>
            </a:r>
            <a:r>
              <a:rPr lang="ko-KR" altLang="en-US" dirty="0"/>
              <a:t>무수익형 간 전환은 어떠한 방향으로 나타나는가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8FF71C3-F135-EDFF-AAD0-8D936BB58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415" y="2020988"/>
            <a:ext cx="8383170" cy="417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9772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577B2-ABF7-A2F0-4333-CF99CCBB0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E8E9D4-A2DC-888F-6310-EACE8D776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데이터 분석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A1C492-3421-F93A-BA71-5AFF7D627C3C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A61C22-CAB7-E794-A3C8-5196D0CEB2B5}"/>
              </a:ext>
            </a:extLst>
          </p:cNvPr>
          <p:cNvSpPr txBox="1"/>
          <p:nvPr/>
        </p:nvSpPr>
        <p:spPr>
          <a:xfrm>
            <a:off x="560690" y="14987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BM-Final-2025020399-JongbeenSong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F58884-A18E-00A9-FB69-014C80D75244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업력이 높은 기술지주회사일수록 정책형에서 이중형 또는 사업형으로 이동하는가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4670FA55-142A-4E9C-1D45-7E1871E1F3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3743950"/>
              </p:ext>
            </p:extLst>
          </p:nvPr>
        </p:nvGraphicFramePr>
        <p:xfrm>
          <a:off x="3347770" y="2442362"/>
          <a:ext cx="5496460" cy="36643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01125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B8C13-2506-01EC-0360-56449035F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95CD80-BD77-4BBF-2EB7-90AEBBA87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데이터 분석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D969E8-35F0-543F-6182-160D6A72D6AD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B193E4-6C5E-AC79-DBF4-7A6C8DD57887}"/>
              </a:ext>
            </a:extLst>
          </p:cNvPr>
          <p:cNvSpPr txBox="1"/>
          <p:nvPr/>
        </p:nvSpPr>
        <p:spPr>
          <a:xfrm>
            <a:off x="560690" y="14987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BM-Final-2025020399-JongbeenSong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D6F5DB-CF60-E00C-57FC-731826A26B1D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공동형 기술지주회사는 단독형보다 이중형 수익구조를 가질 가능성이 높은가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D92399FC-A50C-5691-5972-5F886DFA00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4756197"/>
              </p:ext>
            </p:extLst>
          </p:nvPr>
        </p:nvGraphicFramePr>
        <p:xfrm>
          <a:off x="3347770" y="2442362"/>
          <a:ext cx="5496460" cy="36643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22036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A0FB9-10C5-0635-30F3-AE08B159D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19ECD7-C99F-E85C-1FE1-D79CBC99C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데이터 분석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359BFE-2F4D-CBB5-C385-2D01C0AE902C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E1D678-CA04-B0EA-ECD3-05ACD0B77B80}"/>
              </a:ext>
            </a:extLst>
          </p:cNvPr>
          <p:cNvSpPr txBox="1"/>
          <p:nvPr/>
        </p:nvSpPr>
        <p:spPr>
          <a:xfrm>
            <a:off x="560690" y="14987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BM-Final-2025020399-JongbeenSong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3E0A35-D67A-67C6-21D9-52F7B811302E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solidFill>
                  <a:srgbClr val="FF0000"/>
                </a:solidFill>
              </a:rPr>
              <a:t>수도권과 비수도권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권역별 기술지주회사 간에 정책의존도와 </a:t>
            </a:r>
            <a:r>
              <a:rPr lang="ko-KR" altLang="en-US" dirty="0" err="1">
                <a:solidFill>
                  <a:srgbClr val="FF0000"/>
                </a:solidFill>
              </a:rPr>
              <a:t>사업화수익</a:t>
            </a:r>
            <a:r>
              <a:rPr lang="ko-KR" altLang="en-US" dirty="0">
                <a:solidFill>
                  <a:srgbClr val="FF0000"/>
                </a:solidFill>
              </a:rPr>
              <a:t> 발생 가능성에 차이가 있는가</a:t>
            </a:r>
            <a:r>
              <a:rPr lang="en-US" altLang="ko-KR" dirty="0">
                <a:solidFill>
                  <a:srgbClr val="FF0000"/>
                </a:solidFill>
              </a:rPr>
              <a:t>?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3A8BE972-39BE-4443-37D6-72B0D71A73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0688681"/>
              </p:ext>
            </p:extLst>
          </p:nvPr>
        </p:nvGraphicFramePr>
        <p:xfrm>
          <a:off x="3306618" y="2292978"/>
          <a:ext cx="5578764" cy="37191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529351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3BE51-241E-319E-4472-E51B13FF4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3A3245-803E-C06E-BAB7-DC59A52B9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데이터 분석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CC890E-DC3A-2FC2-C04F-586C3A722E93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CD416B-DA6D-8B86-2417-9E1B3F391839}"/>
              </a:ext>
            </a:extLst>
          </p:cNvPr>
          <p:cNvSpPr txBox="1"/>
          <p:nvPr/>
        </p:nvSpPr>
        <p:spPr>
          <a:xfrm>
            <a:off x="560690" y="14987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BM-Final-2025020399-JongbeenSong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BF0FDC-C573-77E6-641F-344C011C3031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solidFill>
                  <a:srgbClr val="FF0000"/>
                </a:solidFill>
              </a:rPr>
              <a:t>수도권과 비수도권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권역별 기술지주회사 간에 정책의존도와 </a:t>
            </a:r>
            <a:r>
              <a:rPr lang="ko-KR" altLang="en-US" dirty="0" err="1">
                <a:solidFill>
                  <a:srgbClr val="FF0000"/>
                </a:solidFill>
              </a:rPr>
              <a:t>사업화수익</a:t>
            </a:r>
            <a:r>
              <a:rPr lang="ko-KR" altLang="en-US" dirty="0">
                <a:solidFill>
                  <a:srgbClr val="FF0000"/>
                </a:solidFill>
              </a:rPr>
              <a:t> 발생 가능성에 차이가 있는가</a:t>
            </a:r>
            <a:r>
              <a:rPr lang="en-US" altLang="ko-KR" dirty="0">
                <a:solidFill>
                  <a:srgbClr val="FF0000"/>
                </a:solidFill>
              </a:rPr>
              <a:t>?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BBC8728-26F8-E9C5-9445-0B37DB2F2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888" y="2741254"/>
            <a:ext cx="9488224" cy="265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0110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48761-6ED2-32EB-2582-437A692D0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68E4A9-C129-4FA5-1A31-FB99E6071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데이터 분석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CDEF02-D88B-EF6B-6F02-F9A096644E59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B62357-78D8-6488-1E11-54220EC04610}"/>
              </a:ext>
            </a:extLst>
          </p:cNvPr>
          <p:cNvSpPr txBox="1"/>
          <p:nvPr/>
        </p:nvSpPr>
        <p:spPr>
          <a:xfrm>
            <a:off x="560690" y="14987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BM-Final-2025020399-JongbeenSong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08E010-A21F-533D-63E3-A0ECFCEF40B4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dirty="0"/>
              <a:t>비수도권 기술지주회사는 수도권보다 </a:t>
            </a:r>
            <a:r>
              <a:rPr lang="en-US" altLang="ko-KR" sz="1800" dirty="0"/>
              <a:t>(</a:t>
            </a:r>
            <a:r>
              <a:rPr lang="ko-KR" altLang="en-US" sz="1800" dirty="0"/>
              <a:t>미세하지만</a:t>
            </a:r>
            <a:r>
              <a:rPr lang="en-US" altLang="ko-KR" sz="1800" dirty="0"/>
              <a:t>) </a:t>
            </a:r>
            <a:r>
              <a:rPr lang="ko-KR" altLang="en-US" sz="1800" dirty="0"/>
              <a:t>정부 정책 지원금에 더 의존하고 있고</a:t>
            </a:r>
            <a:r>
              <a:rPr lang="en-US" altLang="ko-KR" sz="1800" dirty="0"/>
              <a:t>, </a:t>
            </a:r>
            <a:r>
              <a:rPr lang="ko-KR" altLang="en-US" sz="1800" dirty="0"/>
              <a:t>자체적인 사업화 창출 능력도 상대적으로 떨어지는 것으로 보임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하지만</a:t>
            </a:r>
            <a:r>
              <a:rPr lang="en-US" altLang="ko-KR" sz="1800" dirty="0"/>
              <a:t>, </a:t>
            </a:r>
            <a:r>
              <a:rPr lang="ko-KR" altLang="en-US" sz="1800" dirty="0"/>
              <a:t>로지스틱 회귀분석을 통해 </a:t>
            </a:r>
            <a:r>
              <a:rPr lang="en-US" altLang="ko-KR" sz="1800" dirty="0"/>
              <a:t>‘</a:t>
            </a:r>
            <a:r>
              <a:rPr lang="ko-KR" altLang="en-US" sz="1800" dirty="0"/>
              <a:t>자본금</a:t>
            </a:r>
            <a:r>
              <a:rPr lang="en-US" altLang="ko-KR" sz="1800" dirty="0"/>
              <a:t>‘, ‘</a:t>
            </a:r>
            <a:r>
              <a:rPr lang="ko-KR" altLang="en-US" sz="1800" dirty="0"/>
              <a:t>전담인력</a:t>
            </a:r>
            <a:r>
              <a:rPr lang="en-US" altLang="ko-KR" sz="1800" dirty="0"/>
              <a:t>’, ‘</a:t>
            </a:r>
            <a:r>
              <a:rPr lang="ko-KR" altLang="en-US" sz="1800" dirty="0"/>
              <a:t>자회사 규모</a:t>
            </a:r>
            <a:r>
              <a:rPr lang="en-US" altLang="ko-KR" sz="1800" dirty="0"/>
              <a:t>‘</a:t>
            </a:r>
            <a:r>
              <a:rPr lang="ko-KR" altLang="en-US" sz="1800" dirty="0"/>
              <a:t>라는 조건을 똑같이 맞추고 진짜 원인을 파악해본 결과</a:t>
            </a:r>
            <a:r>
              <a:rPr lang="en-US" altLang="ko-KR" sz="1800" dirty="0"/>
              <a:t>,</a:t>
            </a:r>
          </a:p>
          <a:p>
            <a:pPr lvl="1"/>
            <a:r>
              <a:rPr lang="en-US" altLang="ko-KR" sz="1600" dirty="0"/>
              <a:t>[1] ‘</a:t>
            </a:r>
            <a:r>
              <a:rPr lang="ko-KR" altLang="en-US" sz="1600" dirty="0"/>
              <a:t>수도권에 위치한다</a:t>
            </a:r>
            <a:r>
              <a:rPr lang="en-US" altLang="ko-KR" sz="1600" dirty="0"/>
              <a:t>’ </a:t>
            </a:r>
            <a:r>
              <a:rPr lang="ko-KR" altLang="en-US" sz="1600" dirty="0"/>
              <a:t>자체는 수익 창출에 영향을 미치지 않음</a:t>
            </a:r>
            <a:endParaRPr lang="en-US" altLang="ko-KR" sz="1600" dirty="0"/>
          </a:p>
          <a:p>
            <a:pPr lvl="1"/>
            <a:r>
              <a:rPr lang="en-US" altLang="ko-KR" sz="1600" dirty="0"/>
              <a:t>[2] ‘</a:t>
            </a:r>
            <a:r>
              <a:rPr lang="ko-KR" altLang="en-US" sz="1600" dirty="0"/>
              <a:t>자회사 규모</a:t>
            </a:r>
            <a:r>
              <a:rPr lang="en-US" altLang="ko-KR" sz="1600" dirty="0"/>
              <a:t>(</a:t>
            </a:r>
            <a:r>
              <a:rPr lang="ko-KR" altLang="en-US" sz="1600" dirty="0"/>
              <a:t>매우 </a:t>
            </a:r>
            <a:r>
              <a:rPr lang="ko-KR" altLang="en-US" sz="1600" dirty="0" err="1"/>
              <a:t>유의미</a:t>
            </a:r>
            <a:r>
              <a:rPr lang="en-US" altLang="ko-KR" sz="1600" dirty="0"/>
              <a:t>)‘</a:t>
            </a:r>
            <a:r>
              <a:rPr lang="ko-KR" altLang="en-US" sz="1600" dirty="0"/>
              <a:t>와</a:t>
            </a:r>
            <a:r>
              <a:rPr lang="en-US" altLang="ko-KR" sz="1600" dirty="0"/>
              <a:t>, ‘</a:t>
            </a:r>
            <a:r>
              <a:rPr lang="ko-KR" altLang="en-US" sz="1600" dirty="0"/>
              <a:t>자본금</a:t>
            </a:r>
            <a:r>
              <a:rPr lang="en-US" altLang="ko-KR" sz="1600" dirty="0"/>
              <a:t>‘, ‘</a:t>
            </a:r>
            <a:r>
              <a:rPr lang="ko-KR" altLang="en-US" sz="1600" dirty="0"/>
              <a:t>전담인력</a:t>
            </a:r>
            <a:r>
              <a:rPr lang="en-US" altLang="ko-KR" sz="1600" dirty="0"/>
              <a:t>’</a:t>
            </a:r>
            <a:r>
              <a:rPr lang="ko-KR" altLang="en-US" sz="1600" dirty="0"/>
              <a:t>이 실질적 원인임을 규명함</a:t>
            </a:r>
            <a:endParaRPr lang="en-US" altLang="ko-KR" sz="1600" dirty="0"/>
          </a:p>
          <a:p>
            <a:r>
              <a:rPr lang="ko-KR" altLang="en-US" sz="1800" dirty="0"/>
              <a:t>따라서</a:t>
            </a:r>
            <a:r>
              <a:rPr lang="en-US" altLang="ko-KR" sz="1800" dirty="0"/>
              <a:t>, </a:t>
            </a:r>
            <a:r>
              <a:rPr lang="ko-KR" altLang="ko-KR" sz="1800" dirty="0"/>
              <a:t>비수도권 기술지주회사들이 자생적인 사업화 수익을 내지 못하고 정책에 의존하는 진짜 이유는 </a:t>
            </a:r>
            <a:r>
              <a:rPr lang="en-US" altLang="ko-KR" sz="1800" dirty="0"/>
              <a:t>‘</a:t>
            </a:r>
            <a:r>
              <a:rPr lang="ko-KR" altLang="ko-KR" sz="1800" dirty="0"/>
              <a:t>지방에 위치해서</a:t>
            </a:r>
            <a:r>
              <a:rPr lang="en-US" altLang="ko-KR" sz="1800" dirty="0"/>
              <a:t>’</a:t>
            </a:r>
            <a:r>
              <a:rPr lang="ko-KR" altLang="ko-KR" sz="1800" dirty="0"/>
              <a:t>가 </a:t>
            </a:r>
            <a:r>
              <a:rPr lang="ko-KR" altLang="en-US" sz="1800" dirty="0"/>
              <a:t>아니며</a:t>
            </a:r>
            <a:r>
              <a:rPr lang="en-US" altLang="ko-KR" sz="1800" dirty="0"/>
              <a:t>,</a:t>
            </a:r>
            <a:r>
              <a:rPr lang="ko-KR" altLang="ko-KR" sz="1800" dirty="0"/>
              <a:t> 수익 구조를 전환할 수 있는 절대적인 총알 즉, </a:t>
            </a:r>
            <a:r>
              <a:rPr lang="en-US" altLang="ko-KR" sz="1800" dirty="0"/>
              <a:t>‘</a:t>
            </a:r>
            <a:r>
              <a:rPr lang="ko-KR" altLang="ko-KR" sz="1800" dirty="0"/>
              <a:t>자본금, 전담 인력, 규모</a:t>
            </a:r>
            <a:r>
              <a:rPr lang="en-US" altLang="ko-KR" sz="1800" dirty="0"/>
              <a:t>’</a:t>
            </a:r>
            <a:r>
              <a:rPr lang="ko-KR" altLang="ko-KR" sz="1800" dirty="0"/>
              <a:t>가 수도권 회사들에 비해 턱없이 부족하기 때문</a:t>
            </a:r>
            <a:r>
              <a:rPr lang="ko-KR" altLang="en-US" sz="1800" dirty="0"/>
              <a:t>임</a:t>
            </a:r>
            <a:endParaRPr lang="en-US" altLang="ko-KR" sz="1800" dirty="0"/>
          </a:p>
          <a:p>
            <a:r>
              <a:rPr lang="ko-KR" altLang="ko-KR" sz="1800" dirty="0"/>
              <a:t>비수도권 기술지주회사를 살리기 위해 단순히 '지방 배려 차원의 지원금(정책 수익)'을 늘리는 것보다는, 비수도권 회사들이 자본금을 확충하고, 우수한 전문 인력을 유치하며, 덩치를 키울 수 있도록(자원 격차 해소) 돕는 지원이 결국 핵심임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5469926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8B86A-02E0-75D3-4DC4-F4A38026E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9B169-87DB-BB44-398F-E49BFB242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데이터 분석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66E609-4104-925D-88F5-1F3D555D79BE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9921B6-F413-5CD7-F376-946CF912B840}"/>
              </a:ext>
            </a:extLst>
          </p:cNvPr>
          <p:cNvSpPr txBox="1"/>
          <p:nvPr/>
        </p:nvSpPr>
        <p:spPr>
          <a:xfrm>
            <a:off x="560690" y="14987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BM-Final-2025020399-JongbeenSong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1E55EC-7EB8-FDBC-FD95-9E46B813B91F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국책사업비 수익이 존재하는 회사는 다음해 전담인력이 증가하는가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936D750-DDAD-5C40-FDD9-8C9ED9BE7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914" y="2944729"/>
            <a:ext cx="8926171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7023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235E1-A237-60AE-DBD1-3108A7A7E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4610AD-BB4D-D54E-0FA5-C289DC350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데이터 분석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AF1795-7417-B56C-E36B-61C44C3B6426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C3049C-FE5D-031F-A045-64E9040B5E04}"/>
              </a:ext>
            </a:extLst>
          </p:cNvPr>
          <p:cNvSpPr txBox="1"/>
          <p:nvPr/>
        </p:nvSpPr>
        <p:spPr>
          <a:xfrm>
            <a:off x="560690" y="14987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BM-Final-2025020399-JongbeenSong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C7E768-A3AD-A698-C057-F03C4005FF61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국책사업비 수익이 존재하는 회사는 다음해 신규 자회사 설립 수가 증가하는가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4D39C79-2103-DB1A-9D8C-28A79EB77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809" y="2901860"/>
            <a:ext cx="9002381" cy="176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1231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720F1-A06D-F52D-8E94-BE24F7B70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487C17-73D0-1067-C9F3-4CF81AD2C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데이터 분석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6342D4-F838-0865-4D9F-F825F471109F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140FC4-D99E-4CC0-FEF6-46CB0CDA2A82}"/>
              </a:ext>
            </a:extLst>
          </p:cNvPr>
          <p:cNvSpPr txBox="1"/>
          <p:nvPr/>
        </p:nvSpPr>
        <p:spPr>
          <a:xfrm>
            <a:off x="560690" y="14987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BM-Final-2025020399-JongbeenSong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715C2E-2C48-BDE6-9688-38B4DE24B6F6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국책사업비 수익은 다음해 또는 </a:t>
            </a:r>
            <a:r>
              <a:rPr lang="en-US" altLang="ko-KR" dirty="0"/>
              <a:t>2</a:t>
            </a:r>
            <a:r>
              <a:rPr lang="ko-KR" altLang="en-US" dirty="0"/>
              <a:t>년 후 사업화</a:t>
            </a:r>
            <a:r>
              <a:rPr lang="en-US" altLang="ko-KR" dirty="0"/>
              <a:t>·</a:t>
            </a:r>
            <a:r>
              <a:rPr lang="ko-KR" altLang="en-US" dirty="0"/>
              <a:t>투자수익 발생 가능성을 높이는가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4BC3A0A-6D1C-DB2C-F1BE-3A0625E0D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930" y="2392202"/>
            <a:ext cx="9345329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6736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20204-C16F-BDAA-7458-3826DD4C2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B78A3C-B6DA-F1C9-AC84-916975715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데이터 분석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AC92D6-BEDE-02AC-92B7-B30FE21ABD99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80B0D3-78A5-A300-714D-669C4E744197}"/>
              </a:ext>
            </a:extLst>
          </p:cNvPr>
          <p:cNvSpPr txBox="1"/>
          <p:nvPr/>
        </p:nvSpPr>
        <p:spPr>
          <a:xfrm>
            <a:off x="560690" y="14987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BM-Final-2025020399-JongbeenSong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07F034-EEA7-4392-CCEB-0A098F5781ED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solidFill>
                  <a:srgbClr val="FF0000"/>
                </a:solidFill>
              </a:rPr>
              <a:t>이러한 관계는 초기 조직과 성숙 조직에서 다르게 나타나는가</a:t>
            </a:r>
            <a:r>
              <a:rPr lang="en-US" altLang="ko-KR" dirty="0">
                <a:solidFill>
                  <a:srgbClr val="FF0000"/>
                </a:solidFill>
              </a:rPr>
              <a:t>?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12C901B-26A1-474A-D447-5CC77F319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0493" y="2416017"/>
            <a:ext cx="9231013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3687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9DC88-CF48-8942-6DD7-8650DFBA8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27008C-3B98-804A-3473-CA3667861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머신러닝</a:t>
            </a:r>
            <a:r>
              <a:rPr lang="ko-KR" altLang="en-US" dirty="0"/>
              <a:t> 활용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672CEB-3D93-2744-4C8B-9BD91BA509FE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CCC8CD-62BC-1FB0-E1ED-264E5CC99A14}"/>
              </a:ext>
            </a:extLst>
          </p:cNvPr>
          <p:cNvSpPr txBox="1"/>
          <p:nvPr/>
        </p:nvSpPr>
        <p:spPr>
          <a:xfrm>
            <a:off x="560690" y="14987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BM-Final-2025020399-JongbeenSong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A5C7E4-8D61-759A-A5E3-F4512D29E490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dirty="0"/>
              <a:t>주성분 분석</a:t>
            </a:r>
            <a:r>
              <a:rPr lang="en-US" altLang="ko-KR" sz="1800" dirty="0"/>
              <a:t>(PCA)</a:t>
            </a:r>
          </a:p>
          <a:p>
            <a:pPr lvl="1"/>
            <a:r>
              <a:rPr lang="ko-KR" altLang="en-US" sz="1600" dirty="0"/>
              <a:t>현재 변수가 많으니 이를 활용해 </a:t>
            </a:r>
            <a:r>
              <a:rPr lang="en-US" altLang="ko-KR" sz="1600" dirty="0"/>
              <a:t>‘</a:t>
            </a:r>
            <a:r>
              <a:rPr lang="ko-KR" altLang="en-US" sz="1600" dirty="0"/>
              <a:t>역량 지수</a:t>
            </a:r>
            <a:r>
              <a:rPr lang="en-US" altLang="ko-KR" sz="1600" dirty="0"/>
              <a:t>(Index)’ </a:t>
            </a:r>
            <a:r>
              <a:rPr lang="ko-KR" altLang="en-US" sz="1600" dirty="0"/>
              <a:t>개념을 새로 창출 시도</a:t>
            </a:r>
            <a:endParaRPr lang="en-US" altLang="ko-KR" sz="1600" dirty="0"/>
          </a:p>
          <a:p>
            <a:pPr lvl="1"/>
            <a:r>
              <a:rPr lang="en-US" altLang="ko-KR" sz="1600" dirty="0"/>
              <a:t>[Try</a:t>
            </a:r>
            <a:r>
              <a:rPr lang="ko-KR" altLang="en-US" sz="1600" dirty="0"/>
              <a:t> </a:t>
            </a:r>
            <a:r>
              <a:rPr lang="en-US" altLang="ko-KR" sz="1600" dirty="0"/>
              <a:t>&amp;</a:t>
            </a:r>
            <a:r>
              <a:rPr lang="ko-KR" altLang="en-US" sz="1600" dirty="0"/>
              <a:t> </a:t>
            </a:r>
            <a:r>
              <a:rPr lang="en-US" altLang="ko-KR" sz="1600" dirty="0"/>
              <a:t>Error]</a:t>
            </a:r>
            <a:r>
              <a:rPr lang="ko-KR" altLang="en-US" sz="1600" dirty="0"/>
              <a:t> 자본금과 전담인력 등 숫자 차이가 크기에 정규화 스케일링이 필요</a:t>
            </a:r>
            <a:endParaRPr lang="en-US" altLang="ko-KR" sz="1600" dirty="0"/>
          </a:p>
          <a:p>
            <a:r>
              <a:rPr lang="ko-KR" altLang="en-US" sz="1800" dirty="0"/>
              <a:t>계층적 군집화</a:t>
            </a:r>
            <a:r>
              <a:rPr lang="en-US" altLang="ko-KR" sz="1800" dirty="0"/>
              <a:t>(Hierarchy Clustering &amp; Dendrogram)</a:t>
            </a:r>
          </a:p>
          <a:p>
            <a:pPr lvl="1"/>
            <a:r>
              <a:rPr lang="ko-KR" altLang="en-US" sz="1600" dirty="0"/>
              <a:t>조직의 분화</a:t>
            </a:r>
            <a:r>
              <a:rPr lang="en-US" altLang="ko-KR" sz="1600" dirty="0"/>
              <a:t>(Divergence)</a:t>
            </a:r>
            <a:r>
              <a:rPr lang="ko-KR" altLang="en-US" sz="1600" dirty="0"/>
              <a:t>라는 이론적 가설을 </a:t>
            </a:r>
            <a:r>
              <a:rPr lang="ko-KR" altLang="en-US" sz="1600" dirty="0" err="1"/>
              <a:t>덴드로그램으로</a:t>
            </a:r>
            <a:r>
              <a:rPr lang="ko-KR" altLang="en-US" sz="1600" dirty="0"/>
              <a:t> 증명 시도</a:t>
            </a:r>
            <a:endParaRPr lang="en-US" altLang="ko-KR" sz="1600" dirty="0"/>
          </a:p>
          <a:p>
            <a:pPr lvl="1"/>
            <a:r>
              <a:rPr lang="en-US" altLang="ko-KR" sz="1600" dirty="0"/>
              <a:t>[Try &amp; Error] 5</a:t>
            </a:r>
            <a:r>
              <a:rPr lang="ko-KR" altLang="en-US" sz="1600" dirty="0"/>
              <a:t>년치 데이터를 한번에 </a:t>
            </a:r>
            <a:r>
              <a:rPr lang="ko-KR" altLang="en-US" sz="1600" dirty="0" err="1"/>
              <a:t>군집화하면</a:t>
            </a:r>
            <a:r>
              <a:rPr lang="ko-KR" altLang="en-US" sz="1600" dirty="0"/>
              <a:t> 같은 회사가 연도별로 다른 군집에 쪼개질 수 있어</a:t>
            </a:r>
            <a:r>
              <a:rPr lang="en-US" altLang="ko-KR" sz="1600" dirty="0"/>
              <a:t>, (1) </a:t>
            </a:r>
            <a:r>
              <a:rPr lang="ko-KR" altLang="en-US" sz="1600" dirty="0"/>
              <a:t>최근 연도</a:t>
            </a:r>
            <a:r>
              <a:rPr lang="en-US" altLang="ko-KR" sz="1600" dirty="0"/>
              <a:t>(2024</a:t>
            </a:r>
            <a:r>
              <a:rPr lang="ko-KR" altLang="en-US" sz="1600" dirty="0"/>
              <a:t>년</a:t>
            </a:r>
            <a:r>
              <a:rPr lang="en-US" altLang="ko-KR" sz="1600" dirty="0"/>
              <a:t>) </a:t>
            </a:r>
            <a:r>
              <a:rPr lang="ko-KR" altLang="en-US" sz="1600" dirty="0"/>
              <a:t>데이터만 활용</a:t>
            </a:r>
            <a:r>
              <a:rPr lang="en-US" altLang="ko-KR" sz="1600" dirty="0"/>
              <a:t>, </a:t>
            </a:r>
            <a:r>
              <a:rPr lang="ko-KR" altLang="en-US" sz="1600" dirty="0"/>
              <a:t>혹은 </a:t>
            </a:r>
            <a:r>
              <a:rPr lang="en-US" altLang="ko-KR" sz="1600" dirty="0"/>
              <a:t>(2) 5</a:t>
            </a:r>
            <a:r>
              <a:rPr lang="ko-KR" altLang="en-US" sz="1600" dirty="0" err="1"/>
              <a:t>년간의</a:t>
            </a:r>
            <a:r>
              <a:rPr lang="ko-KR" altLang="en-US" sz="1600" dirty="0"/>
              <a:t> </a:t>
            </a:r>
            <a:r>
              <a:rPr lang="en-US" altLang="ko-KR" sz="1600" dirty="0"/>
              <a:t>‘</a:t>
            </a:r>
            <a:r>
              <a:rPr lang="ko-KR" altLang="en-US" sz="1600" dirty="0"/>
              <a:t>성장률</a:t>
            </a:r>
            <a:r>
              <a:rPr lang="en-US" altLang="ko-KR" sz="1600" dirty="0"/>
              <a:t>(</a:t>
            </a:r>
            <a:r>
              <a:rPr lang="ko-KR" altLang="en-US" sz="1600" dirty="0" err="1"/>
              <a:t>차이값</a:t>
            </a:r>
            <a:r>
              <a:rPr lang="en-US" altLang="ko-KR" sz="1600" dirty="0"/>
              <a:t>)’</a:t>
            </a:r>
            <a:r>
              <a:rPr lang="ko-KR" altLang="en-US" sz="1600" dirty="0"/>
              <a:t>을 기준으로 군집화</a:t>
            </a:r>
            <a:endParaRPr lang="en-US" altLang="ko-KR" sz="1600" dirty="0"/>
          </a:p>
          <a:p>
            <a:r>
              <a:rPr lang="ko-KR" altLang="ko-KR" sz="1800" dirty="0" err="1"/>
              <a:t>Decision</a:t>
            </a:r>
            <a:r>
              <a:rPr lang="ko-KR" altLang="ko-KR" sz="1800" dirty="0"/>
              <a:t> Tree &amp; </a:t>
            </a:r>
            <a:r>
              <a:rPr lang="ko-KR" altLang="ko-KR" sz="1800" dirty="0" err="1"/>
              <a:t>Random</a:t>
            </a:r>
            <a:r>
              <a:rPr lang="ko-KR" altLang="ko-KR" sz="1800" dirty="0"/>
              <a:t> </a:t>
            </a:r>
            <a:r>
              <a:rPr lang="ko-KR" altLang="ko-KR" sz="1800" dirty="0" err="1"/>
              <a:t>Forest</a:t>
            </a:r>
            <a:r>
              <a:rPr lang="ko-KR" altLang="ko-KR" sz="1800" dirty="0"/>
              <a:t> (분류 및 피처 중요도)</a:t>
            </a:r>
            <a:endParaRPr lang="en-US" altLang="ko-KR" sz="1800" dirty="0"/>
          </a:p>
          <a:p>
            <a:pPr lvl="1"/>
            <a:r>
              <a:rPr lang="ko-KR" altLang="en-US" sz="1600" dirty="0"/>
              <a:t>결국 그래서 어떤 요소가 중요한가</a:t>
            </a:r>
            <a:r>
              <a:rPr lang="en-US" altLang="ko-KR" sz="1600" dirty="0"/>
              <a:t>?</a:t>
            </a:r>
            <a:r>
              <a:rPr lang="ko-KR" altLang="en-US" sz="1600" dirty="0"/>
              <a:t>를 직관적인 차트로 시각화 및 향후 예측 시스템 개발 시도</a:t>
            </a:r>
            <a:endParaRPr lang="en-US" altLang="ko-KR" sz="1600" dirty="0"/>
          </a:p>
          <a:p>
            <a:pPr lvl="1"/>
            <a:r>
              <a:rPr lang="ko-KR" altLang="en-US" sz="1600" dirty="0"/>
              <a:t>다음 해</a:t>
            </a:r>
            <a:r>
              <a:rPr lang="en-US" altLang="ko-KR" sz="1600" dirty="0"/>
              <a:t>(t+1) </a:t>
            </a:r>
            <a:r>
              <a:rPr lang="ko-KR" altLang="en-US" sz="1600" dirty="0"/>
              <a:t>이중형 전환 여부를 기준으로 설계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582691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945A5-E3FA-75EC-4456-1B3A42C62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40D748-7045-069D-145B-1101FD9CC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머신러닝</a:t>
            </a:r>
            <a:r>
              <a:rPr lang="ko-KR" altLang="en-US" dirty="0"/>
              <a:t> 활용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A4C748-5F27-DE27-7F76-E037297CD4E8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E0F79B-D6ED-19D5-009C-6BBC43695874}"/>
              </a:ext>
            </a:extLst>
          </p:cNvPr>
          <p:cNvSpPr txBox="1"/>
          <p:nvPr/>
        </p:nvSpPr>
        <p:spPr>
          <a:xfrm>
            <a:off x="560690" y="14987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BM-Final-2025020399-JongbeenSong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6D200A-2DA5-0424-16FF-94B3C785BBD8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dirty="0"/>
              <a:t>Dendrogram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19C9BFD-8CF9-8332-A5A0-4772591507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6300" y="2026975"/>
            <a:ext cx="7919400" cy="39597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3AE7E773-8DD5-B02B-A344-24CD2FCC1206}"/>
              </a:ext>
            </a:extLst>
          </p:cNvPr>
          <p:cNvSpPr/>
          <p:nvPr/>
        </p:nvSpPr>
        <p:spPr>
          <a:xfrm>
            <a:off x="2136299" y="4673599"/>
            <a:ext cx="7919401" cy="1032527"/>
          </a:xfrm>
          <a:prstGeom prst="rect">
            <a:avLst/>
          </a:prstGeom>
          <a:blipFill dpi="0" rotWithShape="1">
            <a:blip r:embed="rId4">
              <a:alphaModFix amt="67000"/>
            </a:blip>
            <a:srcRect/>
            <a:tile tx="0" ty="0" sx="100000" sy="100000" flip="none" algn="tl"/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22324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26F8F-38EB-8870-6EEB-6EDFE8868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85C60B-88EC-9A08-CAF9-EC0517699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머신러닝</a:t>
            </a:r>
            <a:r>
              <a:rPr lang="ko-KR" altLang="en-US" dirty="0"/>
              <a:t> 활용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E369F2-08CE-71EF-592C-085CCA095669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A0A936-2394-B935-B94F-CD9A22F0702C}"/>
              </a:ext>
            </a:extLst>
          </p:cNvPr>
          <p:cNvSpPr txBox="1"/>
          <p:nvPr/>
        </p:nvSpPr>
        <p:spPr>
          <a:xfrm>
            <a:off x="560690" y="14987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BM-Final-2025020399-JongbeenSong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7DA345D-5AB7-417E-F3BC-E72A25CF5C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5"/>
          <a:stretch>
            <a:fillRect/>
          </a:stretch>
        </p:blipFill>
        <p:spPr>
          <a:xfrm>
            <a:off x="2215936" y="1446622"/>
            <a:ext cx="7749317" cy="469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8165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944C8-EEFA-A777-CAFC-06059E5C1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3A9048-7645-35F2-1C0B-98814036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머신러닝</a:t>
            </a:r>
            <a:r>
              <a:rPr lang="ko-KR" altLang="en-US" dirty="0"/>
              <a:t> 활용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CF2B9E-E695-DDFF-70D4-ACC34FF51C01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4488F-E05F-36A7-55F9-7DF29FB95065}"/>
              </a:ext>
            </a:extLst>
          </p:cNvPr>
          <p:cNvSpPr txBox="1"/>
          <p:nvPr/>
        </p:nvSpPr>
        <p:spPr>
          <a:xfrm>
            <a:off x="560690" y="14987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BM-Final-2025020399-JongbeenSong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AB978E6-9828-8723-7F62-AC1AB94A3004}"/>
              </a:ext>
            </a:extLst>
          </p:cNvPr>
          <p:cNvGrpSpPr/>
          <p:nvPr/>
        </p:nvGrpSpPr>
        <p:grpSpPr>
          <a:xfrm>
            <a:off x="1648242" y="2139090"/>
            <a:ext cx="8906324" cy="2682292"/>
            <a:chOff x="1637433" y="2139090"/>
            <a:chExt cx="8906324" cy="2682292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484242A9-DC09-1B58-2A34-AB8D1F5EB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90363" y="2139090"/>
              <a:ext cx="6611273" cy="1524213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606B9188-611D-51F3-2EEA-65A7E23EA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37433" y="4119407"/>
              <a:ext cx="8906324" cy="7019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79082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A0127-5C68-C671-8B32-29D91E123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9DB4B5-AD50-B718-66FE-4E7C71192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조직역량 동원과 실증적 성과 분화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627768-2B89-FF69-C27C-BCAE4C93CD15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733B9C-95D7-78DC-D41B-7D2C5DD05A4A}"/>
              </a:ext>
            </a:extLst>
          </p:cNvPr>
          <p:cNvSpPr txBox="1"/>
          <p:nvPr/>
        </p:nvSpPr>
        <p:spPr>
          <a:xfrm>
            <a:off x="560690" y="14987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BM-Final-2025020399-JongbeenSong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2F10BD-79DB-4ABF-D55D-C33C487D9441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800" b="1" dirty="0"/>
              <a:t>자원 동원 능력에 따른 성과 분화</a:t>
            </a:r>
            <a:endParaRPr lang="en-US" altLang="ko-KR" sz="1800" b="1" dirty="0"/>
          </a:p>
          <a:p>
            <a:r>
              <a:rPr lang="ko-KR" altLang="ko-KR" sz="1800" dirty="0"/>
              <a:t>조직 성과는 단순 제도 유무가 아닌, 전문인력 역량 및 지역 요소시장 발달 수준에 의해 분화됨 (</a:t>
            </a:r>
            <a:r>
              <a:rPr lang="ko-KR" altLang="ko-KR" sz="1800" dirty="0" err="1"/>
              <a:t>Yuan</a:t>
            </a:r>
            <a:r>
              <a:rPr lang="ko-KR" altLang="ko-KR" sz="1800" dirty="0"/>
              <a:t> </a:t>
            </a:r>
            <a:r>
              <a:rPr lang="ko-KR" altLang="ko-KR" sz="1800" dirty="0" err="1"/>
              <a:t>et</a:t>
            </a:r>
            <a:r>
              <a:rPr lang="ko-KR" altLang="ko-KR" sz="1800" dirty="0"/>
              <a:t> </a:t>
            </a:r>
            <a:r>
              <a:rPr lang="ko-KR" altLang="ko-KR" sz="1800" dirty="0" err="1"/>
              <a:t>al</a:t>
            </a:r>
            <a:r>
              <a:rPr lang="ko-KR" altLang="ko-KR" sz="1800" dirty="0"/>
              <a:t>., 2016; </a:t>
            </a:r>
            <a:r>
              <a:rPr lang="ko-KR" altLang="ko-KR" sz="1800" dirty="0" err="1"/>
              <a:t>Cai</a:t>
            </a:r>
            <a:r>
              <a:rPr lang="ko-KR" altLang="ko-KR" sz="1800" dirty="0"/>
              <a:t> </a:t>
            </a:r>
            <a:r>
              <a:rPr lang="ko-KR" altLang="ko-KR" sz="1800" dirty="0" err="1"/>
              <a:t>et</a:t>
            </a:r>
            <a:r>
              <a:rPr lang="ko-KR" altLang="ko-KR" sz="1800" dirty="0"/>
              <a:t> </a:t>
            </a:r>
            <a:r>
              <a:rPr lang="ko-KR" altLang="ko-KR" sz="1800" dirty="0" err="1"/>
              <a:t>al</a:t>
            </a:r>
            <a:r>
              <a:rPr lang="ko-KR" altLang="ko-KR" sz="1800" dirty="0"/>
              <a:t>., 2015)</a:t>
            </a:r>
            <a:endParaRPr lang="en-US" altLang="ko-KR" sz="1800" dirty="0"/>
          </a:p>
          <a:p>
            <a:pPr marL="0" indent="0">
              <a:buNone/>
            </a:pPr>
            <a:r>
              <a:rPr lang="ko-KR" altLang="en-US" sz="1800" b="1" dirty="0"/>
              <a:t>국내 기술지주회사 실증 추이 </a:t>
            </a:r>
            <a:r>
              <a:rPr lang="en-US" altLang="ko-KR" sz="1800" b="1" dirty="0"/>
              <a:t>(2020~2024)</a:t>
            </a:r>
          </a:p>
          <a:p>
            <a:r>
              <a:rPr lang="ko-KR" altLang="ko-KR" sz="1800" b="1" dirty="0"/>
              <a:t>수익 구조의 변화:</a:t>
            </a:r>
            <a:r>
              <a:rPr lang="ko-KR" altLang="ko-KR" sz="1800" dirty="0"/>
              <a:t> 정책수익 비중은 </a:t>
            </a:r>
            <a:r>
              <a:rPr lang="ko-KR" altLang="ko-KR" sz="1800" dirty="0" err="1"/>
              <a:t>역U자형으로</a:t>
            </a:r>
            <a:r>
              <a:rPr lang="ko-KR" altLang="ko-KR" sz="1800" dirty="0"/>
              <a:t> 하락세 진입(24년 58.3%), </a:t>
            </a:r>
            <a:r>
              <a:rPr lang="ko-KR" altLang="ko-KR" sz="1800" dirty="0" err="1"/>
              <a:t>사업화·투자수익</a:t>
            </a:r>
            <a:r>
              <a:rPr lang="ko-KR" altLang="ko-KR" sz="1800" dirty="0"/>
              <a:t> 비중은 지속 </a:t>
            </a:r>
            <a:r>
              <a:rPr lang="ko-KR" altLang="ko-KR" sz="1800" dirty="0" err="1"/>
              <a:t>우상향</a:t>
            </a:r>
            <a:r>
              <a:rPr lang="ko-KR" altLang="ko-KR" sz="1800" dirty="0"/>
              <a:t>(37.0% → 59.5%)</a:t>
            </a:r>
            <a:endParaRPr lang="en-US" altLang="ko-KR" sz="1800" dirty="0"/>
          </a:p>
          <a:p>
            <a:r>
              <a:rPr lang="ko-KR" altLang="ko-KR" sz="1800" b="1" dirty="0"/>
              <a:t>조직 유형의 진화:</a:t>
            </a:r>
            <a:r>
              <a:rPr lang="ko-KR" altLang="ko-KR" sz="1800" dirty="0"/>
              <a:t> </a:t>
            </a:r>
            <a:r>
              <a:rPr lang="ko-KR" altLang="ko-KR" sz="1800" dirty="0" err="1"/>
              <a:t>공공·시장성을</a:t>
            </a:r>
            <a:r>
              <a:rPr lang="ko-KR" altLang="ko-KR" sz="1800" dirty="0"/>
              <a:t> 모두 갖춘 '이중형 </a:t>
            </a:r>
            <a:r>
              <a:rPr lang="ko-KR" altLang="ko-KR" sz="1800" dirty="0" err="1"/>
              <a:t>조직'의</a:t>
            </a:r>
            <a:r>
              <a:rPr lang="ko-KR" altLang="ko-KR" sz="1800" dirty="0"/>
              <a:t> 높은 지속성(78.7%), 정책형 조직의 다수가 이중형으로 전환됨(41.0%)</a:t>
            </a:r>
            <a:endParaRPr lang="en-US" altLang="ko-KR" sz="1800" dirty="0"/>
          </a:p>
          <a:p>
            <a:pPr marL="0" indent="0">
              <a:buNone/>
            </a:pPr>
            <a:r>
              <a:rPr lang="ko-KR" altLang="en-US" sz="1800" b="1" dirty="0"/>
              <a:t>사업화 수익의 핵심 결정요인</a:t>
            </a:r>
            <a:endParaRPr lang="en-US" altLang="ko-KR" sz="1800" dirty="0"/>
          </a:p>
          <a:p>
            <a:r>
              <a:rPr lang="ko-KR" altLang="ko-KR" sz="1800" dirty="0"/>
              <a:t>단순한 지리적 차이(수도권/비수도권)는 통계적으로 무의의함 (</a:t>
            </a:r>
            <a:r>
              <a:rPr lang="ko-KR" altLang="ko-KR" sz="1800" dirty="0" err="1"/>
              <a:t>p</a:t>
            </a:r>
            <a:r>
              <a:rPr lang="ko-KR" altLang="ko-KR" sz="1800" dirty="0"/>
              <a:t>=0.148)</a:t>
            </a:r>
            <a:endParaRPr lang="en-US" altLang="ko-KR" sz="1800" dirty="0"/>
          </a:p>
          <a:p>
            <a:r>
              <a:rPr lang="ko-KR" altLang="ko-KR" sz="1800" dirty="0"/>
              <a:t>자본금, 전담인력 등 실질적인 '조직적 자원 동원 </a:t>
            </a:r>
            <a:r>
              <a:rPr lang="ko-KR" altLang="ko-KR" sz="1800" dirty="0" err="1"/>
              <a:t>능력'이</a:t>
            </a:r>
            <a:r>
              <a:rPr lang="ko-KR" altLang="ko-KR" sz="1800" dirty="0"/>
              <a:t> 핵심 요인으로 작용</a:t>
            </a:r>
            <a:endParaRPr lang="en-US" altLang="ko-KR" sz="1800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968831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21C9F-09B5-2C37-C273-EADFFB426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21F677-A11B-DED5-0E04-8D30F62D6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본</a:t>
            </a:r>
            <a:r>
              <a:rPr lang="en-US" altLang="ko-KR" dirty="0"/>
              <a:t> </a:t>
            </a:r>
            <a:r>
              <a:rPr lang="ko-KR" altLang="en-US" dirty="0"/>
              <a:t>연구의 차별성 및 학술적</a:t>
            </a:r>
            <a:r>
              <a:rPr lang="en-US" altLang="ko-KR" dirty="0"/>
              <a:t>·</a:t>
            </a:r>
            <a:r>
              <a:rPr lang="ko-KR" altLang="en-US" dirty="0"/>
              <a:t>정책적 기여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8DBE72-A0A5-8A06-89C1-9BE1F3CD72BC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5E3E84-97DE-5193-0967-6A4557DB583A}"/>
              </a:ext>
            </a:extLst>
          </p:cNvPr>
          <p:cNvSpPr txBox="1"/>
          <p:nvPr/>
        </p:nvSpPr>
        <p:spPr>
          <a:xfrm>
            <a:off x="560690" y="14987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BM-Final-2025020399-JongbeenSong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C0BBD8-B237-7BEF-2690-D52EB60C4B27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/>
              <a:t>종단적 전수 데이터 기반의 실증</a:t>
            </a:r>
            <a:endParaRPr lang="en-US" altLang="ko-KR" b="1" dirty="0"/>
          </a:p>
          <a:p>
            <a:r>
              <a:rPr lang="en-US" altLang="ko-KR" sz="1800" dirty="0"/>
              <a:t>[</a:t>
            </a:r>
            <a:r>
              <a:rPr lang="ko-KR" altLang="en-US" sz="1800" dirty="0"/>
              <a:t>기존</a:t>
            </a:r>
            <a:r>
              <a:rPr lang="en-US" altLang="ko-KR" sz="1800" dirty="0"/>
              <a:t>] </a:t>
            </a:r>
            <a:r>
              <a:rPr lang="ko-KR" altLang="en-US" sz="1800" dirty="0"/>
              <a:t>단면적 사례 연구 → </a:t>
            </a:r>
            <a:r>
              <a:rPr lang="en-US" altLang="ko-KR" sz="1800" dirty="0"/>
              <a:t>[</a:t>
            </a:r>
            <a:r>
              <a:rPr lang="ko-KR" altLang="en-US" sz="1800" dirty="0"/>
              <a:t>본 연구</a:t>
            </a:r>
            <a:r>
              <a:rPr lang="en-US" altLang="ko-KR" sz="1800" dirty="0"/>
              <a:t>] </a:t>
            </a:r>
            <a:r>
              <a:rPr lang="ko-KR" altLang="ko-KR" sz="1800" dirty="0"/>
              <a:t>5개년(2020~2024) 전국 전수 데이터 기반 생태계 진화 경로 추적</a:t>
            </a:r>
            <a:endParaRPr lang="en-US" altLang="ko-KR" sz="1800" dirty="0"/>
          </a:p>
          <a:p>
            <a:pPr marL="0" indent="0">
              <a:buNone/>
            </a:pPr>
            <a:r>
              <a:rPr lang="ko-KR" altLang="en-US" b="1" dirty="0"/>
              <a:t>포트폴리오 관점의 조직 유형화</a:t>
            </a:r>
            <a:endParaRPr lang="en-US" altLang="ko-KR" b="1" dirty="0"/>
          </a:p>
          <a:p>
            <a:r>
              <a:rPr lang="en-US" altLang="ko-KR" sz="1800" dirty="0"/>
              <a:t>[</a:t>
            </a:r>
            <a:r>
              <a:rPr lang="ko-KR" altLang="en-US" sz="1800" dirty="0"/>
              <a:t>기존</a:t>
            </a:r>
            <a:r>
              <a:rPr lang="en-US" altLang="ko-KR" sz="1800" dirty="0"/>
              <a:t>] </a:t>
            </a:r>
            <a:r>
              <a:rPr lang="ko-KR" altLang="en-US" sz="1800" dirty="0"/>
              <a:t>단순 성과지표 나열 → </a:t>
            </a:r>
            <a:r>
              <a:rPr lang="en-US" altLang="ko-KR" sz="1800" dirty="0"/>
              <a:t>[</a:t>
            </a:r>
            <a:r>
              <a:rPr lang="ko-KR" altLang="en-US" sz="1800" dirty="0"/>
              <a:t>본 연구</a:t>
            </a:r>
            <a:r>
              <a:rPr lang="en-US" altLang="ko-KR" sz="1800" dirty="0"/>
              <a:t>] </a:t>
            </a:r>
            <a:r>
              <a:rPr lang="ko-KR" altLang="en-US" sz="1800" dirty="0"/>
              <a:t>수익 결합 구조에 따른 </a:t>
            </a:r>
            <a:r>
              <a:rPr lang="en-US" altLang="ko-KR" sz="1800" dirty="0"/>
              <a:t>4</a:t>
            </a:r>
            <a:r>
              <a:rPr lang="ko-KR" altLang="en-US" sz="1800" dirty="0"/>
              <a:t>대 운영 모델</a:t>
            </a:r>
            <a:r>
              <a:rPr lang="en-US" altLang="ko-KR" sz="1800" dirty="0"/>
              <a:t>(</a:t>
            </a:r>
            <a:r>
              <a:rPr lang="ko-KR" altLang="en-US" sz="1800" dirty="0"/>
              <a:t>정책형</a:t>
            </a:r>
            <a:r>
              <a:rPr lang="en-US" altLang="ko-KR" sz="1800" dirty="0"/>
              <a:t>, </a:t>
            </a:r>
            <a:r>
              <a:rPr lang="ko-KR" altLang="en-US" sz="1800" dirty="0"/>
              <a:t>사업형</a:t>
            </a:r>
            <a:r>
              <a:rPr lang="en-US" altLang="ko-KR" sz="1800" dirty="0"/>
              <a:t>, </a:t>
            </a:r>
            <a:r>
              <a:rPr lang="ko-KR" altLang="en-US" sz="1800" dirty="0"/>
              <a:t>이중형</a:t>
            </a:r>
            <a:r>
              <a:rPr lang="en-US" altLang="ko-KR" sz="1800" dirty="0"/>
              <a:t>, </a:t>
            </a:r>
            <a:r>
              <a:rPr lang="ko-KR" altLang="en-US" sz="1800" dirty="0"/>
              <a:t>무수익형</a:t>
            </a:r>
            <a:r>
              <a:rPr lang="en-US" altLang="ko-KR" sz="1800" dirty="0"/>
              <a:t>)</a:t>
            </a:r>
          </a:p>
          <a:p>
            <a:pPr marL="0" indent="0">
              <a:buNone/>
            </a:pPr>
            <a:r>
              <a:rPr lang="ko-KR" altLang="en-US" b="1" dirty="0"/>
              <a:t>정부 지원의 마중물 효과 규명</a:t>
            </a:r>
            <a:endParaRPr lang="en-US" altLang="ko-KR" b="1" dirty="0"/>
          </a:p>
          <a:p>
            <a:r>
              <a:rPr lang="en-US" altLang="ko-KR" sz="1800" dirty="0"/>
              <a:t>[</a:t>
            </a:r>
            <a:r>
              <a:rPr lang="ko-KR" altLang="en-US" sz="1800" dirty="0"/>
              <a:t>기존</a:t>
            </a:r>
            <a:r>
              <a:rPr lang="en-US" altLang="ko-KR" sz="1800" dirty="0"/>
              <a:t>] </a:t>
            </a:r>
            <a:r>
              <a:rPr lang="ko-KR" altLang="en-US" sz="1800" dirty="0"/>
              <a:t>예산 의존성 심화 우려 → </a:t>
            </a:r>
            <a:r>
              <a:rPr lang="en-US" altLang="ko-KR" sz="1800" dirty="0"/>
              <a:t>[</a:t>
            </a:r>
            <a:r>
              <a:rPr lang="ko-KR" altLang="en-US" sz="1800" dirty="0"/>
              <a:t>본 연구</a:t>
            </a:r>
            <a:r>
              <a:rPr lang="en-US" altLang="ko-KR" sz="1800" dirty="0"/>
              <a:t>] </a:t>
            </a:r>
            <a:r>
              <a:rPr lang="ko-KR" altLang="en-US" sz="1800" dirty="0"/>
              <a:t>국책사업비 지출이 </a:t>
            </a:r>
            <a:r>
              <a:rPr lang="en-US" altLang="ko-KR" sz="1800" dirty="0"/>
              <a:t>2</a:t>
            </a:r>
            <a:r>
              <a:rPr lang="ko-KR" altLang="en-US" sz="1800" dirty="0"/>
              <a:t>년 후 자립적 사업화 수익을 높인다는 시차 효과</a:t>
            </a:r>
            <a:r>
              <a:rPr lang="en-US" altLang="ko-KR" sz="1800" dirty="0"/>
              <a:t>(Lagged Effect) </a:t>
            </a:r>
            <a:r>
              <a:rPr lang="ko-KR" altLang="en-US" sz="1800" dirty="0"/>
              <a:t>최초 실증</a:t>
            </a:r>
            <a:endParaRPr lang="en-US" altLang="ko-KR" sz="1800" dirty="0"/>
          </a:p>
          <a:p>
            <a:pPr marL="0" indent="0">
              <a:buNone/>
            </a:pPr>
            <a:r>
              <a:rPr lang="ko-KR" altLang="en-US" b="1" dirty="0"/>
              <a:t>운영모델 분화 조건의 정밀 검증</a:t>
            </a:r>
            <a:endParaRPr lang="en-US" altLang="ko-KR" dirty="0"/>
          </a:p>
          <a:p>
            <a:r>
              <a:rPr lang="ko-KR" altLang="en-US" sz="1800" dirty="0"/>
              <a:t>다항 로지스틱 분석을 통해 업력</a:t>
            </a:r>
            <a:r>
              <a:rPr lang="en-US" altLang="ko-KR" sz="1800" dirty="0"/>
              <a:t>, </a:t>
            </a:r>
            <a:r>
              <a:rPr lang="ko-KR" altLang="en-US" sz="1800" dirty="0"/>
              <a:t>자본금</a:t>
            </a:r>
            <a:r>
              <a:rPr lang="en-US" altLang="ko-KR" sz="1800" dirty="0"/>
              <a:t>, </a:t>
            </a:r>
            <a:r>
              <a:rPr lang="ko-KR" altLang="en-US" sz="1800" dirty="0"/>
              <a:t>전담인력 등 조직 내부 자원 격차가 모델 진화에 미치는 영향 검증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2769264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2A9FF-4B7A-B8E4-0B21-4ABA6A679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240499-7F3E-FA40-90C4-7CB98505A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한계점 및 향후 연구 제언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D4F3EF-F74A-F06D-131A-7010D53B6A84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ADB8E9-94B8-DCAA-4B5D-5C2291B2933A}"/>
              </a:ext>
            </a:extLst>
          </p:cNvPr>
          <p:cNvSpPr txBox="1"/>
          <p:nvPr/>
        </p:nvSpPr>
        <p:spPr>
          <a:xfrm>
            <a:off x="560690" y="14987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BM-Final-2025020399-JongbeenSong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89C9A8-D5FD-2FAD-115C-F69644812BD8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/>
              <a:t>정성적 지표의 누락</a:t>
            </a:r>
            <a:endParaRPr lang="en-US" altLang="ko-KR" b="1" dirty="0"/>
          </a:p>
          <a:p>
            <a:r>
              <a:rPr lang="ko-KR" altLang="ko-KR" sz="1800" dirty="0"/>
              <a:t>본 연구는 </a:t>
            </a:r>
            <a:r>
              <a:rPr lang="ko-KR" altLang="ko-KR" sz="1800" dirty="0" err="1"/>
              <a:t>계량화된</a:t>
            </a:r>
            <a:r>
              <a:rPr lang="ko-KR" altLang="ko-KR" sz="1800" dirty="0"/>
              <a:t> 재무/인력 데이터만 사용했기 때문에 CEO(대표이사)의 투자 철학, 모(母)대학의 지원 의지, 기술지주회사가 보유한 특정 특허의 질적 수준 등 </a:t>
            </a:r>
            <a:r>
              <a:rPr lang="ko-KR" altLang="ko-KR" sz="1800" b="1" dirty="0"/>
              <a:t>정성적 역량</a:t>
            </a:r>
            <a:r>
              <a:rPr lang="ko-KR" altLang="ko-KR" sz="1800" dirty="0"/>
              <a:t>을 모델에 반영하지 못한 한계가 있</a:t>
            </a:r>
            <a:r>
              <a:rPr lang="ko-KR" altLang="en-US" sz="1800" dirty="0"/>
              <a:t>음</a:t>
            </a:r>
            <a:endParaRPr lang="en-US" altLang="ko-KR" sz="1800" dirty="0"/>
          </a:p>
          <a:p>
            <a:pPr marL="0" indent="0">
              <a:buNone/>
            </a:pPr>
            <a:r>
              <a:rPr lang="ko-KR" altLang="en-US" b="1" dirty="0"/>
              <a:t>한정된 데이터로 인한 한계</a:t>
            </a:r>
            <a:r>
              <a:rPr lang="en-US" altLang="ko-KR" b="1" dirty="0"/>
              <a:t> (i.e. Network Analysis)</a:t>
            </a:r>
          </a:p>
          <a:p>
            <a:r>
              <a:rPr lang="ko-KR" altLang="ko-KR" sz="1800" dirty="0"/>
              <a:t>이중형으로 성공적으로 안착한 기술지주회사들이 </a:t>
            </a:r>
            <a:r>
              <a:rPr lang="en-US" altLang="ko-KR" sz="1800" dirty="0"/>
              <a:t>‘</a:t>
            </a:r>
            <a:r>
              <a:rPr lang="ko-KR" altLang="ko-KR" sz="1800" dirty="0"/>
              <a:t>어떤 민간 </a:t>
            </a:r>
            <a:r>
              <a:rPr lang="ko-KR" altLang="ko-KR" sz="1800" dirty="0" err="1"/>
              <a:t>엑셀러레이터</a:t>
            </a:r>
            <a:r>
              <a:rPr lang="ko-KR" altLang="ko-KR" sz="1800" dirty="0"/>
              <a:t>(AC)나 </a:t>
            </a:r>
            <a:r>
              <a:rPr lang="ko-KR" altLang="ko-KR" sz="1800" dirty="0" err="1"/>
              <a:t>벤처캐피탈</a:t>
            </a:r>
            <a:r>
              <a:rPr lang="ko-KR" altLang="ko-KR" sz="1800" dirty="0"/>
              <a:t>(VC)과 공동 투자를 진행했는지’ </a:t>
            </a:r>
            <a:r>
              <a:rPr lang="ko-KR" altLang="en-US" sz="1800" dirty="0"/>
              <a:t>등 </a:t>
            </a:r>
            <a:r>
              <a:rPr lang="ko-KR" altLang="ko-KR" sz="1800" dirty="0"/>
              <a:t>투자 생태계 네트워크 지도를 그려보면, 외부 자원 동원력이 성과에 미치는 영향을 더 정밀하게 규명할 수 있을</a:t>
            </a:r>
            <a:r>
              <a:rPr lang="en-US" altLang="ko-KR" sz="1800" dirty="0"/>
              <a:t> </a:t>
            </a:r>
            <a:r>
              <a:rPr lang="ko-KR" altLang="en-US" sz="1800" dirty="0"/>
              <a:t>것으로 보임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11911245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572A47-D215-D6D5-161F-1C267EEFA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2848082"/>
            <a:ext cx="11049000" cy="1161836"/>
          </a:xfrm>
        </p:spPr>
        <p:txBody>
          <a:bodyPr>
            <a:noAutofit/>
          </a:bodyPr>
          <a:lstStyle/>
          <a:p>
            <a:pPr algn="ctr"/>
            <a:r>
              <a:rPr lang="en-US" altLang="ko-KR" sz="9600" dirty="0"/>
              <a:t>Thank you</a:t>
            </a:r>
            <a:endParaRPr lang="ko-KR" altLang="en-US" sz="9600" dirty="0"/>
          </a:p>
        </p:txBody>
      </p:sp>
    </p:spTree>
    <p:extLst>
      <p:ext uri="{BB962C8B-B14F-4D97-AF65-F5344CB8AC3E}">
        <p14:creationId xmlns:p14="http://schemas.microsoft.com/office/powerpoint/2010/main" val="57891815"/>
      </p:ext>
    </p:extLst>
  </p:cSld>
  <p:clrMapOvr>
    <a:masterClrMapping/>
  </p:clrMapOvr>
</p:sld>
</file>

<file path=ppt/theme/theme1.xml><?xml version="1.0" encoding="utf-8"?>
<a:theme xmlns:a="http://schemas.openxmlformats.org/drawingml/2006/main" name="AlignmentVTI">
  <a:themeElements>
    <a:clrScheme name="Alignment">
      <a:dk1>
        <a:sysClr val="windowText" lastClr="000000"/>
      </a:dk1>
      <a:lt1>
        <a:sysClr val="window" lastClr="FFFFFF"/>
      </a:lt1>
      <a:dk2>
        <a:srgbClr val="3B3D38"/>
      </a:dk2>
      <a:lt2>
        <a:srgbClr val="F7F2EE"/>
      </a:lt2>
      <a:accent1>
        <a:srgbClr val="928A63"/>
      </a:accent1>
      <a:accent2>
        <a:srgbClr val="B57B6B"/>
      </a:accent2>
      <a:accent3>
        <a:srgbClr val="9E8484"/>
      </a:accent3>
      <a:accent4>
        <a:srgbClr val="7C8A75"/>
      </a:accent4>
      <a:accent5>
        <a:srgbClr val="8C8578"/>
      </a:accent5>
      <a:accent6>
        <a:srgbClr val="A18563"/>
      </a:accent6>
      <a:hlink>
        <a:srgbClr val="B57B6B"/>
      </a:hlink>
      <a:folHlink>
        <a:srgbClr val="7C8A75"/>
      </a:folHlink>
    </a:clrScheme>
    <a:fontScheme name="Custom 1">
      <a:majorFont>
        <a:latin typeface="Batang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lignmentVTI" id="{606D7720-FAA0-4ADC-B967-3239DA8ECA1A}" vid="{10074623-6FCC-4A3C-AAA5-58644BD8FF19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3045</TotalTime>
  <Words>2060</Words>
  <Application>Microsoft Office PowerPoint</Application>
  <PresentationFormat>와이드스크린</PresentationFormat>
  <Paragraphs>266</Paragraphs>
  <Slides>33</Slides>
  <Notes>31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8" baseType="lpstr">
      <vt:lpstr>맑은 고딕</vt:lpstr>
      <vt:lpstr>Batang</vt:lpstr>
      <vt:lpstr>Arial</vt:lpstr>
      <vt:lpstr>Avenir Next LT Pro Light</vt:lpstr>
      <vt:lpstr>AlignmentVTI</vt:lpstr>
      <vt:lpstr>PowerPoint 프레젠테이션</vt:lpstr>
      <vt:lpstr>연구 배경</vt:lpstr>
      <vt:lpstr>연구 배경</vt:lpstr>
      <vt:lpstr>선행연구 검토</vt:lpstr>
      <vt:lpstr>선행연구 검토</vt:lpstr>
      <vt:lpstr>선행연구 검토</vt:lpstr>
      <vt:lpstr>선행연구 검토</vt:lpstr>
      <vt:lpstr>데이터 확보</vt:lpstr>
      <vt:lpstr>데이터 훑어보기</vt:lpstr>
      <vt:lpstr>가설 설정</vt:lpstr>
      <vt:lpstr>가설 설정</vt:lpstr>
      <vt:lpstr>가설 설정</vt:lpstr>
      <vt:lpstr>가설 설정</vt:lpstr>
      <vt:lpstr>데이터 분석</vt:lpstr>
      <vt:lpstr>데이터 분석</vt:lpstr>
      <vt:lpstr>데이터 분석</vt:lpstr>
      <vt:lpstr>데이터 분석</vt:lpstr>
      <vt:lpstr>데이터 분석</vt:lpstr>
      <vt:lpstr>데이터 분석</vt:lpstr>
      <vt:lpstr>데이터 분석</vt:lpstr>
      <vt:lpstr>데이터 분석</vt:lpstr>
      <vt:lpstr>데이터 분석</vt:lpstr>
      <vt:lpstr>데이터 분석</vt:lpstr>
      <vt:lpstr>데이터 분석</vt:lpstr>
      <vt:lpstr>데이터 분석</vt:lpstr>
      <vt:lpstr>머신러닝 활용</vt:lpstr>
      <vt:lpstr>머신러닝 활용</vt:lpstr>
      <vt:lpstr>머신러닝 활용</vt:lpstr>
      <vt:lpstr>머신러닝 활용</vt:lpstr>
      <vt:lpstr>조직역량 동원과 실증적 성과 분화</vt:lpstr>
      <vt:lpstr>본 연구의 차별성 및 학술적·정책적 기여</vt:lpstr>
      <vt:lpstr>한계점 및 향후 연구 제언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Jongbeen Song</dc:creator>
  <cp:lastModifiedBy>Jongbeen Song</cp:lastModifiedBy>
  <cp:revision>21</cp:revision>
  <dcterms:created xsi:type="dcterms:W3CDTF">2026-02-13T15:35:19Z</dcterms:created>
  <dcterms:modified xsi:type="dcterms:W3CDTF">2026-06-10T07:25:04Z</dcterms:modified>
</cp:coreProperties>
</file>