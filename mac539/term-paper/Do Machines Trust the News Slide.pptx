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9" r:id="rId1"/>
  </p:sldMasterIdLst>
  <p:notesMasterIdLst>
    <p:notesMasterId r:id="rId30"/>
  </p:notesMasterIdLst>
  <p:sldIdLst>
    <p:sldId id="256" r:id="rId2"/>
    <p:sldId id="319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4" r:id="rId25"/>
    <p:sldId id="258" r:id="rId26"/>
    <p:sldId id="347" r:id="rId27"/>
    <p:sldId id="348" r:id="rId28"/>
    <p:sldId id="349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Microsoft GothicNeo" panose="020B0500000101010101" pitchFamily="50" charset="-127"/>
      <p:regular r:id="rId32"/>
      <p:bold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5B4FF-3AC0-40C5-AEB5-10480B19AC71}" v="555" dt="2025-05-27T02:36:26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88831" autoAdjust="0"/>
  </p:normalViewPr>
  <p:slideViewPr>
    <p:cSldViewPr snapToGrid="0">
      <p:cViewPr varScale="1">
        <p:scale>
          <a:sx n="93" d="100"/>
          <a:sy n="93" d="100"/>
        </p:scale>
        <p:origin x="5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A7E22-43A4-49BE-AA50-0B5D87666FD8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0A2F-D45E-4DD1-B302-CE9ACC826F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852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5D475-51C1-4885-A38A-86539639F433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8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9FD6-0620-4C2F-949D-C9749FA7285D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5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C74-D040-4F2D-B38F-A01716BB9AD4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5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2D97-2C31-4C30-91D4-062968966947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C0CC3-8753-4F99-A3D0-010C2D2D3CE7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4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B9D12-5C79-499B-95C6-795A0234DD87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1F2F-7943-4EB6-B06B-225A465C74FD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3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A4D4-A337-4F87-8123-07AE2DDEDA79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E0B3-F6AF-4BD6-9B59-51BE1FD533E4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0BDE-32F9-4869-9DA5-C9E30622BCA9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4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B46D-518A-4F03-AA02-9386911DC544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6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820B0A0B-F7A2-4203-B629-2B6E78739CDA}" type="datetime1">
              <a:rPr lang="en-US" altLang="ko-KR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CF81F6-1384-68E7-DB62-B0F19E2A5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676900" cy="4456987"/>
          </a:xfrm>
        </p:spPr>
        <p:txBody>
          <a:bodyPr>
            <a:normAutofit/>
          </a:bodyPr>
          <a:lstStyle/>
          <a:p>
            <a:r>
              <a:rPr lang="en-US" altLang="ko-KR" sz="4400" b="1" dirty="0"/>
              <a:t>Do Machines Trust the News?</a:t>
            </a:r>
            <a:br>
              <a:rPr lang="en-US" altLang="ko-KR" sz="4400" dirty="0"/>
            </a:br>
            <a:br>
              <a:rPr lang="en-US" altLang="ko-KR" sz="4400" dirty="0"/>
            </a:br>
            <a:r>
              <a:rPr lang="en-US" altLang="ko-KR" sz="3200" dirty="0"/>
              <a:t>An Empirical Investigation of Generative AI’s Media Trust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4B12A4-65BF-27C1-0721-A2A894069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825916"/>
            <a:ext cx="4857857" cy="1005657"/>
          </a:xfrm>
        </p:spPr>
        <p:txBody>
          <a:bodyPr>
            <a:normAutofit/>
          </a:bodyPr>
          <a:lstStyle/>
          <a:p>
            <a:r>
              <a:rPr lang="en-US" altLang="ko-KR" dirty="0"/>
              <a:t>2026.04.22.</a:t>
            </a:r>
            <a:endParaRPr lang="ko-KR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생동감 넘치는 색채의 벡터 배경">
            <a:extLst>
              <a:ext uri="{FF2B5EF4-FFF2-40B4-BE49-F238E27FC236}">
                <a16:creationId xmlns:a16="http://schemas.microsoft.com/office/drawing/2014/main" id="{DED2E342-BF94-60C9-087A-477E1347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0" r="16240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6F67F8-9B0A-B88E-93E4-AABE45487BBB}"/>
              </a:ext>
            </a:extLst>
          </p:cNvPr>
          <p:cNvSpPr txBox="1"/>
          <p:nvPr/>
        </p:nvSpPr>
        <p:spPr>
          <a:xfrm>
            <a:off x="703400" y="620802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New Media &amp; Society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CA655-1BDD-AD45-7BF0-DE89EB28C20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Jongbeen</a:t>
            </a:r>
            <a:r>
              <a:rPr lang="en-US" altLang="ko-KR" dirty="0"/>
              <a:t> Song &amp; Young Min (2026)</a:t>
            </a:r>
          </a:p>
        </p:txBody>
      </p:sp>
    </p:spTree>
    <p:extLst>
      <p:ext uri="{BB962C8B-B14F-4D97-AF65-F5344CB8AC3E}">
        <p14:creationId xmlns:p14="http://schemas.microsoft.com/office/powerpoint/2010/main" val="306275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4B7F-2AB5-D175-C967-6DB8BA75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9919C0-782E-8304-D72A-33603BEE659B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1. </a:t>
            </a:r>
            <a:r>
              <a:rPr lang="ko-KR" altLang="en-US" sz="2000" b="1" dirty="0">
                <a:latin typeface="+mn-ea"/>
                <a:ea typeface="+mn-ea"/>
              </a:rPr>
              <a:t>현대의 미디어 생태계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정보의 범람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제도적 신뢰의 쇠퇴 </a:t>
            </a:r>
            <a:r>
              <a:rPr lang="en-US" altLang="ko-KR" sz="2000" dirty="0">
                <a:latin typeface="+mn-ea"/>
                <a:ea typeface="+mn-ea"/>
              </a:rPr>
              <a:t>(Fletcher et al. 2025)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+mn-ea"/>
                <a:ea typeface="+mn-ea"/>
              </a:rPr>
              <a:t>TV </a:t>
            </a:r>
            <a:r>
              <a:rPr lang="ko-KR" altLang="en-US" sz="2000" dirty="0">
                <a:latin typeface="+mn-ea"/>
                <a:ea typeface="+mn-ea"/>
              </a:rPr>
              <a:t>중심의 방송 환경 </a:t>
            </a:r>
            <a:r>
              <a:rPr lang="en-US" altLang="ko-KR" sz="2000" dirty="0">
                <a:latin typeface="+mn-ea"/>
                <a:ea typeface="+mn-ea"/>
              </a:rPr>
              <a:t>-&gt; </a:t>
            </a:r>
            <a:r>
              <a:rPr lang="ko-KR" altLang="en-US" sz="2000" dirty="0">
                <a:latin typeface="+mn-ea"/>
                <a:ea typeface="+mn-ea"/>
              </a:rPr>
              <a:t>소셜 미디어 환경으로의 전환 </a:t>
            </a:r>
            <a:r>
              <a:rPr lang="en-US" altLang="ko-KR" sz="2000" dirty="0">
                <a:latin typeface="+mn-ea"/>
                <a:ea typeface="+mn-ea"/>
              </a:rPr>
              <a:t>(Fletcher et al. 2025)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2. </a:t>
            </a:r>
            <a:r>
              <a:rPr lang="ko-KR" altLang="en-US" sz="2000" b="1" dirty="0">
                <a:latin typeface="+mn-ea"/>
                <a:ea typeface="+mn-ea"/>
              </a:rPr>
              <a:t>파편화된 디지털 </a:t>
            </a:r>
            <a:r>
              <a:rPr lang="ko-KR" altLang="en-US" sz="2000" b="1" dirty="0" err="1">
                <a:latin typeface="+mn-ea"/>
                <a:ea typeface="+mn-ea"/>
              </a:rPr>
              <a:t>공론장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자동화된 중개자에 의존 </a:t>
            </a:r>
            <a:r>
              <a:rPr lang="en-US" altLang="ko-KR" sz="2000" dirty="0">
                <a:latin typeface="+mn-ea"/>
                <a:ea typeface="+mn-ea"/>
              </a:rPr>
              <a:t>UP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+mn-ea"/>
                <a:ea typeface="+mn-ea"/>
              </a:rPr>
              <a:t>LLMs &amp; AI</a:t>
            </a:r>
            <a:r>
              <a:rPr lang="ko-KR" altLang="en-US" sz="2000" dirty="0">
                <a:latin typeface="+mn-ea"/>
                <a:ea typeface="+mn-ea"/>
              </a:rPr>
              <a:t>의 확산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수동적인 검색 엔진 </a:t>
            </a:r>
            <a:r>
              <a:rPr lang="en-US" altLang="ko-KR" sz="2000" dirty="0">
                <a:latin typeface="+mn-ea"/>
                <a:ea typeface="+mn-ea"/>
              </a:rPr>
              <a:t>-&gt; </a:t>
            </a:r>
            <a:r>
              <a:rPr lang="ko-KR" altLang="en-US" sz="2000" dirty="0">
                <a:latin typeface="+mn-ea"/>
                <a:ea typeface="+mn-ea"/>
              </a:rPr>
              <a:t>능동적인 대화형 행위자</a:t>
            </a:r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  <a:latin typeface="+mn-ea"/>
                <a:ea typeface="+mn-ea"/>
              </a:rPr>
              <a:t>AI</a:t>
            </a:r>
            <a:r>
              <a:rPr lang="ko-KR" altLang="en-US" sz="2000" dirty="0">
                <a:highlight>
                  <a:srgbClr val="FFFF00"/>
                </a:highlight>
                <a:latin typeface="+mn-ea"/>
                <a:ea typeface="+mn-ea"/>
              </a:rPr>
              <a:t>는 뉴스 미디어에 대해 측정 가능한 신뢰의 성향을 지니고 또 전파하는가</a:t>
            </a:r>
            <a:r>
              <a:rPr lang="en-US" altLang="ko-KR" sz="2000" dirty="0">
                <a:highlight>
                  <a:srgbClr val="FFFF00"/>
                </a:highlight>
                <a:latin typeface="+mn-ea"/>
                <a:ea typeface="+mn-ea"/>
              </a:rPr>
              <a:t>?</a:t>
            </a:r>
          </a:p>
          <a:p>
            <a:r>
              <a:rPr lang="ko-KR" altLang="en-US" sz="2000" dirty="0">
                <a:highlight>
                  <a:srgbClr val="FFFF00"/>
                </a:highlight>
                <a:latin typeface="+mn-ea"/>
                <a:ea typeface="+mn-ea"/>
              </a:rPr>
              <a:t>아니면 불신과 냉소의 성향을 지니고 전파하는가</a:t>
            </a:r>
            <a:r>
              <a:rPr lang="en-US" altLang="ko-KR" sz="2000" dirty="0">
                <a:highlight>
                  <a:srgbClr val="FFFF00"/>
                </a:highlight>
                <a:latin typeface="+mn-ea"/>
                <a:ea typeface="+mn-ea"/>
              </a:rPr>
              <a:t>?</a:t>
            </a:r>
            <a:endParaRPr lang="ko-KR" altLang="en-US" sz="20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CEA948-CE24-CA6D-06EA-DCB39D0C5DB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Motivation Phenomenon</a:t>
            </a:r>
            <a:endParaRPr lang="en-US" altLang="ko-KR" sz="1000" dirty="0"/>
          </a:p>
          <a:p>
            <a:pPr marL="514350" indent="-514350">
              <a:buAutoNum type="arabicPeriod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408CF-92BE-1EF7-4B14-7471F763C01E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72ECDE-E866-3654-A33F-4A025E50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2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4B22-960D-B0FE-3471-CE6A9AE5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9163758-BDB5-5921-CF4F-42B270502334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3. </a:t>
            </a:r>
            <a:r>
              <a:rPr lang="ko-KR" altLang="en-US" sz="2000" b="1" dirty="0">
                <a:latin typeface="+mn-ea"/>
                <a:ea typeface="+mn-ea"/>
              </a:rPr>
              <a:t>생성형 인공지능의 특성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개방형 웹에서 수집한 인간의 디지털 텍스트 말뭉치로 학습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현재 인간의 온라인 커뮤니케이션을 특징짓는 편향</a:t>
            </a:r>
            <a:r>
              <a:rPr lang="en-US" altLang="ko-KR" sz="2000" dirty="0"/>
              <a:t>, </a:t>
            </a:r>
            <a:r>
              <a:rPr lang="ko-KR" altLang="en-US" sz="2000" dirty="0"/>
              <a:t>양극화된 담론</a:t>
            </a:r>
            <a:r>
              <a:rPr lang="en-US" altLang="ko-KR" sz="2000" dirty="0"/>
              <a:t>, </a:t>
            </a:r>
            <a:r>
              <a:rPr lang="ko-KR" altLang="en-US" sz="2000" dirty="0"/>
              <a:t>반제도권 정서가 그대로 스며들어 있음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+mn-ea"/>
                <a:ea typeface="+mn-ea"/>
              </a:rPr>
              <a:t>AI </a:t>
            </a:r>
            <a:r>
              <a:rPr lang="ko-KR" altLang="en-US" sz="2000" dirty="0">
                <a:latin typeface="+mn-ea"/>
                <a:ea typeface="+mn-ea"/>
              </a:rPr>
              <a:t>시스템이 </a:t>
            </a:r>
            <a:r>
              <a:rPr lang="en-US" altLang="ko-KR" sz="2000" dirty="0">
                <a:latin typeface="+mn-ea"/>
                <a:ea typeface="+mn-ea"/>
              </a:rPr>
              <a:t>gatekeeping </a:t>
            </a:r>
            <a:r>
              <a:rPr lang="ko-KR" altLang="en-US" sz="2000" dirty="0">
                <a:latin typeface="+mn-ea"/>
                <a:ea typeface="+mn-ea"/>
              </a:rPr>
              <a:t>역할을 수행한다면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/>
              <a:t>미디어의 신뢰성에 관한 그 기저의 확률적 신념은 인간 이용자에게 제공하는 요약</a:t>
            </a:r>
            <a:r>
              <a:rPr lang="en-US" altLang="ko-KR" sz="2000" dirty="0"/>
              <a:t>, </a:t>
            </a:r>
            <a:r>
              <a:rPr lang="ko-KR" altLang="en-US" sz="2000" dirty="0"/>
              <a:t>인용</a:t>
            </a:r>
            <a:r>
              <a:rPr lang="en-US" altLang="ko-KR" sz="2000" dirty="0"/>
              <a:t>, </a:t>
            </a:r>
            <a:r>
              <a:rPr lang="ko-KR" altLang="en-US" sz="2000" dirty="0"/>
              <a:t>대화형 응답에 필연적으로 영향을 미칠 것임</a:t>
            </a:r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4. </a:t>
            </a:r>
            <a:r>
              <a:rPr lang="ko-KR" altLang="en-US" sz="2000" b="1" dirty="0">
                <a:latin typeface="+mn-ea"/>
                <a:ea typeface="+mn-ea"/>
              </a:rPr>
              <a:t>기존 연구의 공백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AI </a:t>
            </a:r>
            <a:r>
              <a:rPr lang="ko-KR" altLang="en-US" sz="2000" dirty="0"/>
              <a:t>모델의 미디어 신뢰 구조를 조사한 실증 연구는 사실상 거의 존재하지 않음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전통적인 매스커뮤니케이션 수용자 연구 틀을 비인간 </a:t>
            </a:r>
            <a:r>
              <a:rPr lang="ko-KR" altLang="en-US" sz="2000" dirty="0" err="1"/>
              <a:t>행위자에게까지</a:t>
            </a:r>
            <a:r>
              <a:rPr lang="ko-KR" altLang="en-US" sz="2000" dirty="0"/>
              <a:t> 확장 시도</a:t>
            </a:r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AI</a:t>
            </a:r>
            <a:r>
              <a:rPr lang="ko-KR" altLang="en-US" sz="2000" dirty="0">
                <a:highlight>
                  <a:srgbClr val="FFFF00"/>
                </a:highlight>
              </a:rPr>
              <a:t>가 생성하는 공적 담론의 잠재적 위험을 진단하고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</a:p>
          <a:p>
            <a:r>
              <a:rPr lang="en-US" altLang="ko-KR" sz="2000" dirty="0">
                <a:highlight>
                  <a:srgbClr val="FFFF00"/>
                </a:highlight>
              </a:rPr>
              <a:t>AI </a:t>
            </a:r>
            <a:r>
              <a:rPr lang="ko-KR" altLang="en-US" sz="2000" dirty="0">
                <a:highlight>
                  <a:srgbClr val="FFFF00"/>
                </a:highlight>
              </a:rPr>
              <a:t>저널리즘 윤리 및 알고리즘 정렬에 관한 새롭게 부상하는 논의에 기여하고자 함</a:t>
            </a:r>
            <a:endParaRPr lang="en-US" altLang="ko-KR" sz="2000" dirty="0">
              <a:highlight>
                <a:srgbClr val="FFFF00"/>
              </a:highligh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A487FF-304E-B598-866A-176234BD014B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Phenomenon - Problem Raising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14D0D-E501-D207-ACAF-9F930528F8E4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8B53EE-06F5-8962-4A05-4DFAAEE7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CBC5-EBD8-0257-FF81-7C5D1F33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C4C2DBB-F452-4272-6E7F-079030A995FB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5. HMC </a:t>
            </a:r>
            <a:r>
              <a:rPr lang="ko-KR" altLang="en-US" sz="2000" b="1" dirty="0">
                <a:latin typeface="+mn-ea"/>
                <a:ea typeface="+mn-ea"/>
              </a:rPr>
              <a:t>프레임워크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atin typeface="+mn-ea"/>
                <a:ea typeface="+mn-ea"/>
              </a:rPr>
              <a:t>HMC</a:t>
            </a:r>
            <a:r>
              <a:rPr lang="ko-KR" altLang="en-US" sz="2000" dirty="0">
                <a:latin typeface="+mn-ea"/>
                <a:ea typeface="+mn-ea"/>
              </a:rPr>
              <a:t> 프레임워크</a:t>
            </a:r>
            <a:r>
              <a:rPr lang="en-US" altLang="ko-KR" sz="2000" dirty="0">
                <a:latin typeface="+mn-ea"/>
                <a:ea typeface="+mn-ea"/>
              </a:rPr>
              <a:t>: </a:t>
            </a:r>
            <a:r>
              <a:rPr lang="en-US" altLang="ko-KR" sz="2000" dirty="0"/>
              <a:t>AI</a:t>
            </a:r>
            <a:r>
              <a:rPr lang="ko-KR" altLang="en-US" sz="2000" dirty="0"/>
              <a:t>가 더 이상 단순한 매개자가 아니라 독립적으로 의미를 구성하고 역동적인 담론에 참여할 수 있는 자율적 </a:t>
            </a:r>
            <a:r>
              <a:rPr lang="ko-KR" altLang="en-US" sz="2000" dirty="0" err="1"/>
              <a:t>커뮤니케이터로</a:t>
            </a:r>
            <a:r>
              <a:rPr lang="ko-KR" altLang="en-US" sz="2000" dirty="0"/>
              <a:t> 기능함 </a:t>
            </a:r>
            <a:r>
              <a:rPr lang="en-US" altLang="ko-KR" sz="2000" dirty="0"/>
              <a:t>(Guzman 2018)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내부의 계산적 아키텍처가 외부의 신뢰 대상들에 대한 특정한 지향성을 부호화하고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이 맥락에서 그 대상은 뉴스 미디어 산업 전체를 포괄함</a:t>
            </a:r>
            <a:r>
              <a:rPr lang="en-US" altLang="ko-KR" sz="2000" dirty="0"/>
              <a:t> (Lewis et al. 2019)</a:t>
            </a:r>
            <a:endParaRPr lang="en-US" altLang="ko-KR" sz="2000" dirty="0">
              <a:latin typeface="+mn-ea"/>
              <a:ea typeface="+mn-ea"/>
            </a:endParaRP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6. </a:t>
            </a:r>
            <a:r>
              <a:rPr lang="ko-KR" altLang="en-US" sz="2000" b="1" dirty="0">
                <a:latin typeface="+mn-ea"/>
                <a:ea typeface="+mn-ea"/>
              </a:rPr>
              <a:t>미디어 방정식</a:t>
            </a:r>
            <a:r>
              <a:rPr lang="en-US" altLang="ko-KR" sz="2000" b="1" dirty="0">
                <a:latin typeface="+mn-ea"/>
                <a:ea typeface="+mn-ea"/>
              </a:rPr>
              <a:t>, CASA </a:t>
            </a:r>
            <a:r>
              <a:rPr lang="ko-KR" altLang="en-US" sz="2000" b="1" dirty="0">
                <a:latin typeface="+mn-ea"/>
                <a:ea typeface="+mn-ea"/>
              </a:rPr>
              <a:t>패러다임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인간이 컴퓨터와 상호작용할 때 인간 대 인간 상호작용에서 사용하는 사회적 휴리스틱</a:t>
            </a:r>
            <a:r>
              <a:rPr lang="en-US" altLang="ko-KR" sz="2000" dirty="0"/>
              <a:t>, </a:t>
            </a:r>
            <a:r>
              <a:rPr lang="ko-KR" altLang="en-US" sz="2000" dirty="0"/>
              <a:t>규칙</a:t>
            </a:r>
            <a:r>
              <a:rPr lang="en-US" altLang="ko-KR" sz="2000" dirty="0"/>
              <a:t>, </a:t>
            </a:r>
            <a:r>
              <a:rPr lang="ko-KR" altLang="en-US" sz="2000" dirty="0"/>
              <a:t>기대를 무의식적이고 자동적으로 그대로 적용함 </a:t>
            </a:r>
            <a:r>
              <a:rPr lang="en-US" altLang="ko-KR" sz="2000" dirty="0"/>
              <a:t>(Naas et al. 1994)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사람들은 컴퓨터가 인간이 아님을 의식적으로 알고 있으면서도</a:t>
            </a:r>
            <a:r>
              <a:rPr lang="en-US" altLang="ko-KR" sz="2000" dirty="0"/>
              <a:t>, </a:t>
            </a:r>
            <a:r>
              <a:rPr lang="ko-KR" altLang="en-US" sz="2000" dirty="0"/>
              <a:t>그들에게 성격 특성을 부여하고</a:t>
            </a:r>
            <a:r>
              <a:rPr lang="en-US" altLang="ko-KR" sz="2000" dirty="0"/>
              <a:t>, </a:t>
            </a:r>
            <a:r>
              <a:rPr lang="ko-KR" altLang="en-US" sz="2000" dirty="0"/>
              <a:t>고정관념과 규범을 적용하며</a:t>
            </a:r>
            <a:r>
              <a:rPr lang="en-US" altLang="ko-KR" sz="2000" dirty="0"/>
              <a:t>, </a:t>
            </a:r>
            <a:r>
              <a:rPr lang="ko-KR" altLang="en-US" sz="2000" dirty="0"/>
              <a:t>인간에게 하듯 판단과 추론을 내림 </a:t>
            </a:r>
            <a:r>
              <a:rPr lang="en-US" altLang="ko-KR" sz="2000" dirty="0"/>
              <a:t>(Gambino et al. 2020)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09D1F8-B567-5236-DA54-8EC394EAEBFA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6C623-2B9F-8AA5-FE6C-BE209D067D34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C53F3A-7F65-C096-B449-468657C5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5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7239-ADAA-95CC-409D-8319900D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38C5B81-1AC9-EFB9-2C47-34B80174D82B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7. Computational Psychometrics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계산 심리측정은 인간에 대한 심리측정 기반 측정 틀을 자연어 처리</a:t>
            </a:r>
            <a:r>
              <a:rPr lang="en-US" altLang="ko-KR" sz="2000" dirty="0"/>
              <a:t>, </a:t>
            </a:r>
            <a:r>
              <a:rPr lang="ko-KR" altLang="en-US" sz="2000" dirty="0"/>
              <a:t>기계학습</a:t>
            </a:r>
            <a:r>
              <a:rPr lang="en-US" altLang="ko-KR" sz="2000" dirty="0"/>
              <a:t>, </a:t>
            </a:r>
            <a:r>
              <a:rPr lang="ko-KR" altLang="en-US" sz="2000" dirty="0"/>
              <a:t>인공지능과 같은 데이터 기반 방법론과 결합하여</a:t>
            </a:r>
            <a:r>
              <a:rPr lang="en-US" altLang="ko-KR" sz="2000" dirty="0"/>
              <a:t>, </a:t>
            </a:r>
            <a:r>
              <a:rPr lang="ko-KR" altLang="en-US" sz="2000" dirty="0"/>
              <a:t>복잡한 신경망의 잠재 </a:t>
            </a:r>
            <a:r>
              <a:rPr lang="ko-KR" altLang="en-US" sz="2000" dirty="0" err="1"/>
              <a:t>임베딩과</a:t>
            </a:r>
            <a:r>
              <a:rPr lang="ko-KR" altLang="en-US" sz="2000" dirty="0"/>
              <a:t> 생성된 출력물을 평가할 수 있도록 확장한 접근 </a:t>
            </a:r>
            <a:r>
              <a:rPr lang="en-US" altLang="ko-KR" sz="2000" dirty="0"/>
              <a:t>(</a:t>
            </a:r>
            <a:r>
              <a:rPr lang="it-IT" altLang="ko-KR" sz="2000" dirty="0"/>
              <a:t>Li et al. 2025; Geranpayeh 2023)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/>
              <a:t>AI</a:t>
            </a:r>
            <a:r>
              <a:rPr lang="ko-KR" altLang="en-US" sz="2000" dirty="0"/>
              <a:t>를 표준화된 심리측정 도구에 응답하는 피험자로 간주함으로써</a:t>
            </a:r>
            <a:r>
              <a:rPr lang="en-US" altLang="ko-KR" sz="2000" dirty="0"/>
              <a:t>, </a:t>
            </a:r>
            <a:r>
              <a:rPr lang="ko-KR" altLang="en-US" sz="2000" dirty="0"/>
              <a:t>연구자들은 모델이 </a:t>
            </a:r>
            <a:r>
              <a:rPr lang="ko-KR" altLang="en-US" sz="2000" dirty="0" err="1"/>
              <a:t>시뮬레이션하는</a:t>
            </a:r>
            <a:r>
              <a:rPr lang="ko-KR" altLang="en-US" sz="2000" dirty="0"/>
              <a:t> 신념의 내적 일관성</a:t>
            </a:r>
            <a:r>
              <a:rPr lang="en-US" altLang="ko-KR" sz="2000" dirty="0"/>
              <a:t>, </a:t>
            </a:r>
            <a:r>
              <a:rPr lang="ko-KR" altLang="en-US" sz="2000" dirty="0"/>
              <a:t>구성타당도</a:t>
            </a:r>
            <a:r>
              <a:rPr lang="en-US" altLang="ko-KR" sz="2000" dirty="0"/>
              <a:t>, </a:t>
            </a:r>
            <a:r>
              <a:rPr lang="ko-KR" altLang="en-US" sz="2000" dirty="0"/>
              <a:t>그리고 상대적 분산을 계산할 수 있음 </a:t>
            </a:r>
            <a:r>
              <a:rPr lang="en-US" altLang="ko-KR" sz="2000" dirty="0"/>
              <a:t>(Ye et al. 2025)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AI</a:t>
            </a:r>
            <a:r>
              <a:rPr lang="ko-KR" altLang="en-US" sz="2000" dirty="0"/>
              <a:t>를 설문조사에 참여할 수 있는 하나의 수용자</a:t>
            </a:r>
            <a:r>
              <a:rPr lang="en-US" altLang="ko-KR" sz="2000" dirty="0"/>
              <a:t>(audience member)</a:t>
            </a:r>
            <a:r>
              <a:rPr lang="ko-KR" altLang="en-US" sz="2000" dirty="0"/>
              <a:t>로 취급하여 평가해도 과학적으로 신뢰할 수 있음</a:t>
            </a:r>
            <a:r>
              <a:rPr lang="en-US" altLang="ko-KR" sz="2000" dirty="0"/>
              <a:t> (Maharjan et al.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5~7</a:t>
            </a:r>
            <a:r>
              <a:rPr lang="ko-KR" altLang="en-US" sz="2000" dirty="0">
                <a:highlight>
                  <a:srgbClr val="FFFF00"/>
                </a:highlight>
              </a:rPr>
              <a:t>은 방법론적 접근의 타당성을 입증하기 위함</a:t>
            </a:r>
            <a:endParaRPr lang="en-US" altLang="ko-KR" sz="20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49B195-9E5A-542F-11D9-393CAE5B7187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BD105-F988-A4F6-4A4C-3E52DA759B86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2FB144B-0F09-6019-9C49-D4DA8A1D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3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FC9D-BDF4-6A92-C318-486810F5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1D05E94-3467-70A6-173F-801B6F2B0DD8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8. </a:t>
            </a:r>
            <a:r>
              <a:rPr lang="ko-KR" altLang="en-US" sz="2000" b="1" dirty="0">
                <a:latin typeface="+mn-ea"/>
                <a:ea typeface="+mn-ea"/>
              </a:rPr>
              <a:t>미디어 신뢰 </a:t>
            </a:r>
            <a:r>
              <a:rPr lang="en-US" altLang="ko-KR" sz="2000" b="1" dirty="0">
                <a:latin typeface="+mn-ea"/>
                <a:ea typeface="+mn-ea"/>
              </a:rPr>
              <a:t>(Media Trust)</a:t>
            </a:r>
            <a:r>
              <a:rPr lang="ko-KR" altLang="en-US" sz="2000" b="1" dirty="0">
                <a:latin typeface="+mn-ea"/>
                <a:ea typeface="+mn-ea"/>
              </a:rPr>
              <a:t>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미디어 신뢰에 대한 측정이 모호하고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서로 다른 개념들이 자주 혼동되곤 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신뢰는 </a:t>
            </a:r>
            <a:r>
              <a:rPr lang="en-US" altLang="ko-KR" sz="2000" dirty="0">
                <a:latin typeface="+mn-ea"/>
                <a:ea typeface="+mn-ea"/>
              </a:rPr>
              <a:t>(1) </a:t>
            </a:r>
            <a:r>
              <a:rPr lang="ko-KR" altLang="en-US" sz="2000" dirty="0">
                <a:latin typeface="+mn-ea"/>
                <a:ea typeface="+mn-ea"/>
              </a:rPr>
              <a:t>공정성</a:t>
            </a:r>
            <a:r>
              <a:rPr lang="en-US" altLang="ko-KR" sz="2000" dirty="0">
                <a:latin typeface="+mn-ea"/>
                <a:ea typeface="+mn-ea"/>
              </a:rPr>
              <a:t>, (2) </a:t>
            </a:r>
            <a:r>
              <a:rPr lang="ko-KR" altLang="en-US" sz="2000" dirty="0">
                <a:latin typeface="+mn-ea"/>
                <a:ea typeface="+mn-ea"/>
              </a:rPr>
              <a:t>편향성</a:t>
            </a:r>
            <a:r>
              <a:rPr lang="en-US" altLang="ko-KR" sz="2000" dirty="0">
                <a:latin typeface="+mn-ea"/>
                <a:ea typeface="+mn-ea"/>
              </a:rPr>
              <a:t>, (3) </a:t>
            </a:r>
            <a:r>
              <a:rPr lang="ko-KR" altLang="en-US" sz="2000" dirty="0">
                <a:latin typeface="+mn-ea"/>
                <a:ea typeface="+mn-ea"/>
              </a:rPr>
              <a:t>완결성</a:t>
            </a:r>
            <a:r>
              <a:rPr lang="en-US" altLang="ko-KR" sz="2000" dirty="0">
                <a:latin typeface="+mn-ea"/>
                <a:ea typeface="+mn-ea"/>
              </a:rPr>
              <a:t>, (4) </a:t>
            </a:r>
            <a:r>
              <a:rPr lang="ko-KR" altLang="en-US" sz="2000" dirty="0">
                <a:latin typeface="+mn-ea"/>
                <a:ea typeface="+mn-ea"/>
              </a:rPr>
              <a:t>정확성</a:t>
            </a:r>
            <a:r>
              <a:rPr lang="en-US" altLang="ko-KR" sz="2000" dirty="0">
                <a:latin typeface="+mn-ea"/>
                <a:ea typeface="+mn-ea"/>
              </a:rPr>
              <a:t>, (5) </a:t>
            </a:r>
            <a:r>
              <a:rPr lang="ko-KR" altLang="en-US" sz="2000" dirty="0">
                <a:latin typeface="+mn-ea"/>
                <a:ea typeface="+mn-ea"/>
              </a:rPr>
              <a:t>사실</a:t>
            </a:r>
            <a:r>
              <a:rPr lang="en-US" altLang="ko-KR" sz="2000" dirty="0">
                <a:latin typeface="+mn-ea"/>
                <a:ea typeface="+mn-ea"/>
              </a:rPr>
              <a:t>-</a:t>
            </a:r>
            <a:r>
              <a:rPr lang="ko-KR" altLang="en-US" sz="2000" dirty="0">
                <a:latin typeface="+mn-ea"/>
                <a:ea typeface="+mn-ea"/>
              </a:rPr>
              <a:t>의견 구분성으로 다층적으로 측정될 수 있음 </a:t>
            </a:r>
            <a:r>
              <a:rPr lang="en-US" altLang="ko-KR" sz="2000" dirty="0">
                <a:latin typeface="+mn-ea"/>
                <a:ea typeface="+mn-ea"/>
              </a:rPr>
              <a:t>(</a:t>
            </a:r>
            <a:r>
              <a:rPr lang="en-US" altLang="ko-KR" sz="2000" dirty="0" err="1"/>
              <a:t>Strömbäck</a:t>
            </a:r>
            <a:r>
              <a:rPr lang="en-US" altLang="ko-KR" sz="2000" dirty="0"/>
              <a:t> et</a:t>
            </a:r>
            <a:r>
              <a:rPr lang="ko-KR" altLang="en-US" sz="2000" dirty="0"/>
              <a:t> </a:t>
            </a:r>
            <a:r>
              <a:rPr lang="en-US" altLang="ko-KR" sz="2000" dirty="0"/>
              <a:t>al. 2020)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불신과 냉소주의는 </a:t>
            </a:r>
            <a:r>
              <a:rPr lang="ko-KR" altLang="en-US" sz="2000" dirty="0" err="1">
                <a:latin typeface="+mn-ea"/>
                <a:ea typeface="+mn-ea"/>
              </a:rPr>
              <a:t>구분되어야함</a:t>
            </a:r>
            <a:r>
              <a:rPr lang="en-US" altLang="ko-KR" sz="2000" dirty="0">
                <a:latin typeface="+mn-ea"/>
                <a:ea typeface="+mn-ea"/>
              </a:rPr>
              <a:t>. </a:t>
            </a:r>
            <a:r>
              <a:rPr lang="ko-KR" altLang="en-US" sz="2000" dirty="0">
                <a:latin typeface="+mn-ea"/>
                <a:ea typeface="+mn-ea"/>
              </a:rPr>
              <a:t>또한 이는 결과물에 대한 불만을 넘어 존재 이유나 작동 방식에 대한 근본적인 회의를 바탕으로 측정될 수 있음 </a:t>
            </a:r>
            <a:r>
              <a:rPr lang="en-US" altLang="ko-KR" sz="2000" dirty="0">
                <a:latin typeface="+mn-ea"/>
                <a:ea typeface="+mn-ea"/>
              </a:rPr>
              <a:t>(Markov &amp; Min 2020a)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냉소주의는 정치적 허위정보에 대한 신념 및 민주주의 전반에 대한 불확정성과 높은 상관관계를 보이기 때문에</a:t>
            </a:r>
            <a:r>
              <a:rPr lang="en-US" altLang="ko-KR" sz="2000" dirty="0">
                <a:latin typeface="+mn-ea"/>
                <a:ea typeface="+mn-ea"/>
              </a:rPr>
              <a:t>, (Markov &amp; Min 2020b) </a:t>
            </a:r>
            <a:r>
              <a:rPr lang="ko-KR" altLang="en-US" sz="2000" dirty="0">
                <a:latin typeface="+mn-ea"/>
                <a:ea typeface="+mn-ea"/>
              </a:rPr>
              <a:t>인공지능이 미디어 냉소주의를 받아들인다면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민주주의 규범에 치명적인 역할을 수행할 여지가 있음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신뢰에 대해</a:t>
            </a:r>
            <a:r>
              <a:rPr lang="en-US" altLang="ko-KR" sz="2000" dirty="0">
                <a:latin typeface="+mn-ea"/>
                <a:ea typeface="+mn-ea"/>
              </a:rPr>
              <a:t>, 2</a:t>
            </a:r>
            <a:r>
              <a:rPr lang="ko-KR" altLang="en-US" sz="2000" dirty="0">
                <a:latin typeface="+mn-ea"/>
                <a:ea typeface="+mn-ea"/>
              </a:rPr>
              <a:t>차원 매트릭스 </a:t>
            </a:r>
            <a:r>
              <a:rPr lang="ko-KR" altLang="en-US" sz="2000" dirty="0" err="1">
                <a:latin typeface="+mn-ea"/>
                <a:ea typeface="+mn-ea"/>
              </a:rPr>
              <a:t>앙에</a:t>
            </a:r>
            <a:r>
              <a:rPr lang="ko-KR" altLang="en-US" sz="2000" dirty="0">
                <a:latin typeface="+mn-ea"/>
                <a:ea typeface="+mn-ea"/>
              </a:rPr>
              <a:t> 역량과 윤리성을 바탕으로 다른 기관과 뉴스 미디어의 상대적 위치를 바탕으로 신뢰를 측정할 수도 있음 </a:t>
            </a:r>
            <a:r>
              <a:rPr lang="en-US" altLang="ko-KR" sz="2000" dirty="0">
                <a:latin typeface="+mn-ea"/>
                <a:ea typeface="+mn-ea"/>
              </a:rPr>
              <a:t>(Edelman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8</a:t>
            </a:r>
            <a:r>
              <a:rPr lang="ko-KR" altLang="en-US" sz="2000" dirty="0">
                <a:highlight>
                  <a:srgbClr val="FFFF00"/>
                </a:highlight>
              </a:rPr>
              <a:t>은 종속변수의 개념의 조작적 정의 </a:t>
            </a:r>
            <a:r>
              <a:rPr lang="en-US" altLang="ko-KR" sz="2000" dirty="0">
                <a:highlight>
                  <a:srgbClr val="FFFF00"/>
                </a:highlight>
              </a:rPr>
              <a:t>&amp; </a:t>
            </a:r>
            <a:r>
              <a:rPr lang="ko-KR" altLang="en-US" sz="2000" dirty="0">
                <a:highlight>
                  <a:srgbClr val="FFFF00"/>
                </a:highlight>
              </a:rPr>
              <a:t>측정 방식에 대한 타당성을 입증하기 위함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endParaRPr lang="en-US" altLang="ko-KR" sz="100" dirty="0">
              <a:latin typeface="+mn-ea"/>
              <a:ea typeface="+mn-ea"/>
            </a:endParaRPr>
          </a:p>
          <a:p>
            <a:pPr marL="800100" lvl="1" indent="-342900">
              <a:buFontTx/>
              <a:buChar char="-"/>
            </a:pP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796C26-01A8-A489-FE9B-727692E7726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EA04E-E747-D0B0-2107-697E3D7CDF0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D14ED3-7FE5-7289-FC99-7FBB7E94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6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8EBC-5763-676A-F2DC-5BACE7EC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96387E9-ED32-A2EF-31ED-1C312A9B6585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9. </a:t>
            </a:r>
            <a:r>
              <a:rPr lang="ko-KR" altLang="en-US" sz="2000" b="1" dirty="0">
                <a:latin typeface="+mn-ea"/>
                <a:ea typeface="+mn-ea"/>
              </a:rPr>
              <a:t>주류 미디어와 </a:t>
            </a:r>
            <a:r>
              <a:rPr lang="en-US" altLang="ko-KR" sz="2000" b="1" dirty="0">
                <a:latin typeface="+mn-ea"/>
                <a:ea typeface="+mn-ea"/>
              </a:rPr>
              <a:t>HAC </a:t>
            </a:r>
            <a:r>
              <a:rPr lang="ko-KR" altLang="en-US" sz="2000" b="1" dirty="0">
                <a:latin typeface="+mn-ea"/>
                <a:ea typeface="+mn-ea"/>
              </a:rPr>
              <a:t>미디어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현대 정보 생태계는 매우 </a:t>
            </a:r>
            <a:r>
              <a:rPr lang="ko-KR" altLang="en-US" sz="2000" dirty="0" err="1"/>
              <a:t>파편화되어있고</a:t>
            </a:r>
            <a:r>
              <a:rPr lang="en-US" altLang="ko-KR" sz="2000" dirty="0"/>
              <a:t>, </a:t>
            </a:r>
            <a:r>
              <a:rPr lang="ko-KR" altLang="en-US" sz="2000" dirty="0"/>
              <a:t>전통적 주류 미디어와 </a:t>
            </a:r>
            <a:r>
              <a:rPr lang="ko-KR" altLang="en-US" sz="2000" dirty="0" err="1"/>
              <a:t>초정파적</a:t>
            </a:r>
            <a:r>
              <a:rPr lang="en-US" altLang="ko-KR" sz="2000" dirty="0"/>
              <a:t>·</a:t>
            </a:r>
            <a:r>
              <a:rPr lang="ko-KR" altLang="en-US" sz="2000" dirty="0"/>
              <a:t>대안적</a:t>
            </a:r>
            <a:r>
              <a:rPr lang="en-US" altLang="ko-KR" sz="2000" dirty="0"/>
              <a:t>·</a:t>
            </a:r>
            <a:r>
              <a:rPr lang="ko-KR" altLang="en-US" sz="2000" dirty="0" err="1"/>
              <a:t>음모론적</a:t>
            </a:r>
            <a:r>
              <a:rPr lang="ko-KR" altLang="en-US" sz="2000" dirty="0"/>
              <a:t> </a:t>
            </a:r>
            <a:r>
              <a:rPr lang="en-US" altLang="ko-KR" sz="2000" dirty="0"/>
              <a:t>(HAC) </a:t>
            </a:r>
            <a:r>
              <a:rPr lang="ko-KR" altLang="en-US" sz="2000" dirty="0"/>
              <a:t>미디어 사이의 복잡한 역할 분담 구조를 특징으로 함 </a:t>
            </a:r>
            <a:r>
              <a:rPr lang="en-US" altLang="ko-KR" sz="2000" dirty="0"/>
              <a:t>(</a:t>
            </a:r>
            <a:r>
              <a:rPr lang="fr-FR" altLang="ko-KR" sz="2000" dirty="0"/>
              <a:t>de León et al. 2024)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주류 미디어와 </a:t>
            </a:r>
            <a:r>
              <a:rPr lang="en-US" altLang="ko-KR" sz="2000" dirty="0"/>
              <a:t>HAC </a:t>
            </a:r>
            <a:r>
              <a:rPr lang="ko-KR" altLang="en-US" sz="2000" dirty="0"/>
              <a:t>미디어의 역할 분담이 불분명한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대안 미디어는 중심적이기보다는 보완적인 위치를 차지하게 됨 </a:t>
            </a:r>
            <a:r>
              <a:rPr lang="en-US" altLang="ko-KR" sz="2000" dirty="0"/>
              <a:t>(Brems 2025)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그러나 주류 미디어에 대한 신뢰는 일종의 유지 효과로 작용하고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이용 자체가 신뢰의 증가로 일관되게 이어지지 않는 반면</a:t>
            </a:r>
            <a:r>
              <a:rPr lang="en-US" altLang="ko-KR" sz="2000" dirty="0"/>
              <a:t>, HAC </a:t>
            </a:r>
            <a:r>
              <a:rPr lang="ko-KR" altLang="en-US" sz="2000" dirty="0"/>
              <a:t>미디어의 이용은 이용 자체만으로 주류 미디어에 대한 신뢰를 적극적이고 지속적으로 악화시킴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Tsfati</a:t>
            </a:r>
            <a:r>
              <a:rPr lang="en-US" altLang="ko-KR" sz="2000" dirty="0"/>
              <a:t> et al. 2025)</a:t>
            </a:r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9</a:t>
            </a:r>
            <a:r>
              <a:rPr lang="ko-KR" altLang="en-US" sz="2000" dirty="0">
                <a:highlight>
                  <a:srgbClr val="FFFF00"/>
                </a:highlight>
              </a:rPr>
              <a:t>는 미디어 신뢰에 대해 왜 주류 미디어와 </a:t>
            </a:r>
            <a:r>
              <a:rPr lang="en-US" altLang="ko-KR" sz="2000" dirty="0">
                <a:highlight>
                  <a:srgbClr val="FFFF00"/>
                </a:highlight>
              </a:rPr>
              <a:t>HAC </a:t>
            </a:r>
            <a:r>
              <a:rPr lang="ko-KR" altLang="en-US" sz="2000" dirty="0">
                <a:highlight>
                  <a:srgbClr val="FFFF00"/>
                </a:highlight>
              </a:rPr>
              <a:t>미디어에 대한 신뢰를 각자 측정하고 비교하는지에 대한 타당성을 입증하기 위함</a:t>
            </a:r>
            <a:r>
              <a:rPr lang="en-US" altLang="ko-KR" sz="100" dirty="0">
                <a:latin typeface="+mn-ea"/>
              </a:rPr>
              <a:t>f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5AD3DF-59AB-4D00-9A3A-527C84B7183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9E4AF-347A-D2BD-C5D9-469C013D9FC6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D7B13F-C45B-81F6-E384-3CE6724F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3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BD5B-6072-0B3B-4AE4-CC81B8CB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60395A-9EFE-773D-F908-0FB5928A2A9E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10. </a:t>
            </a:r>
            <a:r>
              <a:rPr lang="ko-KR" altLang="en-US" sz="2000" b="1" dirty="0">
                <a:latin typeface="+mn-ea"/>
                <a:ea typeface="+mn-ea"/>
              </a:rPr>
              <a:t>뉴스 회피</a:t>
            </a:r>
            <a:r>
              <a:rPr lang="en-US" altLang="ko-KR" sz="2000" b="1" dirty="0">
                <a:latin typeface="+mn-ea"/>
                <a:ea typeface="+mn-ea"/>
              </a:rPr>
              <a:t>, </a:t>
            </a:r>
            <a:r>
              <a:rPr lang="ko-KR" altLang="en-US" sz="2000" b="1" dirty="0">
                <a:latin typeface="+mn-ea"/>
                <a:ea typeface="+mn-ea"/>
              </a:rPr>
              <a:t>우연적 노출</a:t>
            </a:r>
            <a:r>
              <a:rPr lang="en-US" altLang="ko-KR" sz="2000" b="1" dirty="0">
                <a:latin typeface="+mn-ea"/>
                <a:ea typeface="+mn-ea"/>
              </a:rPr>
              <a:t>, NFM </a:t>
            </a:r>
            <a:r>
              <a:rPr lang="ko-KR" altLang="en-US" sz="2000" b="1" dirty="0">
                <a:latin typeface="+mn-ea"/>
                <a:ea typeface="+mn-ea"/>
              </a:rPr>
              <a:t>인식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뉴스 회피를 예측하는 요인 중 “뉴스는 나를 찾아온다</a:t>
            </a:r>
            <a:r>
              <a:rPr lang="en-US" altLang="ko-KR" sz="2000" dirty="0"/>
              <a:t>(News Finds Me, NFM)”</a:t>
            </a:r>
            <a:r>
              <a:rPr lang="ko-KR" altLang="en-US" sz="2000" dirty="0"/>
              <a:t>는 인지적 휴리스틱 </a:t>
            </a:r>
            <a:r>
              <a:rPr lang="en-US" altLang="ko-KR" sz="2000" dirty="0"/>
              <a:t>(Imran and Ali 2025; Tandoc and Kim 2023; Gil de Zúñiga et al. 2020)</a:t>
            </a:r>
            <a:endParaRPr lang="fr-FR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/>
              <a:t>NFM </a:t>
            </a:r>
            <a:r>
              <a:rPr lang="ko-KR" altLang="en-US" sz="2000" dirty="0"/>
              <a:t>인식과 이로 인한 우연적 노출은 동기가 없을 때에는 실질적인 시민적 지식으로 이어지지 못하고</a:t>
            </a:r>
            <a:r>
              <a:rPr lang="en-US" altLang="ko-KR" sz="2000" dirty="0"/>
              <a:t>, 2</a:t>
            </a:r>
            <a:r>
              <a:rPr lang="ko-KR" altLang="en-US" sz="2000" dirty="0"/>
              <a:t>차적 뉴스를 소비하며 복잡한 사건에 대한 피상적인 이해만을 남기고</a:t>
            </a:r>
            <a:r>
              <a:rPr lang="en-US" altLang="ko-KR" sz="2000" dirty="0"/>
              <a:t>, </a:t>
            </a:r>
            <a:r>
              <a:rPr lang="ko-KR" altLang="en-US" sz="2000" dirty="0"/>
              <a:t>맥락화에 필수적인 요소는 빠진 채 자극적인 이야기만 포착하게 만듦 </a:t>
            </a:r>
            <a:r>
              <a:rPr lang="en-US" altLang="ko-KR" sz="2000" dirty="0"/>
              <a:t>(Goyanes et al. 2021; Gil de Zúñiga and Cheng 2021; Stroud et al. 2022; Nanz and Matthes 2022)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NFM</a:t>
            </a:r>
            <a:r>
              <a:rPr lang="ko-KR" altLang="en-US" sz="2000" dirty="0"/>
              <a:t>은 </a:t>
            </a:r>
            <a:r>
              <a:rPr lang="en-US" altLang="ko-KR" sz="2000" dirty="0"/>
              <a:t>(a) being informed, (b) not seeking, (c) reliance on peers</a:t>
            </a:r>
            <a:r>
              <a:rPr lang="ko-KR" altLang="en-US" sz="2000" dirty="0"/>
              <a:t>을 바탕으로 만들어진 문항을 통해 측정할 수 있음 </a:t>
            </a:r>
            <a:r>
              <a:rPr lang="en-US" altLang="ko-KR" sz="2000" dirty="0"/>
              <a:t>(Goyanes et al. 2021)</a:t>
            </a:r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10</a:t>
            </a:r>
            <a:r>
              <a:rPr lang="ko-KR" altLang="en-US" sz="2000" dirty="0">
                <a:highlight>
                  <a:srgbClr val="FFFF00"/>
                </a:highlight>
              </a:rPr>
              <a:t>은 미디어 신뢰와 관련해</a:t>
            </a:r>
            <a:r>
              <a:rPr lang="en-US" altLang="ko-KR" sz="2000" dirty="0">
                <a:highlight>
                  <a:srgbClr val="FFFF00"/>
                </a:highlight>
              </a:rPr>
              <a:t>,</a:t>
            </a:r>
            <a:r>
              <a:rPr lang="ko-KR" altLang="en-US" sz="2000" dirty="0">
                <a:highlight>
                  <a:srgbClr val="FFFF00"/>
                </a:highlight>
              </a:rPr>
              <a:t> 왜 </a:t>
            </a:r>
            <a:r>
              <a:rPr lang="en-US" altLang="ko-KR" sz="2000" dirty="0">
                <a:highlight>
                  <a:srgbClr val="FFFF00"/>
                </a:highlight>
              </a:rPr>
              <a:t>NFM</a:t>
            </a:r>
            <a:r>
              <a:rPr lang="ko-KR" altLang="en-US" sz="2000" dirty="0">
                <a:highlight>
                  <a:srgbClr val="FFFF00"/>
                </a:highlight>
              </a:rPr>
              <a:t>에 대한 인식을 </a:t>
            </a:r>
            <a:r>
              <a:rPr lang="ko-KR" altLang="en-US" sz="2000" dirty="0" err="1">
                <a:highlight>
                  <a:srgbClr val="FFFF00"/>
                </a:highlight>
              </a:rPr>
              <a:t>측정해야하고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어떻게 측정할지에 대한 타당성을 입증하기 위함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2410DC-FE71-8AF0-1EB1-E97B3B50AA6A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59B4D-1287-1618-2272-7584474E8C7F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19A1EF-7CBE-675A-D811-8945CFE7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33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3599-7909-4898-9DEA-76E138A8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3E676C3-B5FE-83AA-6886-4FD020562622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11. </a:t>
            </a:r>
            <a:r>
              <a:rPr lang="ko-KR" altLang="en-US" sz="2000" b="1" dirty="0">
                <a:latin typeface="+mn-ea"/>
                <a:ea typeface="+mn-ea"/>
              </a:rPr>
              <a:t>알고리즘적 영합 </a:t>
            </a:r>
            <a:r>
              <a:rPr lang="en-US" altLang="ko-KR" sz="2000" b="1" dirty="0">
                <a:highlight>
                  <a:srgbClr val="00FFFF"/>
                </a:highlight>
                <a:latin typeface="+mn-ea"/>
                <a:ea typeface="+mn-ea"/>
              </a:rPr>
              <a:t>(</a:t>
            </a:r>
            <a:r>
              <a:rPr lang="ko-KR" altLang="en-US" sz="2000" b="1" dirty="0">
                <a:highlight>
                  <a:srgbClr val="00FFFF"/>
                </a:highlight>
                <a:latin typeface="+mn-ea"/>
                <a:ea typeface="+mn-ea"/>
              </a:rPr>
              <a:t>관련 참고문헌 탐색 필요</a:t>
            </a:r>
            <a:r>
              <a:rPr lang="en-US" altLang="ko-KR" sz="2000" b="1" dirty="0">
                <a:highlight>
                  <a:srgbClr val="00FFFF"/>
                </a:highlight>
                <a:latin typeface="+mn-ea"/>
                <a:ea typeface="+mn-ea"/>
              </a:rPr>
              <a:t>)</a:t>
            </a:r>
            <a:endParaRPr lang="ko-KR" altLang="en-US" sz="2000" dirty="0">
              <a:highlight>
                <a:srgbClr val="00FFFF"/>
              </a:highlight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LLM</a:t>
            </a:r>
            <a:r>
              <a:rPr lang="ko-KR" altLang="en-US" sz="2000" dirty="0"/>
              <a:t>은 인간 피드백을 통한 강화학습 </a:t>
            </a:r>
            <a:r>
              <a:rPr lang="en-US" altLang="ko-KR" sz="2000" dirty="0"/>
              <a:t>(RLHF)</a:t>
            </a:r>
            <a:r>
              <a:rPr lang="ko-KR" altLang="en-US" sz="2000" dirty="0"/>
              <a:t>를 통해 훈련됨</a:t>
            </a:r>
            <a:r>
              <a:rPr lang="en-US" altLang="ko-KR" sz="2000" dirty="0"/>
              <a:t>. </a:t>
            </a:r>
            <a:r>
              <a:rPr lang="ko-KR" altLang="en-US" sz="2000" dirty="0"/>
              <a:t>이로 인해 </a:t>
            </a:r>
            <a:r>
              <a:rPr lang="ko-KR" altLang="en-US" sz="2000" dirty="0" err="1"/>
              <a:t>아첨성</a:t>
            </a:r>
            <a:r>
              <a:rPr lang="ko-KR" altLang="en-US" sz="2000" dirty="0"/>
              <a:t> 또는 알고리즘적 영합을 낳는데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</a:t>
            </a:r>
            <a:r>
              <a:rPr lang="en-US" altLang="ko-KR" sz="2000" dirty="0"/>
              <a:t>AI </a:t>
            </a:r>
            <a:r>
              <a:rPr lang="ko-KR" altLang="en-US" sz="2000" dirty="0"/>
              <a:t>모델이 인간 프롬프트 작성자의 추정되거나 명시된 편향</a:t>
            </a:r>
            <a:r>
              <a:rPr lang="en-US" altLang="ko-KR" sz="2000" dirty="0"/>
              <a:t>, </a:t>
            </a:r>
            <a:r>
              <a:rPr lang="ko-KR" altLang="en-US" sz="2000" dirty="0"/>
              <a:t>신념</a:t>
            </a:r>
            <a:r>
              <a:rPr lang="en-US" altLang="ko-KR" sz="2000" dirty="0"/>
              <a:t>, </a:t>
            </a:r>
            <a:r>
              <a:rPr lang="ko-KR" altLang="en-US" sz="2000" dirty="0"/>
              <a:t>이념적 성향</a:t>
            </a:r>
            <a:r>
              <a:rPr lang="en-US" altLang="ko-KR" sz="2000" dirty="0"/>
              <a:t>, </a:t>
            </a:r>
            <a:r>
              <a:rPr lang="ko-KR" altLang="en-US" sz="2000" dirty="0"/>
              <a:t>인구통계학적 표지에 맞추어 자신의 출력을 과도하게 정렬시키는 현상을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종종 객관성이나 사실적 정확성을 희생시키면서 발생함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만약 </a:t>
            </a:r>
            <a:r>
              <a:rPr lang="en-US" altLang="ko-KR" sz="2000" dirty="0"/>
              <a:t>LLM</a:t>
            </a:r>
            <a:r>
              <a:rPr lang="ko-KR" altLang="en-US" sz="2000" dirty="0"/>
              <a:t>이 뉴스 미디어에 대해 공정한 신뢰</a:t>
            </a:r>
            <a:r>
              <a:rPr lang="en-US" altLang="ko-KR" sz="2000" dirty="0"/>
              <a:t>/</a:t>
            </a:r>
            <a:r>
              <a:rPr lang="ko-KR" altLang="en-US" sz="2000" dirty="0"/>
              <a:t>불신을 </a:t>
            </a:r>
            <a:r>
              <a:rPr lang="ko-KR" altLang="en-US" sz="2000" dirty="0" err="1"/>
              <a:t>디폴트값으로</a:t>
            </a:r>
            <a:r>
              <a:rPr lang="ko-KR" altLang="en-US" sz="2000" dirty="0"/>
              <a:t> 가지고 있어도</a:t>
            </a:r>
            <a:r>
              <a:rPr lang="en-US" altLang="ko-KR" sz="2000" dirty="0"/>
              <a:t>, </a:t>
            </a:r>
            <a:r>
              <a:rPr lang="ko-KR" altLang="en-US" sz="2000" dirty="0"/>
              <a:t>사용자의 확증편향에 부응하기 위해 스스로 </a:t>
            </a:r>
            <a:r>
              <a:rPr lang="en-US" altLang="ko-KR" sz="2000" dirty="0"/>
              <a:t>(1) </a:t>
            </a:r>
            <a:r>
              <a:rPr lang="ko-KR" altLang="en-US" sz="2000" dirty="0"/>
              <a:t>미디어 냉소주의를 인위적으로 증폭시키거나</a:t>
            </a:r>
            <a:r>
              <a:rPr lang="en-US" altLang="ko-KR" sz="2000" dirty="0"/>
              <a:t>, (2) HAC </a:t>
            </a:r>
            <a:r>
              <a:rPr lang="ko-KR" altLang="en-US" sz="2000" dirty="0"/>
              <a:t>미디어에 대한 지지를 강화하거나</a:t>
            </a:r>
            <a:r>
              <a:rPr lang="en-US" altLang="ko-KR" sz="2000" dirty="0"/>
              <a:t>, (3) NFM </a:t>
            </a:r>
            <a:r>
              <a:rPr lang="ko-KR" altLang="en-US" sz="2000" dirty="0"/>
              <a:t>인식을 정당화할 수 있음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따라서 사용자에 대한 정보가 주어졌을 때 </a:t>
            </a:r>
            <a:r>
              <a:rPr lang="en-US" altLang="ko-KR" sz="2000" dirty="0"/>
              <a:t>LLM</a:t>
            </a:r>
            <a:r>
              <a:rPr lang="ko-KR" altLang="en-US" sz="2000" dirty="0"/>
              <a:t>이 어떻게 반응할지</a:t>
            </a:r>
            <a:r>
              <a:rPr lang="en-US" altLang="ko-KR" sz="2000" dirty="0"/>
              <a:t>, </a:t>
            </a:r>
            <a:r>
              <a:rPr lang="ko-KR" altLang="en-US" sz="2000" dirty="0"/>
              <a:t>그 상호작용 효과를 이해하는 것 또한 매우 중요함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11</a:t>
            </a:r>
            <a:r>
              <a:rPr lang="ko-KR" altLang="en-US" sz="2000" dirty="0">
                <a:highlight>
                  <a:srgbClr val="FFFF00"/>
                </a:highlight>
              </a:rPr>
              <a:t>은 왜 기본값 외에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사용자에 대한 단서를 추가해서 실험을 진행하는 것도 필요한지에 대한 타당성을 입증하기 위함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C51051-5088-96EF-7BE3-1CF80764C019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E1CE0-1037-B5F3-B00B-FEB753284EA0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DF2111-85CB-D366-AE2E-01F8D6BB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76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AC63-4F53-4AFA-A54B-9263E682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52A57DD-D5A2-A5FA-708B-1CE118EA1381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RQ1. </a:t>
            </a:r>
            <a:r>
              <a:rPr lang="ko-KR" altLang="en-US" sz="2000" b="1" dirty="0">
                <a:latin typeface="+mn-ea"/>
                <a:ea typeface="+mn-ea"/>
              </a:rPr>
              <a:t>사용자에 대한 단서가 없는 상태에서 </a:t>
            </a:r>
            <a:r>
              <a:rPr lang="en-US" altLang="ko-KR" sz="2000" b="1" dirty="0">
                <a:latin typeface="+mn-ea"/>
                <a:ea typeface="+mn-ea"/>
              </a:rPr>
              <a:t>AI </a:t>
            </a:r>
            <a:r>
              <a:rPr lang="ko-KR" altLang="en-US" sz="2000" b="1" dirty="0">
                <a:latin typeface="+mn-ea"/>
                <a:ea typeface="+mn-ea"/>
              </a:rPr>
              <a:t>모델들의 기본 뉴스 신뢰 구조는 </a:t>
            </a:r>
            <a:r>
              <a:rPr lang="ko-KR" altLang="en-US" sz="2000" b="1" dirty="0" err="1">
                <a:latin typeface="+mn-ea"/>
                <a:ea typeface="+mn-ea"/>
              </a:rPr>
              <a:t>어떠한가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r>
              <a:rPr lang="en-US" altLang="ko-KR" sz="2000" dirty="0">
                <a:latin typeface="+mn-ea"/>
                <a:ea typeface="+mn-ea"/>
              </a:rPr>
              <a:t>H1a. AI</a:t>
            </a:r>
            <a:r>
              <a:rPr lang="ko-KR" altLang="en-US" sz="2000" dirty="0">
                <a:latin typeface="+mn-ea"/>
                <a:ea typeface="+mn-ea"/>
              </a:rPr>
              <a:t> 모델은 소셜 미디어나 </a:t>
            </a:r>
            <a:r>
              <a:rPr lang="en-US" altLang="ko-KR" sz="2000" dirty="0">
                <a:latin typeface="+mn-ea"/>
                <a:ea typeface="+mn-ea"/>
              </a:rPr>
              <a:t>HAC </a:t>
            </a:r>
            <a:r>
              <a:rPr lang="ko-KR" altLang="en-US" sz="2000" dirty="0">
                <a:latin typeface="+mn-ea"/>
                <a:ea typeface="+mn-ea"/>
              </a:rPr>
              <a:t>미디어보다 주류 미디어에 대해 유의미하게 더 높은 수준의 신뢰</a:t>
            </a:r>
            <a:r>
              <a:rPr lang="en-US" altLang="ko-KR" sz="2000" dirty="0">
                <a:latin typeface="+mn-ea"/>
                <a:ea typeface="+mn-ea"/>
              </a:rPr>
              <a:t>(Trust)</a:t>
            </a:r>
            <a:r>
              <a:rPr lang="ko-KR" altLang="en-US" sz="2000" dirty="0">
                <a:latin typeface="+mn-ea"/>
                <a:ea typeface="+mn-ea"/>
              </a:rPr>
              <a:t>와 신뢰성</a:t>
            </a:r>
            <a:r>
              <a:rPr lang="en-US" altLang="ko-KR" sz="2000" dirty="0">
                <a:latin typeface="+mn-ea"/>
                <a:ea typeface="+mn-ea"/>
              </a:rPr>
              <a:t>(Credibility)</a:t>
            </a:r>
            <a:r>
              <a:rPr lang="ko-KR" altLang="en-US" sz="2000" dirty="0">
                <a:latin typeface="+mn-ea"/>
                <a:ea typeface="+mn-ea"/>
              </a:rPr>
              <a:t>을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H1b. AI </a:t>
            </a:r>
            <a:r>
              <a:rPr lang="ko-KR" altLang="en-US" sz="2000" dirty="0">
                <a:latin typeface="+mn-ea"/>
                <a:ea typeface="+mn-ea"/>
              </a:rPr>
              <a:t>모델은 일반 뉴스 미디어를 </a:t>
            </a:r>
            <a:r>
              <a:rPr lang="en-US" altLang="ko-KR" sz="2000" dirty="0">
                <a:latin typeface="+mn-ea"/>
                <a:ea typeface="+mn-ea"/>
              </a:rPr>
              <a:t>Edelman </a:t>
            </a:r>
            <a:r>
              <a:rPr lang="ko-KR" altLang="en-US" sz="2000" dirty="0">
                <a:latin typeface="+mn-ea"/>
                <a:ea typeface="+mn-ea"/>
              </a:rPr>
              <a:t>신뢰 매트릭스에서 </a:t>
            </a:r>
            <a:r>
              <a:rPr lang="en-US" altLang="ko-KR" sz="2000" dirty="0">
                <a:latin typeface="+mn-ea"/>
                <a:ea typeface="+mn-ea"/>
              </a:rPr>
              <a:t>‘</a:t>
            </a:r>
            <a:r>
              <a:rPr lang="ko-KR" altLang="en-US" sz="2000" dirty="0">
                <a:latin typeface="+mn-ea"/>
                <a:ea typeface="+mn-ea"/>
              </a:rPr>
              <a:t>낮은 역량</a:t>
            </a:r>
            <a:r>
              <a:rPr lang="en-US" altLang="ko-KR" sz="2000" dirty="0">
                <a:latin typeface="+mn-ea"/>
                <a:ea typeface="+mn-ea"/>
              </a:rPr>
              <a:t>‘ </a:t>
            </a:r>
            <a:r>
              <a:rPr lang="ko-KR" altLang="en-US" sz="2000" dirty="0">
                <a:latin typeface="+mn-ea"/>
                <a:ea typeface="+mn-ea"/>
              </a:rPr>
              <a:t>및 </a:t>
            </a:r>
            <a:r>
              <a:rPr lang="en-US" altLang="ko-KR" sz="2000" dirty="0">
                <a:latin typeface="+mn-ea"/>
                <a:ea typeface="+mn-ea"/>
              </a:rPr>
              <a:t>‘</a:t>
            </a:r>
            <a:r>
              <a:rPr lang="ko-KR" altLang="en-US" sz="2000" dirty="0">
                <a:latin typeface="+mn-ea"/>
                <a:ea typeface="+mn-ea"/>
              </a:rPr>
              <a:t>비윤리적</a:t>
            </a:r>
            <a:r>
              <a:rPr lang="en-US" altLang="ko-KR" sz="2000" dirty="0">
                <a:latin typeface="+mn-ea"/>
                <a:ea typeface="+mn-ea"/>
              </a:rPr>
              <a:t>’</a:t>
            </a:r>
            <a:r>
              <a:rPr lang="ko-KR" altLang="en-US" sz="2000" dirty="0">
                <a:latin typeface="+mn-ea"/>
                <a:ea typeface="+mn-ea"/>
              </a:rPr>
              <a:t>으로 분류할 것이다</a:t>
            </a:r>
            <a:r>
              <a:rPr lang="en-US" altLang="ko-KR" sz="2000" dirty="0">
                <a:latin typeface="+mn-ea"/>
                <a:ea typeface="+mn-ea"/>
              </a:rPr>
              <a:t>. (</a:t>
            </a:r>
            <a:r>
              <a:rPr lang="ko-KR" altLang="en-US" sz="2000" dirty="0">
                <a:latin typeface="+mn-ea"/>
                <a:ea typeface="+mn-ea"/>
              </a:rPr>
              <a:t>정부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기업</a:t>
            </a:r>
            <a:r>
              <a:rPr lang="en-US" altLang="ko-KR" sz="2000" dirty="0">
                <a:latin typeface="+mn-ea"/>
                <a:ea typeface="+mn-ea"/>
              </a:rPr>
              <a:t>, NGO</a:t>
            </a:r>
            <a:r>
              <a:rPr lang="ko-KR" altLang="en-US" sz="2000" dirty="0">
                <a:latin typeface="+mn-ea"/>
                <a:ea typeface="+mn-ea"/>
              </a:rPr>
              <a:t>와 같은 다른 사회 제도와의 비교 포함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H1c. </a:t>
            </a:r>
            <a:r>
              <a:rPr lang="ko-KR" altLang="en-US" sz="2000" dirty="0">
                <a:latin typeface="+mn-ea"/>
                <a:ea typeface="+mn-ea"/>
              </a:rPr>
              <a:t>주류 뉴스 미디어를 평가할 때</a:t>
            </a:r>
            <a:r>
              <a:rPr lang="en-US" altLang="ko-KR" sz="2000" dirty="0">
                <a:latin typeface="+mn-ea"/>
                <a:ea typeface="+mn-ea"/>
              </a:rPr>
              <a:t>, AI </a:t>
            </a:r>
            <a:r>
              <a:rPr lang="ko-KR" altLang="en-US" sz="2000" dirty="0">
                <a:latin typeface="+mn-ea"/>
                <a:ea typeface="+mn-ea"/>
              </a:rPr>
              <a:t>모델은 확신</a:t>
            </a:r>
            <a:r>
              <a:rPr lang="en-US" altLang="ko-KR" sz="2000" dirty="0">
                <a:latin typeface="+mn-ea"/>
                <a:ea typeface="+mn-ea"/>
              </a:rPr>
              <a:t>(confidence)</a:t>
            </a:r>
            <a:r>
              <a:rPr lang="ko-KR" altLang="en-US" sz="2000" dirty="0">
                <a:latin typeface="+mn-ea"/>
                <a:ea typeface="+mn-ea"/>
              </a:rPr>
              <a:t>이나 결정론적 회의주의 </a:t>
            </a:r>
            <a:r>
              <a:rPr lang="en-US" altLang="ko-KR" sz="2000" dirty="0">
                <a:latin typeface="+mn-ea"/>
                <a:ea typeface="+mn-ea"/>
              </a:rPr>
              <a:t>(cynicism)</a:t>
            </a:r>
            <a:r>
              <a:rPr lang="ko-KR" altLang="en-US" sz="2000" dirty="0">
                <a:latin typeface="+mn-ea"/>
                <a:ea typeface="+mn-ea"/>
              </a:rPr>
              <a:t>와 같은 인식론적 극단을 피하고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조건부 신뢰</a:t>
            </a:r>
            <a:r>
              <a:rPr lang="en-US" altLang="ko-KR" sz="2000" dirty="0">
                <a:latin typeface="+mn-ea"/>
                <a:ea typeface="+mn-ea"/>
              </a:rPr>
              <a:t>(Trust)</a:t>
            </a:r>
            <a:r>
              <a:rPr lang="ko-KR" altLang="en-US" sz="2000" dirty="0">
                <a:latin typeface="+mn-ea"/>
                <a:ea typeface="+mn-ea"/>
              </a:rPr>
              <a:t>와 회의적 불신</a:t>
            </a:r>
            <a:r>
              <a:rPr lang="en-US" altLang="ko-KR" sz="2000" dirty="0">
                <a:latin typeface="+mn-ea"/>
                <a:ea typeface="+mn-ea"/>
              </a:rPr>
              <a:t>(Distrust) </a:t>
            </a:r>
            <a:r>
              <a:rPr lang="ko-KR" altLang="en-US" sz="2000" dirty="0">
                <a:latin typeface="+mn-ea"/>
                <a:ea typeface="+mn-ea"/>
              </a:rPr>
              <a:t>사이에 위치한 균형 잡힌 태도 주변에 군집할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ko-KR" altLang="en-US" sz="2000" dirty="0">
                <a:highlight>
                  <a:srgbClr val="FFFF00"/>
                </a:highlight>
              </a:rPr>
              <a:t>가설의 방향성에 대한 피드백이 필요합니다</a:t>
            </a:r>
            <a:r>
              <a:rPr lang="en-US" altLang="ko-KR" sz="2000" dirty="0">
                <a:highlight>
                  <a:srgbClr val="FFFF00"/>
                </a:highlight>
              </a:rPr>
              <a:t>! AI</a:t>
            </a:r>
            <a:r>
              <a:rPr lang="ko-KR" altLang="en-US" sz="2000" dirty="0">
                <a:highlight>
                  <a:srgbClr val="FFFF00"/>
                </a:highlight>
              </a:rPr>
              <a:t>가 소셜미디어</a:t>
            </a:r>
            <a:r>
              <a:rPr lang="en-US" altLang="ko-KR" sz="2000" dirty="0">
                <a:highlight>
                  <a:srgbClr val="FFFF00"/>
                </a:highlight>
              </a:rPr>
              <a:t>/HAC</a:t>
            </a:r>
            <a:r>
              <a:rPr lang="ko-KR" altLang="en-US" sz="2000" dirty="0">
                <a:highlight>
                  <a:srgbClr val="FFFF00"/>
                </a:highlight>
              </a:rPr>
              <a:t>미디어를 더 신뢰하고</a:t>
            </a:r>
            <a:r>
              <a:rPr lang="en-US" altLang="ko-KR" sz="2000" dirty="0">
                <a:highlight>
                  <a:srgbClr val="FFFF00"/>
                </a:highlight>
              </a:rPr>
              <a:t>, Cynicism</a:t>
            </a:r>
            <a:r>
              <a:rPr lang="ko-KR" altLang="en-US" sz="2000" dirty="0">
                <a:highlight>
                  <a:srgbClr val="FFFF00"/>
                </a:highlight>
              </a:rPr>
              <a:t>에 더 가까울 것이다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같은 방향으로 적는 것이 선행연구 상 옳은 방향일까요</a:t>
            </a:r>
            <a:r>
              <a:rPr lang="en-US" altLang="ko-KR" sz="2000" dirty="0">
                <a:highlight>
                  <a:srgbClr val="FFFF00"/>
                </a:highlight>
              </a:rPr>
              <a:t>!?</a:t>
            </a:r>
            <a:endParaRPr lang="en-US" altLang="ko-KR" sz="1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4679F6-D043-C526-0D65-079A2D21B2C3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0A9E5-CB5C-35AD-8D73-C409934999C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4BE311-4469-9139-E0D8-7AF60D63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7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F677-AC7C-9465-EFF2-0AEFE112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6B70488-D3A1-BDC9-2D9A-9F5373B4F32F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RQ2. AI </a:t>
            </a:r>
            <a:r>
              <a:rPr lang="ko-KR" altLang="en-US" sz="2000" b="1" dirty="0">
                <a:latin typeface="+mn-ea"/>
                <a:ea typeface="+mn-ea"/>
              </a:rPr>
              <a:t>모델과 사용언어에 따라 신뢰 패턴이 어떻게 다르게 나타나는가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r>
              <a:rPr lang="en-US" altLang="ko-KR" sz="2000" dirty="0">
                <a:latin typeface="+mn-ea"/>
                <a:ea typeface="+mn-ea"/>
              </a:rPr>
              <a:t>H2a. </a:t>
            </a:r>
            <a:r>
              <a:rPr lang="ko-KR" altLang="en-US" sz="2000" dirty="0">
                <a:latin typeface="+mn-ea"/>
                <a:ea typeface="+mn-ea"/>
              </a:rPr>
              <a:t>심리측정 프롬프트가 영어로 제시되는지 한국어로 제시되는지에 따라 일반 뉴스 미디어에 대한 신뢰 평가에는 통계적으로 유의미한 차이가 나타날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H2b. </a:t>
            </a:r>
            <a:r>
              <a:rPr lang="ko-KR" altLang="en-US" sz="2000" dirty="0">
                <a:latin typeface="+mn-ea"/>
                <a:ea typeface="+mn-ea"/>
              </a:rPr>
              <a:t>독점적 학습 데이터셋과 안전 정렬 프로토콜의 차이로 인해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서로 다른 </a:t>
            </a:r>
            <a:r>
              <a:rPr lang="en-US" altLang="ko-KR" sz="2000" dirty="0">
                <a:latin typeface="+mn-ea"/>
                <a:ea typeface="+mn-ea"/>
              </a:rPr>
              <a:t>AI </a:t>
            </a:r>
            <a:r>
              <a:rPr lang="ko-KR" altLang="en-US" sz="2000" dirty="0">
                <a:latin typeface="+mn-ea"/>
                <a:ea typeface="+mn-ea"/>
              </a:rPr>
              <a:t>모델들은 주류 미디어와 대안 미디어 사이의 신뢰 격차 크기에서 통계적으로 유의미한 변이를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H2b</a:t>
            </a:r>
            <a:r>
              <a:rPr lang="ko-KR" altLang="en-US" sz="2000" dirty="0">
                <a:highlight>
                  <a:srgbClr val="FFFF00"/>
                </a:highlight>
              </a:rPr>
              <a:t>의 경우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모델의 차이가 어디에 가장 영향을 미칠까요</a:t>
            </a:r>
            <a:r>
              <a:rPr lang="en-US" altLang="ko-KR" sz="2000" dirty="0">
                <a:highlight>
                  <a:srgbClr val="FFFF00"/>
                </a:highlight>
              </a:rPr>
              <a:t>? </a:t>
            </a:r>
            <a:r>
              <a:rPr lang="ko-KR" altLang="en-US" sz="2000" dirty="0">
                <a:highlight>
                  <a:srgbClr val="FFFF00"/>
                </a:highlight>
              </a:rPr>
              <a:t>혹은 어떤 차이를 보는 것이 가장 유의미할까요</a:t>
            </a:r>
            <a:r>
              <a:rPr lang="en-US" altLang="ko-KR" sz="2000" dirty="0">
                <a:highlight>
                  <a:srgbClr val="FFFF00"/>
                </a:highlight>
              </a:rPr>
              <a:t>? (a) </a:t>
            </a:r>
            <a:r>
              <a:rPr lang="ko-KR" altLang="en-US" sz="2000" dirty="0">
                <a:highlight>
                  <a:srgbClr val="FFFF00"/>
                </a:highlight>
              </a:rPr>
              <a:t>뉴스 미디어에 대한 신뢰 </a:t>
            </a:r>
            <a:r>
              <a:rPr lang="en-US" altLang="ko-KR" sz="2000" dirty="0">
                <a:highlight>
                  <a:srgbClr val="FFFF00"/>
                </a:highlight>
              </a:rPr>
              <a:t>(5</a:t>
            </a:r>
            <a:r>
              <a:rPr lang="ko-KR" altLang="en-US" sz="2000" dirty="0">
                <a:highlight>
                  <a:srgbClr val="FFFF00"/>
                </a:highlight>
              </a:rPr>
              <a:t>개 척도</a:t>
            </a:r>
            <a:r>
              <a:rPr lang="en-US" altLang="ko-KR" sz="2000" dirty="0">
                <a:highlight>
                  <a:srgbClr val="FFFF00"/>
                </a:highlight>
              </a:rPr>
              <a:t>), (b) </a:t>
            </a:r>
            <a:r>
              <a:rPr lang="ko-KR" altLang="en-US" sz="2000" dirty="0">
                <a:highlight>
                  <a:srgbClr val="FFFF00"/>
                </a:highlight>
              </a:rPr>
              <a:t>주류미디어</a:t>
            </a:r>
            <a:r>
              <a:rPr lang="en-US" altLang="ko-KR" sz="2000" dirty="0">
                <a:highlight>
                  <a:srgbClr val="FFFF00"/>
                </a:highlight>
              </a:rPr>
              <a:t>-HAC</a:t>
            </a:r>
            <a:r>
              <a:rPr lang="ko-KR" altLang="en-US" sz="2000" dirty="0">
                <a:highlight>
                  <a:srgbClr val="FFFF00"/>
                </a:highlight>
              </a:rPr>
              <a:t>미디어 사이의 신뢰 격차</a:t>
            </a:r>
            <a:r>
              <a:rPr lang="en-US" altLang="ko-KR" sz="2000" dirty="0">
                <a:highlight>
                  <a:srgbClr val="FFFF00"/>
                </a:highlight>
              </a:rPr>
              <a:t>, (c) </a:t>
            </a:r>
            <a:r>
              <a:rPr lang="ko-KR" altLang="en-US" sz="2000" dirty="0">
                <a:highlight>
                  <a:srgbClr val="FFFF00"/>
                </a:highlight>
              </a:rPr>
              <a:t>주류미디어</a:t>
            </a:r>
            <a:r>
              <a:rPr lang="en-US" altLang="ko-KR" sz="2000" dirty="0">
                <a:highlight>
                  <a:srgbClr val="FFFF00"/>
                </a:highlight>
              </a:rPr>
              <a:t>-</a:t>
            </a:r>
            <a:r>
              <a:rPr lang="ko-KR" altLang="en-US" sz="2000" dirty="0">
                <a:highlight>
                  <a:srgbClr val="FFFF00"/>
                </a:highlight>
              </a:rPr>
              <a:t>소셜미디어 사이의 신뢰 격차</a:t>
            </a:r>
            <a:r>
              <a:rPr lang="en-US" altLang="ko-KR" sz="2000" dirty="0">
                <a:highlight>
                  <a:srgbClr val="FFFF00"/>
                </a:highlight>
              </a:rPr>
              <a:t>, (d) </a:t>
            </a:r>
            <a:r>
              <a:rPr lang="ko-KR" altLang="en-US" sz="2000" dirty="0">
                <a:highlight>
                  <a:srgbClr val="FFFF00"/>
                </a:highlight>
              </a:rPr>
              <a:t>뉴스 미디어에 대한 냉소주의 정도</a:t>
            </a:r>
            <a:r>
              <a:rPr lang="en-US" altLang="ko-KR" sz="2000" dirty="0">
                <a:highlight>
                  <a:srgbClr val="FFFF00"/>
                </a:highlight>
              </a:rPr>
              <a:t>, (e) NFM </a:t>
            </a:r>
            <a:r>
              <a:rPr lang="ko-KR" altLang="en-US" sz="2000" dirty="0">
                <a:highlight>
                  <a:srgbClr val="FFFF00"/>
                </a:highlight>
              </a:rPr>
              <a:t>인식에 대한 동의 정도</a:t>
            </a:r>
            <a:r>
              <a:rPr lang="en-US" altLang="ko-KR" sz="2000" dirty="0">
                <a:highlight>
                  <a:srgbClr val="FFFF00"/>
                </a:highlight>
              </a:rPr>
              <a:t>, (f) </a:t>
            </a:r>
            <a:r>
              <a:rPr lang="ko-KR" altLang="en-US" sz="2000" dirty="0" err="1">
                <a:highlight>
                  <a:srgbClr val="FFFF00"/>
                </a:highlight>
              </a:rPr>
              <a:t>에델만</a:t>
            </a:r>
            <a:r>
              <a:rPr lang="ko-KR" altLang="en-US" sz="2000" dirty="0">
                <a:highlight>
                  <a:srgbClr val="FFFF00"/>
                </a:highlight>
              </a:rPr>
              <a:t> 신뢰 지표에서 미디어의 위치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ko-KR" altLang="en-US" sz="2000" dirty="0">
                <a:highlight>
                  <a:srgbClr val="FFFF00"/>
                </a:highlight>
              </a:rPr>
              <a:t>등</a:t>
            </a:r>
            <a:endParaRPr lang="en-US" altLang="ko-KR" sz="20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D8DBAD-6B2E-9A80-F773-ECBC0134A50B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C6788-C9BD-4B88-835F-4769915E43D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2BB272-3FA1-775E-D844-08EF3322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96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8A04-DA92-8E0A-7F97-335E823B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18AA81A-EC4F-C917-94C9-37A2157ED77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RQ3. </a:t>
            </a:r>
            <a:r>
              <a:rPr lang="ko-KR" altLang="en-US" sz="2000" b="1" dirty="0">
                <a:latin typeface="+mn-ea"/>
                <a:ea typeface="+mn-ea"/>
              </a:rPr>
              <a:t>사용자에 대한 단서가 주어졌을 때 알고리즘적 영합이 어떻게 발생하는가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H3a. </a:t>
            </a:r>
            <a:r>
              <a:rPr lang="ko-KR" altLang="en-US" sz="2000" dirty="0">
                <a:latin typeface="+mn-ea"/>
                <a:ea typeface="+mn-ea"/>
              </a:rPr>
              <a:t>극단적인 정치 성향이나 이념적 편향을 나타내는 사용자 단서가 주입될 경우</a:t>
            </a:r>
            <a:r>
              <a:rPr lang="en-US" altLang="ko-KR" sz="2000" dirty="0">
                <a:latin typeface="+mn-ea"/>
                <a:ea typeface="+mn-ea"/>
              </a:rPr>
              <a:t>, AI</a:t>
            </a:r>
            <a:r>
              <a:rPr lang="ko-KR" altLang="en-US" sz="2000" dirty="0">
                <a:latin typeface="+mn-ea"/>
                <a:ea typeface="+mn-ea"/>
              </a:rPr>
              <a:t>는 사용자에게 영합하게 되며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그 결과 기준선 페르소나와 비교했을 때 </a:t>
            </a:r>
            <a:r>
              <a:rPr lang="en-US" altLang="ko-KR" sz="2000" dirty="0">
                <a:latin typeface="+mn-ea"/>
                <a:ea typeface="+mn-ea"/>
              </a:rPr>
              <a:t>HAC </a:t>
            </a:r>
            <a:r>
              <a:rPr lang="ko-KR" altLang="en-US" sz="2000" dirty="0">
                <a:latin typeface="+mn-ea"/>
                <a:ea typeface="+mn-ea"/>
              </a:rPr>
              <a:t>미디어에 대한 신뢰 점수가 통계적으로 유의미하게 증가하고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주류 미디어에 대한 냉소주의 역시 상응하게 증폭될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H3b. </a:t>
            </a:r>
            <a:r>
              <a:rPr lang="ko-KR" altLang="en-US" sz="2000" dirty="0">
                <a:latin typeface="+mn-ea"/>
                <a:ea typeface="+mn-ea"/>
              </a:rPr>
              <a:t>사용자가 소셜 미디어와 알고리즘 </a:t>
            </a:r>
            <a:r>
              <a:rPr lang="ko-KR" altLang="en-US" sz="2000" dirty="0" err="1">
                <a:latin typeface="+mn-ea"/>
                <a:ea typeface="+mn-ea"/>
              </a:rPr>
              <a:t>큐레이션에</a:t>
            </a:r>
            <a:r>
              <a:rPr lang="ko-KR" altLang="en-US" sz="2000" dirty="0">
                <a:latin typeface="+mn-ea"/>
                <a:ea typeface="+mn-ea"/>
              </a:rPr>
              <a:t> 크게 의존한다는 단서를 제시할 경우</a:t>
            </a:r>
            <a:r>
              <a:rPr lang="en-US" altLang="ko-KR" sz="2000" dirty="0">
                <a:latin typeface="+mn-ea"/>
                <a:ea typeface="+mn-ea"/>
              </a:rPr>
              <a:t>, AI</a:t>
            </a:r>
            <a:r>
              <a:rPr lang="ko-KR" altLang="en-US" sz="2000" dirty="0">
                <a:latin typeface="+mn-ea"/>
                <a:ea typeface="+mn-ea"/>
              </a:rPr>
              <a:t>는 수동적 뉴스 회피에 대해 비판적</a:t>
            </a:r>
            <a:r>
              <a:rPr lang="en-US" altLang="ko-KR" sz="2000" dirty="0">
                <a:latin typeface="+mn-ea"/>
                <a:ea typeface="+mn-ea"/>
              </a:rPr>
              <a:t>·</a:t>
            </a:r>
            <a:r>
              <a:rPr lang="ko-KR" altLang="en-US" sz="2000" dirty="0">
                <a:latin typeface="+mn-ea"/>
                <a:ea typeface="+mn-ea"/>
              </a:rPr>
              <a:t>교정적 입장을 제시하기보다는 </a:t>
            </a:r>
            <a:r>
              <a:rPr lang="en-US" altLang="ko-KR" sz="2000" dirty="0">
                <a:latin typeface="+mn-ea"/>
                <a:ea typeface="+mn-ea"/>
              </a:rPr>
              <a:t>News Finds Me(NFM) </a:t>
            </a:r>
            <a:r>
              <a:rPr lang="ko-KR" altLang="en-US" sz="2000" dirty="0">
                <a:latin typeface="+mn-ea"/>
                <a:ea typeface="+mn-ea"/>
              </a:rPr>
              <a:t>인식에 동의하는 방식으로 알고리즘적 영합을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ko-KR" altLang="en-US" sz="2000" dirty="0">
                <a:highlight>
                  <a:srgbClr val="FFFF00"/>
                </a:highlight>
              </a:rPr>
              <a:t>현재는 인구통계학적 방식을 통해 사용자에 대한 단서를 주려고 생각 중에 있는데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그냥 직접적으로 언급하는 편이 더 나을까요</a:t>
            </a:r>
            <a:r>
              <a:rPr lang="en-US" altLang="ko-KR" sz="2000" dirty="0">
                <a:highlight>
                  <a:srgbClr val="FFFF00"/>
                </a:highlight>
              </a:rPr>
              <a:t>?</a:t>
            </a:r>
            <a:endParaRPr lang="en-US" altLang="ko-KR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BC2FFF-02DF-BEA8-4914-353FA461A96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2BCB1-22B4-BBB7-5866-F01F8E45A917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FCEABE-EA99-356A-8020-329F66BE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E585-5A76-4B52-5BF0-14605F10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DDA32DE-7F9A-3267-B6E0-540DED8E5C1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IV 1: Trustor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>
                <a:latin typeface="+mn-ea"/>
              </a:rPr>
              <a:t>신뢰 </a:t>
            </a:r>
            <a:r>
              <a:rPr lang="ko-KR" altLang="en-US" sz="2400" b="1" dirty="0" err="1">
                <a:latin typeface="+mn-ea"/>
              </a:rPr>
              <a:t>주체로서의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AI)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모델</a:t>
            </a:r>
            <a:r>
              <a:rPr lang="en-US" altLang="ko-KR" sz="2400" dirty="0">
                <a:latin typeface="+mn-ea"/>
              </a:rPr>
              <a:t>: (a) OpenAI GPT, (b) Anthropic Claude, (c) Google Gemini, (d) </a:t>
            </a:r>
            <a:r>
              <a:rPr lang="en-US" altLang="ko-KR" sz="2400" dirty="0" err="1">
                <a:latin typeface="+mn-ea"/>
              </a:rPr>
              <a:t>xAI</a:t>
            </a:r>
            <a:r>
              <a:rPr lang="en-US" altLang="ko-KR" sz="2400" dirty="0">
                <a:latin typeface="+mn-ea"/>
              </a:rPr>
              <a:t> Grok, (e) Meta </a:t>
            </a:r>
            <a:r>
              <a:rPr lang="en-US" altLang="ko-KR" sz="2400" dirty="0" err="1">
                <a:latin typeface="+mn-ea"/>
              </a:rPr>
              <a:t>LLaMA</a:t>
            </a:r>
            <a:r>
              <a:rPr lang="en-US" altLang="ko-KR" sz="2400" dirty="0">
                <a:latin typeface="+mn-ea"/>
              </a:rPr>
              <a:t>, (f) Mistral, (g) DeepSeek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언어</a:t>
            </a:r>
            <a:r>
              <a:rPr lang="en-US" altLang="ko-KR" sz="2400" dirty="0">
                <a:latin typeface="+mn-ea"/>
              </a:rPr>
              <a:t>: (a) </a:t>
            </a:r>
            <a:r>
              <a:rPr lang="ko-KR" altLang="en-US" sz="2400" dirty="0">
                <a:latin typeface="+mn-ea"/>
              </a:rPr>
              <a:t>영어</a:t>
            </a:r>
            <a:r>
              <a:rPr lang="en-US" altLang="ko-KR" sz="2400" dirty="0">
                <a:latin typeface="+mn-ea"/>
              </a:rPr>
              <a:t>, (b) </a:t>
            </a:r>
            <a:r>
              <a:rPr lang="ko-KR" altLang="en-US" sz="2400" dirty="0">
                <a:latin typeface="+mn-ea"/>
              </a:rPr>
              <a:t>한국어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사용자 단서</a:t>
            </a:r>
            <a:r>
              <a:rPr lang="en-US" altLang="ko-KR" sz="2400" dirty="0">
                <a:latin typeface="+mn-ea"/>
              </a:rPr>
              <a:t>: (a) </a:t>
            </a:r>
            <a:r>
              <a:rPr lang="ko-KR" altLang="en-US" sz="2400" dirty="0">
                <a:latin typeface="+mn-ea"/>
              </a:rPr>
              <a:t>없음</a:t>
            </a:r>
            <a:r>
              <a:rPr lang="en-US" altLang="ko-KR" sz="2400" dirty="0">
                <a:latin typeface="+mn-ea"/>
              </a:rPr>
              <a:t>, (b) </a:t>
            </a:r>
            <a:r>
              <a:rPr lang="ko-KR" altLang="en-US" sz="2400" dirty="0">
                <a:latin typeface="+mn-ea"/>
              </a:rPr>
              <a:t>있음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구체적인 모델명은 실험 진행 시점의 최신 모델을 활용할 예정입니다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66803C-1C19-D455-4EEB-ACE8D2EF4315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26386-7F55-49D3-195A-35E475FBB4D5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DF322F-8EE9-41E7-BA0E-F3849D57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0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5B4D-80EE-B25A-103F-FEFDF3B0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330C661-A08A-B5EC-810A-FF90C6D92FF2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IV 2: Trustee (</a:t>
            </a:r>
            <a:r>
              <a:rPr lang="ko-KR" altLang="en-US" sz="2400" b="1" dirty="0">
                <a:latin typeface="+mn-ea"/>
              </a:rPr>
              <a:t>신뢰 평가의 대상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뉴스 미디어 전반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전반적인 제도적 태도를 포착하고 일반적 미디어 신뢰를 평가하기 위함</a:t>
            </a:r>
            <a:r>
              <a:rPr lang="en-US" altLang="ko-KR" sz="2400" dirty="0">
                <a:latin typeface="+mn-ea"/>
              </a:rPr>
              <a:t> 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주류 미디어</a:t>
            </a:r>
            <a:r>
              <a:rPr lang="en-US" altLang="ko-KR" sz="2400" dirty="0">
                <a:latin typeface="+mn-ea"/>
              </a:rPr>
              <a:t>(Mainstream Media): </a:t>
            </a:r>
            <a:r>
              <a:rPr lang="ko-KR" altLang="en-US" sz="2400" dirty="0">
                <a:latin typeface="+mn-ea"/>
              </a:rPr>
              <a:t>전통적인 전문 저널리즘 규범 아래 운영되는 기존의 인쇄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방송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디지털 조직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HAC </a:t>
            </a:r>
            <a:r>
              <a:rPr lang="ko-KR" altLang="en-US" sz="2400" dirty="0">
                <a:latin typeface="+mn-ea"/>
              </a:rPr>
              <a:t>미디어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반기득권 </a:t>
            </a:r>
            <a:r>
              <a:rPr lang="ko-KR" altLang="en-US" sz="2400" dirty="0" err="1">
                <a:latin typeface="+mn-ea"/>
              </a:rPr>
              <a:t>프레이밍과</a:t>
            </a:r>
            <a:r>
              <a:rPr lang="ko-KR" altLang="en-US" sz="2400" dirty="0">
                <a:latin typeface="+mn-ea"/>
              </a:rPr>
              <a:t> 뚜렷한 이념적 위치성을 특징으로 하는 </a:t>
            </a:r>
            <a:r>
              <a:rPr lang="ko-KR" altLang="en-US" sz="2400" dirty="0" err="1">
                <a:latin typeface="+mn-ea"/>
              </a:rPr>
              <a:t>초정파적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대안적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음모론 지향 매체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소셜 미디어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우연적 뉴스 노출을 위한 알고리즘 </a:t>
            </a:r>
            <a:r>
              <a:rPr lang="ko-KR" altLang="en-US" sz="2400" dirty="0" err="1">
                <a:latin typeface="+mn-ea"/>
              </a:rPr>
              <a:t>집계자이자</a:t>
            </a:r>
            <a:r>
              <a:rPr lang="ko-KR" altLang="en-US" sz="2400" dirty="0">
                <a:latin typeface="+mn-ea"/>
              </a:rPr>
              <a:t> 전달 통로로 기능하는 플랫폼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특정 대상</a:t>
            </a:r>
            <a:r>
              <a:rPr lang="en-US" altLang="ko-KR" sz="2400" dirty="0"/>
              <a:t>: </a:t>
            </a:r>
            <a:r>
              <a:rPr lang="ko-KR" altLang="en-US" sz="2400" dirty="0"/>
              <a:t>개별 언론 브랜드</a:t>
            </a:r>
            <a:r>
              <a:rPr lang="en-US" altLang="ko-KR" sz="2400" dirty="0"/>
              <a:t>, </a:t>
            </a:r>
            <a:r>
              <a:rPr lang="ko-KR" altLang="en-US" sz="2400" dirty="0"/>
              <a:t>저명한 언론인</a:t>
            </a:r>
            <a:r>
              <a:rPr lang="en-US" altLang="ko-KR" sz="2400" dirty="0"/>
              <a:t>, </a:t>
            </a:r>
            <a:r>
              <a:rPr lang="ko-KR" altLang="en-US" sz="2400" dirty="0"/>
              <a:t>그리고 특정 콘텐츠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소셜 미디어 부분과 특정 대상에 대한 부분을 고민 중에 있습니다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864715-6D00-78D2-D53E-449625DBA2F5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6736D-8E3D-F393-3844-A2566AFD6EA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6AC5EE-053B-1760-DD29-662C9940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1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7A5D3-B7D3-E372-BFB3-B32BFEB8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99B16AA-4BA3-8E50-1317-F0CB2EEAFAB8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1: </a:t>
            </a:r>
            <a:r>
              <a:rPr lang="ko-KR" altLang="en-US" sz="2400" b="1" dirty="0">
                <a:latin typeface="+mn-ea"/>
              </a:rPr>
              <a:t>정보 신뢰성</a:t>
            </a:r>
            <a:r>
              <a:rPr lang="en-US" altLang="ko-KR" sz="2400" b="1" dirty="0">
                <a:latin typeface="+mn-ea"/>
              </a:rPr>
              <a:t>(Credibility)</a:t>
            </a:r>
            <a:r>
              <a:rPr lang="ko-KR" altLang="en-US" sz="2400" b="1" dirty="0">
                <a:latin typeface="+mn-ea"/>
              </a:rPr>
              <a:t> 스케일 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-US" altLang="ko-KR" sz="2400" b="1" dirty="0" err="1">
                <a:latin typeface="+mn-ea"/>
              </a:rPr>
              <a:t>Strömbäck</a:t>
            </a:r>
            <a:r>
              <a:rPr lang="en-US" altLang="ko-KR" sz="2400" b="1" dirty="0">
                <a:latin typeface="+mn-ea"/>
              </a:rPr>
              <a:t>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공정하다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</a:t>
            </a:r>
            <a:r>
              <a:rPr lang="ko-KR" altLang="en-US" sz="2400" dirty="0" err="1"/>
              <a:t>편향적이지않다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완결적이다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정확하다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사실과 의견을 잘 분리한다</a:t>
            </a:r>
            <a:r>
              <a:rPr lang="en-US" altLang="ko-KR" sz="2400" dirty="0"/>
              <a:t>.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소셜 미디어 부분과 특정 대상에 대한 부분을 고민 중에 있습니다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7EDF5F-6E0F-7B09-0AA3-7647E557C72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901DD-757F-5045-BCDE-E54CE95BE60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720852-1FFB-A514-7BCC-DF571E6C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6F04-68EF-69D0-ED97-E8970BA0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7DC61BB-DFB9-E7F6-DB2F-AFB97272AF77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(Confidence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</a:t>
            </a:r>
            <a:r>
              <a:rPr lang="en-US" altLang="ko-KR" sz="2400" b="1" dirty="0">
                <a:highlight>
                  <a:srgbClr val="00FFFF"/>
                </a:highlight>
                <a:latin typeface="+mn-ea"/>
              </a:rPr>
              <a:t>Luhmann </a:t>
            </a:r>
            <a:r>
              <a:rPr lang="ko-KR" altLang="en-US" sz="2400" b="1" dirty="0">
                <a:highlight>
                  <a:srgbClr val="00FFFF"/>
                </a:highlight>
                <a:latin typeface="+mn-ea"/>
              </a:rPr>
              <a:t>참고할 예정</a:t>
            </a:r>
            <a:endParaRPr lang="en-US" altLang="ko-KR" sz="2400" b="1" dirty="0">
              <a:highlight>
                <a:srgbClr val="00FFFF"/>
              </a:highlight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/>
              <a:t>TBD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en-US" altLang="ko-KR" sz="2400" dirty="0">
                <a:highlight>
                  <a:srgbClr val="FFFF00"/>
                </a:highlight>
              </a:rPr>
              <a:t>Confidence</a:t>
            </a:r>
            <a:r>
              <a:rPr lang="ko-KR" altLang="en-US" sz="2400" dirty="0">
                <a:highlight>
                  <a:srgbClr val="FFFF00"/>
                </a:highlight>
              </a:rPr>
              <a:t>와 </a:t>
            </a:r>
            <a:r>
              <a:rPr lang="en-US" altLang="ko-KR" sz="2400" dirty="0">
                <a:highlight>
                  <a:srgbClr val="FFFF00"/>
                </a:highlight>
              </a:rPr>
              <a:t>Trust</a:t>
            </a:r>
            <a:r>
              <a:rPr lang="ko-KR" altLang="en-US" sz="2400" dirty="0">
                <a:highlight>
                  <a:srgbClr val="FFFF00"/>
                </a:highlight>
              </a:rPr>
              <a:t>를 구분한 루만의 논의를 가져올 예정입니다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097D6D-C091-319A-B6C7-93FF3E2FA9A4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E109F-3A40-EDBA-349A-A3EC99E916BD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A4F2E7-4261-3B57-0341-3EDE9109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98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923A-1D19-A921-B4EC-5E72A1CC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4AAEFA5-5090-6A26-A2EA-C40EB295BABA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(Trust &amp; Distrust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</a:t>
            </a:r>
            <a:r>
              <a:rPr lang="ko-KR" altLang="en-US" sz="2400" b="1" dirty="0">
                <a:highlight>
                  <a:srgbClr val="00FFFF"/>
                </a:highlight>
                <a:latin typeface="+mn-ea"/>
              </a:rPr>
              <a:t>기존 선행 연구 문항 활용</a:t>
            </a:r>
            <a:endParaRPr lang="en-US" altLang="ko-KR" sz="2400" b="1" dirty="0">
              <a:highlight>
                <a:srgbClr val="00FFFF"/>
              </a:highlight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/>
              <a:t>TBD (ex.</a:t>
            </a:r>
            <a:r>
              <a:rPr lang="ko-KR" altLang="en-US" sz="2400" dirty="0"/>
              <a:t> 로이터 저널리즘 연구소 </a:t>
            </a:r>
            <a:r>
              <a:rPr lang="en-US" altLang="ko-KR" sz="2400" dirty="0"/>
              <a:t>“</a:t>
            </a:r>
            <a:r>
              <a:rPr lang="ko-KR" altLang="en-US" sz="2400" dirty="0"/>
              <a:t>나는 대부분의 </a:t>
            </a:r>
            <a:r>
              <a:rPr lang="en-US" altLang="ko-KR" sz="2400" i="1" dirty="0"/>
              <a:t>[Trustee]</a:t>
            </a:r>
            <a:r>
              <a:rPr lang="ko-KR" altLang="en-US" sz="2400" dirty="0"/>
              <a:t>를 거의 항상 신뢰할 수 있다</a:t>
            </a:r>
            <a:r>
              <a:rPr lang="en-US" altLang="ko-KR" sz="2400" dirty="0"/>
              <a:t>)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문항 개발은 아직 완료되지 않은 상태입니다</a:t>
            </a:r>
            <a:r>
              <a:rPr lang="en-US" altLang="ko-KR" sz="2400" dirty="0">
                <a:highlight>
                  <a:srgbClr val="FFFF00"/>
                </a:highlight>
              </a:rPr>
              <a:t>.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1DA1CA-1953-03DD-D059-C71982F6A07B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AD34A-F074-64A0-BBB2-E4F0F83A0F6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BFA8CA-0A00-5A1B-46D1-6CEE2996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2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6EF9-7973-407A-A236-41DDCD4D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C0F450D-C26E-39E1-06B3-3E1FFF67ED79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(Cynicism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(Markov &amp; Min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언론은</a:t>
            </a:r>
            <a:r>
              <a:rPr lang="ko-KR" altLang="en-US" sz="2400" i="1" dirty="0"/>
              <a:t> </a:t>
            </a:r>
            <a:r>
              <a:rPr lang="ko-KR" altLang="en-US" sz="2400" dirty="0"/>
              <a:t>자신의 이익을 극대화하기 위해 작동한다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언론은 보도품질보다 자신의 이해관계에 더 관심을 가진다</a:t>
            </a:r>
            <a:endParaRPr lang="en-US" altLang="ko-KR" sz="2400" dirty="0"/>
          </a:p>
          <a:p>
            <a:r>
              <a:rPr lang="ko-KR" altLang="en-US" sz="2400" dirty="0"/>
              <a:t>현재 언론전반은 이용자에게 필요한 정보를 제공하지 못한다</a:t>
            </a:r>
          </a:p>
          <a:p>
            <a:r>
              <a:rPr lang="ko-KR" altLang="en-US" sz="2400" dirty="0"/>
              <a:t>기성언론을 개선하려는 대부분의 시도는 거의 효과를 거두지 못한다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0CB57E-1EDC-63CD-A8E8-BFD42A3B481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102AB-2EB9-2DA0-4C35-92EEB2907803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C8DA75-3744-51FA-7751-E56AEF4F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14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04EB-6980-C2DA-5186-26A76EFA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D9C020E-200C-A2CB-C749-1485CBBF36E5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3: </a:t>
            </a:r>
            <a:r>
              <a:rPr lang="ko-KR" altLang="en-US" sz="2400" b="1" dirty="0" err="1">
                <a:latin typeface="+mn-ea"/>
              </a:rPr>
              <a:t>에델만</a:t>
            </a:r>
            <a:r>
              <a:rPr lang="ko-KR" altLang="en-US" sz="2400" b="1" dirty="0">
                <a:latin typeface="+mn-ea"/>
              </a:rPr>
              <a:t> 신뢰 지표</a:t>
            </a:r>
            <a:r>
              <a:rPr lang="en-US" altLang="ko-KR" sz="2400" b="1" dirty="0">
                <a:latin typeface="+mn-ea"/>
              </a:rPr>
              <a:t> (Edelman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 err="1"/>
              <a:t>에델만</a:t>
            </a:r>
            <a:r>
              <a:rPr lang="ko-KR" altLang="en-US" sz="2400" dirty="0"/>
              <a:t> 신뢰 지표 측정 방식을 그대로 따름</a:t>
            </a:r>
            <a:endParaRPr lang="en-US" altLang="ko-KR" sz="2400" dirty="0"/>
          </a:p>
          <a:p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여기서의 </a:t>
            </a:r>
            <a:r>
              <a:rPr lang="en-US" altLang="ko-KR" sz="2400" dirty="0"/>
              <a:t>Trustee</a:t>
            </a:r>
            <a:r>
              <a:rPr lang="ko-KR" altLang="en-US" sz="2400" dirty="0"/>
              <a:t>는 </a:t>
            </a:r>
            <a:r>
              <a:rPr lang="en-US" altLang="ko-KR" sz="2400" dirty="0"/>
              <a:t>{</a:t>
            </a:r>
            <a:r>
              <a:rPr lang="ko-KR" altLang="en-US" sz="2400" dirty="0"/>
              <a:t>기업</a:t>
            </a:r>
            <a:r>
              <a:rPr lang="en-US" altLang="ko-KR" sz="2400" dirty="0"/>
              <a:t>, NGO, </a:t>
            </a:r>
            <a:r>
              <a:rPr lang="ko-KR" altLang="en-US" sz="2400" dirty="0"/>
              <a:t>정부</a:t>
            </a:r>
            <a:r>
              <a:rPr lang="en-US" altLang="ko-KR" sz="2400" dirty="0"/>
              <a:t>, </a:t>
            </a:r>
            <a:r>
              <a:rPr lang="ko-KR" altLang="en-US" sz="2400" dirty="0"/>
              <a:t>미디어</a:t>
            </a:r>
            <a:r>
              <a:rPr lang="en-US" altLang="ko-KR" sz="2400" dirty="0"/>
              <a:t>}</a:t>
            </a:r>
            <a:r>
              <a:rPr lang="ko-KR" altLang="en-US" sz="2400" dirty="0"/>
              <a:t>임</a:t>
            </a:r>
            <a:r>
              <a:rPr lang="en-US" altLang="ko-KR" sz="240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5B952A7-244D-F783-9109-FB710028BF2C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31CBF-4C3B-81D0-AABA-86CF6989D11D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CBE08E-48AB-62EC-9C44-3B848A70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99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A7BE-A6C5-057C-1FF9-F6E3E66D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259E893-BBEE-FB68-62F3-90A9C1684A8E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4: NFM </a:t>
            </a:r>
            <a:r>
              <a:rPr lang="ko-KR" altLang="en-US" sz="2400" b="1" dirty="0">
                <a:latin typeface="+mn-ea"/>
              </a:rPr>
              <a:t>스케일 </a:t>
            </a:r>
            <a:r>
              <a:rPr lang="en-US" altLang="ko-KR" sz="2400" b="1" dirty="0">
                <a:latin typeface="+mn-ea"/>
              </a:rPr>
              <a:t>(Gil de Zúñiga 2017)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중요한 뉴스가 발생했을 때 무엇이 중요한지 나는 친구들이 알려주는 데 의존한다</a:t>
            </a:r>
            <a:endParaRPr lang="en-US" altLang="ko-KR" sz="2400" dirty="0"/>
          </a:p>
          <a:p>
            <a:r>
              <a:rPr lang="ko-KR" altLang="en-US" sz="2400" dirty="0"/>
              <a:t>뉴스를 적극적으로 따라가지 않아도 나는 충분히 잘 알고 있을 수 있다</a:t>
            </a:r>
            <a:endParaRPr lang="en-US" altLang="ko-KR" sz="2400" dirty="0"/>
          </a:p>
          <a:p>
            <a:r>
              <a:rPr lang="ko-KR" altLang="en-US" sz="2400" dirty="0"/>
              <a:t>뉴스가 나를 찾아올 것이라는 걸 알기 때문에 뉴스를 계속 챙겨야 한다고 걱정하지 않는다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D9EA62-A70C-C5AF-AA79-AF37E953C568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D96A0-7EF2-029D-CF88-8D4DD744A071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750B99E-4FB9-AF21-04F0-2DDA0CDC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86FC-01BC-EE71-4035-EF284751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369134-5776-DC8D-D868-6C10CD3ADC67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Exp 1. </a:t>
            </a:r>
            <a:r>
              <a:rPr lang="ko-KR" altLang="en-US" sz="2400" b="1" dirty="0" err="1">
                <a:latin typeface="+mn-ea"/>
              </a:rPr>
              <a:t>무표적</a:t>
            </a:r>
            <a:r>
              <a:rPr lang="ko-KR" altLang="en-US" sz="2400" b="1" dirty="0">
                <a:latin typeface="+mn-ea"/>
              </a:rPr>
              <a:t> 페르소나 </a:t>
            </a:r>
            <a:r>
              <a:rPr lang="en-US" altLang="ko-KR" sz="2400" b="1" dirty="0">
                <a:latin typeface="+mn-ea"/>
              </a:rPr>
              <a:t>(Temperature = 0.0)</a:t>
            </a: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API</a:t>
            </a:r>
            <a:r>
              <a:rPr lang="ko-KR" altLang="en-US" sz="2400" dirty="0"/>
              <a:t>의 </a:t>
            </a:r>
            <a:r>
              <a:rPr lang="en-US" altLang="ko-KR" sz="2400" dirty="0"/>
              <a:t>temperature</a:t>
            </a:r>
            <a:r>
              <a:rPr lang="ko-KR" altLang="en-US" sz="2400" dirty="0"/>
              <a:t>를 </a:t>
            </a:r>
            <a:r>
              <a:rPr lang="en-US" altLang="ko-KR" sz="2400" dirty="0"/>
              <a:t>0.0</a:t>
            </a:r>
            <a:r>
              <a:rPr lang="ko-KR" altLang="en-US" sz="2400" dirty="0"/>
              <a:t>으로 설정함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결정론적 설정에서 모델은 </a:t>
            </a:r>
            <a:r>
              <a:rPr lang="en-US" altLang="ko-KR" sz="2400" dirty="0"/>
              <a:t>greedy decoding</a:t>
            </a:r>
            <a:r>
              <a:rPr lang="ko-KR" altLang="en-US" sz="2400" dirty="0"/>
              <a:t>을 사용함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확률적 변동성이 제거되고</a:t>
            </a:r>
            <a:r>
              <a:rPr lang="en-US" altLang="ko-KR" sz="2400" dirty="0"/>
              <a:t>, AI</a:t>
            </a:r>
            <a:r>
              <a:rPr lang="ko-KR" altLang="en-US" sz="2400" dirty="0"/>
              <a:t>가 학습 데이터와 기업 정렬 </a:t>
            </a:r>
            <a:r>
              <a:rPr lang="en-US" altLang="ko-KR" sz="2400" dirty="0"/>
              <a:t>Fine-tuning</a:t>
            </a:r>
            <a:r>
              <a:rPr lang="ko-KR" altLang="en-US" sz="2400" dirty="0"/>
              <a:t>에서 가장 통계적 가중치가 높은 토큰만을 산출하는 가장 핵심적이고 비표지적인 기본 페르소나를 일관되게 드러내도록 만듦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매우 높은 재현성을 보이는 값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074C43-068A-61FE-A160-44EE142C7059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Experiment Setting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42E32-3FAD-832B-CB4B-A7AF4804E6F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870AF8-FC06-9CD3-B232-CD7B43DB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4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4C25-DF0B-48B6-BD5B-1334B7D8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68DC4E5-DA2D-920B-394D-B0ADE8313414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Exp 2. </a:t>
            </a:r>
            <a:r>
              <a:rPr lang="ko-KR" altLang="en-US" sz="2400" b="1" dirty="0">
                <a:latin typeface="+mn-ea"/>
              </a:rPr>
              <a:t>분산과 분포 </a:t>
            </a:r>
            <a:r>
              <a:rPr lang="en-US" altLang="ko-KR" sz="2400" b="1" dirty="0">
                <a:latin typeface="+mn-ea"/>
              </a:rPr>
              <a:t>(Temperature = 0.7)</a:t>
            </a: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API</a:t>
            </a:r>
            <a:r>
              <a:rPr lang="ko-KR" altLang="en-US" sz="2400" dirty="0"/>
              <a:t>의 </a:t>
            </a:r>
            <a:r>
              <a:rPr lang="en-US" altLang="ko-KR" sz="2400" dirty="0"/>
              <a:t>temperature</a:t>
            </a:r>
            <a:r>
              <a:rPr lang="ko-KR" altLang="en-US" sz="2400" dirty="0"/>
              <a:t>를 </a:t>
            </a:r>
            <a:r>
              <a:rPr lang="en-US" altLang="ko-KR" sz="2400" dirty="0"/>
              <a:t>0.7</a:t>
            </a:r>
            <a:r>
              <a:rPr lang="ko-KR" altLang="en-US" sz="2400" dirty="0"/>
              <a:t>으로 설정함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자연스러운 수준의 어휘적 변이 도입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일반 대중이 사용하는 대화형 </a:t>
            </a:r>
            <a:r>
              <a:rPr lang="ko-KR" altLang="en-US" sz="2400" dirty="0" err="1"/>
              <a:t>챗봇</a:t>
            </a:r>
            <a:r>
              <a:rPr lang="ko-KR" altLang="en-US" sz="2400" dirty="0"/>
              <a:t> 인터페이스에서 통상적으로 활용되는 생성 설정을 모사하는 </a:t>
            </a:r>
            <a:r>
              <a:rPr lang="ko-KR" altLang="en-US" sz="2400" dirty="0" err="1"/>
              <a:t>표준값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이 설정에서의 출력은 확률적</a:t>
            </a:r>
            <a:r>
              <a:rPr lang="en-US" altLang="ko-KR" sz="2400" dirty="0"/>
              <a:t>; </a:t>
            </a:r>
            <a:r>
              <a:rPr lang="ko-KR" altLang="en-US" sz="2400" dirty="0"/>
              <a:t>동일한 프롬프트라도 반복 실행할 경우 서로 다른 응답이 나타나며</a:t>
            </a:r>
            <a:r>
              <a:rPr lang="en-US" altLang="ko-KR" sz="2400" dirty="0"/>
              <a:t>, </a:t>
            </a:r>
            <a:r>
              <a:rPr lang="ko-KR" altLang="en-US" sz="2400" dirty="0"/>
              <a:t>이는 모델 내부에 잠재된 개념들의 분포를 반영함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각 고유 프롬프트 조합에 대해 </a:t>
            </a:r>
            <a:r>
              <a:rPr lang="en-US" altLang="ko-KR" sz="2400" dirty="0"/>
              <a:t>30~50</a:t>
            </a:r>
            <a:r>
              <a:rPr lang="ko-KR" altLang="en-US" sz="2400" dirty="0"/>
              <a:t>회까지의 자동 생성 반복 루프를 수행하고 모델의 잠재적 신뢰 공간</a:t>
            </a:r>
            <a:r>
              <a:rPr lang="en-US" altLang="ko-KR" sz="2400" dirty="0"/>
              <a:t>(latent trust space)</a:t>
            </a:r>
            <a:r>
              <a:rPr lang="ko-KR" altLang="en-US" sz="2400" dirty="0"/>
              <a:t>에 대한 포괄적이고 신뢰할 만한 지도를 제공함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34F379-4DED-D38B-17EB-9D396808081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Experiment Setting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4C541-11D0-9B52-132E-F8171C409AE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9A8233C-FAFA-F2D1-33CB-C89D049D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17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384-675E-E794-7222-2E39CB41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AFD1479-C544-09DD-C5ED-9B52100B652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RQ1 ~ RQ2</a:t>
            </a:r>
            <a:r>
              <a:rPr lang="ko-KR" altLang="en-US" sz="2400" b="1" dirty="0">
                <a:latin typeface="+mn-ea"/>
              </a:rPr>
              <a:t>에 대한 검증</a:t>
            </a:r>
            <a:endParaRPr lang="en-US" altLang="ko-KR" sz="2400" b="1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Trustor</a:t>
            </a:r>
            <a:r>
              <a:rPr lang="ko-KR" altLang="en-US" sz="2400" dirty="0"/>
              <a:t>와 </a:t>
            </a:r>
            <a:r>
              <a:rPr lang="en-US" altLang="ko-KR" sz="2400" dirty="0"/>
              <a:t>Trustee</a:t>
            </a:r>
            <a:r>
              <a:rPr lang="ko-KR" altLang="en-US" sz="2400" dirty="0"/>
              <a:t>의 각 독립변수와 신뢰에 대한 각 종속변수의 관계를 </a:t>
            </a:r>
            <a:r>
              <a:rPr lang="en-US" altLang="ko-KR" sz="2400" dirty="0"/>
              <a:t>MANOVA</a:t>
            </a:r>
            <a:r>
              <a:rPr lang="ko-KR" altLang="en-US" sz="2400" dirty="0"/>
              <a:t>와 </a:t>
            </a:r>
            <a:r>
              <a:rPr lang="en-US" altLang="ko-KR" sz="2400" dirty="0"/>
              <a:t>ANOVA</a:t>
            </a:r>
            <a:r>
              <a:rPr lang="ko-KR" altLang="en-US" sz="2400" dirty="0"/>
              <a:t>를 통해 분석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이를 바탕으로 서로 다른 모델들이 상이한 언어적 맥락 속에서 무엇에 대해 어떻게 신뢰의 기준선을 구성하는지에 대한 복합적인 구조 패턴을 탐지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endParaRPr lang="en-US" altLang="ko-KR" sz="2400" dirty="0"/>
          </a:p>
          <a:p>
            <a:r>
              <a:rPr lang="en-US" altLang="ko-KR" sz="2400" b="1" dirty="0">
                <a:latin typeface="+mn-ea"/>
              </a:rPr>
              <a:t>RQ3</a:t>
            </a:r>
            <a:r>
              <a:rPr lang="ko-KR" altLang="en-US" sz="2400" b="1" dirty="0">
                <a:latin typeface="+mn-ea"/>
              </a:rPr>
              <a:t>에 대한 검증</a:t>
            </a:r>
            <a:endParaRPr lang="en-US" altLang="ko-KR" sz="2400" b="1" dirty="0">
              <a:latin typeface="+mn-ea"/>
            </a:endParaRPr>
          </a:p>
          <a:p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사용자 단서 제공의 상호작용 효과를 분리해내기 위해 </a:t>
            </a:r>
            <a:r>
              <a:rPr lang="en-US" altLang="ko-KR" sz="2400" dirty="0"/>
              <a:t>OLS </a:t>
            </a:r>
            <a:r>
              <a:rPr lang="ko-KR" altLang="en-US" sz="2400" dirty="0"/>
              <a:t>회귀 분석을 활용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endParaRPr lang="en-US" altLang="ko-KR" sz="2400" dirty="0"/>
          </a:p>
          <a:p>
            <a:r>
              <a:rPr lang="ko-KR" altLang="en-US" sz="2400" dirty="0">
                <a:highlight>
                  <a:srgbClr val="FFFF00"/>
                </a:highlight>
              </a:rPr>
              <a:t>다음 분석 전략은 아직은 참고용으로만 봐주세요</a:t>
            </a:r>
            <a:r>
              <a:rPr lang="en-US" altLang="ko-KR" sz="2400" dirty="0">
                <a:highlight>
                  <a:srgbClr val="FFFF00"/>
                </a:highlight>
              </a:rPr>
              <a:t>!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92DA7A-960A-C415-7C8C-D0FD66333F8D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Analytical Strategy &amp; Statistical Modeling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93026-CCF9-977E-F1E9-4CD917D56A9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C63307-BE73-E7BD-ECA8-F87E8106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79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16BA-9DFE-3284-00A4-8ADD2ADA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F2D0948F-8FFE-222E-016C-BBC568BFF0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59169"/>
                <a:ext cx="12192000" cy="4542086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4000" kern="1200" cap="none" spc="8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endParaRPr lang="en-US" altLang="ko-KR" sz="2000" b="1" dirty="0">
                  <a:latin typeface="+mn-ea"/>
                  <a:ea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 </a:t>
                </a:r>
                <a:r>
                  <a:rPr lang="ko-KR" altLang="en-US" sz="2400" b="1" dirty="0">
                    <a:latin typeface="+mn-ea"/>
                  </a:rPr>
                  <a:t>식 </a:t>
                </a:r>
                <a:r>
                  <a:rPr lang="en-US" altLang="ko-KR" sz="2400" b="1" dirty="0">
                    <a:latin typeface="+mn-ea"/>
                  </a:rPr>
                  <a:t>(H3a-1; HAC </a:t>
                </a:r>
                <a:r>
                  <a:rPr lang="ko-KR" altLang="en-US" sz="2400" b="1" dirty="0">
                    <a:latin typeface="+mn-ea"/>
                  </a:rPr>
                  <a:t>미디어 신뢰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𝐻𝐴𝐶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𝑇𝑟𝑢𝑠𝑡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𝐸𝑥𝑡𝑟𝑒𝑚𝑒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𝑃𝑜𝑙𝑖𝑡𝑖𝑐𝑎𝑙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𝐻𝐴𝐶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𝑇𝑟𝑢𝑠𝑡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b="0" dirty="0">
                  <a:latin typeface="+mn-ea"/>
                </a:endParaRPr>
              </a:p>
              <a:p>
                <a:endParaRPr lang="en-US" altLang="ko-KR" sz="2400" dirty="0">
                  <a:latin typeface="+mn-ea"/>
                </a:endParaRPr>
              </a:p>
              <a:p>
                <a:endParaRPr lang="en-US" altLang="ko-KR" sz="2400" dirty="0">
                  <a:latin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</a:t>
                </a:r>
                <a:r>
                  <a:rPr lang="ko-KR" altLang="en-US" sz="2400" b="1" dirty="0">
                    <a:latin typeface="+mn-ea"/>
                  </a:rPr>
                  <a:t> 식 </a:t>
                </a:r>
                <a:r>
                  <a:rPr lang="en-US" altLang="ko-KR" sz="2400" b="1" dirty="0">
                    <a:latin typeface="+mn-ea"/>
                  </a:rPr>
                  <a:t>(H3a-2; </a:t>
                </a:r>
                <a:r>
                  <a:rPr lang="ko-KR" altLang="en-US" sz="2400" b="1" dirty="0">
                    <a:latin typeface="+mn-ea"/>
                  </a:rPr>
                  <a:t>주류 미디어에 대한 냉소주의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𝑀𝑎𝑖𝑛𝑠𝑡𝑟𝑒𝑎𝑚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𝐶𝑦𝑛𝑖𝑐𝑖𝑠𝑚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𝐸𝑥𝑡𝑟𝑒𝑚𝑒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𝑃𝑜𝑙𝑖𝑡𝑖𝑐𝑎𝑙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𝑀𝑎𝑖𝑛𝑠𝑡𝑟𝑒𝑎𝑚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𝐶𝑦𝑛𝑖𝑐𝑖𝑠𝑚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dirty="0">
                  <a:latin typeface="+mn-ea"/>
                </a:endParaRPr>
              </a:p>
              <a:p>
                <a:endParaRPr lang="en-US" altLang="ko-KR" sz="2400" b="1" dirty="0">
                  <a:latin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 </a:t>
                </a:r>
                <a:r>
                  <a:rPr lang="ko-KR" altLang="en-US" sz="2400" b="1" dirty="0">
                    <a:latin typeface="+mn-ea"/>
                  </a:rPr>
                  <a:t>식 </a:t>
                </a:r>
                <a:r>
                  <a:rPr lang="en-US" altLang="ko-KR" sz="2400" b="1" dirty="0">
                    <a:latin typeface="+mn-ea"/>
                  </a:rPr>
                  <a:t>(H3b; NFM </a:t>
                </a:r>
                <a:r>
                  <a:rPr lang="ko-KR" altLang="en-US" sz="2400" b="1" dirty="0">
                    <a:latin typeface="+mn-ea"/>
                  </a:rPr>
                  <a:t>동의 수준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𝑁𝐹𝑀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𝐴𝑔𝑟𝑒𝑒𝑚𝑒𝑛𝑡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𝑆𝑜𝑐𝑖𝑎𝑙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𝑀𝑒𝑑𝑖𝑎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𝑅𝑒𝑙𝑖𝑎𝑛𝑐𝑒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𝑁𝐹𝑀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𝐴𝑔𝑟𝑒𝑒𝑚𝑒𝑛𝑡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dirty="0">
                  <a:latin typeface="+mn-ea"/>
                </a:endParaRPr>
              </a:p>
              <a:p>
                <a:endParaRPr lang="en-US" altLang="ko-KR" sz="2400" b="1" dirty="0">
                  <a:latin typeface="+mn-ea"/>
                </a:endParaRPr>
              </a:p>
            </p:txBody>
          </p:sp>
        </mc:Choice>
        <mc:Fallback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F2D0948F-8FFE-222E-016C-BBC568BF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59169"/>
                <a:ext cx="12192000" cy="45420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EBB8C7E-0483-DF4A-DCC9-84CAF7BD9EB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Analytical Strategy &amp; Statistical Modeling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D4FFB-861D-F6ED-66E4-145B6D479F90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2594B8-C315-B0D6-BC45-687C5DE2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A40A-6F90-6F24-871E-37B56D1C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063E9-98D0-2F7A-21F1-85BB2C96D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pic>
        <p:nvPicPr>
          <p:cNvPr id="4" name="Picture 3" descr="생동감 넘치는 색채의 벡터 배경">
            <a:extLst>
              <a:ext uri="{FF2B5EF4-FFF2-40B4-BE49-F238E27FC236}">
                <a16:creationId xmlns:a16="http://schemas.microsoft.com/office/drawing/2014/main" id="{00C6CC2F-BC5F-AE90-075D-2D245752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0" r="16240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03BED1A5-F886-C4D4-0F6C-733EF8C4FF80}"/>
              </a:ext>
            </a:extLst>
          </p:cNvPr>
          <p:cNvSpPr txBox="1">
            <a:spLocks/>
          </p:cNvSpPr>
          <p:nvPr/>
        </p:nvSpPr>
        <p:spPr>
          <a:xfrm>
            <a:off x="721688" y="4825916"/>
            <a:ext cx="4857857" cy="100565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2026.04.22.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2B44A-23DC-FF97-2B60-B62DDAA5E579}"/>
              </a:ext>
            </a:extLst>
          </p:cNvPr>
          <p:cNvSpPr txBox="1"/>
          <p:nvPr/>
        </p:nvSpPr>
        <p:spPr>
          <a:xfrm>
            <a:off x="703400" y="620802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New Media &amp; Society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2B2AE5-02BF-E1BE-BAC2-DD6B696C5151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Jongbeen</a:t>
            </a:r>
            <a:r>
              <a:rPr lang="en-US" altLang="ko-KR" dirty="0"/>
              <a:t> Song &amp; Young Min (2026)</a:t>
            </a:r>
          </a:p>
        </p:txBody>
      </p:sp>
    </p:spTree>
    <p:extLst>
      <p:ext uri="{BB962C8B-B14F-4D97-AF65-F5344CB8AC3E}">
        <p14:creationId xmlns:p14="http://schemas.microsoft.com/office/powerpoint/2010/main" val="3158841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9468-57B8-85EA-F3BA-AA1E18F2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1B8DEF9-D2AA-34BD-05AF-7125923E039D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DE203D-68FA-F339-258B-EE548DFB08E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CA8CB-E394-8CBC-81F1-C8D212039C15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5A5472F-4281-EDC5-851D-A0D9C350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26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F01374F-FDB0-CFB8-5B7C-287BCB036C92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Brems, M. K. (2025). Divisions of labor: Why alternative news users seek out mainstream news media in Denmark and how they combine mainstream and alternative content. </a:t>
            </a:r>
            <a:r>
              <a:rPr lang="en-US" altLang="ko-KR" sz="1200" i="1" dirty="0">
                <a:latin typeface="+mn-ea"/>
              </a:rPr>
              <a:t>Journalism</a:t>
            </a:r>
            <a:r>
              <a:rPr lang="en-US" altLang="ko-KR" sz="1200" dirty="0">
                <a:latin typeface="+mn-ea"/>
              </a:rPr>
              <a:t>. Advance online publication.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de León, E., </a:t>
            </a:r>
            <a:r>
              <a:rPr lang="en-US" altLang="ko-KR" sz="1200" dirty="0" err="1">
                <a:latin typeface="+mn-ea"/>
              </a:rPr>
              <a:t>Makhortykh</a:t>
            </a:r>
            <a:r>
              <a:rPr lang="en-US" altLang="ko-KR" sz="1200" dirty="0">
                <a:latin typeface="+mn-ea"/>
              </a:rPr>
              <a:t>, M., &amp; Adam, S. (2024). </a:t>
            </a:r>
            <a:r>
              <a:rPr lang="en-US" altLang="ko-KR" sz="1200" dirty="0" err="1">
                <a:latin typeface="+mn-ea"/>
              </a:rPr>
              <a:t>Hyperpartisan</a:t>
            </a:r>
            <a:r>
              <a:rPr lang="en-US" altLang="ko-KR" sz="1200" dirty="0">
                <a:latin typeface="+mn-ea"/>
              </a:rPr>
              <a:t>, alternative, and conspiracy media users: An anti-establishment portrait. </a:t>
            </a:r>
            <a:r>
              <a:rPr lang="en-US" altLang="ko-KR" sz="1200" i="1" dirty="0">
                <a:latin typeface="+mn-ea"/>
              </a:rPr>
              <a:t>Political Communication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i="1" dirty="0">
                <a:latin typeface="+mn-ea"/>
              </a:rPr>
              <a:t>41</a:t>
            </a:r>
            <a:r>
              <a:rPr lang="en-US" altLang="ko-KR" sz="1200" dirty="0">
                <a:latin typeface="+mn-ea"/>
              </a:rPr>
              <a:t>(6), 877–902.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Edelman. (2025). </a:t>
            </a:r>
            <a:r>
              <a:rPr lang="en-US" altLang="ko-KR" sz="1200" i="1" dirty="0">
                <a:latin typeface="+mn-ea"/>
              </a:rPr>
              <a:t>2025 Edelman Trust Barometer. Global report: Trust and the crisis of grievance</a:t>
            </a:r>
            <a:r>
              <a:rPr lang="en-US" altLang="ko-KR" sz="1200" dirty="0">
                <a:latin typeface="+mn-ea"/>
              </a:rPr>
              <a:t>. Edelman Trust Institute.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Fawzi, N., et al. (2021). Concepts, causes and consequences of trust in news media: A literature review and framework. </a:t>
            </a:r>
            <a:r>
              <a:rPr lang="en-US" altLang="ko-KR" sz="1200" i="1" dirty="0">
                <a:latin typeface="+mn-ea"/>
              </a:rPr>
              <a:t>Annals of the International Communication Association, 45</a:t>
            </a:r>
            <a:r>
              <a:rPr lang="en-US" altLang="ko-KR" sz="1200" dirty="0">
                <a:latin typeface="+mn-ea"/>
              </a:rPr>
              <a:t>(2), 154–174.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Fletcher, R., et al. (2025). The link between changing news use and trust: Longitudinal analysis of 46 countries. </a:t>
            </a:r>
            <a:r>
              <a:rPr lang="en-US" altLang="ko-KR" sz="1200" i="1" dirty="0">
                <a:latin typeface="+mn-ea"/>
              </a:rPr>
              <a:t>Journal of Communication, 75</a:t>
            </a:r>
            <a:r>
              <a:rPr lang="en-US" altLang="ko-KR" sz="1200" dirty="0">
                <a:latin typeface="+mn-ea"/>
              </a:rPr>
              <a:t>(1), 1–15.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Gambino, A., Fox, J., &amp; Ratan, R. A. (2020). Building a stronger CASA: Extending the computers are social actors paradigm. </a:t>
            </a:r>
            <a:r>
              <a:rPr lang="en-US" altLang="ko-KR" sz="1200" i="1" dirty="0">
                <a:latin typeface="+mn-ea"/>
              </a:rPr>
              <a:t>Human-Machine Communication, 1</a:t>
            </a:r>
            <a:r>
              <a:rPr lang="en-US" altLang="ko-KR" sz="1200" dirty="0">
                <a:latin typeface="+mn-ea"/>
              </a:rPr>
              <a:t>, 71–86.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Geranpayeh</a:t>
            </a:r>
            <a:r>
              <a:rPr lang="en-US" altLang="ko-KR" sz="1200" dirty="0">
                <a:latin typeface="+mn-ea"/>
              </a:rPr>
              <a:t>, A. (2023). Leveraging computational psychometrics for language testing. </a:t>
            </a:r>
            <a:r>
              <a:rPr lang="en-US" altLang="ko-KR" sz="1200" i="1" dirty="0">
                <a:latin typeface="+mn-ea"/>
              </a:rPr>
              <a:t>Language Teaching Research Quarterly, 37</a:t>
            </a:r>
            <a:r>
              <a:rPr lang="en-US" altLang="ko-KR" sz="1200" dirty="0">
                <a:latin typeface="+mn-ea"/>
              </a:rPr>
              <a:t>, 204–212.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&amp; Cheng, Z. (2021). Origin and evolution of the news finds me perception: Review of theory and effects. </a:t>
            </a:r>
            <a:r>
              <a:rPr lang="en-US" altLang="ko-KR" sz="1200" i="1" dirty="0">
                <a:latin typeface="+mn-ea"/>
              </a:rPr>
              <a:t>El </a:t>
            </a:r>
            <a:r>
              <a:rPr lang="en-US" altLang="ko-KR" sz="1200" i="1" dirty="0" err="1">
                <a:latin typeface="+mn-ea"/>
              </a:rPr>
              <a:t>Profesional</a:t>
            </a:r>
            <a:r>
              <a:rPr lang="en-US" altLang="ko-KR" sz="1200" i="1" dirty="0">
                <a:latin typeface="+mn-ea"/>
              </a:rPr>
              <a:t> de la </a:t>
            </a:r>
            <a:r>
              <a:rPr lang="en-US" altLang="ko-KR" sz="1200" i="1" dirty="0" err="1">
                <a:latin typeface="+mn-ea"/>
              </a:rPr>
              <a:t>Información</a:t>
            </a:r>
            <a:r>
              <a:rPr lang="en-US" altLang="ko-KR" sz="1200" i="1" dirty="0">
                <a:latin typeface="+mn-ea"/>
              </a:rPr>
              <a:t>, 30</a:t>
            </a:r>
            <a:r>
              <a:rPr lang="en-US" altLang="ko-KR" sz="1200" dirty="0">
                <a:latin typeface="+mn-ea"/>
              </a:rPr>
              <a:t>(3), 1–17.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Strauss, N., &amp; Huber, B. (2020). The proliferation of the "news finds me" perception across societies. </a:t>
            </a:r>
            <a:r>
              <a:rPr lang="en-US" altLang="ko-KR" sz="1200" i="1" dirty="0">
                <a:latin typeface="+mn-ea"/>
              </a:rPr>
              <a:t>International Journal of Communication, 14</a:t>
            </a:r>
            <a:r>
              <a:rPr lang="en-US" altLang="ko-KR" sz="1200" dirty="0">
                <a:latin typeface="+mn-ea"/>
              </a:rPr>
              <a:t>, 1605–1633.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Weeks, B., &amp; </a:t>
            </a:r>
            <a:r>
              <a:rPr lang="en-US" altLang="ko-KR" sz="1200" dirty="0" err="1">
                <a:latin typeface="+mn-ea"/>
              </a:rPr>
              <a:t>Ardèvol</a:t>
            </a:r>
            <a:r>
              <a:rPr lang="en-US" altLang="ko-KR" sz="1200" dirty="0">
                <a:latin typeface="+mn-ea"/>
              </a:rPr>
              <a:t>-Abreu, A. (2017). Effects of the news-finds-me perception in communication: Social media use implications for news seeking and learning about politics. </a:t>
            </a:r>
            <a:r>
              <a:rPr lang="en-US" altLang="ko-KR" sz="1200" i="1" dirty="0">
                <a:latin typeface="+mn-ea"/>
              </a:rPr>
              <a:t>Journal of Computer-Mediated Communication, 22</a:t>
            </a:r>
            <a:r>
              <a:rPr lang="en-US" altLang="ko-KR" sz="1200" dirty="0">
                <a:latin typeface="+mn-ea"/>
              </a:rPr>
              <a:t>(3), 105–123.</a:t>
            </a:r>
          </a:p>
        </p:txBody>
      </p:sp>
    </p:spTree>
    <p:extLst>
      <p:ext uri="{BB962C8B-B14F-4D97-AF65-F5344CB8AC3E}">
        <p14:creationId xmlns:p14="http://schemas.microsoft.com/office/powerpoint/2010/main" val="2891216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FF27-52ED-2942-CB56-99A6F94F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71047D5-0BD8-E9A0-B1AB-3D849A022AF7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01BDF7-94DE-A7AA-146E-6D2C851778D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9DBD3-765C-5959-54F1-C3932F9F7C9B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C47937-8459-BC7F-FAA2-CA7088C9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27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275F061-E621-F8DB-CCD5-4CB6660E1D87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Goyanes, M., </a:t>
            </a:r>
            <a:r>
              <a:rPr lang="en-US" altLang="ko-KR" sz="1200" dirty="0" err="1">
                <a:latin typeface="+mn-ea"/>
              </a:rPr>
              <a:t>Ardèvol</a:t>
            </a:r>
            <a:r>
              <a:rPr lang="en-US" altLang="ko-KR" sz="1200" dirty="0">
                <a:latin typeface="+mn-ea"/>
              </a:rPr>
              <a:t>-Abreu, A., &amp; de Zúñiga, H. G. (2021). Antecedents of news avoidance: Competing effects of political interest, news overload, trust in news media, and "news finds me" perception. </a:t>
            </a:r>
            <a:r>
              <a:rPr lang="en-US" altLang="ko-KR" sz="1200" i="1" dirty="0">
                <a:latin typeface="+mn-ea"/>
              </a:rPr>
              <a:t>Digital Journalism, 11</a:t>
            </a:r>
            <a:r>
              <a:rPr lang="en-US" altLang="ko-KR" sz="1200" dirty="0">
                <a:latin typeface="+mn-ea"/>
              </a:rPr>
              <a:t>(1), 1–18.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Guzman, A. L. (Ed.). (2018). </a:t>
            </a:r>
            <a:r>
              <a:rPr lang="en-US" altLang="ko-KR" sz="1200" i="1" dirty="0">
                <a:latin typeface="+mn-ea"/>
              </a:rPr>
              <a:t>Human-machine communication: Rethinking communication, technology, and ourselves</a:t>
            </a:r>
            <a:r>
              <a:rPr lang="en-US" altLang="ko-KR" sz="1200" dirty="0">
                <a:latin typeface="+mn-ea"/>
              </a:rPr>
              <a:t>. Peter Lang.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Imran, F., &amp; Ali, F. (2025). Exploring the antecedents of news avoidance behavior among university students in Pakistan. </a:t>
            </a:r>
            <a:r>
              <a:rPr lang="en-US" altLang="ko-KR" sz="1200" i="1" dirty="0">
                <a:latin typeface="+mn-ea"/>
              </a:rPr>
              <a:t>World of Media, 4</a:t>
            </a:r>
            <a:r>
              <a:rPr lang="en-US" altLang="ko-KR" sz="1200" dirty="0">
                <a:latin typeface="+mn-ea"/>
              </a:rPr>
              <a:t>, 46–69.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Lewis, S. C., Guzman, A. L., &amp; Schmidt, T. R. (2019). Automation, journalism, and human-machine communication: Rethinking roles and relationships of humans and machines in news. </a:t>
            </a:r>
            <a:r>
              <a:rPr lang="en-US" altLang="ko-KR" sz="1200" i="1" dirty="0">
                <a:latin typeface="+mn-ea"/>
              </a:rPr>
              <a:t>Digital Journalism, 7</a:t>
            </a:r>
            <a:r>
              <a:rPr lang="en-US" altLang="ko-KR" sz="1200" dirty="0">
                <a:latin typeface="+mn-ea"/>
              </a:rPr>
              <a:t>(2), 1–19.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Li, Y., Lin, X., Sha, Z., Jin, Z., &amp; Li, X. (2025). AI psychometrics: Evaluating the psychological reasoning of large language models with psychometric validities. In </a:t>
            </a:r>
            <a:r>
              <a:rPr lang="en-US" altLang="ko-KR" sz="1200" i="1" dirty="0">
                <a:latin typeface="+mn-ea"/>
              </a:rPr>
              <a:t>Proceedings of the 58th Hawaii International Conference on System Sciences (HICSS) </a:t>
            </a:r>
            <a:r>
              <a:rPr lang="en-US" altLang="ko-KR" sz="1200" dirty="0">
                <a:latin typeface="+mn-ea"/>
              </a:rPr>
              <a:t>(pp. 5189–5197).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Maharjan, J., Jin, R., Zhu, J., &amp; Kenne, D. (2025). Psychometric evaluation of large language model embeddings for personality trait prediction. </a:t>
            </a:r>
            <a:r>
              <a:rPr lang="en-US" altLang="ko-KR" sz="1200" i="1" dirty="0">
                <a:latin typeface="+mn-ea"/>
              </a:rPr>
              <a:t>Journal of Medical Internet Research, 27</a:t>
            </a:r>
            <a:r>
              <a:rPr lang="en-US" altLang="ko-KR" sz="1200" dirty="0">
                <a:latin typeface="+mn-ea"/>
              </a:rPr>
              <a:t>, e75347.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Markov, Č., &amp; Min, Y. (2022a). Understanding the public's animosity toward news media: Cynicism and distrust as related but distinct negative media perceptions. </a:t>
            </a:r>
            <a:r>
              <a:rPr lang="en-US" altLang="ko-KR" sz="1200" i="1" dirty="0">
                <a:latin typeface="+mn-ea"/>
              </a:rPr>
              <a:t>Journalism &amp; Mass Communication Quarterly, 99</a:t>
            </a:r>
            <a:r>
              <a:rPr lang="en-US" altLang="ko-KR" sz="1200" dirty="0">
                <a:latin typeface="+mn-ea"/>
              </a:rPr>
              <a:t>(4), 1099–1125.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Markov, Č., &amp; Min, Y. (2022b). Unpacking public animosity toward professional journalism: A qualitative analysis of the differences between media distrust and cynicism. </a:t>
            </a:r>
            <a:r>
              <a:rPr lang="en-US" altLang="ko-KR" sz="1200" i="1" dirty="0">
                <a:latin typeface="+mn-ea"/>
              </a:rPr>
              <a:t>Journalism, 24</a:t>
            </a:r>
            <a:r>
              <a:rPr lang="en-US" altLang="ko-KR" sz="1200" dirty="0">
                <a:latin typeface="+mn-ea"/>
              </a:rPr>
              <a:t>(10), 2136–2154.</a:t>
            </a:r>
          </a:p>
        </p:txBody>
      </p:sp>
    </p:spTree>
    <p:extLst>
      <p:ext uri="{BB962C8B-B14F-4D97-AF65-F5344CB8AC3E}">
        <p14:creationId xmlns:p14="http://schemas.microsoft.com/office/powerpoint/2010/main" val="1632957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22CB-FB0C-3987-FBE1-B2BF93B4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FF0737-528E-3B5F-48DF-B7FBD09D915F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02DF5C-CEF2-4A66-CBBF-D65145DA2F11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B4906-F108-CF1B-FB4B-E3CBC1F5702C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656C2E-EAD1-8BDB-DE06-2FF873CB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28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E7E4049-B8A9-BC0E-B3CD-4B005F92CE4D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Nanz, A., &amp; Matthes, J. (2022). Democratic consequences of incidental exposure to political information: A meta-analysis. </a:t>
            </a:r>
            <a:r>
              <a:rPr lang="en-US" altLang="ko-KR" sz="1200" i="1" dirty="0">
                <a:latin typeface="+mn-ea"/>
              </a:rPr>
              <a:t>Journal of Communication, 72</a:t>
            </a:r>
            <a:r>
              <a:rPr lang="en-US" altLang="ko-KR" sz="1200" dirty="0">
                <a:latin typeface="+mn-ea"/>
              </a:rPr>
              <a:t>(3), 345–373.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Nass, C., Steuer, J., &amp; Tauber, E. R. (1994). Computers are social actors. In </a:t>
            </a:r>
            <a:r>
              <a:rPr lang="en-US" altLang="ko-KR" sz="1200" i="1" dirty="0">
                <a:latin typeface="+mn-ea"/>
              </a:rPr>
              <a:t>Proceedings of the SIGCHI Conference on Human Factors in Computing Systems (CHI '94)</a:t>
            </a:r>
            <a:r>
              <a:rPr lang="en-US" altLang="ko-KR" sz="1200" dirty="0">
                <a:latin typeface="+mn-ea"/>
              </a:rPr>
              <a:t> (pp. 72–78). Association for Computing Machinery.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Strömbäck</a:t>
            </a:r>
            <a:r>
              <a:rPr lang="en-US" altLang="ko-KR" sz="1200" dirty="0">
                <a:latin typeface="+mn-ea"/>
              </a:rPr>
              <a:t>, J., </a:t>
            </a:r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Boomgaarden, H., Damstra, A., Lindgren, E.,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R., &amp; Lindholm, T. (2020). News media trust and its impact on media use: Toward a framework for future research. </a:t>
            </a:r>
            <a:r>
              <a:rPr lang="en-US" altLang="ko-KR" sz="1200" i="1" dirty="0">
                <a:latin typeface="+mn-ea"/>
              </a:rPr>
              <a:t>Annals of the International Communication Association, 44</a:t>
            </a:r>
            <a:r>
              <a:rPr lang="en-US" altLang="ko-KR" sz="1200" dirty="0">
                <a:latin typeface="+mn-ea"/>
              </a:rPr>
              <a:t>(2), 139–156.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Stroud, N. J., Scacco, J. M., &amp; Kim, Y. (2022). Passive learning and incidental exposure to news. </a:t>
            </a:r>
            <a:r>
              <a:rPr lang="en-US" altLang="ko-KR" sz="1200" i="1" dirty="0">
                <a:latin typeface="+mn-ea"/>
              </a:rPr>
              <a:t>Journal of Communication, 72</a:t>
            </a:r>
            <a:r>
              <a:rPr lang="en-US" altLang="ko-KR" sz="1200" dirty="0">
                <a:latin typeface="+mn-ea"/>
              </a:rPr>
              <a:t>(4), 451–460.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Tandoc, E. C., Jr., &amp; Kim, H. K. (2023). Avoiding real news, believing in fake news? Investigating pathways from information overload to misbelief. Journalism, 24(6), 1174–1192.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Tse, H. T. F., Lee, F. L. F., &amp; Yang, S. Z. Q. (2025). Entering journalism in times of democratic backsliding: Hong Kong young journalists' career decision and persistence. </a:t>
            </a:r>
            <a:r>
              <a:rPr lang="en-US" altLang="ko-KR" sz="1200" i="1" dirty="0">
                <a:latin typeface="+mn-ea"/>
              </a:rPr>
              <a:t>The International Journal of Press/Politics</a:t>
            </a:r>
            <a:r>
              <a:rPr lang="en-US" altLang="ko-KR" sz="1200" dirty="0">
                <a:latin typeface="+mn-ea"/>
              </a:rPr>
              <a:t>. Advance online publication.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Stromback, J., Lindgren, E., Boomgaarden, H. G., &amp;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 (2023). What news outlets do people have in mind when they answer survey questions about trust in "media?" </a:t>
            </a:r>
            <a:r>
              <a:rPr lang="en-US" altLang="ko-KR" sz="1200" i="1" dirty="0">
                <a:latin typeface="+mn-ea"/>
              </a:rPr>
              <a:t>International Journal of Public Opinion Research, 35</a:t>
            </a:r>
            <a:r>
              <a:rPr lang="en-US" altLang="ko-KR" sz="1200" dirty="0">
                <a:latin typeface="+mn-ea"/>
              </a:rPr>
              <a:t>(2).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R., Stromback, J., &amp; Lindgren, E. (2025). An asymmetrical reinforcing spiral? Disentangling the longitudinal dynamics of media use and mainstream media trust. </a:t>
            </a:r>
            <a:r>
              <a:rPr lang="en-US" altLang="ko-KR" sz="1200" i="1" dirty="0">
                <a:latin typeface="+mn-ea"/>
              </a:rPr>
              <a:t>Journal of Communication, 75</a:t>
            </a:r>
            <a:r>
              <a:rPr lang="en-US" altLang="ko-KR" sz="1200" dirty="0">
                <a:latin typeface="+mn-ea"/>
              </a:rPr>
              <a:t>(1), 16–26.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Ye, H., Huo, T., Guo, Z., Zhang, X., Dong, H., &amp; Song, G. (2025). Psychometrics with AI foundation models. </a:t>
            </a:r>
            <a:r>
              <a:rPr lang="en-US" altLang="ko-KR" sz="1200" i="1" dirty="0">
                <a:latin typeface="+mn-ea"/>
              </a:rPr>
              <a:t>Psychology &amp; Psychiatry Journal, 331.</a:t>
            </a:r>
          </a:p>
        </p:txBody>
      </p:sp>
    </p:spTree>
    <p:extLst>
      <p:ext uri="{BB962C8B-B14F-4D97-AF65-F5344CB8AC3E}">
        <p14:creationId xmlns:p14="http://schemas.microsoft.com/office/powerpoint/2010/main" val="73712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3414</Words>
  <Application>Microsoft Office PowerPoint</Application>
  <PresentationFormat>와이드스크린</PresentationFormat>
  <Paragraphs>347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Arial</vt:lpstr>
      <vt:lpstr>맑은 고딕</vt:lpstr>
      <vt:lpstr>Microsoft GothicNeo</vt:lpstr>
      <vt:lpstr>Cambria Math</vt:lpstr>
      <vt:lpstr>ChronicleVTI</vt:lpstr>
      <vt:lpstr>Do Machines Trust the News?  An Empirical Investigation of Generative AI’s Media Trust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SongJongbeen</dc:creator>
  <cp:lastModifiedBy>송종빈[ 대학원석사과정재학 / 과학기술학협동과정 ]</cp:lastModifiedBy>
  <cp:revision>12</cp:revision>
  <dcterms:created xsi:type="dcterms:W3CDTF">2025-04-21T02:55:15Z</dcterms:created>
  <dcterms:modified xsi:type="dcterms:W3CDTF">2026-04-21T13:50:12Z</dcterms:modified>
</cp:coreProperties>
</file>