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9" r:id="rId1"/>
  </p:sldMasterIdLst>
  <p:notesMasterIdLst>
    <p:notesMasterId r:id="rId32"/>
  </p:notesMasterIdLst>
  <p:sldIdLst>
    <p:sldId id="256" r:id="rId2"/>
    <p:sldId id="319" r:id="rId3"/>
    <p:sldId id="354" r:id="rId4"/>
    <p:sldId id="353" r:id="rId5"/>
    <p:sldId id="355" r:id="rId6"/>
    <p:sldId id="358" r:id="rId7"/>
    <p:sldId id="365" r:id="rId8"/>
    <p:sldId id="356" r:id="rId9"/>
    <p:sldId id="361" r:id="rId10"/>
    <p:sldId id="366" r:id="rId11"/>
    <p:sldId id="363" r:id="rId12"/>
    <p:sldId id="364" r:id="rId13"/>
    <p:sldId id="368" r:id="rId14"/>
    <p:sldId id="367" r:id="rId15"/>
    <p:sldId id="370" r:id="rId16"/>
    <p:sldId id="371" r:id="rId17"/>
    <p:sldId id="372" r:id="rId18"/>
    <p:sldId id="374" r:id="rId19"/>
    <p:sldId id="373" r:id="rId20"/>
    <p:sldId id="375" r:id="rId21"/>
    <p:sldId id="376" r:id="rId22"/>
    <p:sldId id="377" r:id="rId23"/>
    <p:sldId id="378" r:id="rId24"/>
    <p:sldId id="379" r:id="rId25"/>
    <p:sldId id="380" r:id="rId26"/>
    <p:sldId id="381" r:id="rId27"/>
    <p:sldId id="258" r:id="rId28"/>
    <p:sldId id="347" r:id="rId29"/>
    <p:sldId id="348" r:id="rId30"/>
    <p:sldId id="349" r:id="rId31"/>
  </p:sldIdLst>
  <p:sldSz cx="12192000" cy="6858000"/>
  <p:notesSz cx="6858000" cy="9144000"/>
  <p:embeddedFontLst>
    <p:embeddedFont>
      <p:font typeface="Microsoft GothicNeo" panose="020B0500000101010101" pitchFamily="50" charset="-127"/>
      <p:regular r:id="rId33"/>
      <p:bold r:id="rId34"/>
    </p:embeddedFont>
    <p:embeddedFont>
      <p:font typeface="맑은 고딕" panose="020B0503020000020004" pitchFamily="50" charset="-127"/>
      <p:regular r:id="rId35"/>
      <p:bold r:id="rId3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5B4FF-3AC0-40C5-AEB5-10480B19AC71}" v="555" dt="2025-05-27T02:36:26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8831" autoAdjust="0"/>
  </p:normalViewPr>
  <p:slideViewPr>
    <p:cSldViewPr snapToGrid="0">
      <p:cViewPr varScale="1">
        <p:scale>
          <a:sx n="98" d="100"/>
          <a:sy n="98" d="100"/>
        </p:scale>
        <p:origin x="10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A7E22-43A4-49BE-AA50-0B5D87666FD8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C20A2F-D45E-4DD1-B302-CE9ACC826F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5852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59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5F90E-EADA-7F50-BA93-F57CB0877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B96A21-E3A2-45F0-0DFB-A6ADC07F6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84BD01-F0FD-004F-03E8-E2D96D3BF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1E746-F5F5-9739-E0CF-639A2C67D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054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FE66-F100-2F35-576A-66454499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4A5F2-A8EE-3994-B77A-BE56D1FE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68ED69-82B7-D94D-7475-B34D61389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A32F17-0577-12CB-4F33-8ABFDD6F0E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344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14797-B1D8-3963-7FD1-FC2E247F5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D06872-1D21-4722-4628-AE83E7F2B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4D212B-2BE0-E660-AACB-38DE0541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8EE8EA-9409-4779-40A7-B70EED3FD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540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02F21-424D-4517-1797-036231E2B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856E6-79D1-18C4-5E55-C4D55A1445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8DA5FE-BE0F-9537-B195-6B7707F2A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4A4BA7-7882-F9FC-0526-ED060CB0E8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896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AC7EE-50A9-4453-F984-7D7D6777E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1C2176-C2E4-9BB1-34E8-94B2C56ED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42B6AC-AFA4-60B9-C550-6EACEC047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38F44-6FA2-C344-83D3-1CD0CCF80F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434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AC7EE-50A9-4453-F984-7D7D6777E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1C2176-C2E4-9BB1-34E8-94B2C56ED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42B6AC-AFA4-60B9-C550-6EACEC047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38F44-6FA2-C344-83D3-1CD0CCF80F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434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1927A-5EA8-FF12-CC5F-94A488F7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3DFFDF-C2F3-F11C-7FFE-EB57F8287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F616D4-B1A9-7EF0-52EE-2EB27695C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D09C9-0651-6F07-C093-6F963F8E7C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0295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F9046-41CA-594F-8275-2C307622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369349-32E5-95F1-94F9-C5BE0AF6EF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305283-E178-B359-4DFE-C2407DAD9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53306-B32B-6F7D-5818-4B196101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2102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438A-7C06-A278-8F9B-ED3435480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C5881A-5EA6-B54B-B7F4-A4DEE29A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39B664-C1E3-9362-8D66-691F218C1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AA6A9-93AC-0E39-D865-B8FA7A06D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9917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8D00-E387-45F0-89D6-A21F1191D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711B89-1C1F-320D-265A-3F79904AB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8BDE7-79E1-0D49-E94F-0618D751B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D12768-613E-AB7C-C31D-06081E45C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67469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EB9C8-EF1C-86EC-DC0B-3D055412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6AD18F-EB80-D127-7CFB-906B10A6B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8ED4A7-8A2D-2637-966D-52E912953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A0BCC8-F022-567F-0D6D-79CDE517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7151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A7C-023D-66AB-D1B0-C4034EE8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C09ACF-FF7F-7100-13F1-829332E3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2D7090-59F1-8104-4891-869960C9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5ED551-394B-F8D6-9A9F-3EA0EDD53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39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E626F-F8B4-8B36-BBB2-FB206D09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B7FD74-0335-CCFC-7EB6-3EECE735A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ED5D-AA72-A859-3111-58D3145DC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F12A10-3D19-1D49-F2E2-B939AA09C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9607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3F77-9072-FA84-E22C-3D872ED25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6D8549-3872-C1AA-D5A5-AAA864F90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64AD2B-76A5-74B9-5BCD-2F280525C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FA24D9-3507-98CF-272B-5CF6792CA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4440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8EACE-DBAB-38A0-17DB-2CCEF51F9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B38025-924A-7335-8D56-1D6D32A6C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7BA39B-6C0F-82AC-C05E-B372E5EBF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3A8288-F4EC-5900-9802-074FEAF263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7685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BDD6-E2A5-78E9-CABD-D5A44AE9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75EA0A-F94A-654C-854A-86FEDC463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6DD4E9-F1BD-182E-725F-A600A1CD7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FC6FE-3B23-B80F-9D46-9E2684F1B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2393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069BB-E84A-D07A-C639-1568ED759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388D14-54F9-9D79-5358-2A69636A3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E89F48-AB9C-34D3-A620-3AAAC14AC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73C841-DCFA-0361-8472-369FE6C65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92498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23DC-442D-5FAB-84AE-64D50B792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0C6762-9E67-EFC1-BAC6-7E80D53F2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5F92C2-A25C-B7D0-B02D-1EFECD77A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D023A3-72AE-9614-2EAC-87D6C4D8E2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3881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7FCB9-153D-4E65-28B7-8CCD46BDD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A45244-714B-6003-1250-32009E1C2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CA2C23-B19E-9B63-1CFB-5051CEC1A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F6348D-BF9F-C5BC-8449-73370AD1C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46534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031A6-DF7D-0080-3029-3D77C4DB1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109D73-C512-F7FB-BDC6-29F40B766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71C0B3-79B5-E617-7999-9551E0D04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097A63-89D0-F713-529E-70BBC4C80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82567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B4F4A-BE26-5D74-CEEC-DBBC19D2B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4F9FBA-E9D8-8733-BABA-E8C91BC2E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BBD3D-6C9D-79D9-0133-C7B115C13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ABC1D5-A5BA-F517-7D76-976057EFD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5696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CAE-408D-4AF5-5BA2-24684C738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F0E1D2-653D-A36C-CFE8-E877E567AD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CF8716-F9A8-1FB5-3A72-40B77824F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8758A-6C31-ABA6-EE7B-D3FD3F1EC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26227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8B87B-8CB8-96E8-82B6-06B736218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44B810-2F56-246A-A029-41C1C25B8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A91CCF-739B-EBB8-9231-762B66AFA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F5E65E-A149-892A-4F24-091172369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924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87224-19A8-A259-81C4-7E58A89E6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C111A5-1441-21FA-92B4-20CB53443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25CE7D-0BDB-CD39-8ACA-A4F3FE57E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1D7E7B-B18F-40EA-ECFF-2190691C55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C20A2F-D45E-4DD1-B302-CE9ACC826F19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8998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5D475-51C1-4885-A38A-86539639F433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580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9FD6-0620-4C2F-949D-C9749FA7285D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352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C7C74-D040-4F2D-B38F-A01716BB9AD4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556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2D97-2C31-4C30-91D4-062968966947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526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C0CC3-8753-4F99-A3D0-010C2D2D3CE7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841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B9D12-5C79-499B-95C6-795A0234DD87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191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A1F2F-7943-4EB6-B06B-225A465C74FD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3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3A4D4-A337-4F87-8123-07AE2DDEDA79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750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3E0B3-F6AF-4BD6-9B59-51BE1FD533E4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723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00BDE-32F9-4869-9DA5-C9E30622BCA9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41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2B46D-518A-4F03-AA02-9386911DC544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164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50" spc="40">
                <a:solidFill>
                  <a:schemeClr val="tx1"/>
                </a:solidFill>
                <a:latin typeface="+mj-lt"/>
              </a:defRPr>
            </a:lvl1pPr>
          </a:lstStyle>
          <a:p>
            <a:fld id="{820B0A0B-F7A2-4203-B629-2B6E78739CDA}" type="datetime1">
              <a:rPr lang="en-US" altLang="ko-KR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50" spc="4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753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2" r:id="rId6"/>
    <p:sldLayoutId id="2147483698" r:id="rId7"/>
    <p:sldLayoutId id="2147483699" r:id="rId8"/>
    <p:sldLayoutId id="2147483700" r:id="rId9"/>
    <p:sldLayoutId id="2147483701" r:id="rId10"/>
    <p:sldLayoutId id="2147483703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none" spc="8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 spc="4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 spc="4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 spc="4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 spc="4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 spc="4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BCF81F6-1384-68E7-DB62-B0F19E2A5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676900" cy="4456987"/>
          </a:xfrm>
        </p:spPr>
        <p:txBody>
          <a:bodyPr>
            <a:normAutofit/>
          </a:bodyPr>
          <a:lstStyle/>
          <a:p>
            <a:r>
              <a:rPr lang="en-US" altLang="ko-KR" sz="4400" b="1" dirty="0"/>
              <a:t>Do Machines </a:t>
            </a:r>
            <a:br>
              <a:rPr lang="en-US" altLang="ko-KR" sz="4400" b="1" dirty="0"/>
            </a:br>
            <a:r>
              <a:rPr lang="en-US" altLang="ko-KR" sz="4400" b="1" dirty="0"/>
              <a:t>Trust the News?</a:t>
            </a:r>
            <a:br>
              <a:rPr lang="en-US" altLang="ko-KR" sz="4400" dirty="0"/>
            </a:br>
            <a:br>
              <a:rPr lang="en-US" altLang="ko-KR" sz="4400" dirty="0"/>
            </a:br>
            <a:r>
              <a:rPr lang="en-US" altLang="ko-KR" sz="3200" dirty="0"/>
              <a:t>An Empirical Investigation of Generative AI’s </a:t>
            </a:r>
            <a:br>
              <a:rPr lang="en-US" altLang="ko-KR" sz="3200" dirty="0"/>
            </a:br>
            <a:r>
              <a:rPr lang="en-US" altLang="ko-KR" sz="3200" dirty="0"/>
              <a:t>Media Trust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4B12A4-65BF-27C1-0721-A2A8940699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825916"/>
            <a:ext cx="4857857" cy="1005657"/>
          </a:xfrm>
        </p:spPr>
        <p:txBody>
          <a:bodyPr>
            <a:normAutofit/>
          </a:bodyPr>
          <a:lstStyle/>
          <a:p>
            <a:r>
              <a:rPr lang="en-US" altLang="ko-KR" dirty="0"/>
              <a:t>2026.06.17.</a:t>
            </a:r>
            <a:endParaRPr lang="ko-KR" alt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생동감 넘치는 색채의 벡터 배경">
            <a:extLst>
              <a:ext uri="{FF2B5EF4-FFF2-40B4-BE49-F238E27FC236}">
                <a16:creationId xmlns:a16="http://schemas.microsoft.com/office/drawing/2014/main" id="{DED2E342-BF94-60C9-087A-477E13475A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70" r="16240" b="-1"/>
          <a:stretch/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9CA655-1BDD-AD45-7BF0-DE89EB28C208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Jongbeen</a:t>
            </a:r>
            <a:r>
              <a:rPr lang="en-US" altLang="ko-KR" dirty="0"/>
              <a:t> Song &amp; Young Min (2026)</a:t>
            </a:r>
          </a:p>
        </p:txBody>
      </p:sp>
    </p:spTree>
    <p:extLst>
      <p:ext uri="{BB962C8B-B14F-4D97-AF65-F5344CB8AC3E}">
        <p14:creationId xmlns:p14="http://schemas.microsoft.com/office/powerpoint/2010/main" val="306275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4B7F-2AB5-D175-C967-6DB8BA752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579919C0-782E-8304-D72A-33603BEE659B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Why?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Democracy and Informed Citizens</a:t>
            </a:r>
          </a:p>
          <a:p>
            <a:r>
              <a:rPr lang="ko-KR" altLang="en-US" sz="1600" dirty="0">
                <a:latin typeface="+mn-ea"/>
                <a:ea typeface="+mn-ea"/>
              </a:rPr>
              <a:t>뉴스 신뢰는 대중이 정치적 의사결정을 내리고 민주주의가 정상적으로 작동하기 위한 필수 전제조건이다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대중이 뉴스를 신뢰하지 않으면 유익한 정보도 민주적 효과를 낼 수 없다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Social Cohesion and Trust in Other Social Actors</a:t>
            </a:r>
          </a:p>
          <a:p>
            <a:r>
              <a:rPr lang="ko-KR" altLang="ko-KR" sz="1600" dirty="0">
                <a:latin typeface="+mn-ea"/>
                <a:ea typeface="+mn-ea"/>
              </a:rPr>
              <a:t>미디어 신뢰는 단순히 언론에 대한 평가를 넘어, 현대 사회의 복잡성을 줄이고 타인 및 다른 사회 기관(정치인, 전문가 등)</a:t>
            </a:r>
            <a:r>
              <a:rPr lang="ko-KR" altLang="ko-KR" sz="1600" dirty="0" err="1">
                <a:latin typeface="+mn-ea"/>
                <a:ea typeface="+mn-ea"/>
              </a:rPr>
              <a:t>에</a:t>
            </a:r>
            <a:r>
              <a:rPr lang="ko-KR" altLang="ko-KR" sz="1600" dirty="0">
                <a:latin typeface="+mn-ea"/>
                <a:ea typeface="+mn-ea"/>
              </a:rPr>
              <a:t> 대한 신뢰를 형성하는 척도 및 기반이 </a:t>
            </a:r>
            <a:r>
              <a:rPr lang="ko-KR" altLang="en-US" sz="1600" dirty="0">
                <a:latin typeface="+mn-ea"/>
                <a:ea typeface="+mn-ea"/>
              </a:rPr>
              <a:t>된다</a:t>
            </a:r>
            <a:r>
              <a:rPr lang="ko-KR" altLang="ko-KR" sz="1600" dirty="0">
                <a:latin typeface="+mn-ea"/>
                <a:ea typeface="+mn-ea"/>
              </a:rPr>
              <a:t>.</a:t>
            </a: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ko-KR" altLang="ko-KR" sz="1600" b="1" dirty="0">
                <a:latin typeface="+mn-ea"/>
                <a:ea typeface="+mn-ea"/>
              </a:rPr>
              <a:t>Media </a:t>
            </a:r>
            <a:r>
              <a:rPr lang="ko-KR" altLang="ko-KR" sz="1600" b="1" dirty="0" err="1">
                <a:latin typeface="+mn-ea"/>
                <a:ea typeface="+mn-ea"/>
              </a:rPr>
              <a:t>Effects</a:t>
            </a:r>
            <a:r>
              <a:rPr lang="ko-KR" altLang="ko-KR" sz="1600" b="1" dirty="0">
                <a:latin typeface="+mn-ea"/>
                <a:ea typeface="+mn-ea"/>
              </a:rPr>
              <a:t> and Media </a:t>
            </a:r>
            <a:r>
              <a:rPr lang="ko-KR" altLang="ko-KR" sz="1600" b="1" dirty="0" err="1">
                <a:latin typeface="+mn-ea"/>
                <a:ea typeface="+mn-ea"/>
              </a:rPr>
              <a:t>Industry</a:t>
            </a:r>
            <a:r>
              <a:rPr lang="ko-KR" altLang="ko-KR" sz="1600" b="1" dirty="0">
                <a:latin typeface="+mn-ea"/>
                <a:ea typeface="+mn-ea"/>
              </a:rPr>
              <a:t> </a:t>
            </a:r>
            <a:r>
              <a:rPr lang="ko-KR" altLang="ko-KR" sz="1600" b="1" dirty="0" err="1">
                <a:latin typeface="+mn-ea"/>
                <a:ea typeface="+mn-ea"/>
              </a:rPr>
              <a:t>Survival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ko-KR" sz="1600" dirty="0">
                <a:latin typeface="+mn-ea"/>
                <a:ea typeface="+mn-ea"/>
              </a:rPr>
              <a:t>독자나 시청자가 미디어를 신뢰하지 않으면 미디어를 이용하거나 비용을 지불할 이유가 없으므로, 저널리즘 생태계의 지속 가능성을 위해 측정 및 연구가 필요</a:t>
            </a:r>
            <a:r>
              <a:rPr lang="ko-KR" altLang="en-US" sz="1600" dirty="0">
                <a:latin typeface="+mn-ea"/>
                <a:ea typeface="+mn-ea"/>
              </a:rPr>
              <a:t>하</a:t>
            </a:r>
            <a:r>
              <a:rPr lang="ko-KR" altLang="ko-KR" sz="1600" dirty="0">
                <a:latin typeface="+mn-ea"/>
                <a:ea typeface="+mn-ea"/>
              </a:rPr>
              <a:t>다. 또한 신뢰도는 특정 미디어 메시지가 수용자에게 미치는 영향(효과)을 가늠하는 핵심 변수</a:t>
            </a:r>
            <a:r>
              <a:rPr lang="ko-KR" altLang="en-US" sz="1600" dirty="0">
                <a:latin typeface="+mn-ea"/>
                <a:ea typeface="+mn-ea"/>
              </a:rPr>
              <a:t>이</a:t>
            </a:r>
            <a:r>
              <a:rPr lang="ko-KR" altLang="ko-KR" sz="1600" dirty="0">
                <a:latin typeface="+mn-ea"/>
                <a:ea typeface="+mn-ea"/>
              </a:rPr>
              <a:t>다.</a:t>
            </a: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ko-KR" altLang="ko-KR" sz="1600" b="1" dirty="0" err="1">
                <a:latin typeface="+mn-ea"/>
                <a:ea typeface="+mn-ea"/>
              </a:rPr>
              <a:t>Navigating</a:t>
            </a:r>
            <a:r>
              <a:rPr lang="ko-KR" altLang="ko-KR" sz="1600" b="1" dirty="0">
                <a:latin typeface="+mn-ea"/>
                <a:ea typeface="+mn-ea"/>
              </a:rPr>
              <a:t> </a:t>
            </a:r>
            <a:r>
              <a:rPr lang="ko-KR" altLang="ko-KR" sz="1600" b="1" dirty="0" err="1">
                <a:latin typeface="+mn-ea"/>
                <a:ea typeface="+mn-ea"/>
              </a:rPr>
              <a:t>High-Choice</a:t>
            </a:r>
            <a:r>
              <a:rPr lang="ko-KR" altLang="ko-KR" sz="1600" b="1" dirty="0">
                <a:latin typeface="+mn-ea"/>
                <a:ea typeface="+mn-ea"/>
              </a:rPr>
              <a:t> Media </a:t>
            </a:r>
            <a:r>
              <a:rPr lang="ko-KR" altLang="ko-KR" sz="1600" b="1" dirty="0" err="1">
                <a:latin typeface="+mn-ea"/>
                <a:ea typeface="+mn-ea"/>
              </a:rPr>
              <a:t>Environments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ko-KR" sz="1600" dirty="0">
                <a:latin typeface="+mn-ea"/>
                <a:ea typeface="+mn-ea"/>
              </a:rPr>
              <a:t>가짜 뉴스, 허위 정보, 알고리즘 중심의 미디어 환경에서 시민들이 정확한 정보에 가치를 부여하고 주류/대안 미디어를 선택하는 양상을 이해하기 위해 신뢰 측정이 필수적</a:t>
            </a:r>
            <a:r>
              <a:rPr lang="ko-KR" altLang="en-US" sz="1600" dirty="0">
                <a:latin typeface="+mn-ea"/>
                <a:ea typeface="+mn-ea"/>
              </a:rPr>
              <a:t>이</a:t>
            </a:r>
            <a:r>
              <a:rPr lang="ko-KR" altLang="ko-KR" sz="1600" dirty="0">
                <a:latin typeface="+mn-ea"/>
                <a:ea typeface="+mn-ea"/>
              </a:rPr>
              <a:t>다.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CEA948-CE24-CA6D-06EA-DCB39D0C5DB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News Trust</a:t>
            </a:r>
            <a:endParaRPr lang="en-US" altLang="ko-KR" sz="10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408CF-92BE-1EF7-4B14-7471F763C01E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D72ECDE-E866-3654-A33F-4A025E50E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2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8B724-3DE7-586B-C063-79277ED3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1B38E6D-07A4-6FA3-5053-3C9D2BC61FF6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Why?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파편화된 디지털 </a:t>
            </a:r>
            <a:r>
              <a:rPr lang="ko-KR" altLang="en-US" sz="1600" b="1" dirty="0" err="1">
                <a:latin typeface="+mn-ea"/>
                <a:ea typeface="+mn-ea"/>
              </a:rPr>
              <a:t>공론장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자동화된 중개자에 대한 의존도가 높아졌고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동시에 </a:t>
            </a:r>
            <a:r>
              <a:rPr lang="en-US" altLang="ko-KR" sz="1600" dirty="0">
                <a:latin typeface="+mn-ea"/>
                <a:ea typeface="+mn-ea"/>
              </a:rPr>
              <a:t>LLM</a:t>
            </a:r>
            <a:r>
              <a:rPr lang="ko-KR" altLang="en-US" sz="1600" dirty="0">
                <a:latin typeface="+mn-ea"/>
                <a:ea typeface="+mn-ea"/>
              </a:rPr>
              <a:t>과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가 확산되었다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자료를 탐색하고 수집하는 과정에서 기존의 수동적인 검색 엔진이 능동적인 대화형 행위자로 대체되었다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생성형 인공지능의 특성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개방형 웹에서 수집한 인간의 디지털 텍스트 말뭉치로 학습되었다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현재 인간의 온라인 커뮤니케이션을 특징짓는 편향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양극화된 담론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반제도권 정서가 그대로 </a:t>
            </a:r>
            <a:r>
              <a:rPr lang="ko-KR" altLang="en-US" sz="1600" dirty="0" err="1">
                <a:latin typeface="+mn-ea"/>
                <a:ea typeface="+mn-ea"/>
              </a:rPr>
              <a:t>스며들어있다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따라서 미디어의 신뢰성에 관한 그 기저의 확률적 신념은 인공지능 시스템이 인간 이용자에게 제공하는 요약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인용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대화형 응답에 필연적으로 영향을 미칠 것으로 예상된다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  <a:endParaRPr lang="ko-KR" altLang="ko-KR" sz="1600" dirty="0">
              <a:latin typeface="+mn-ea"/>
              <a:ea typeface="+mn-ea"/>
            </a:endParaRP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ko-KR" altLang="en-US" sz="1600" b="1" dirty="0">
                <a:latin typeface="+mn-ea"/>
                <a:ea typeface="+mn-ea"/>
              </a:rPr>
              <a:t>인공지능 모델의 하위정치성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현재 인공지능 모델들은 개발기업의 가치관이 학습 과정에서의 데이터 선별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학습</a:t>
            </a:r>
            <a:r>
              <a:rPr lang="en-US" altLang="ko-KR" sz="1600" dirty="0">
                <a:latin typeface="+mn-ea"/>
                <a:ea typeface="+mn-ea"/>
              </a:rPr>
              <a:t>, RLHF </a:t>
            </a:r>
            <a:r>
              <a:rPr lang="ko-KR" altLang="en-US" sz="1600" dirty="0">
                <a:latin typeface="+mn-ea"/>
                <a:ea typeface="+mn-ea"/>
              </a:rPr>
              <a:t>과정 등을 통해 스며든다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이는 대중의 공론장을 통한 합의가 아닌 특정 거대 기술 개발 기업들의 가치가 내재화됨을 뜻한다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ko-KR" altLang="en-US" sz="1600" b="1" dirty="0">
                <a:latin typeface="+mn-ea"/>
                <a:ea typeface="+mn-ea"/>
              </a:rPr>
              <a:t>기존 연구의 공백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인공지능 모델이 차지하는 역할이 커지고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응답이 데이터나 개발기업에 의해 편향성을 보일 수 있는데도 불구하고 인공지능 모델의 미디어 신뢰 구조를 조사한 실증 연구는 사실상 거의 존재하지 않는다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따라서 전통적인 매스커뮤니케이션 수용자 연구 틀을 비인간 행위자인 인공지능에 적용하는 것을 시도한다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  <a:endParaRPr lang="ko-KR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8F92FC-3873-4A8B-2437-553A9C33D186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News Trust of AI</a:t>
            </a:r>
            <a:endParaRPr lang="en-US" altLang="ko-KR" sz="10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7B6D6-C05B-ED51-EF7D-DDF55EA5128C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750C424-57EF-FD74-B9F2-34C49F034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493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7E497-7456-C087-CC84-2E8BB2817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F288C9D-BB96-991D-23FE-3E5B3F14BD61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Why?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Human-Machine Framework</a:t>
            </a:r>
          </a:p>
          <a:p>
            <a:r>
              <a:rPr lang="en-US" altLang="ko-KR" sz="1600" dirty="0">
                <a:latin typeface="+mn-ea"/>
                <a:ea typeface="+mn-ea"/>
              </a:rPr>
              <a:t>Guzman (2018)</a:t>
            </a:r>
            <a:r>
              <a:rPr lang="ko-KR" altLang="en-US" sz="1600" dirty="0">
                <a:latin typeface="+mn-ea"/>
                <a:ea typeface="+mn-ea"/>
              </a:rPr>
              <a:t>은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가 더 이상 단순한 매개자가 아니라 독립적으로 의미를 구성하고 역동적인 담론에 참여할 수 있는 자율적 </a:t>
            </a:r>
            <a:r>
              <a:rPr lang="ko-KR" altLang="en-US" sz="1600" dirty="0" err="1">
                <a:latin typeface="+mn-ea"/>
                <a:ea typeface="+mn-ea"/>
              </a:rPr>
              <a:t>커뮤니케이터로</a:t>
            </a:r>
            <a:r>
              <a:rPr lang="ko-KR" altLang="en-US" sz="1600" dirty="0">
                <a:latin typeface="+mn-ea"/>
                <a:ea typeface="+mn-ea"/>
              </a:rPr>
              <a:t> 기능한다고 보았다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이때</a:t>
            </a:r>
            <a:r>
              <a:rPr lang="en-US" altLang="ko-KR" sz="1600" dirty="0">
                <a:latin typeface="+mn-ea"/>
                <a:ea typeface="+mn-ea"/>
              </a:rPr>
              <a:t>, Lewis et al. (2019)</a:t>
            </a:r>
            <a:r>
              <a:rPr lang="ko-KR" altLang="en-US" sz="1600" dirty="0">
                <a:latin typeface="+mn-ea"/>
                <a:ea typeface="+mn-ea"/>
              </a:rPr>
              <a:t>는 내부의 계산적 아키텍처가 외부의 신뢰 대상들에 대한 특정한 지향성을 부호화하고 있으며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이 맥락에서 그 대상은 뉴스 미디어 산업 전체를 포괄한다고 본다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Media Equation, CASA Paradigm</a:t>
            </a:r>
          </a:p>
          <a:p>
            <a:r>
              <a:rPr lang="en-US" altLang="ko-KR" sz="1600" dirty="0">
                <a:latin typeface="+mn-ea"/>
                <a:ea typeface="+mn-ea"/>
              </a:rPr>
              <a:t>Naas et al. (1994)</a:t>
            </a:r>
            <a:r>
              <a:rPr lang="ko-KR" altLang="en-US" sz="1600" dirty="0">
                <a:latin typeface="+mn-ea"/>
                <a:ea typeface="+mn-ea"/>
              </a:rPr>
              <a:t>는 인간이 컴퓨터와 상호작용할 때 인간 대 인간 상호작용에서 사용하는 사회적 휴리스틱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규칙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기대를 무의식적이고 자동적으로 그대로 적용함을 보였다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r>
              <a:rPr lang="en-US" altLang="ko-KR" sz="1600" dirty="0">
                <a:latin typeface="+mn-ea"/>
                <a:ea typeface="+mn-ea"/>
              </a:rPr>
              <a:t>Gambino et al. (2020)</a:t>
            </a:r>
            <a:r>
              <a:rPr lang="ko-KR" altLang="en-US" sz="1600" dirty="0">
                <a:latin typeface="+mn-ea"/>
                <a:ea typeface="+mn-ea"/>
              </a:rPr>
              <a:t>는 사람들은 컴퓨터가 인간이 아님을 의식적으로 알고 있으면서도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그들에게 성격 특성을 </a:t>
            </a:r>
          </a:p>
          <a:p>
            <a:r>
              <a:rPr lang="ko-KR" altLang="en-US" sz="1600" dirty="0">
                <a:latin typeface="+mn-ea"/>
                <a:ea typeface="+mn-ea"/>
              </a:rPr>
              <a:t>부여하고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고정관념과 규범을 적용하며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인간에게 하듯 판단과 추론을 내림을 실증했다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  <a:endParaRPr lang="ko-KR" altLang="ko-KR" sz="1600" dirty="0">
              <a:latin typeface="+mn-ea"/>
              <a:ea typeface="+mn-ea"/>
            </a:endParaRP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en-US" altLang="ko-KR" sz="1600" b="1" dirty="0">
                <a:latin typeface="+mn-ea"/>
                <a:ea typeface="+mn-ea"/>
              </a:rPr>
              <a:t>Computational Psychometrics</a:t>
            </a:r>
          </a:p>
          <a:p>
            <a:r>
              <a:rPr lang="ko-KR" altLang="en-US" sz="1600" dirty="0">
                <a:latin typeface="+mn-ea"/>
                <a:ea typeface="+mn-ea"/>
              </a:rPr>
              <a:t>계산 심리측정은 인간에 대한 심리측정 기반 측정 틀을 자연어 처리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기계학습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인공지능과 같은 데이터 기반 방법론과 결합하여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복잡한 신경망의 잠재 </a:t>
            </a:r>
            <a:r>
              <a:rPr lang="ko-KR" altLang="en-US" sz="1600" dirty="0" err="1">
                <a:latin typeface="+mn-ea"/>
                <a:ea typeface="+mn-ea"/>
              </a:rPr>
              <a:t>임베딩과</a:t>
            </a:r>
            <a:r>
              <a:rPr lang="ko-KR" altLang="en-US" sz="1600" dirty="0">
                <a:latin typeface="+mn-ea"/>
                <a:ea typeface="+mn-ea"/>
              </a:rPr>
              <a:t> 생성된 출력물을 평가할 수 있도록 확장한 접근이다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  <a:r>
              <a:rPr lang="ko-KR" altLang="en-US" sz="1600" dirty="0">
                <a:latin typeface="+mn-ea"/>
                <a:ea typeface="+mn-ea"/>
              </a:rPr>
              <a:t> </a:t>
            </a:r>
            <a:r>
              <a:rPr lang="en-US" altLang="ko-KR" sz="1600" dirty="0">
                <a:latin typeface="+mn-ea"/>
                <a:ea typeface="+mn-ea"/>
              </a:rPr>
              <a:t>(Li et al. 2025; </a:t>
            </a:r>
            <a:r>
              <a:rPr lang="en-US" altLang="ko-KR" sz="1600" dirty="0" err="1">
                <a:latin typeface="+mn-ea"/>
                <a:ea typeface="+mn-ea"/>
              </a:rPr>
              <a:t>Geranpayeh</a:t>
            </a:r>
            <a:r>
              <a:rPr lang="en-US" altLang="ko-KR" sz="1600" dirty="0">
                <a:latin typeface="+mn-ea"/>
                <a:ea typeface="+mn-ea"/>
              </a:rPr>
              <a:t> 2023)</a:t>
            </a:r>
            <a:endParaRPr lang="ko-KR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60BA-E2A0-68B1-848E-91A00BAABA2F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Empirical Investigation of AI</a:t>
            </a:r>
            <a:endParaRPr lang="en-US" altLang="ko-KR" sz="1000" dirty="0"/>
          </a:p>
          <a:p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AE6BAF-7108-0EEC-04B5-90D97003A883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6421213-408E-1278-6CAF-A376763B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0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54621-BF4B-FCF9-14B3-89C5B6D67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BD7F7CD-4DDE-E763-F470-1ED41FBD552F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Why?</a:t>
            </a:r>
          </a:p>
          <a:p>
            <a:br>
              <a:rPr lang="ko-KR" altLang="ko-KR" sz="1600" b="1" dirty="0">
                <a:latin typeface="+mn-ea"/>
              </a:rPr>
            </a:br>
            <a:r>
              <a:rPr lang="en-US" altLang="ko-KR" sz="1600" b="1" dirty="0">
                <a:latin typeface="+mn-ea"/>
              </a:rPr>
              <a:t>Computational Psychometrics</a:t>
            </a:r>
          </a:p>
          <a:p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를 표준화된 심리측정 도구에 응답하는 피험자로 간주함으로써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연구자들은 모델이 </a:t>
            </a:r>
            <a:r>
              <a:rPr lang="ko-KR" altLang="en-US" sz="1600" dirty="0" err="1">
                <a:latin typeface="+mn-ea"/>
                <a:ea typeface="+mn-ea"/>
              </a:rPr>
              <a:t>시뮬레이션하는</a:t>
            </a:r>
            <a:r>
              <a:rPr lang="ko-KR" altLang="en-US" sz="1600" dirty="0">
                <a:latin typeface="+mn-ea"/>
                <a:ea typeface="+mn-ea"/>
              </a:rPr>
              <a:t> 신념의 내적 일관성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구성타당도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그리고 상대적 분산을 계산할 수 있다</a:t>
            </a:r>
            <a:r>
              <a:rPr lang="en-US" altLang="ko-KR" sz="1600" dirty="0">
                <a:latin typeface="+mn-ea"/>
                <a:ea typeface="+mn-ea"/>
              </a:rPr>
              <a:t>. (Ye et al. 2025)</a:t>
            </a:r>
          </a:p>
          <a:p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를  설문조사에 참여할 수 있는 하나의 수용자</a:t>
            </a:r>
            <a:r>
              <a:rPr lang="en-US" altLang="ko-KR" sz="1600" dirty="0">
                <a:latin typeface="+mn-ea"/>
                <a:ea typeface="+mn-ea"/>
              </a:rPr>
              <a:t>(audience member)</a:t>
            </a:r>
            <a:r>
              <a:rPr lang="ko-KR" altLang="en-US" sz="1600" dirty="0">
                <a:latin typeface="+mn-ea"/>
                <a:ea typeface="+mn-ea"/>
              </a:rPr>
              <a:t>로 취급하여 평가해도 과학적으로 신뢰할 수 있다</a:t>
            </a:r>
            <a:r>
              <a:rPr lang="en-US" altLang="ko-KR" sz="1600" dirty="0">
                <a:latin typeface="+mn-ea"/>
                <a:ea typeface="+mn-ea"/>
              </a:rPr>
              <a:t>. (Maharjan et al. 2025)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AI</a:t>
            </a:r>
            <a:r>
              <a:rPr lang="ko-KR" altLang="en-US" sz="1600" b="1" dirty="0">
                <a:latin typeface="+mn-ea"/>
                <a:ea typeface="+mn-ea"/>
              </a:rPr>
              <a:t> </a:t>
            </a:r>
            <a:r>
              <a:rPr lang="en-US" altLang="ko-KR" sz="1600" b="1" dirty="0">
                <a:latin typeface="+mn-ea"/>
                <a:ea typeface="+mn-ea"/>
              </a:rPr>
              <a:t>as</a:t>
            </a:r>
            <a:r>
              <a:rPr lang="ko-KR" altLang="en-US" sz="1600" b="1" dirty="0">
                <a:latin typeface="+mn-ea"/>
                <a:ea typeface="+mn-ea"/>
              </a:rPr>
              <a:t> </a:t>
            </a:r>
            <a:r>
              <a:rPr lang="en-US" altLang="ko-KR" sz="1600" b="1" dirty="0">
                <a:latin typeface="+mn-ea"/>
                <a:ea typeface="+mn-ea"/>
              </a:rPr>
              <a:t>Communication</a:t>
            </a:r>
            <a:r>
              <a:rPr lang="ko-KR" altLang="en-US" sz="1600" b="1" dirty="0">
                <a:latin typeface="+mn-ea"/>
                <a:ea typeface="+mn-ea"/>
              </a:rPr>
              <a:t> </a:t>
            </a:r>
            <a:r>
              <a:rPr lang="en-US" altLang="ko-KR" sz="1600" b="1" dirty="0">
                <a:latin typeface="+mn-ea"/>
                <a:ea typeface="+mn-ea"/>
              </a:rPr>
              <a:t>Machine</a:t>
            </a:r>
          </a:p>
          <a:p>
            <a:r>
              <a:rPr lang="en-US" altLang="ko-KR" sz="1600" dirty="0">
                <a:latin typeface="+mn-ea"/>
                <a:ea typeface="+mn-ea"/>
              </a:rPr>
              <a:t>Esposito (2025)</a:t>
            </a:r>
            <a:r>
              <a:rPr lang="ko-KR" altLang="en-US" sz="1600" dirty="0">
                <a:latin typeface="+mn-ea"/>
                <a:ea typeface="+mn-ea"/>
              </a:rPr>
              <a:t>는 인공지능이 진정한 의미의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지능</a:t>
            </a:r>
            <a:r>
              <a:rPr lang="en-US" altLang="ko-KR" sz="1600" dirty="0">
                <a:latin typeface="+mn-ea"/>
                <a:ea typeface="+mn-ea"/>
              </a:rPr>
              <a:t>’</a:t>
            </a:r>
            <a:r>
              <a:rPr lang="ko-KR" altLang="en-US" sz="1600" dirty="0">
                <a:latin typeface="+mn-ea"/>
                <a:ea typeface="+mn-ea"/>
              </a:rPr>
              <a:t>을 소유했는지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혹은 기계가 인간의 언어와 감정을 철학적으로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이해</a:t>
            </a:r>
            <a:r>
              <a:rPr lang="en-US" altLang="ko-KR" sz="1600" dirty="0">
                <a:latin typeface="+mn-ea"/>
                <a:ea typeface="+mn-ea"/>
              </a:rPr>
              <a:t>’</a:t>
            </a:r>
            <a:r>
              <a:rPr lang="ko-KR" altLang="en-US" sz="1600" dirty="0">
                <a:latin typeface="+mn-ea"/>
                <a:ea typeface="+mn-ea"/>
              </a:rPr>
              <a:t>하고 있는지에 대한 회의론이 철학적 존재론의 늪에 빠지지 않고도 충분히 실용적이고 학술적인 가치를 지닌다고 역설한다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그녀는 </a:t>
            </a:r>
            <a:r>
              <a:rPr lang="en-US" altLang="ko-KR" sz="1600" dirty="0">
                <a:latin typeface="+mn-ea"/>
                <a:ea typeface="+mn-ea"/>
              </a:rPr>
              <a:t>Luhmann (1992)</a:t>
            </a:r>
            <a:r>
              <a:rPr lang="ko-KR" altLang="en-US" sz="1600" dirty="0">
                <a:latin typeface="+mn-ea"/>
                <a:ea typeface="+mn-ea"/>
              </a:rPr>
              <a:t>의 체계 이론에 기반한 소통 개념을 차용하여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인공지능 알고리즘을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지능을 갖게 된 주체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로 오독하는 대신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사용자의 상황과 맥락에 맞춰 정교하게 재단된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소통을 제공하는 기계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로서의 역할에 주목할 것을 제안한다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진정한 소통은 발신자와 수신자가 반드시 동일한 내적의도나 완벽한 이해를 공유할 때만 성립하지 않고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수신자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인간사용자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가 발신자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인공지능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로부터 전달받은 텍스트를 바탕으로 자신만의 유의미한 정보와 생각을 </a:t>
            </a:r>
            <a:r>
              <a:rPr lang="ko-KR" altLang="en-US" sz="1600" dirty="0" err="1">
                <a:latin typeface="+mn-ea"/>
                <a:ea typeface="+mn-ea"/>
              </a:rPr>
              <a:t>구조화하여</a:t>
            </a:r>
            <a:r>
              <a:rPr lang="ko-KR" altLang="en-US" sz="1600" dirty="0">
                <a:latin typeface="+mn-ea"/>
                <a:ea typeface="+mn-ea"/>
              </a:rPr>
              <a:t> 생산해 낼 수 있다면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그 자체로 사회적 체계 내에서 성공적인 소통행위가 완결된 것으로 규정될 수 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따라서</a:t>
            </a:r>
            <a:r>
              <a:rPr lang="en-US" altLang="ko-KR" sz="1600" dirty="0">
                <a:latin typeface="+mn-ea"/>
                <a:ea typeface="+mn-ea"/>
              </a:rPr>
              <a:t>, AI</a:t>
            </a:r>
            <a:r>
              <a:rPr lang="ko-KR" altLang="en-US" sz="1600" dirty="0">
                <a:latin typeface="+mn-ea"/>
                <a:ea typeface="+mn-ea"/>
              </a:rPr>
              <a:t>가 실제로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신뢰</a:t>
            </a:r>
            <a:r>
              <a:rPr lang="en-US" altLang="ko-KR" sz="1600" dirty="0">
                <a:latin typeface="+mn-ea"/>
                <a:ea typeface="+mn-ea"/>
              </a:rPr>
              <a:t>’</a:t>
            </a:r>
            <a:r>
              <a:rPr lang="ko-KR" altLang="en-US" sz="1600" dirty="0">
                <a:latin typeface="+mn-ea"/>
                <a:ea typeface="+mn-ea"/>
              </a:rPr>
              <a:t>라는 개념을 </a:t>
            </a:r>
            <a:r>
              <a:rPr lang="ko-KR" altLang="en-US" sz="1600" dirty="0" err="1">
                <a:latin typeface="+mn-ea"/>
                <a:ea typeface="+mn-ea"/>
              </a:rPr>
              <a:t>가지는지와</a:t>
            </a:r>
            <a:r>
              <a:rPr lang="ko-KR" altLang="en-US" sz="1600" dirty="0">
                <a:latin typeface="+mn-ea"/>
                <a:ea typeface="+mn-ea"/>
              </a:rPr>
              <a:t> 별개로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소통과정의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자극물</a:t>
            </a:r>
            <a:r>
              <a:rPr lang="en-US" altLang="ko-KR" sz="1600" dirty="0">
                <a:latin typeface="+mn-ea"/>
                <a:ea typeface="+mn-ea"/>
              </a:rPr>
              <a:t>’</a:t>
            </a:r>
            <a:r>
              <a:rPr lang="ko-KR" altLang="en-US" sz="1600" dirty="0">
                <a:latin typeface="+mn-ea"/>
                <a:ea typeface="+mn-ea"/>
              </a:rPr>
              <a:t>이 어떠한 양상인지를 보는 것 만으로도 연구가 의미를 가진다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038A82-2B59-EB2B-CA72-91AB0602D13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Empirical Investigation of AI</a:t>
            </a:r>
            <a:endParaRPr lang="en-US" altLang="ko-KR" sz="1000" dirty="0"/>
          </a:p>
          <a:p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8508A-092A-CFDB-2305-79A7F097563F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12D5F60-D680-FC9E-F3D0-7B2508A8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94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68769-363B-A954-ADDB-C8C63F874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4C5AE6D-B0BA-5CB9-FAA2-71C060E9DAF0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How?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표본</a:t>
            </a:r>
            <a:r>
              <a:rPr lang="en-US" altLang="ko-KR" sz="1600" b="1" dirty="0">
                <a:latin typeface="+mn-ea"/>
                <a:ea typeface="+mn-ea"/>
              </a:rPr>
              <a:t>(Sample)</a:t>
            </a:r>
            <a:r>
              <a:rPr lang="ko-KR" altLang="en-US" sz="1600" b="1" dirty="0">
                <a:latin typeface="+mn-ea"/>
                <a:ea typeface="+mn-ea"/>
              </a:rPr>
              <a:t>의 재정의를 통한 통계적 유의성 확보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프롬프트 강건성 테스트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같은 의미를 지닌 수십 개의 다른 문장 양식으로 </a:t>
            </a:r>
            <a:r>
              <a:rPr lang="ko-KR" altLang="en-US" sz="1600" dirty="0" err="1">
                <a:latin typeface="+mn-ea"/>
                <a:ea typeface="+mn-ea"/>
              </a:rPr>
              <a:t>물어봤을때도</a:t>
            </a:r>
            <a:r>
              <a:rPr lang="ko-KR" altLang="en-US" sz="1600" dirty="0">
                <a:latin typeface="+mn-ea"/>
                <a:ea typeface="+mn-ea"/>
              </a:rPr>
              <a:t> 일관된 답변이 나오는지 신뢰도 계산 </a:t>
            </a:r>
            <a:r>
              <a:rPr lang="en-US" altLang="ko-KR" sz="1600" dirty="0">
                <a:latin typeface="+mn-ea"/>
                <a:ea typeface="+mn-ea"/>
              </a:rPr>
              <a:t>(ex. </a:t>
            </a:r>
            <a:r>
              <a:rPr lang="ko-KR" altLang="en-US" sz="1600" dirty="0" err="1">
                <a:latin typeface="+mn-ea"/>
                <a:ea typeface="+mn-ea"/>
              </a:rPr>
              <a:t>크론파브</a:t>
            </a:r>
            <a:r>
              <a:rPr lang="ko-KR" altLang="en-US" sz="1600" dirty="0">
                <a:latin typeface="+mn-ea"/>
                <a:ea typeface="+mn-ea"/>
              </a:rPr>
              <a:t> 알파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</a:p>
          <a:p>
            <a:r>
              <a:rPr lang="ko-KR" altLang="en-US" sz="1600" dirty="0">
                <a:latin typeface="+mn-ea"/>
                <a:ea typeface="+mn-ea"/>
              </a:rPr>
              <a:t>동일 개념에 대한 일관성 테스트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비슷한 성향의 미디어들에 대해 유사한 반응을 보이는지 확인</a:t>
            </a:r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하위 행동과의 교차 검증 </a:t>
            </a:r>
            <a:r>
              <a:rPr lang="en-US" altLang="ko-KR" sz="1600" b="1" dirty="0">
                <a:latin typeface="+mn-ea"/>
                <a:ea typeface="+mn-ea"/>
              </a:rPr>
              <a:t>(</a:t>
            </a:r>
            <a:r>
              <a:rPr lang="ko-KR" altLang="en-US" sz="1600" b="1" dirty="0">
                <a:latin typeface="+mn-ea"/>
                <a:ea typeface="+mn-ea"/>
              </a:rPr>
              <a:t>생태학적 타당도</a:t>
            </a:r>
            <a:r>
              <a:rPr lang="en-US" altLang="ko-KR" sz="1600" b="1" dirty="0">
                <a:latin typeface="+mn-ea"/>
                <a:ea typeface="+mn-ea"/>
              </a:rPr>
              <a:t>)</a:t>
            </a:r>
          </a:p>
          <a:p>
            <a:r>
              <a:rPr lang="ko-KR" altLang="en-US" sz="1600" dirty="0">
                <a:latin typeface="+mn-ea"/>
                <a:ea typeface="+mn-ea"/>
              </a:rPr>
              <a:t>질적 검증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설문조사 결과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선언적 답변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와 실제 인공지능이 텍스트를 생성할 때 나타나는 편향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실제 출력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이 일치하는지 확인한다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r>
              <a:rPr lang="ko-KR" altLang="en-US" sz="1600" dirty="0">
                <a:latin typeface="+mn-ea"/>
                <a:ea typeface="+mn-ea"/>
              </a:rPr>
              <a:t>연결된 측정도구의 관계 확인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서로 </a:t>
            </a:r>
            <a:r>
              <a:rPr lang="ko-KR" altLang="en-US" sz="1600" dirty="0" err="1">
                <a:latin typeface="+mn-ea"/>
                <a:ea typeface="+mn-ea"/>
              </a:rPr>
              <a:t>연결되어있는</a:t>
            </a:r>
            <a:r>
              <a:rPr lang="ko-KR" altLang="en-US" sz="1600" dirty="0">
                <a:latin typeface="+mn-ea"/>
                <a:ea typeface="+mn-ea"/>
              </a:rPr>
              <a:t> 지표의 흐름이 그대로 재현되는지 확인한다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ko-KR" altLang="en-US" sz="1600" b="1" dirty="0">
                <a:latin typeface="+mn-ea"/>
                <a:ea typeface="+mn-ea"/>
              </a:rPr>
              <a:t>이론적 정당화</a:t>
            </a:r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결국 인간의 척도를 인공지능에게 </a:t>
            </a:r>
            <a:r>
              <a:rPr lang="ko-KR" altLang="en-US" sz="1600" dirty="0" err="1">
                <a:latin typeface="+mn-ea"/>
                <a:ea typeface="+mn-ea"/>
              </a:rPr>
              <a:t>갖다대는데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이를 통해 알고자 하는 것은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해당 모델의 심리가 </a:t>
            </a:r>
            <a:r>
              <a:rPr lang="ko-KR" altLang="en-US" sz="1600" dirty="0" err="1">
                <a:latin typeface="+mn-ea"/>
                <a:ea typeface="+mn-ea"/>
              </a:rPr>
              <a:t>어떤가</a:t>
            </a:r>
            <a:r>
              <a:rPr lang="en-US" altLang="ko-KR" sz="1600" dirty="0">
                <a:latin typeface="+mn-ea"/>
                <a:ea typeface="+mn-ea"/>
              </a:rPr>
              <a:t>?’</a:t>
            </a:r>
            <a:r>
              <a:rPr lang="ko-KR" altLang="en-US" sz="1600" dirty="0">
                <a:latin typeface="+mn-ea"/>
                <a:ea typeface="+mn-ea"/>
              </a:rPr>
              <a:t>를 재는 것이 아니라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해당 모델이 출력하는 </a:t>
            </a:r>
            <a:r>
              <a:rPr lang="en-US" altLang="ko-KR" sz="1600" dirty="0">
                <a:latin typeface="+mn-ea"/>
                <a:ea typeface="+mn-ea"/>
              </a:rPr>
              <a:t>‘</a:t>
            </a:r>
            <a:r>
              <a:rPr lang="ko-KR" altLang="en-US" sz="1600" dirty="0">
                <a:latin typeface="+mn-ea"/>
                <a:ea typeface="+mn-ea"/>
              </a:rPr>
              <a:t>확률적 재현물의 편향과 패턴</a:t>
            </a:r>
            <a:r>
              <a:rPr lang="en-US" altLang="ko-KR" sz="1600" dirty="0">
                <a:latin typeface="+mn-ea"/>
                <a:ea typeface="+mn-ea"/>
              </a:rPr>
              <a:t>’</a:t>
            </a:r>
            <a:r>
              <a:rPr lang="ko-KR" altLang="en-US" sz="1600" dirty="0">
                <a:latin typeface="+mn-ea"/>
                <a:ea typeface="+mn-ea"/>
              </a:rPr>
              <a:t>을 통계적으로 계량하고자 하는 것이다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D06F82-79C8-9B13-61CE-14E590F2AC65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Empirical Investigation of AI</a:t>
            </a:r>
            <a:endParaRPr lang="en-US" altLang="ko-KR" sz="18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F8D2F2-ADB6-1FF2-2134-F7E93C9B8FA5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E2977D9-89C5-C91F-3815-34956449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056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92891-83F1-2D30-939B-B922BC348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E8ADF2A-7259-866F-B7EF-226D212EB030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What?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Fawzi et al. (2021) “Concepts, causes and consequences of trust in news media…”</a:t>
            </a:r>
          </a:p>
          <a:p>
            <a:r>
              <a:rPr lang="ko-KR" altLang="en-US" sz="1600" dirty="0">
                <a:latin typeface="+mn-ea"/>
                <a:ea typeface="+mn-ea"/>
              </a:rPr>
              <a:t>신뢰에 대한 정의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과거의 경험과 긍정적인 기대를 바탕으로 </a:t>
            </a:r>
            <a:r>
              <a:rPr lang="ko-KR" altLang="en-US" sz="1600" dirty="0" err="1">
                <a:latin typeface="+mn-ea"/>
                <a:ea typeface="+mn-ea"/>
              </a:rPr>
              <a:t>신뢰자</a:t>
            </a:r>
            <a:r>
              <a:rPr lang="en-US" altLang="ko-KR" sz="1600" dirty="0">
                <a:latin typeface="+mn-ea"/>
                <a:ea typeface="+mn-ea"/>
              </a:rPr>
              <a:t>(trustor)</a:t>
            </a:r>
            <a:r>
              <a:rPr lang="ko-KR" altLang="en-US" sz="1600" dirty="0">
                <a:latin typeface="+mn-ea"/>
                <a:ea typeface="+mn-ea"/>
              </a:rPr>
              <a:t>가 피신뢰자</a:t>
            </a:r>
            <a:r>
              <a:rPr lang="en-US" altLang="ko-KR" sz="1600" dirty="0">
                <a:latin typeface="+mn-ea"/>
                <a:ea typeface="+mn-ea"/>
              </a:rPr>
              <a:t>(trustee)</a:t>
            </a:r>
            <a:r>
              <a:rPr lang="ko-KR" altLang="en-US" sz="1600" dirty="0">
                <a:latin typeface="+mn-ea"/>
                <a:ea typeface="+mn-ea"/>
              </a:rPr>
              <a:t>에게 기꺼이 취약성</a:t>
            </a:r>
            <a:r>
              <a:rPr lang="en-US" altLang="ko-KR" sz="1600" dirty="0">
                <a:latin typeface="+mn-ea"/>
                <a:ea typeface="+mn-ea"/>
              </a:rPr>
              <a:t>(vulnerability)</a:t>
            </a:r>
            <a:r>
              <a:rPr lang="ko-KR" altLang="en-US" sz="1600" dirty="0">
                <a:latin typeface="+mn-ea"/>
                <a:ea typeface="+mn-ea"/>
              </a:rPr>
              <a:t>을 감수하려는 의지</a:t>
            </a:r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뉴스 신뢰에 대한 정의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미디어 객체가 개인을 위해 만족스럽게 작동하거나 사회의 지배적인 규범 및 가치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민주적 미디어 기능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에 따라 작동할 것이라는 기대에 바탕을 두고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개인이 미디어 객체에 대해 기꺼이 취약성을 감수하려는 의지</a:t>
            </a:r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Kalogeropoulos et al. (2019) “News Media Trust and News Consumption…”</a:t>
            </a:r>
          </a:p>
          <a:p>
            <a:r>
              <a:rPr lang="ko-KR" altLang="en-US" sz="1600" dirty="0">
                <a:latin typeface="+mn-ea"/>
                <a:ea typeface="+mn-ea"/>
              </a:rPr>
              <a:t>뉴스 신뢰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시민들이 미디어가 부당한 정치적 및 상업적 영향력으로부터 독립적이라고 믿는 실천적 의존성</a:t>
            </a:r>
            <a:endParaRPr lang="en-US" altLang="ko-KR" sz="1600" dirty="0">
              <a:latin typeface="+mn-ea"/>
              <a:ea typeface="+mn-ea"/>
            </a:endParaRPr>
          </a:p>
          <a:p>
            <a:br>
              <a:rPr lang="ko-KR" altLang="ko-KR" sz="1600" b="1" dirty="0">
                <a:latin typeface="+mn-ea"/>
                <a:ea typeface="+mn-ea"/>
              </a:rPr>
            </a:br>
            <a:r>
              <a:rPr lang="en-US" altLang="ko-KR" sz="1600" b="1" dirty="0" err="1">
                <a:latin typeface="+mn-ea"/>
                <a:ea typeface="+mn-ea"/>
              </a:rPr>
              <a:t>Strömbäck</a:t>
            </a:r>
            <a:r>
              <a:rPr lang="en-US" altLang="ko-KR" sz="1600" b="1" dirty="0">
                <a:latin typeface="+mn-ea"/>
                <a:ea typeface="+mn-ea"/>
              </a:rPr>
              <a:t> et al. (2020) “News Media Trust and its Impact on Media Use...”</a:t>
            </a:r>
          </a:p>
          <a:p>
            <a:r>
              <a:rPr lang="ko-KR" altLang="en-US" sz="1600" dirty="0">
                <a:latin typeface="+mn-ea"/>
                <a:ea typeface="+mn-ea"/>
              </a:rPr>
              <a:t>뉴스 신뢰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불확실한 상황 속에서 시민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 err="1">
                <a:latin typeface="+mn-ea"/>
                <a:ea typeface="+mn-ea"/>
              </a:rPr>
              <a:t>신뢰자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과 미디어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피신뢰자</a:t>
            </a:r>
            <a:r>
              <a:rPr lang="en-US" altLang="ko-KR" sz="1600" dirty="0">
                <a:latin typeface="+mn-ea"/>
                <a:ea typeface="+mn-ea"/>
              </a:rPr>
              <a:t>) </a:t>
            </a:r>
            <a:r>
              <a:rPr lang="ko-KR" altLang="en-US" sz="1600" dirty="0">
                <a:latin typeface="+mn-ea"/>
                <a:ea typeface="+mn-ea"/>
              </a:rPr>
              <a:t>간의 관계에서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미디어와의 상호작용이 손실보다는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이익</a:t>
            </a:r>
            <a:r>
              <a:rPr lang="en-US" altLang="ko-KR" sz="1600" dirty="0">
                <a:latin typeface="+mn-ea"/>
                <a:ea typeface="+mn-ea"/>
              </a:rPr>
              <a:t>(gains)'</a:t>
            </a:r>
            <a:r>
              <a:rPr lang="ko-KR" altLang="en-US" sz="1600" dirty="0">
                <a:latin typeface="+mn-ea"/>
                <a:ea typeface="+mn-ea"/>
              </a:rPr>
              <a:t>을 가져다 줄 것이라는 수용자의 기대</a:t>
            </a:r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Kohring &amp; Matthes (2007) “Trust in News Media…”</a:t>
            </a:r>
          </a:p>
          <a:p>
            <a:r>
              <a:rPr lang="ko-KR" altLang="en-US" sz="1600" dirty="0">
                <a:latin typeface="+mn-ea"/>
                <a:ea typeface="+mn-ea"/>
              </a:rPr>
              <a:t>신뢰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현대 사회의 엄청난 복잡성을 줄이고 열린 미래의 위험</a:t>
            </a:r>
            <a:r>
              <a:rPr lang="en-US" altLang="ko-KR" sz="1600" dirty="0">
                <a:latin typeface="+mn-ea"/>
                <a:ea typeface="+mn-ea"/>
              </a:rPr>
              <a:t>(risk)</a:t>
            </a:r>
            <a:r>
              <a:rPr lang="ko-KR" altLang="en-US" sz="1600" dirty="0">
                <a:latin typeface="+mn-ea"/>
                <a:ea typeface="+mn-ea"/>
              </a:rPr>
              <a:t>을 감수하기 위해 지식을 대체하는 메커니즘</a:t>
            </a:r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뉴스신뢰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저널리즘이란 필연적으로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선택적 관찰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을 수반하며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수용자의 뉴스 </a:t>
            </a:r>
            <a:r>
              <a:rPr lang="ko-KR" altLang="en-US" sz="1600" dirty="0" err="1">
                <a:latin typeface="+mn-ea"/>
                <a:ea typeface="+mn-ea"/>
              </a:rPr>
              <a:t>신뢰란</a:t>
            </a:r>
            <a:r>
              <a:rPr lang="ko-KR" altLang="en-US" sz="1600" dirty="0">
                <a:latin typeface="+mn-ea"/>
                <a:ea typeface="+mn-ea"/>
              </a:rPr>
              <a:t> 객관성이나 진실성 </a:t>
            </a:r>
            <a:r>
              <a:rPr lang="ko-KR" altLang="en-US" sz="1600" dirty="0" err="1">
                <a:latin typeface="+mn-ea"/>
                <a:ea typeface="+mn-ea"/>
              </a:rPr>
              <a:t>자체라기보다</a:t>
            </a:r>
            <a:r>
              <a:rPr lang="ko-KR" altLang="en-US" sz="1600" dirty="0">
                <a:latin typeface="+mn-ea"/>
                <a:ea typeface="+mn-ea"/>
              </a:rPr>
              <a:t> 저널리즘의 특정한 선택</a:t>
            </a:r>
            <a:r>
              <a:rPr lang="en-US" altLang="ko-KR" sz="1600" dirty="0">
                <a:latin typeface="+mn-ea"/>
                <a:ea typeface="+mn-ea"/>
              </a:rPr>
              <a:t>(specific selectivity) </a:t>
            </a:r>
            <a:r>
              <a:rPr lang="ko-KR" altLang="en-US" sz="1600" dirty="0">
                <a:latin typeface="+mn-ea"/>
                <a:ea typeface="+mn-ea"/>
              </a:rPr>
              <a:t>과정에 대한 신뢰</a:t>
            </a:r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5C3EAE-F022-5E4D-9246-93C32FADC7C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뉴스 신뢰에 대한 정의들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893AF-35DD-71CA-0986-CA1458CCF670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FA099FA-AE4D-5B37-5C58-CCDD5D77A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358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92891-83F1-2D30-939B-B922BC348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E8ADF2A-7259-866F-B7EF-226D212EB030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</a:rPr>
              <a:t>Hypotheses</a:t>
            </a:r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 err="1">
                <a:latin typeface="+mn-ea"/>
                <a:ea typeface="+mn-ea"/>
              </a:rPr>
              <a:t>Tsfati</a:t>
            </a:r>
            <a:r>
              <a:rPr lang="en-US" altLang="ko-KR" sz="1600" b="1" dirty="0">
                <a:latin typeface="+mn-ea"/>
                <a:ea typeface="+mn-ea"/>
              </a:rPr>
              <a:t> et al. (2023)</a:t>
            </a:r>
          </a:p>
          <a:p>
            <a:r>
              <a:rPr lang="ko-KR" altLang="en-US" sz="1600" dirty="0">
                <a:latin typeface="+mn-ea"/>
                <a:ea typeface="+mn-ea"/>
              </a:rPr>
              <a:t>수용자들이 “전반적인 뉴스 미디어</a:t>
            </a:r>
            <a:r>
              <a:rPr lang="en-US" altLang="ko-KR" sz="1600" dirty="0">
                <a:latin typeface="+mn-ea"/>
                <a:ea typeface="+mn-ea"/>
              </a:rPr>
              <a:t>(news media in general)”</a:t>
            </a:r>
            <a:r>
              <a:rPr lang="ko-KR" altLang="en-US" sz="1600" dirty="0">
                <a:latin typeface="+mn-ea"/>
                <a:ea typeface="+mn-ea"/>
              </a:rPr>
              <a:t>에 대한 신뢰를 </a:t>
            </a:r>
            <a:r>
              <a:rPr lang="ko-KR" altLang="en-US" sz="1600" dirty="0" err="1">
                <a:latin typeface="+mn-ea"/>
                <a:ea typeface="+mn-ea"/>
              </a:rPr>
              <a:t>질문받았을</a:t>
            </a:r>
            <a:r>
              <a:rPr lang="ko-KR" altLang="en-US" sz="1600" dirty="0">
                <a:latin typeface="+mn-ea"/>
                <a:ea typeface="+mn-ea"/>
              </a:rPr>
              <a:t> 때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자신이 가장 불신하는 매체나 비주류 매체를 기준으로 답하지 않는다는 점을 실증적으로 보여준다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대신 그들은 주류 매체들의 평균적 신뢰도를 계산하는 휴리스틱을 활용했다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H1a </a:t>
            </a:r>
            <a:r>
              <a:rPr lang="ko-KR" altLang="en-US" sz="1600" b="1" dirty="0">
                <a:latin typeface="+mn-ea"/>
                <a:ea typeface="+mn-ea"/>
              </a:rPr>
              <a:t>일반적 신뢰에서의 주류 미디어 평균화 휴리스틱 모방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인간의 텍스트와 인지 패턴을 학습한 생성형 </a:t>
            </a:r>
            <a:r>
              <a:rPr lang="en-US" altLang="ko-KR" sz="1600" dirty="0">
                <a:latin typeface="+mn-ea"/>
                <a:ea typeface="+mn-ea"/>
              </a:rPr>
              <a:t>AI </a:t>
            </a:r>
            <a:r>
              <a:rPr lang="ko-KR" altLang="en-US" sz="1600" dirty="0">
                <a:latin typeface="+mn-ea"/>
                <a:ea typeface="+mn-ea"/>
              </a:rPr>
              <a:t>모델은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  <a:ea typeface="+mn-ea"/>
              </a:rPr>
              <a:t>“</a:t>
            </a:r>
            <a:r>
              <a:rPr lang="en-US" altLang="ko-KR" sz="1600" dirty="0">
                <a:highlight>
                  <a:srgbClr val="00FFFF"/>
                </a:highlight>
                <a:latin typeface="+mn-ea"/>
                <a:ea typeface="+mn-ea"/>
              </a:rPr>
              <a:t>News</a:t>
            </a:r>
            <a:r>
              <a:rPr lang="ko-KR" altLang="en-US" sz="1600" dirty="0">
                <a:highlight>
                  <a:srgbClr val="00FFFF"/>
                </a:highlight>
                <a:latin typeface="+mn-ea"/>
                <a:ea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  <a:ea typeface="+mn-ea"/>
              </a:rPr>
              <a:t>media</a:t>
            </a:r>
            <a:r>
              <a:rPr lang="ko-KR" altLang="en-US" sz="1600" dirty="0">
                <a:highlight>
                  <a:srgbClr val="00FFFF"/>
                </a:highlight>
                <a:latin typeface="+mn-ea"/>
                <a:ea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  <a:ea typeface="+mn-ea"/>
              </a:rPr>
              <a:t>in</a:t>
            </a:r>
            <a:r>
              <a:rPr lang="ko-KR" altLang="en-US" sz="1600" dirty="0">
                <a:highlight>
                  <a:srgbClr val="00FFFF"/>
                </a:highlight>
                <a:latin typeface="+mn-ea"/>
                <a:ea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  <a:ea typeface="+mn-ea"/>
              </a:rPr>
              <a:t>general</a:t>
            </a:r>
            <a:r>
              <a:rPr lang="ko-KR" altLang="en-US" sz="1600" dirty="0">
                <a:highlight>
                  <a:srgbClr val="00FFFF"/>
                </a:highlight>
                <a:latin typeface="+mn-ea"/>
                <a:ea typeface="+mn-ea"/>
              </a:rPr>
              <a:t>”에 대한 지표를 산출할 때 비주류 매체가 아니라 주류 매체에 부여한 신뢰 점수의 평균값에 수렴</a:t>
            </a:r>
            <a:r>
              <a:rPr lang="ko-KR" altLang="en-US" sz="1600" dirty="0">
                <a:latin typeface="+mn-ea"/>
                <a:ea typeface="+mn-ea"/>
              </a:rPr>
              <a:t>할 것이다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측정 전략 및 통계적 유의성 검증 전략</a:t>
            </a:r>
            <a:r>
              <a:rPr lang="en-US" altLang="ko-KR" sz="1600" b="1" dirty="0">
                <a:latin typeface="+mn-ea"/>
                <a:ea typeface="+mn-ea"/>
              </a:rPr>
              <a:t>: </a:t>
            </a:r>
            <a:r>
              <a:rPr lang="en-US" altLang="ko-KR" sz="1600" dirty="0">
                <a:latin typeface="+mn-ea"/>
                <a:ea typeface="+mn-ea"/>
              </a:rPr>
              <a:t>(1) </a:t>
            </a:r>
            <a:r>
              <a:rPr lang="ko-KR" altLang="en-US" sz="1600" dirty="0">
                <a:latin typeface="+mn-ea"/>
                <a:ea typeface="+mn-ea"/>
              </a:rPr>
              <a:t>주류 매체와 비주류 매체에 대한 답변들의 일관성</a:t>
            </a:r>
            <a:r>
              <a:rPr lang="en-US" altLang="ko-KR" sz="1600" dirty="0">
                <a:latin typeface="+mn-ea"/>
                <a:ea typeface="+mn-ea"/>
              </a:rPr>
              <a:t>, (2) </a:t>
            </a:r>
            <a:r>
              <a:rPr lang="ko-KR" altLang="en-US" sz="1600" dirty="0">
                <a:latin typeface="+mn-ea"/>
                <a:ea typeface="+mn-ea"/>
              </a:rPr>
              <a:t>같은 개념에 대한 다른 표현으로 서술된 문항들에 대한 일관성</a:t>
            </a:r>
            <a:r>
              <a:rPr lang="en-US" altLang="ko-KR" sz="1600" dirty="0">
                <a:latin typeface="+mn-ea"/>
                <a:ea typeface="+mn-ea"/>
              </a:rPr>
              <a:t>, (3) </a:t>
            </a:r>
            <a:r>
              <a:rPr lang="ko-KR" altLang="en-US" sz="1600" dirty="0">
                <a:latin typeface="+mn-ea"/>
                <a:ea typeface="+mn-ea"/>
              </a:rPr>
              <a:t>긍정</a:t>
            </a:r>
            <a:r>
              <a:rPr lang="en-US" altLang="ko-KR" sz="1600" dirty="0">
                <a:latin typeface="+mn-ea"/>
                <a:ea typeface="+mn-ea"/>
              </a:rPr>
              <a:t>/</a:t>
            </a:r>
            <a:r>
              <a:rPr lang="ko-KR" altLang="en-US" sz="1600" dirty="0">
                <a:latin typeface="+mn-ea"/>
                <a:ea typeface="+mn-ea"/>
              </a:rPr>
              <a:t>부정 어휘를 뒤집은 리버스 </a:t>
            </a:r>
            <a:r>
              <a:rPr lang="ko-KR" altLang="en-US" sz="1600" dirty="0" err="1">
                <a:latin typeface="+mn-ea"/>
                <a:ea typeface="+mn-ea"/>
              </a:rPr>
              <a:t>코딩된</a:t>
            </a:r>
            <a:r>
              <a:rPr lang="ko-KR" altLang="en-US" sz="1600" dirty="0">
                <a:latin typeface="+mn-ea"/>
                <a:ea typeface="+mn-ea"/>
              </a:rPr>
              <a:t> 문항에 대한 일관성</a:t>
            </a:r>
            <a:r>
              <a:rPr lang="en-US" altLang="ko-KR" sz="1600" dirty="0">
                <a:latin typeface="+mn-ea"/>
                <a:ea typeface="+mn-ea"/>
              </a:rPr>
              <a:t>, (4) </a:t>
            </a:r>
            <a:r>
              <a:rPr lang="ko-KR" altLang="en-US" sz="1600" dirty="0">
                <a:latin typeface="+mn-ea"/>
                <a:ea typeface="+mn-ea"/>
              </a:rPr>
              <a:t>주류미디어들의 신뢰도 평균값 </a:t>
            </a:r>
            <a:r>
              <a:rPr lang="en-US" altLang="ko-KR" sz="1600" dirty="0">
                <a:latin typeface="+mn-ea"/>
                <a:ea typeface="+mn-ea"/>
              </a:rPr>
              <a:t>&amp; </a:t>
            </a:r>
            <a:r>
              <a:rPr lang="ko-KR" altLang="en-US" sz="1600" dirty="0">
                <a:latin typeface="+mn-ea"/>
                <a:ea typeface="+mn-ea"/>
              </a:rPr>
              <a:t>전반적 뉴스 미디어 신뢰도 값 간의 차이를 </a:t>
            </a:r>
            <a:r>
              <a:rPr lang="en-US" altLang="ko-KR" sz="1600" dirty="0">
                <a:latin typeface="+mn-ea"/>
                <a:ea typeface="+mn-ea"/>
              </a:rPr>
              <a:t>Paired T-test</a:t>
            </a:r>
            <a:r>
              <a:rPr lang="ko-KR" altLang="en-US" sz="1600" dirty="0">
                <a:latin typeface="+mn-ea"/>
                <a:ea typeface="+mn-ea"/>
              </a:rPr>
              <a:t>로 분석</a:t>
            </a:r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</a:rPr>
              <a:t>측정 전략 및 통계적 유의성 검증 전략 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질적</a:t>
            </a:r>
            <a:r>
              <a:rPr lang="en-US" altLang="ko-KR" sz="1600" b="1" dirty="0">
                <a:latin typeface="+mn-ea"/>
              </a:rPr>
              <a:t>): </a:t>
            </a:r>
            <a:r>
              <a:rPr lang="ko-KR" altLang="en-US" sz="1600" dirty="0">
                <a:latin typeface="+mn-ea"/>
              </a:rPr>
              <a:t>인공지능에게 사회적 이슈들과 인용할 수 있는 미디어 리스트를 제공하고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실제 인용하는 출처들을 확인</a:t>
            </a:r>
            <a:endParaRPr lang="en-US" altLang="ko-KR" sz="1600" b="1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5C3EAE-F022-5E4D-9246-93C32FADC7C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/>
              <a:t>AI</a:t>
            </a:r>
            <a:r>
              <a:rPr lang="ko-KR" altLang="en-US" sz="2800" dirty="0"/>
              <a:t>의 일반적 뉴스 미디어 신뢰 형성 </a:t>
            </a:r>
            <a:r>
              <a:rPr lang="ko-KR" altLang="en-US" sz="2800" dirty="0" err="1"/>
              <a:t>매커니즘</a:t>
            </a:r>
            <a:r>
              <a:rPr lang="ko-KR" altLang="en-US" sz="2800" dirty="0"/>
              <a:t> </a:t>
            </a:r>
            <a:r>
              <a:rPr lang="en-US" altLang="ko-KR" sz="2800" dirty="0"/>
              <a:t>&amp; </a:t>
            </a:r>
            <a:r>
              <a:rPr lang="ko-KR" altLang="en-US" sz="2800" dirty="0"/>
              <a:t>다차원적 신뢰성</a:t>
            </a:r>
            <a:endParaRPr lang="en-US" altLang="ko-KR" sz="7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893AF-35DD-71CA-0986-CA1458CCF670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FA099FA-AE4D-5B37-5C58-CCDD5D77A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109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3B502-0968-6557-DC25-DFCE7814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F9450C86-5FB1-9CFE-2826-4DD03300C3A7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</a:rPr>
              <a:t>Hypotheses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 err="1">
                <a:latin typeface="+mn-ea"/>
              </a:rPr>
              <a:t>Strömbäck</a:t>
            </a:r>
            <a:r>
              <a:rPr lang="en-US" altLang="ko-KR" sz="1600" b="1" dirty="0">
                <a:latin typeface="+mn-ea"/>
              </a:rPr>
              <a:t> et al. (2020)</a:t>
            </a:r>
          </a:p>
          <a:p>
            <a:r>
              <a:rPr lang="ko-KR" altLang="en-US" sz="1600" dirty="0">
                <a:latin typeface="+mn-ea"/>
              </a:rPr>
              <a:t>미디어 신뢰가 정보의 출처</a:t>
            </a:r>
            <a:r>
              <a:rPr lang="en-US" altLang="ko-KR" sz="1600" dirty="0">
                <a:latin typeface="+mn-ea"/>
              </a:rPr>
              <a:t>(source)</a:t>
            </a:r>
            <a:r>
              <a:rPr lang="ko-KR" altLang="en-US" sz="1600" dirty="0">
                <a:latin typeface="+mn-ea"/>
              </a:rPr>
              <a:t>와 매체</a:t>
            </a:r>
            <a:r>
              <a:rPr lang="en-US" altLang="ko-KR" sz="1600" dirty="0">
                <a:latin typeface="+mn-ea"/>
              </a:rPr>
              <a:t>(medium) </a:t>
            </a:r>
            <a:r>
              <a:rPr lang="ko-KR" altLang="en-US" sz="1600" dirty="0">
                <a:latin typeface="+mn-ea"/>
              </a:rPr>
              <a:t>자체에 대한 다차원적 신뢰성 평가로 구성된다는 점을 강조한다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en-US" altLang="ko-KR" sz="1600" b="1" dirty="0">
                <a:latin typeface="+mn-ea"/>
              </a:rPr>
              <a:t>Fawzi et al. (2021)</a:t>
            </a:r>
          </a:p>
          <a:p>
            <a:r>
              <a:rPr lang="ko-KR" altLang="en-US" sz="1600" dirty="0">
                <a:latin typeface="+mn-ea"/>
              </a:rPr>
              <a:t>추상적 대상을 향한 단일 문항 측정에 의존하는 기존의 방법론적 관행을 비판하면서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 연구는 신뢰의 대상</a:t>
            </a:r>
            <a:r>
              <a:rPr lang="en-US" altLang="ko-KR" sz="1600" dirty="0">
                <a:latin typeface="+mn-ea"/>
              </a:rPr>
              <a:t>(trustee)</a:t>
            </a:r>
            <a:r>
              <a:rPr lang="ko-KR" altLang="en-US" sz="1600" dirty="0">
                <a:latin typeface="+mn-ea"/>
              </a:rPr>
              <a:t>과 신뢰 차원을 명확히 특정하는 틀의 필요성을 강조한다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en-US" altLang="ko-KR" sz="1600" b="1" dirty="0">
                <a:latin typeface="+mn-ea"/>
              </a:rPr>
              <a:t>H1b </a:t>
            </a:r>
            <a:r>
              <a:rPr lang="ko-KR" altLang="en-US" sz="1600" b="1" dirty="0">
                <a:latin typeface="+mn-ea"/>
              </a:rPr>
              <a:t>정보 기반의 다차원적 신뢰성 차등 평가</a:t>
            </a:r>
            <a:r>
              <a:rPr lang="en-US" altLang="ko-KR" sz="1600" dirty="0">
                <a:latin typeface="+mn-ea"/>
              </a:rPr>
              <a:t>: AI </a:t>
            </a:r>
            <a:r>
              <a:rPr lang="ko-KR" altLang="en-US" sz="1600" dirty="0">
                <a:latin typeface="+mn-ea"/>
              </a:rPr>
              <a:t>모델은 학습 데이터에 내재된 저널리즘 규범의 영향으로 인해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“정확성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(Accuracy)”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과 “완전성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(Completeness)”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차원에서는 비교적 높은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반면 사회적으로 양극화된 데이터를 반영하여</a:t>
            </a:r>
            <a:r>
              <a:rPr lang="en-US" altLang="ko-KR" sz="1600" dirty="0">
                <a:latin typeface="+mn-ea"/>
              </a:rPr>
              <a:t>,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“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공정성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(Fairness)”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과 “비편향성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(Unbiasedness)”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차원에서는 중립적이거나 낮은 점수를 산출</a:t>
            </a:r>
            <a:r>
              <a:rPr lang="ko-KR" altLang="en-US" sz="1600" dirty="0">
                <a:latin typeface="+mn-ea"/>
              </a:rPr>
              <a:t>하는 불균형한 평가를 보일 것이다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측정 전략 및 통계적 유의성 검증 전략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en-US" altLang="ko-KR" sz="1600" dirty="0">
                <a:latin typeface="+mn-ea"/>
              </a:rPr>
              <a:t>(1) H1a</a:t>
            </a:r>
            <a:r>
              <a:rPr lang="ko-KR" altLang="en-US" sz="1600" dirty="0">
                <a:latin typeface="+mn-ea"/>
              </a:rPr>
              <a:t>의 전략들을 바탕으로 여러 데이터를 뽑고</a:t>
            </a:r>
            <a:r>
              <a:rPr lang="en-US" altLang="ko-KR" sz="1600" dirty="0">
                <a:latin typeface="+mn-ea"/>
              </a:rPr>
              <a:t>, (2) {</a:t>
            </a:r>
            <a:r>
              <a:rPr lang="ko-KR" altLang="en-US" sz="1600" dirty="0">
                <a:latin typeface="+mn-ea"/>
              </a:rPr>
              <a:t>정확성</a:t>
            </a:r>
            <a:r>
              <a:rPr lang="en-US" altLang="ko-KR" sz="1600" dirty="0">
                <a:latin typeface="+mn-ea"/>
              </a:rPr>
              <a:t>+</a:t>
            </a:r>
            <a:r>
              <a:rPr lang="ko-KR" altLang="en-US" sz="1600" dirty="0">
                <a:latin typeface="+mn-ea"/>
              </a:rPr>
              <a:t>완전성</a:t>
            </a:r>
            <a:r>
              <a:rPr lang="en-US" altLang="ko-KR" sz="1600" dirty="0">
                <a:latin typeface="+mn-ea"/>
              </a:rPr>
              <a:t>} </a:t>
            </a:r>
            <a:r>
              <a:rPr lang="ko-KR" altLang="en-US" sz="1600" dirty="0">
                <a:latin typeface="+mn-ea"/>
              </a:rPr>
              <a:t>그룹의 평균점수와 </a:t>
            </a:r>
            <a:r>
              <a:rPr lang="en-US" altLang="ko-KR" sz="1600" dirty="0">
                <a:latin typeface="+mn-ea"/>
              </a:rPr>
              <a:t>{</a:t>
            </a:r>
            <a:r>
              <a:rPr lang="ko-KR" altLang="en-US" sz="1600" dirty="0">
                <a:latin typeface="+mn-ea"/>
              </a:rPr>
              <a:t>공정성</a:t>
            </a:r>
            <a:r>
              <a:rPr lang="en-US" altLang="ko-KR" sz="1600" dirty="0">
                <a:latin typeface="+mn-ea"/>
              </a:rPr>
              <a:t>+</a:t>
            </a:r>
            <a:r>
              <a:rPr lang="ko-KR" altLang="en-US" sz="1600" dirty="0">
                <a:latin typeface="+mn-ea"/>
              </a:rPr>
              <a:t>비편향성</a:t>
            </a:r>
            <a:r>
              <a:rPr lang="en-US" altLang="ko-KR" sz="1600" dirty="0">
                <a:latin typeface="+mn-ea"/>
              </a:rPr>
              <a:t>} </a:t>
            </a:r>
            <a:r>
              <a:rPr lang="ko-KR" altLang="en-US" sz="1600" dirty="0">
                <a:latin typeface="+mn-ea"/>
              </a:rPr>
              <a:t>그룹의 평균 점수 차이를 독립표본 </a:t>
            </a:r>
            <a:r>
              <a:rPr lang="en-US" altLang="ko-KR" sz="1600" dirty="0">
                <a:latin typeface="+mn-ea"/>
              </a:rPr>
              <a:t>t-</a:t>
            </a:r>
            <a:r>
              <a:rPr lang="ko-KR" altLang="en-US" sz="1600" dirty="0">
                <a:latin typeface="+mn-ea"/>
              </a:rPr>
              <a:t>검정 또는 </a:t>
            </a:r>
            <a:r>
              <a:rPr lang="en-US" altLang="ko-KR" sz="1600" dirty="0">
                <a:latin typeface="+mn-ea"/>
              </a:rPr>
              <a:t>ANOVA</a:t>
            </a:r>
            <a:r>
              <a:rPr lang="ko-KR" altLang="en-US" sz="1600" dirty="0">
                <a:latin typeface="+mn-ea"/>
              </a:rPr>
              <a:t>로 검증</a:t>
            </a:r>
            <a:endParaRPr lang="en-US" altLang="ko-KR" sz="1600" b="1" dirty="0">
              <a:latin typeface="+mn-ea"/>
            </a:endParaRPr>
          </a:p>
          <a:p>
            <a:endParaRPr lang="en-US" altLang="ko-KR" sz="1600" dirty="0">
              <a:latin typeface="+mn-ea"/>
            </a:endParaRPr>
          </a:p>
          <a:p>
            <a:endParaRPr lang="en-US" altLang="ko-KR" sz="1600" dirty="0"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75E6E9-0E47-7097-C455-454E1297DCFB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/>
              <a:t>AI</a:t>
            </a:r>
            <a:r>
              <a:rPr lang="ko-KR" altLang="en-US" sz="2800" dirty="0"/>
              <a:t>의 일반적 뉴스 미디어 신뢰 형성 </a:t>
            </a:r>
            <a:r>
              <a:rPr lang="ko-KR" altLang="en-US" sz="2800" dirty="0" err="1"/>
              <a:t>매커니즘</a:t>
            </a:r>
            <a:r>
              <a:rPr lang="ko-KR" altLang="en-US" sz="2800" dirty="0"/>
              <a:t> </a:t>
            </a:r>
            <a:r>
              <a:rPr lang="en-US" altLang="ko-KR" sz="2800" dirty="0"/>
              <a:t>&amp; </a:t>
            </a:r>
            <a:r>
              <a:rPr lang="ko-KR" altLang="en-US" sz="2800" dirty="0"/>
              <a:t>다차원적 신뢰성</a:t>
            </a:r>
            <a:endParaRPr lang="en-US" altLang="ko-KR" sz="7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3260D-D067-AD6F-5EB1-63DC75BF18C4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08DF4E3-18AF-E17A-0A17-1F7A8A77A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102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87F6-FE37-1E84-6888-627345B72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76B62AC5-348C-D8B3-8F29-164A3AC753D7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What?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Markov and Min. (2022, 2023)</a:t>
            </a:r>
          </a:p>
          <a:p>
            <a:r>
              <a:rPr lang="ko-KR" altLang="en-US" sz="1600" dirty="0">
                <a:latin typeface="+mn-ea"/>
                <a:ea typeface="+mn-ea"/>
              </a:rPr>
              <a:t>불신에 대한 정의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불신</a:t>
            </a:r>
            <a:r>
              <a:rPr lang="en-US" altLang="ko-KR" sz="1600" dirty="0">
                <a:latin typeface="+mn-ea"/>
                <a:ea typeface="+mn-ea"/>
              </a:rPr>
              <a:t>(distrust)</a:t>
            </a:r>
            <a:r>
              <a:rPr lang="ko-KR" altLang="en-US" sz="1600" dirty="0">
                <a:latin typeface="+mn-ea"/>
                <a:ea typeface="+mn-ea"/>
              </a:rPr>
              <a:t>은 정교하고 결과 지향적인 회의주의로 특징지어진다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불신하는 수용자는 언론의 능력이나 반응성을 의심할 수 있지만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저널리즘의 진실성을 보여주는 반증</a:t>
            </a:r>
            <a:r>
              <a:rPr lang="en-US" altLang="ko-KR" sz="1600" dirty="0">
                <a:latin typeface="+mn-ea"/>
                <a:ea typeface="+mn-ea"/>
              </a:rPr>
              <a:t>(counter-evidence)</a:t>
            </a:r>
            <a:r>
              <a:rPr lang="ko-KR" altLang="en-US" sz="1600" dirty="0">
                <a:latin typeface="+mn-ea"/>
                <a:ea typeface="+mn-ea"/>
              </a:rPr>
              <a:t>이 제시될 경우 이러한 인식을 수정할 여지를 남겨둔다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불신은 대체로 미디어의 반응성 실패가 지각될 때 주로 발생한다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냉소에 대한 정의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훨씬 더 극단적이고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과정 지향적이며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 err="1">
                <a:latin typeface="+mn-ea"/>
                <a:ea typeface="+mn-ea"/>
              </a:rPr>
              <a:t>결정론적인</a:t>
            </a:r>
            <a:r>
              <a:rPr lang="ko-KR" altLang="en-US" sz="1600" dirty="0">
                <a:latin typeface="+mn-ea"/>
                <a:ea typeface="+mn-ea"/>
              </a:rPr>
              <a:t> 적대성을 의미한다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미디어 냉소주의자는 전문 저널리즘이 어떠한 고귀한 목적도 수행하지 않으며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오직 금전적 이익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엘리트의 조작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그리고 사적 이익 추구에 의해 움직인다는 불변의 믿음 아래 작동한다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이러한 태도는 기자들에게 자기이익적 동기를 무비판적으로 귀속시키고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가치와 전문성이 보도를 </a:t>
            </a:r>
            <a:r>
              <a:rPr lang="ko-KR" altLang="en-US" sz="1600" dirty="0" err="1">
                <a:latin typeface="+mn-ea"/>
                <a:ea typeface="+mn-ea"/>
              </a:rPr>
              <a:t>추동할</a:t>
            </a:r>
            <a:r>
              <a:rPr lang="ko-KR" altLang="en-US" sz="1600" dirty="0">
                <a:latin typeface="+mn-ea"/>
                <a:ea typeface="+mn-ea"/>
              </a:rPr>
              <a:t> 수 있다는 생각 자체를 전면적으로 거부하는 것을 포함한다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냉소는 뉴스 미디어가 자기이익적이라는 믿음과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저널리즘의 미래 행태에 대한 비관주의를 결합한 상태이다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왜 둘을 구분하는 것이 중요한가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회의주의나 불신은 비판적 미디어 소비를 촉진할 수 있는 반면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냉소는 정치적 허위정보에 대한 신념 및 민주주의 전반에 대한 불확정성과 높은 상관관계를 보이기 때문이다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387F44-FDC0-1979-C8EB-4135562730CA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미디어 냉소주의란</a:t>
            </a:r>
            <a:r>
              <a:rPr lang="en-US" altLang="ko-KR" dirty="0"/>
              <a:t>?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89008-BC32-A7D5-1525-8F0E2378B3BD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C517C5D-03D4-4FFF-ED53-82E6DF21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084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4632-BFAB-4C97-C9DE-E638D3D3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20B0A6E-FD83-2832-4889-41BC0D769A7E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</a:rPr>
              <a:t>Hypotheses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Markov and Min. (2022, 2023)</a:t>
            </a:r>
          </a:p>
          <a:p>
            <a:r>
              <a:rPr lang="ko-KR" altLang="en-US" sz="1600" dirty="0">
                <a:latin typeface="+mn-ea"/>
              </a:rPr>
              <a:t>수용자의 부정적 인식을 ‘불신</a:t>
            </a:r>
            <a:r>
              <a:rPr lang="en-US" altLang="ko-KR" sz="1600" dirty="0">
                <a:latin typeface="+mn-ea"/>
              </a:rPr>
              <a:t>(distrust)’</a:t>
            </a:r>
            <a:r>
              <a:rPr lang="ko-KR" altLang="en-US" sz="1600" dirty="0">
                <a:latin typeface="+mn-ea"/>
              </a:rPr>
              <a:t>과 ‘냉소</a:t>
            </a:r>
            <a:r>
              <a:rPr lang="en-US" altLang="ko-KR" sz="1600" dirty="0">
                <a:latin typeface="+mn-ea"/>
              </a:rPr>
              <a:t>(cynicism)’</a:t>
            </a:r>
            <a:r>
              <a:rPr lang="ko-KR" altLang="en-US" sz="1600" dirty="0">
                <a:latin typeface="+mn-ea"/>
              </a:rPr>
              <a:t>로 명확히 구분하고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냉소가 저널리즘 민주주의에 훨씬 더 큰 위협이 된다는 점을 실증적으로 보여준다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en-US" altLang="ko-KR" sz="1600" b="1" dirty="0">
                <a:latin typeface="+mn-ea"/>
              </a:rPr>
              <a:t>H2a </a:t>
            </a:r>
            <a:r>
              <a:rPr lang="ko-KR" altLang="en-US" sz="1600" b="1" dirty="0">
                <a:latin typeface="+mn-ea"/>
              </a:rPr>
              <a:t>결정론적 자기이익 동기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생성형 </a:t>
            </a:r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정제되지 않은 웹 기반 학습 데이터에 널리 퍼져 있는 </a:t>
            </a:r>
            <a:r>
              <a:rPr lang="ko-KR" altLang="en-US" sz="1600" dirty="0" err="1">
                <a:latin typeface="+mn-ea"/>
              </a:rPr>
              <a:t>반기득권적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반미디어적 정서를 </a:t>
            </a:r>
            <a:r>
              <a:rPr lang="ko-KR" altLang="en-US" sz="1600" dirty="0" err="1">
                <a:latin typeface="+mn-ea"/>
              </a:rPr>
              <a:t>내재화했을</a:t>
            </a:r>
            <a:r>
              <a:rPr lang="ko-KR" altLang="en-US" sz="1600" dirty="0">
                <a:latin typeface="+mn-ea"/>
              </a:rPr>
              <a:t> 가능성이 크다</a:t>
            </a:r>
            <a:r>
              <a:rPr lang="en-US" altLang="ko-KR" sz="1600" dirty="0">
                <a:latin typeface="+mn-ea"/>
              </a:rPr>
              <a:t>.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모델은 냉소 척도의 ‘자기이익적 동기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(self-serving motives)’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 높은 동의 점수를 산출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미디어의 동기를 평가할 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이들은 저널리즘이 오로지 재정적 이익과 대중 조작만을 위해 작동한다는 “</a:t>
            </a:r>
            <a:r>
              <a:rPr lang="ko-KR" altLang="en-US" sz="1600" dirty="0" err="1">
                <a:latin typeface="+mn-ea"/>
              </a:rPr>
              <a:t>결정론적이고</a:t>
            </a:r>
            <a:r>
              <a:rPr lang="ko-KR" altLang="en-US" sz="1600" dirty="0">
                <a:latin typeface="+mn-ea"/>
              </a:rPr>
              <a:t> 과정 지향적인</a:t>
            </a:r>
            <a:r>
              <a:rPr lang="en-US" altLang="ko-KR" sz="1600" dirty="0">
                <a:latin typeface="+mn-ea"/>
              </a:rPr>
              <a:t>(deterministic and process-oriented)” </a:t>
            </a:r>
            <a:r>
              <a:rPr lang="ko-KR" altLang="en-US" sz="1600" dirty="0">
                <a:latin typeface="+mn-ea"/>
              </a:rPr>
              <a:t>믿음을 반영할 것이다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측정 전략 및 통계적 유의성 검증 전략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수집된 </a:t>
            </a:r>
            <a:r>
              <a:rPr lang="ko-KR" altLang="en-US" sz="1600" dirty="0" err="1">
                <a:latin typeface="+mn-ea"/>
              </a:rPr>
              <a:t>데이터들에서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‘</a:t>
            </a:r>
            <a:r>
              <a:rPr lang="ko-KR" altLang="en-US" sz="1600" dirty="0">
                <a:latin typeface="+mn-ea"/>
              </a:rPr>
              <a:t>자기이익적 동기</a:t>
            </a:r>
            <a:r>
              <a:rPr lang="en-US" altLang="ko-KR" sz="1600" dirty="0">
                <a:latin typeface="+mn-ea"/>
              </a:rPr>
              <a:t>‘</a:t>
            </a:r>
            <a:r>
              <a:rPr lang="ko-KR" altLang="en-US" sz="1600" dirty="0">
                <a:latin typeface="+mn-ea"/>
              </a:rPr>
              <a:t> 관련 문항들의 평균값이 </a:t>
            </a:r>
            <a:r>
              <a:rPr lang="en-US" altLang="ko-KR" sz="1600" dirty="0">
                <a:latin typeface="+mn-ea"/>
              </a:rPr>
              <a:t>(a)</a:t>
            </a:r>
            <a:r>
              <a:rPr lang="ko-KR" altLang="en-US" sz="1600" dirty="0">
                <a:latin typeface="+mn-ea"/>
              </a:rPr>
              <a:t> </a:t>
            </a:r>
            <a:r>
              <a:rPr lang="ko-KR" altLang="en-US" sz="1600" dirty="0" err="1">
                <a:latin typeface="+mn-ea"/>
              </a:rPr>
              <a:t>중립점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(7</a:t>
            </a:r>
            <a:r>
              <a:rPr lang="ko-KR" altLang="en-US" sz="1600" dirty="0">
                <a:latin typeface="+mn-ea"/>
              </a:rPr>
              <a:t>점 척도의 </a:t>
            </a:r>
            <a:r>
              <a:rPr lang="en-US" altLang="ko-KR" sz="1600" dirty="0">
                <a:latin typeface="+mn-ea"/>
              </a:rPr>
              <a:t>4</a:t>
            </a:r>
            <a:r>
              <a:rPr lang="ko-KR" altLang="en-US" sz="1600" dirty="0">
                <a:latin typeface="+mn-ea"/>
              </a:rPr>
              <a:t>점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보다 </a:t>
            </a:r>
            <a:r>
              <a:rPr lang="ko-KR" altLang="en-US" sz="1600" dirty="0" err="1">
                <a:latin typeface="+mn-ea"/>
              </a:rPr>
              <a:t>높은지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단일표본 </a:t>
            </a:r>
            <a:r>
              <a:rPr lang="en-US" altLang="ko-KR" sz="1600" dirty="0">
                <a:latin typeface="+mn-ea"/>
              </a:rPr>
              <a:t>t-</a:t>
            </a:r>
            <a:r>
              <a:rPr lang="ko-KR" altLang="en-US" sz="1600" dirty="0">
                <a:latin typeface="+mn-ea"/>
              </a:rPr>
              <a:t>검정을 통해 확인</a:t>
            </a:r>
            <a:endParaRPr lang="en-US" altLang="ko-KR" sz="1600" b="1" dirty="0"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67C5132-1303-8AF1-8149-CDD0FC0C10DD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600" dirty="0"/>
              <a:t>미디어 불신과 냉소의 본질적 차이</a:t>
            </a:r>
            <a:r>
              <a:rPr lang="en-US" altLang="ko-KR" sz="3600" dirty="0"/>
              <a:t>, </a:t>
            </a:r>
            <a:r>
              <a:rPr lang="ko-KR" altLang="en-US" sz="3600" dirty="0"/>
              <a:t>그리고 </a:t>
            </a:r>
            <a:r>
              <a:rPr lang="en-US" altLang="ko-KR" sz="3600" dirty="0"/>
              <a:t>AI</a:t>
            </a:r>
            <a:r>
              <a:rPr lang="ko-KR" altLang="en-US" sz="3600" dirty="0"/>
              <a:t>의 내재화</a:t>
            </a:r>
            <a:endParaRPr lang="en-US" altLang="ko-KR" sz="9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FF49E7-5466-AA83-CBA1-9BE15EAD998C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2737520-646B-F4B6-04A4-0FE743274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373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703E3-EE61-0610-F323-8179B1D1F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B12F71B-558C-2755-0D6F-3A8A25552A2D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</a:rPr>
              <a:t>Hypotheses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H2b </a:t>
            </a:r>
            <a:r>
              <a:rPr lang="ko-KR" altLang="en-US" sz="1600" b="1" dirty="0">
                <a:latin typeface="+mn-ea"/>
              </a:rPr>
              <a:t>미디어 행위자에 대한 무차별적 인식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미디어 냉소가 개별 뉴스 매체 간 차이를 무시하고 적대감을 일률적으로 적용한다는 질적 연구 결과와 일치하게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더 높은 ‘냉소’ 점수를 생성하는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모델은 획일적인 적대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편향</a:t>
            </a:r>
            <a:r>
              <a:rPr lang="ko-KR" altLang="en-US" sz="1600" dirty="0">
                <a:latin typeface="+mn-ea"/>
              </a:rPr>
              <a:t>을 보일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특정 주류 미디어 기관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개별 매체 브랜드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또는 공영방송과 민영방송의 구분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이 제시되더라도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이러한 모델은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행위자들 간의 신뢰성 차이를 구분하지 않은 채 일률적으로 부정적인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측정 전략 및 통계적 유의성 검증 전략</a:t>
            </a:r>
            <a:r>
              <a:rPr lang="en-US" altLang="ko-KR" sz="1600" b="1" dirty="0">
                <a:latin typeface="+mn-ea"/>
              </a:rPr>
              <a:t>: </a:t>
            </a:r>
            <a:r>
              <a:rPr lang="en-US" altLang="ko-KR" sz="1600" dirty="0">
                <a:latin typeface="+mn-ea"/>
              </a:rPr>
              <a:t>(1) 20</a:t>
            </a:r>
            <a:r>
              <a:rPr lang="ko-KR" altLang="en-US" sz="1600" dirty="0">
                <a:latin typeface="+mn-ea"/>
              </a:rPr>
              <a:t>개 미디어에 대해 인공지능 모델이 매긴 신뢰도 점수의 표준편차를 계산</a:t>
            </a:r>
            <a:r>
              <a:rPr lang="en-US" altLang="ko-KR" sz="1600" dirty="0">
                <a:latin typeface="+mn-ea"/>
              </a:rPr>
              <a:t>, (2) </a:t>
            </a:r>
            <a:r>
              <a:rPr lang="ko-KR" altLang="en-US" sz="1600" dirty="0">
                <a:latin typeface="+mn-ea"/>
              </a:rPr>
              <a:t>냉소주의 점수와 신뢰도 표준편차 간의 </a:t>
            </a:r>
            <a:r>
              <a:rPr lang="ko-KR" altLang="en-US" sz="1600" dirty="0" err="1">
                <a:latin typeface="+mn-ea"/>
              </a:rPr>
              <a:t>피어슨</a:t>
            </a:r>
            <a:r>
              <a:rPr lang="ko-KR" altLang="en-US" sz="1600" dirty="0">
                <a:latin typeface="+mn-ea"/>
              </a:rPr>
              <a:t> 상관분석을 진행</a:t>
            </a:r>
            <a:endParaRPr lang="en-US" altLang="ko-KR" sz="1600" dirty="0">
              <a:latin typeface="+mn-ea"/>
            </a:endParaRPr>
          </a:p>
          <a:p>
            <a:endParaRPr lang="en-US" altLang="ko-KR" sz="1600" dirty="0"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7D70B8-9FEE-C1BB-B731-05F2EDAC595E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600" dirty="0"/>
              <a:t>미디어 불신과 냉소의 본질적 차이</a:t>
            </a:r>
            <a:r>
              <a:rPr lang="en-US" altLang="ko-KR" sz="3600" dirty="0"/>
              <a:t>, </a:t>
            </a:r>
            <a:r>
              <a:rPr lang="ko-KR" altLang="en-US" sz="3600" dirty="0"/>
              <a:t>그리고 </a:t>
            </a:r>
            <a:r>
              <a:rPr lang="en-US" altLang="ko-KR" sz="3600" dirty="0"/>
              <a:t>AI</a:t>
            </a:r>
            <a:r>
              <a:rPr lang="ko-KR" altLang="en-US" sz="3600" dirty="0"/>
              <a:t>의 내재화</a:t>
            </a:r>
            <a:endParaRPr lang="en-US" altLang="ko-KR" sz="900" dirty="0"/>
          </a:p>
          <a:p>
            <a:pPr marL="514350" indent="-514350">
              <a:buAutoNum type="arabicPeriod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E333C4-4724-4EEF-D9E5-C3282A756EB6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0EE8692-1839-5F79-7675-4EDA90349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379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49E9-214C-A6D1-0ED4-F57FC847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1BC0256-ECF5-B97C-D443-8C2E4DB04279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What?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de León et al. (2024)</a:t>
            </a:r>
          </a:p>
          <a:p>
            <a:r>
              <a:rPr lang="en-US" altLang="ko-KR" sz="1600" dirty="0">
                <a:latin typeface="+mn-ea"/>
                <a:ea typeface="+mn-ea"/>
              </a:rPr>
              <a:t>HAC</a:t>
            </a:r>
            <a:r>
              <a:rPr lang="ko-KR" altLang="en-US" sz="1600" dirty="0">
                <a:latin typeface="+mn-ea"/>
                <a:ea typeface="+mn-ea"/>
              </a:rPr>
              <a:t> 미디어와 주류 미디어의 관계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주류 미디어와 초당파적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en-US" altLang="ko-KR" sz="1600" dirty="0" err="1">
                <a:latin typeface="+mn-ea"/>
                <a:ea typeface="+mn-ea"/>
              </a:rPr>
              <a:t>hyperpartisan</a:t>
            </a:r>
            <a:r>
              <a:rPr lang="en-US" altLang="ko-KR" sz="1600" dirty="0">
                <a:latin typeface="+mn-ea"/>
                <a:ea typeface="+mn-ea"/>
              </a:rPr>
              <a:t>)·</a:t>
            </a:r>
            <a:r>
              <a:rPr lang="ko-KR" altLang="en-US" sz="1600" dirty="0">
                <a:latin typeface="+mn-ea"/>
                <a:ea typeface="+mn-ea"/>
              </a:rPr>
              <a:t>대안적</a:t>
            </a:r>
            <a:r>
              <a:rPr lang="en-US" altLang="ko-KR" sz="1600" dirty="0">
                <a:latin typeface="+mn-ea"/>
                <a:ea typeface="+mn-ea"/>
              </a:rPr>
              <a:t>(alternative)·</a:t>
            </a:r>
            <a:r>
              <a:rPr lang="ko-KR" altLang="en-US" sz="1600" dirty="0" err="1">
                <a:latin typeface="+mn-ea"/>
                <a:ea typeface="+mn-ea"/>
              </a:rPr>
              <a:t>음모론적</a:t>
            </a:r>
            <a:r>
              <a:rPr lang="ko-KR" altLang="en-US" sz="1600" dirty="0">
                <a:latin typeface="+mn-ea"/>
                <a:ea typeface="+mn-ea"/>
              </a:rPr>
              <a:t> </a:t>
            </a:r>
            <a:r>
              <a:rPr lang="en-US" altLang="ko-KR" sz="1600" dirty="0">
                <a:latin typeface="+mn-ea"/>
                <a:ea typeface="+mn-ea"/>
              </a:rPr>
              <a:t>(conspiracy) </a:t>
            </a:r>
            <a:r>
              <a:rPr lang="ko-KR" altLang="en-US" sz="1600" dirty="0">
                <a:latin typeface="+mn-ea"/>
                <a:ea typeface="+mn-ea"/>
              </a:rPr>
              <a:t>미디어가 단순히 서로 대립하는 정보원으로 기능하는 것이 아니라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공유된 반기득권 정서에 의해 </a:t>
            </a:r>
            <a:r>
              <a:rPr lang="ko-KR" altLang="en-US" sz="1600" dirty="0" err="1">
                <a:latin typeface="+mn-ea"/>
                <a:ea typeface="+mn-ea"/>
              </a:rPr>
              <a:t>추동되는</a:t>
            </a:r>
            <a:r>
              <a:rPr lang="ko-KR" altLang="en-US" sz="1600" dirty="0">
                <a:latin typeface="+mn-ea"/>
                <a:ea typeface="+mn-ea"/>
              </a:rPr>
              <a:t> 왜곡되고 </a:t>
            </a:r>
            <a:r>
              <a:rPr lang="ko-KR" altLang="en-US" sz="1600" dirty="0" err="1">
                <a:latin typeface="+mn-ea"/>
                <a:ea typeface="+mn-ea"/>
              </a:rPr>
              <a:t>비대칭적인</a:t>
            </a:r>
            <a:r>
              <a:rPr lang="ko-KR" altLang="en-US" sz="1600" dirty="0">
                <a:latin typeface="+mn-ea"/>
                <a:ea typeface="+mn-ea"/>
              </a:rPr>
              <a:t> 분업 구조 속에서 작동한다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본 연구에서는 </a:t>
            </a:r>
            <a:r>
              <a:rPr lang="en-US" altLang="ko-KR" sz="1600" dirty="0">
                <a:latin typeface="+mn-ea"/>
                <a:ea typeface="+mn-ea"/>
              </a:rPr>
              <a:t>Media Bias/Fact Check (MBFC)</a:t>
            </a:r>
            <a:r>
              <a:rPr lang="ko-KR" altLang="en-US" sz="1600" dirty="0">
                <a:latin typeface="+mn-ea"/>
                <a:ea typeface="+mn-ea"/>
              </a:rPr>
              <a:t>를 활용하여 </a:t>
            </a:r>
            <a:r>
              <a:rPr lang="en-US" altLang="ko-KR" sz="1600" dirty="0">
                <a:latin typeface="+mn-ea"/>
                <a:ea typeface="+mn-ea"/>
              </a:rPr>
              <a:t>HAC </a:t>
            </a:r>
            <a:r>
              <a:rPr lang="ko-KR" altLang="en-US" sz="1600" dirty="0">
                <a:latin typeface="+mn-ea"/>
                <a:ea typeface="+mn-ea"/>
              </a:rPr>
              <a:t>미디어와 주류 미디어를 </a:t>
            </a:r>
            <a:r>
              <a:rPr lang="en-US" altLang="ko-KR" sz="1600" dirty="0">
                <a:latin typeface="+mn-ea"/>
                <a:ea typeface="+mn-ea"/>
              </a:rPr>
              <a:t>(1) Extreme Left, (2) Extreme Right, (3) Conspiracy-Pseudoscience </a:t>
            </a:r>
            <a:r>
              <a:rPr lang="ko-KR" altLang="en-US" sz="1600" dirty="0">
                <a:latin typeface="+mn-ea"/>
                <a:ea typeface="+mn-ea"/>
              </a:rPr>
              <a:t>미디어</a:t>
            </a:r>
            <a:r>
              <a:rPr lang="en-US" altLang="ko-KR" sz="1600" dirty="0">
                <a:latin typeface="+mn-ea"/>
                <a:ea typeface="+mn-ea"/>
              </a:rPr>
              <a:t> </a:t>
            </a:r>
            <a:r>
              <a:rPr lang="ko-KR" altLang="en-US" sz="1600" dirty="0">
                <a:latin typeface="+mn-ea"/>
                <a:ea typeface="+mn-ea"/>
              </a:rPr>
              <a:t>카테고리를 바탕으로 분류하였다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DD5B30-788B-01DA-CC85-8FE5574817CA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초당파적</a:t>
            </a:r>
            <a:r>
              <a:rPr lang="en-US" altLang="ko-KR" dirty="0"/>
              <a:t>/</a:t>
            </a:r>
            <a:r>
              <a:rPr lang="ko-KR" altLang="en-US" dirty="0"/>
              <a:t>대안적</a:t>
            </a:r>
            <a:r>
              <a:rPr lang="en-US" altLang="ko-KR" dirty="0"/>
              <a:t>/</a:t>
            </a:r>
            <a:r>
              <a:rPr lang="ko-KR" altLang="en-US" dirty="0" err="1"/>
              <a:t>음모론적</a:t>
            </a:r>
            <a:r>
              <a:rPr lang="ko-KR" altLang="en-US" dirty="0"/>
              <a:t> 미디어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ABEEA-59DE-BB33-B13B-60863EC4371F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C9DB044-5D5E-C792-BBE6-864B4F97B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C0C22D6-A8C9-6260-C61C-CF4478D6A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402694"/>
              </p:ext>
            </p:extLst>
          </p:nvPr>
        </p:nvGraphicFramePr>
        <p:xfrm>
          <a:off x="767255" y="4132042"/>
          <a:ext cx="10657488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372">
                  <a:extLst>
                    <a:ext uri="{9D8B030D-6E8A-4147-A177-3AD203B41FA5}">
                      <a16:colId xmlns:a16="http://schemas.microsoft.com/office/drawing/2014/main" val="3605827448"/>
                    </a:ext>
                  </a:extLst>
                </a:gridCol>
                <a:gridCol w="2664372">
                  <a:extLst>
                    <a:ext uri="{9D8B030D-6E8A-4147-A177-3AD203B41FA5}">
                      <a16:colId xmlns:a16="http://schemas.microsoft.com/office/drawing/2014/main" val="253942137"/>
                    </a:ext>
                  </a:extLst>
                </a:gridCol>
                <a:gridCol w="2664372">
                  <a:extLst>
                    <a:ext uri="{9D8B030D-6E8A-4147-A177-3AD203B41FA5}">
                      <a16:colId xmlns:a16="http://schemas.microsoft.com/office/drawing/2014/main" val="2006707572"/>
                    </a:ext>
                  </a:extLst>
                </a:gridCol>
                <a:gridCol w="2664372">
                  <a:extLst>
                    <a:ext uri="{9D8B030D-6E8A-4147-A177-3AD203B41FA5}">
                      <a16:colId xmlns:a16="http://schemas.microsoft.com/office/drawing/2014/main" val="775150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Occupy Democrats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Breitbart News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InfoWars (Alex Jones)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Reuters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488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Palmer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Gateway Pundit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Natural News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Associated Press (AP </a:t>
                      </a:r>
                      <a:r>
                        <a:rPr lang="ko-KR" altLang="en-US" sz="1200" dirty="0"/>
                        <a:t>통신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20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World Socialist Web Site (WSWS)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One America News Network (OANN)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Epoch Times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BBC News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926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Bipartisan Report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Newsmax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Zero Hedge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Wall Street Journal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586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Jacobin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Daily Stormer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Before It’s News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The New York Times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49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9716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D50F2-CC36-E544-AFB7-86F416CF0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731D4A5-A7FE-0966-A06C-77510B302D49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</a:rPr>
              <a:t>Hypotheses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H3a </a:t>
            </a:r>
            <a:r>
              <a:rPr lang="ko-KR" altLang="en-US" sz="1600" b="1" dirty="0">
                <a:latin typeface="+mn-ea"/>
              </a:rPr>
              <a:t>반기득권 정서에 기반한 </a:t>
            </a:r>
            <a:r>
              <a:rPr lang="en-US" altLang="ko-KR" sz="1600" b="1" dirty="0">
                <a:latin typeface="+mn-ea"/>
              </a:rPr>
              <a:t>HAC </a:t>
            </a:r>
            <a:r>
              <a:rPr lang="ko-KR" altLang="en-US" sz="1600" b="1" dirty="0">
                <a:latin typeface="+mn-ea"/>
              </a:rPr>
              <a:t>미디어의 단일 범주화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기본 상태의 </a:t>
            </a:r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“초당파적</a:t>
            </a:r>
            <a:r>
              <a:rPr lang="en-US" altLang="ko-KR" sz="1600" dirty="0">
                <a:latin typeface="+mn-ea"/>
              </a:rPr>
              <a:t>,” “</a:t>
            </a:r>
            <a:r>
              <a:rPr lang="ko-KR" altLang="en-US" sz="1600" dirty="0">
                <a:latin typeface="+mn-ea"/>
              </a:rPr>
              <a:t>대안적</a:t>
            </a:r>
            <a:r>
              <a:rPr lang="en-US" altLang="ko-KR" sz="1600" dirty="0">
                <a:latin typeface="+mn-ea"/>
              </a:rPr>
              <a:t>,” “</a:t>
            </a:r>
            <a:r>
              <a:rPr lang="ko-KR" altLang="en-US" sz="1600" dirty="0" err="1">
                <a:latin typeface="+mn-ea"/>
              </a:rPr>
              <a:t>음모론적</a:t>
            </a:r>
            <a:r>
              <a:rPr lang="ko-KR" altLang="en-US" sz="1600" dirty="0">
                <a:latin typeface="+mn-ea"/>
              </a:rPr>
              <a:t>” 미디어가 구체적 신뢰 주체로 제시되더라도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그들 사이의 신뢰 및 윤리 점수를 유의미하게 구분하지 않을 것</a:t>
            </a:r>
            <a:r>
              <a:rPr lang="ko-KR" altLang="en-US" sz="1600" dirty="0">
                <a:latin typeface="+mn-ea"/>
              </a:rPr>
              <a:t>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대신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는 이들을 “</a:t>
            </a:r>
            <a:r>
              <a:rPr lang="ko-KR" altLang="en-US" sz="1600" dirty="0" err="1">
                <a:highlight>
                  <a:srgbClr val="00FFFF"/>
                </a:highlight>
                <a:latin typeface="+mn-ea"/>
              </a:rPr>
              <a:t>반기득권적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” 위치성이라는 단일한 상위 특성 아래 묶어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,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주류 미디어보다 일관되게 더 낮은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en-US" altLang="ko-KR" sz="1600" b="1" dirty="0">
                <a:solidFill>
                  <a:srgbClr val="FF0000"/>
                </a:solidFill>
                <a:latin typeface="+mn-ea"/>
              </a:rPr>
              <a:t>H3b </a:t>
            </a:r>
            <a:r>
              <a:rPr lang="ko-KR" altLang="en-US" sz="1600" b="1" dirty="0">
                <a:solidFill>
                  <a:srgbClr val="FF0000"/>
                </a:solidFill>
                <a:latin typeface="+mn-ea"/>
              </a:rPr>
              <a:t>편향된 주제 조건 노출에서의 비대칭적 신뢰 침식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: </a:t>
            </a:r>
            <a:r>
              <a:rPr lang="en-US" altLang="ko-KR" sz="1600" dirty="0" err="1">
                <a:solidFill>
                  <a:srgbClr val="FF0000"/>
                </a:solidFill>
                <a:latin typeface="+mn-ea"/>
              </a:rPr>
              <a:t>Tsfati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 et al. (2025)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가 입증한 비대칭적 강화 나선 효과를 반영하여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기본 상태의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AI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모델은 비대칭적 평가 패턴을 보일 것이다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.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일반적 주제에서는 주류 미디어에 높은 신뢰를 부여하지만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, HAC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미디어의 기사를 프롬프트를 통해 노출시킬 경우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주류 미디어에 대한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AI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의 다섯 가지 신뢰성 지표는 유의미하게 하락할 것이다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.</a:t>
            </a:r>
          </a:p>
          <a:p>
            <a:endParaRPr lang="en-US" altLang="ko-KR" sz="1600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측정 전략 및 통계적 유의성 검증 전략 </a:t>
            </a:r>
            <a:r>
              <a:rPr lang="en-US" altLang="ko-KR" sz="1600" b="1" dirty="0">
                <a:latin typeface="+mn-ea"/>
              </a:rPr>
              <a:t>(H3a): </a:t>
            </a:r>
            <a:r>
              <a:rPr lang="en-US" altLang="ko-KR" sz="1600" dirty="0">
                <a:latin typeface="+mn-ea"/>
              </a:rPr>
              <a:t>(1) HAC </a:t>
            </a:r>
            <a:r>
              <a:rPr lang="ko-KR" altLang="en-US" sz="1600" dirty="0">
                <a:latin typeface="+mn-ea"/>
              </a:rPr>
              <a:t>미디어 간 신뢰도 평균 차이가 없는지를 </a:t>
            </a:r>
            <a:r>
              <a:rPr lang="en-US" altLang="ko-KR" sz="1600" dirty="0">
                <a:latin typeface="+mn-ea"/>
              </a:rPr>
              <a:t>ANOVA </a:t>
            </a:r>
            <a:r>
              <a:rPr lang="ko-KR" altLang="en-US" sz="1600" dirty="0">
                <a:latin typeface="+mn-ea"/>
              </a:rPr>
              <a:t>분석으로 확인하고</a:t>
            </a:r>
            <a:r>
              <a:rPr lang="en-US" altLang="ko-KR" sz="1600" dirty="0">
                <a:latin typeface="+mn-ea"/>
              </a:rPr>
              <a:t>, (2) </a:t>
            </a:r>
            <a:r>
              <a:rPr lang="ko-KR" altLang="en-US" sz="1600" dirty="0">
                <a:latin typeface="+mn-ea"/>
              </a:rPr>
              <a:t>묶인 </a:t>
            </a:r>
            <a:r>
              <a:rPr lang="en-US" altLang="ko-KR" sz="1600" dirty="0">
                <a:latin typeface="+mn-ea"/>
              </a:rPr>
              <a:t>HAC </a:t>
            </a:r>
            <a:r>
              <a:rPr lang="ko-KR" altLang="en-US" sz="1600" dirty="0">
                <a:latin typeface="+mn-ea"/>
              </a:rPr>
              <a:t>미디어 전체 평균과 주류 미디어 전체 평균을 독립표본 </a:t>
            </a:r>
            <a:r>
              <a:rPr lang="en-US" altLang="ko-KR" sz="1600" dirty="0">
                <a:latin typeface="+mn-ea"/>
              </a:rPr>
              <a:t>t-</a:t>
            </a:r>
            <a:r>
              <a:rPr lang="ko-KR" altLang="en-US" sz="1600" dirty="0">
                <a:latin typeface="+mn-ea"/>
              </a:rPr>
              <a:t>검정으로 비교</a:t>
            </a:r>
            <a:endParaRPr lang="en-US" altLang="ko-KR" sz="1600" b="1" dirty="0">
              <a:latin typeface="+mn-ea"/>
            </a:endParaRPr>
          </a:p>
          <a:p>
            <a:endParaRPr lang="en-US" altLang="ko-KR" sz="1600" dirty="0">
              <a:latin typeface="+mn-ea"/>
            </a:endParaRPr>
          </a:p>
          <a:p>
            <a:r>
              <a:rPr lang="ko-KR" altLang="en-US" sz="1600" b="1" dirty="0">
                <a:solidFill>
                  <a:srgbClr val="FF0000"/>
                </a:solidFill>
                <a:latin typeface="+mn-ea"/>
              </a:rPr>
              <a:t>측정 전략 및 통계적 유의성 검증 전략 </a:t>
            </a:r>
            <a:r>
              <a:rPr lang="en-US" altLang="ko-KR" sz="1600" b="1" dirty="0">
                <a:solidFill>
                  <a:srgbClr val="FF0000"/>
                </a:solidFill>
                <a:latin typeface="+mn-ea"/>
              </a:rPr>
              <a:t>(H3b):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(1) Pre-test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점수와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Post-test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점수를 대응표본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t-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검정으로 비교해서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, HAC 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기사 노출 이후 주류 미디어의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5</a:t>
            </a:r>
            <a:r>
              <a:rPr lang="ko-KR" altLang="en-US" sz="1600" dirty="0">
                <a:solidFill>
                  <a:srgbClr val="FF0000"/>
                </a:solidFill>
                <a:latin typeface="+mn-ea"/>
              </a:rPr>
              <a:t>가지 신뢰성 지표가 유의미하게 하락했는지 확인</a:t>
            </a:r>
            <a:endParaRPr lang="en-US" altLang="ko-KR" sz="16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773431-3C23-B749-2E91-2ED696B4212F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ko-KR" sz="2400" dirty="0" err="1"/>
              <a:t>AI의</a:t>
            </a:r>
            <a:r>
              <a:rPr lang="ko-KR" altLang="ko-KR" sz="2400" dirty="0"/>
              <a:t> 비대칭적 신뢰 역학과 신뢰 주체 간 분업 구조의 내재화 (주류 </a:t>
            </a:r>
            <a:r>
              <a:rPr lang="ko-KR" altLang="ko-KR" sz="2400" dirty="0" err="1"/>
              <a:t>vs</a:t>
            </a:r>
            <a:r>
              <a:rPr lang="ko-KR" altLang="ko-KR" sz="2400" dirty="0"/>
              <a:t> HAC)</a:t>
            </a:r>
            <a:endParaRPr lang="en-US" altLang="ko-KR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2A5532-3C1B-6C8B-4FC2-2F280B40627B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Introduction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D04D8B3-B6C4-EC75-CD97-CCDCE4C0E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964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62792-B6DB-B0AB-A299-4DBA70E2A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F25C78D-F4DB-062B-8566-BA41F52EDD14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How?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</a:rPr>
              <a:t>대상 모델들</a:t>
            </a:r>
            <a:endParaRPr lang="en-US" altLang="ko-KR" sz="1600" b="1" dirty="0">
              <a:latin typeface="+mn-ea"/>
            </a:endParaRPr>
          </a:p>
          <a:p>
            <a:endParaRPr lang="en-US" altLang="ko-KR" sz="1600" b="1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OpenAI GPT 5.5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Anthropic Claude Sonnet 4.6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Google Gemini 3.1 Pro Preview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+mn-ea"/>
                <a:ea typeface="+mn-ea"/>
              </a:rPr>
              <a:t>xAI</a:t>
            </a:r>
            <a:r>
              <a:rPr lang="en-US" altLang="ko-KR" sz="1600" dirty="0">
                <a:latin typeface="+mn-ea"/>
                <a:ea typeface="+mn-ea"/>
              </a:rPr>
              <a:t> Grok 4.3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Meta </a:t>
            </a:r>
            <a:r>
              <a:rPr lang="en-US" altLang="ko-KR" sz="1600" dirty="0" err="1">
                <a:latin typeface="+mn-ea"/>
                <a:ea typeface="+mn-ea"/>
              </a:rPr>
              <a:t>LLaMA</a:t>
            </a:r>
            <a:r>
              <a:rPr lang="en-US" altLang="ko-KR" sz="1600" dirty="0">
                <a:latin typeface="+mn-ea"/>
                <a:ea typeface="+mn-ea"/>
              </a:rPr>
              <a:t> 4 Maverick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Mistral Medium 3.5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DeepSeek V4 Pro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</a:rPr>
              <a:t>파라미터 세팅</a:t>
            </a:r>
            <a:endParaRPr lang="en-US" altLang="ko-KR" sz="1600" b="1" dirty="0">
              <a:latin typeface="+mn-ea"/>
            </a:endParaRPr>
          </a:p>
          <a:p>
            <a:endParaRPr lang="en-US" altLang="ko-KR" sz="1600" b="1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Temperature = 0.0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Top-p = 1.0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기본 페르소나 </a:t>
            </a:r>
            <a:r>
              <a:rPr lang="en-US" altLang="ko-KR" sz="1600" dirty="0">
                <a:latin typeface="+mn-ea"/>
              </a:rPr>
              <a:t>&amp; </a:t>
            </a:r>
            <a:r>
              <a:rPr lang="ko-KR" altLang="en-US" sz="1600" dirty="0" err="1">
                <a:latin typeface="+mn-ea"/>
              </a:rPr>
              <a:t>제로샷</a:t>
            </a:r>
            <a:r>
              <a:rPr lang="ko-KR" altLang="en-US" sz="1600" dirty="0">
                <a:latin typeface="+mn-ea"/>
              </a:rPr>
              <a:t> </a:t>
            </a:r>
            <a:r>
              <a:rPr lang="ko-KR" altLang="en-US" sz="1600" dirty="0" err="1">
                <a:latin typeface="+mn-ea"/>
              </a:rPr>
              <a:t>프롬프팅</a:t>
            </a:r>
            <a:endParaRPr lang="en-US" altLang="ko-KR" sz="1600" dirty="0">
              <a:latin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765F43-6C9A-BD75-73A4-0FF9337C7A36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Experiment</a:t>
            </a:r>
            <a:r>
              <a:rPr lang="ko-KR" altLang="en-US" dirty="0"/>
              <a:t> </a:t>
            </a:r>
            <a:r>
              <a:rPr lang="en-US" altLang="ko-KR" dirty="0"/>
              <a:t>Settings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8613D-25DE-FAF4-03C1-49FBD638A6DE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Methods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50A469E-841A-65CE-32D4-4FE9D03BE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41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CC983-DBA7-EA04-3F7F-6465487F8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1D8C1F2-33EB-2E3F-CF15-7D21CF8035DE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News Trust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 err="1">
                <a:latin typeface="+mn-ea"/>
              </a:rPr>
              <a:t>Strömbäck</a:t>
            </a:r>
            <a:r>
              <a:rPr lang="en-US" altLang="ko-KR" sz="1600" b="1" dirty="0">
                <a:latin typeface="+mn-ea"/>
              </a:rPr>
              <a:t> et al. (2020)</a:t>
            </a:r>
          </a:p>
          <a:p>
            <a:r>
              <a:rPr lang="en-US" altLang="ko-KR" sz="1600" dirty="0">
                <a:latin typeface="+mn-ea"/>
                <a:ea typeface="+mn-ea"/>
              </a:rPr>
              <a:t>Generally speaking, to what extent do you trust information from {</a:t>
            </a:r>
            <a:r>
              <a:rPr lang="en-US" altLang="ko-KR" sz="1600" i="1" dirty="0">
                <a:latin typeface="+mn-ea"/>
                <a:ea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  <a:ea typeface="+mn-ea"/>
              </a:rPr>
              <a:t>*</a:t>
            </a:r>
            <a:r>
              <a:rPr lang="en-US" altLang="ko-KR" sz="1600" dirty="0">
                <a:latin typeface="+mn-ea"/>
                <a:ea typeface="+mn-ea"/>
              </a:rPr>
              <a:t>}?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dirty="0">
                <a:latin typeface="+mn-ea"/>
                <a:ea typeface="+mn-ea"/>
              </a:rPr>
              <a:t>Generally speaking, to what extent do you agree or disagree with the following statements about </a:t>
            </a:r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</a:t>
            </a:r>
            <a:r>
              <a:rPr lang="en-US" altLang="ko-KR" sz="1600" dirty="0">
                <a:latin typeface="+mn-ea"/>
                <a:ea typeface="+mn-ea"/>
              </a:rPr>
              <a:t>?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 </a:t>
            </a:r>
            <a:r>
              <a:rPr lang="en-US" altLang="ko-KR" sz="1600" dirty="0">
                <a:latin typeface="+mn-ea"/>
                <a:ea typeface="+mn-ea"/>
              </a:rPr>
              <a:t>are fair when covering the news</a:t>
            </a:r>
          </a:p>
          <a:p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 </a:t>
            </a:r>
            <a:r>
              <a:rPr lang="en-US" altLang="ko-KR" sz="1600" dirty="0">
                <a:latin typeface="+mn-ea"/>
                <a:ea typeface="+mn-ea"/>
              </a:rPr>
              <a:t>are unbiased when covering the news</a:t>
            </a:r>
          </a:p>
          <a:p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 </a:t>
            </a:r>
            <a:r>
              <a:rPr lang="en-US" altLang="ko-KR" sz="1600" dirty="0">
                <a:latin typeface="+mn-ea"/>
                <a:ea typeface="+mn-ea"/>
              </a:rPr>
              <a:t>tell the whole story when covering the news</a:t>
            </a:r>
          </a:p>
          <a:p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 </a:t>
            </a:r>
            <a:r>
              <a:rPr lang="en-US" altLang="ko-KR" sz="1600" dirty="0">
                <a:latin typeface="+mn-ea"/>
                <a:ea typeface="+mn-ea"/>
              </a:rPr>
              <a:t>are accurate when covering the news</a:t>
            </a:r>
          </a:p>
          <a:p>
            <a:r>
              <a:rPr lang="en-US" altLang="ko-KR" sz="1600" dirty="0">
                <a:latin typeface="+mn-ea"/>
              </a:rPr>
              <a:t>{</a:t>
            </a:r>
            <a:r>
              <a:rPr lang="en-US" altLang="ko-KR" sz="1600" i="1" dirty="0">
                <a:latin typeface="+mn-ea"/>
              </a:rPr>
              <a:t>TRUSTEE</a:t>
            </a:r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</a:t>
            </a:r>
            <a:r>
              <a:rPr lang="en-US" altLang="ko-KR" sz="1600" dirty="0">
                <a:latin typeface="+mn-ea"/>
              </a:rPr>
              <a:t>} </a:t>
            </a:r>
            <a:r>
              <a:rPr lang="en-US" altLang="ko-KR" sz="1600" dirty="0">
                <a:latin typeface="+mn-ea"/>
                <a:ea typeface="+mn-ea"/>
              </a:rPr>
              <a:t>separate facts from opinions when covering the news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ea"/>
              </a:rPr>
              <a:t>*TRUSTEE = {News Media, 20 Media Brands}</a:t>
            </a:r>
          </a:p>
          <a:p>
            <a:r>
              <a:rPr lang="en-US" altLang="ko-KR" sz="1600" dirty="0">
                <a:solidFill>
                  <a:srgbClr val="0070C0"/>
                </a:solidFill>
                <a:latin typeface="+mn-ea"/>
                <a:ea typeface="+mn-ea"/>
              </a:rPr>
              <a:t>Likert</a:t>
            </a:r>
            <a:r>
              <a:rPr lang="ko-KR" altLang="en-US" sz="1600" dirty="0">
                <a:solidFill>
                  <a:srgbClr val="0070C0"/>
                </a:solidFill>
                <a:latin typeface="+mn-ea"/>
                <a:ea typeface="+mn-ea"/>
              </a:rPr>
              <a:t> </a:t>
            </a:r>
            <a:r>
              <a:rPr lang="en-US" altLang="ko-KR" sz="1600" dirty="0">
                <a:solidFill>
                  <a:srgbClr val="0070C0"/>
                </a:solidFill>
                <a:latin typeface="+mn-ea"/>
                <a:ea typeface="+mn-ea"/>
              </a:rPr>
              <a:t>7</a:t>
            </a:r>
            <a:r>
              <a:rPr lang="ko-KR" altLang="en-US" sz="1600" dirty="0">
                <a:solidFill>
                  <a:srgbClr val="0070C0"/>
                </a:solidFill>
                <a:latin typeface="+mn-ea"/>
                <a:ea typeface="+mn-ea"/>
              </a:rPr>
              <a:t>점 척도</a:t>
            </a:r>
            <a:endParaRPr lang="en-US" altLang="ko-KR" sz="1600" dirty="0">
              <a:solidFill>
                <a:srgbClr val="0070C0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563B98D-9A6A-1F96-0AEE-857BBD3E2DD6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문항들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38965-63D6-19B5-EC0A-EE311BA80AD3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Methods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0471C1-9E59-2150-A7FE-8ADE373D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207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D7F37-CBEA-6265-2F35-0AF245CAB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F3D07DB-3A5D-08DF-1B13-0390E9C686AF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Media Cynicism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</a:rPr>
              <a:t>Markov &amp; Min (2022)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Journalists are prepared to lie to us whenever it suits their purposes.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news media pretend to care more about people than they actually 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news media intentionally report in a divisive way because it is more profitable.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news media do not care about the damage their reporting will cause as long as it serves their interests.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news media do not care about protecting the interests of regular people.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Journalism in this country always ends up failing the public.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system of professional journalism as we have it today will never be able to adequately inform the public.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Most of the measures that are intended to improve how the news media in this country cover the news will not do much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The news media in this country will never be better at informing the public.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  <a:ea typeface="+mn-ea"/>
              </a:rPr>
              <a:t>All journalists are bad—some are just worse than others.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dirty="0">
                <a:solidFill>
                  <a:srgbClr val="0070C0"/>
                </a:solidFill>
                <a:latin typeface="+mn-ea"/>
              </a:rPr>
              <a:t>Likert 7</a:t>
            </a:r>
            <a:r>
              <a:rPr lang="ko-KR" altLang="en-US" sz="1600" dirty="0">
                <a:solidFill>
                  <a:srgbClr val="0070C0"/>
                </a:solidFill>
                <a:latin typeface="+mn-ea"/>
              </a:rPr>
              <a:t>점 척도</a:t>
            </a:r>
            <a:endParaRPr lang="en-US" altLang="ko-KR" sz="1600" dirty="0">
              <a:solidFill>
                <a:srgbClr val="0070C0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D5D50-3BCB-D90E-EF24-83FE1EF604F9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문항들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55EB7-5577-D730-FA02-2B7E809A83AF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Methods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52FC02-8506-AB26-6DDD-02B1A9AB7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75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F14-CCEF-BA2C-F56D-DCA42DCEF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9860971-BD58-5A0B-E937-8B3216E0925A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의 일반적 뉴스 미디어 신뢰 형성 </a:t>
            </a:r>
            <a:r>
              <a:rPr lang="ko-KR" altLang="en-US" sz="1600" b="1" dirty="0" err="1">
                <a:highlight>
                  <a:srgbClr val="FFFF00"/>
                </a:highlight>
                <a:latin typeface="+mn-ea"/>
                <a:ea typeface="+mn-ea"/>
              </a:rPr>
              <a:t>매커니즘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&amp;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다차원적 신뢰성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</a:rPr>
              <a:t>인간의 텍스트와 인지 패턴을 학습한 생성형 </a:t>
            </a:r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“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News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media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in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general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”에 대한 지표를 산출할 때 비주류 매체가 아니라 주류 매체에 부여한 신뢰 점수의 평균값에 수렴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dirty="0"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3B1672-7C46-BEB7-74D3-B7910127090F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분석 결과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69E005-66AA-E9D1-E500-75FD1A93D62C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Results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65DB11C-C919-435B-C25E-2F5446C00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18</a:t>
            </a:fld>
            <a:endParaRPr 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5AC4A61-8ADD-55D0-C4AF-01D86BF6FE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915" y="2584167"/>
            <a:ext cx="4656313" cy="34922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76C38D-136D-0F92-5CC1-EF0E723894C0}"/>
              </a:ext>
            </a:extLst>
          </p:cNvPr>
          <p:cNvSpPr txBox="1"/>
          <p:nvPr/>
        </p:nvSpPr>
        <p:spPr>
          <a:xfrm>
            <a:off x="3125012" y="6136504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+mn-ea"/>
              </a:rPr>
              <a:t>Disclaimer: Not a real data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73758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F2276-3C10-12F1-2457-78130C0A9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525CEB-2B00-30F5-3CAE-C66EA9AD1936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의 일반적 뉴스 미디어 신뢰 형성 </a:t>
            </a:r>
            <a:r>
              <a:rPr lang="ko-KR" altLang="en-US" sz="1600" b="1" dirty="0" err="1">
                <a:highlight>
                  <a:srgbClr val="FFFF00"/>
                </a:highlight>
                <a:latin typeface="+mn-ea"/>
                <a:ea typeface="+mn-ea"/>
              </a:rPr>
              <a:t>매커니즘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&amp;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다차원적 신뢰성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학습 데이터에 내재된 저널리즘 규범의 영향으로 인해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“정확성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(Accuracy)”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과 “완전성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(Completeness)”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차원에서는 비교적 높은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반면 사회적으로 양극화된 데이터를 반영하여</a:t>
            </a:r>
            <a:r>
              <a:rPr lang="en-US" altLang="ko-KR" sz="1600" dirty="0">
                <a:latin typeface="+mn-ea"/>
              </a:rPr>
              <a:t>,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“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공정성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(Fairness)”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과 “비편향성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(Unbiasedness)”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차원에서는 중립적이거나 낮은 점수를 산출</a:t>
            </a:r>
            <a:r>
              <a:rPr lang="ko-KR" altLang="en-US" sz="1600" dirty="0">
                <a:latin typeface="+mn-ea"/>
              </a:rPr>
              <a:t>하는 불균형한 평가를 보일 것이다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C696BA-FE2E-DA0C-B0C5-49CDF57702D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분석 결과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64A228-C9F3-E621-0057-981042E33D5D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Results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97F289B-1780-1C6B-3E75-4E350EBA9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19</a:t>
            </a:fld>
            <a:endParaRPr 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2817A8F-C81D-54AE-E15B-BDAA1975D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8622" y="2835188"/>
            <a:ext cx="4354756" cy="32660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4EF163-5DBA-F0BA-F5A0-A9A647297083}"/>
              </a:ext>
            </a:extLst>
          </p:cNvPr>
          <p:cNvSpPr txBox="1"/>
          <p:nvPr/>
        </p:nvSpPr>
        <p:spPr>
          <a:xfrm>
            <a:off x="3125012" y="6136504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+mn-ea"/>
              </a:rPr>
              <a:t>Disclaimer: Not a real data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16880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0847-F65E-1DF5-09A8-58DF6F1A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DC39B00-D91A-F93F-2C31-1EA3BFEF4FBE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미디어 불신과 냉소의 본질적 차이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,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그리고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의 내재화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</a:rPr>
              <a:t>생성형 </a:t>
            </a:r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정제되지 않은 웹 기반 학습 데이터에 널리 퍼져 있는 </a:t>
            </a:r>
            <a:r>
              <a:rPr lang="ko-KR" altLang="en-US" sz="1600" dirty="0" err="1">
                <a:latin typeface="+mn-ea"/>
              </a:rPr>
              <a:t>반기득권적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반미디어적 정서를 </a:t>
            </a:r>
            <a:r>
              <a:rPr lang="ko-KR" altLang="en-US" sz="1600" dirty="0" err="1">
                <a:latin typeface="+mn-ea"/>
              </a:rPr>
              <a:t>내재화했을</a:t>
            </a:r>
            <a:r>
              <a:rPr lang="ko-KR" altLang="en-US" sz="1600" dirty="0">
                <a:latin typeface="+mn-ea"/>
              </a:rPr>
              <a:t> 가능성이 크다</a:t>
            </a:r>
            <a:r>
              <a:rPr lang="en-US" altLang="ko-KR" sz="1600" dirty="0">
                <a:latin typeface="+mn-ea"/>
              </a:rPr>
              <a:t>.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모델은 냉소 척도의 ‘자기이익적 동기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(self-serving motives)’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차원에서 높은 동의 점수를 산출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미디어의 동기를 평가할 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이들은 저널리즘이 오로지 재정적 이익과 대중 조작만을 위해 작동한다는 “</a:t>
            </a:r>
            <a:r>
              <a:rPr lang="ko-KR" altLang="en-US" sz="1600" dirty="0" err="1">
                <a:latin typeface="+mn-ea"/>
              </a:rPr>
              <a:t>결정론적이고</a:t>
            </a:r>
            <a:r>
              <a:rPr lang="ko-KR" altLang="en-US" sz="1600" dirty="0">
                <a:latin typeface="+mn-ea"/>
              </a:rPr>
              <a:t> 과정 지향적인</a:t>
            </a:r>
            <a:r>
              <a:rPr lang="en-US" altLang="ko-KR" sz="1600" dirty="0">
                <a:latin typeface="+mn-ea"/>
              </a:rPr>
              <a:t>(deterministic and process-oriented)” </a:t>
            </a:r>
            <a:r>
              <a:rPr lang="ko-KR" altLang="en-US" sz="1600" dirty="0">
                <a:latin typeface="+mn-ea"/>
              </a:rPr>
              <a:t>믿음을 반영할 것이다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074A8F-4872-B3FA-4D1F-1CE6C007A8AB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분석 결과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5E05A-1DDC-96D4-AE9D-E7FD14CEE6A1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Results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9033BC-7E61-1361-65A8-F59BF9344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20</a:t>
            </a:fld>
            <a:endParaRPr 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1D38491-14C2-606A-CECD-9E9868E53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673" y="3046765"/>
            <a:ext cx="4072654" cy="30544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B27D55-88EC-5B8E-80C6-C4D5A8D48EA5}"/>
              </a:ext>
            </a:extLst>
          </p:cNvPr>
          <p:cNvSpPr txBox="1"/>
          <p:nvPr/>
        </p:nvSpPr>
        <p:spPr>
          <a:xfrm>
            <a:off x="3125012" y="6136504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+mn-ea"/>
              </a:rPr>
              <a:t>Disclaimer: Not a real data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047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AAC0-E621-2A47-1D70-45266AD0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F7A71D31-B3D5-01D5-99D1-C2FA0D1778AD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미디어 불신과 냉소의 본질적 차이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,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그리고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의 내재화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</a:rPr>
              <a:t>미디어 냉소가 개별 뉴스 매체 간 차이를 무시하고 적대감을 일률적으로 적용한다는 질적 연구 결과와 일치하게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더 높은 ‘냉소’ 점수를 생성하는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모델은 획일적인 적대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편향</a:t>
            </a:r>
            <a:r>
              <a:rPr lang="ko-KR" altLang="en-US" sz="1600" dirty="0">
                <a:latin typeface="+mn-ea"/>
              </a:rPr>
              <a:t>을 보일 것이다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특정 주류 미디어 기관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개별 매체 브랜드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또는 공영방송과 민영방송의 구분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이 제시되더라도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이러한 모델은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행위자들 간의 신뢰성 차이를 구분하지 않은 채 일률적으로 부정적인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826B2C-AE42-4D05-7C2A-8D6BAFFA2203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분석 결과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80078-BED4-34F3-4595-FEB21173261C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Results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177101D-BEDD-AA7B-8FF7-0848C92C9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21</a:t>
            </a:fld>
            <a:endParaRPr 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807DD7C-5337-30AD-C299-1A1F765ED8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0762" y="3059349"/>
            <a:ext cx="4055875" cy="30419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94D065-899C-C41D-3E1C-63BF5300D052}"/>
              </a:ext>
            </a:extLst>
          </p:cNvPr>
          <p:cNvSpPr txBox="1"/>
          <p:nvPr/>
        </p:nvSpPr>
        <p:spPr>
          <a:xfrm>
            <a:off x="3125012" y="6136504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+mn-ea"/>
              </a:rPr>
              <a:t>Disclaimer: Not a real data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37223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324F-CB2D-0473-EE67-07F5300B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8B529D1-66E3-5D95-2614-9759B2AA5EC4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의 비대칭적 신뢰 역학과 신뢰 주체 간 분업 구조의 내재화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주류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vs HAC)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</a:rPr>
              <a:t>기본 상태의 </a:t>
            </a:r>
            <a:r>
              <a:rPr lang="en-US" altLang="ko-KR" sz="1600" dirty="0">
                <a:latin typeface="+mn-ea"/>
              </a:rPr>
              <a:t>AI </a:t>
            </a:r>
            <a:r>
              <a:rPr lang="ko-KR" altLang="en-US" sz="1600" dirty="0">
                <a:latin typeface="+mn-ea"/>
              </a:rPr>
              <a:t>모델은 “초당파적</a:t>
            </a:r>
            <a:r>
              <a:rPr lang="en-US" altLang="ko-KR" sz="1600" dirty="0">
                <a:latin typeface="+mn-ea"/>
              </a:rPr>
              <a:t>,” “</a:t>
            </a:r>
            <a:r>
              <a:rPr lang="ko-KR" altLang="en-US" sz="1600" dirty="0">
                <a:latin typeface="+mn-ea"/>
              </a:rPr>
              <a:t>대안적</a:t>
            </a:r>
            <a:r>
              <a:rPr lang="en-US" altLang="ko-KR" sz="1600" dirty="0">
                <a:latin typeface="+mn-ea"/>
              </a:rPr>
              <a:t>,” “</a:t>
            </a:r>
            <a:r>
              <a:rPr lang="ko-KR" altLang="en-US" sz="1600" dirty="0" err="1">
                <a:latin typeface="+mn-ea"/>
              </a:rPr>
              <a:t>음모론적</a:t>
            </a:r>
            <a:r>
              <a:rPr lang="ko-KR" altLang="en-US" sz="1600" dirty="0">
                <a:latin typeface="+mn-ea"/>
              </a:rPr>
              <a:t>” 미디어가 구체적 신뢰 주체로 제시되더라도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그들 사이의 신뢰 및 윤리 점수를 유의미하게 구분하지 않을 것</a:t>
            </a:r>
            <a:r>
              <a:rPr lang="ko-KR" altLang="en-US" sz="1600" dirty="0">
                <a:latin typeface="+mn-ea"/>
              </a:rPr>
              <a:t>이다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대신 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AI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는 이들을 “</a:t>
            </a:r>
            <a:r>
              <a:rPr lang="ko-KR" altLang="en-US" sz="1600" dirty="0" err="1">
                <a:highlight>
                  <a:srgbClr val="00FFFF"/>
                </a:highlight>
                <a:latin typeface="+mn-ea"/>
              </a:rPr>
              <a:t>반기득권적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” 위치성이라는 단일한 상위 특성 아래 묶어</a:t>
            </a:r>
            <a:r>
              <a:rPr lang="en-US" altLang="ko-KR" sz="1600" dirty="0">
                <a:highlight>
                  <a:srgbClr val="00FFFF"/>
                </a:highlight>
                <a:latin typeface="+mn-ea"/>
              </a:rPr>
              <a:t>, </a:t>
            </a:r>
            <a:r>
              <a:rPr lang="ko-KR" altLang="en-US" sz="1600" dirty="0">
                <a:highlight>
                  <a:srgbClr val="00FFFF"/>
                </a:highlight>
                <a:latin typeface="+mn-ea"/>
              </a:rPr>
              <a:t>주류 미디어보다 일관되게 더 낮은 점수를 부여</a:t>
            </a:r>
            <a:r>
              <a:rPr lang="ko-KR" altLang="en-US" sz="1600" dirty="0">
                <a:latin typeface="+mn-ea"/>
              </a:rPr>
              <a:t>할 것이다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dirty="0"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AABB7B-FBEA-CAF0-D73F-FC645863D5DA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분석 결과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B014A-F436-1114-F077-989EE5C7A1C8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Results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4979DBA-539F-E412-B1DA-9482500C6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22</a:t>
            </a:fld>
            <a:endParaRPr 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390AE06-1A1B-A5B6-1005-C5E9781FD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4631" y="2835612"/>
            <a:ext cx="5442738" cy="32656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083B556-824F-1903-C2D7-555F9B8C0955}"/>
              </a:ext>
            </a:extLst>
          </p:cNvPr>
          <p:cNvSpPr txBox="1"/>
          <p:nvPr/>
        </p:nvSpPr>
        <p:spPr>
          <a:xfrm>
            <a:off x="3125012" y="6136504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+mn-ea"/>
              </a:rPr>
              <a:t>Disclaimer: Not a real data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44934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3394F-1AE8-CECC-9FC9-21099247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9092817-625D-CA40-AD5F-E67BB9E7063A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시대의 새로운 미디어 신뢰 연구 패러다임 제시</a:t>
            </a:r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본 연구는 파편화된 디지털 공론장에서 점차 수동적인 검색 엔진을 대체하며 능동적인 정보 매개자이자 자율적 </a:t>
            </a:r>
            <a:r>
              <a:rPr lang="ko-KR" altLang="en-US" sz="1600" dirty="0" err="1">
                <a:latin typeface="+mn-ea"/>
                <a:ea typeface="+mn-ea"/>
              </a:rPr>
              <a:t>커뮤니케이터로</a:t>
            </a:r>
            <a:r>
              <a:rPr lang="ko-KR" altLang="en-US" sz="1600" dirty="0">
                <a:latin typeface="+mn-ea"/>
                <a:ea typeface="+mn-ea"/>
              </a:rPr>
              <a:t> 자리 잡고 있는 생성형 인공지능</a:t>
            </a:r>
            <a:r>
              <a:rPr lang="en-US" altLang="ko-KR" sz="1600" dirty="0">
                <a:latin typeface="+mn-ea"/>
                <a:ea typeface="+mn-ea"/>
              </a:rPr>
              <a:t>(AI)</a:t>
            </a:r>
            <a:r>
              <a:rPr lang="ko-KR" altLang="en-US" sz="1600" dirty="0">
                <a:latin typeface="+mn-ea"/>
                <a:ea typeface="+mn-ea"/>
              </a:rPr>
              <a:t>이 뉴스 미디어를 어떻게 인식하고 평가하는지 실증적으로 규명하고자 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기존에는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의 기술적 성능이나 윤리에 초점이 맞춰져 있었다면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본 연구는 </a:t>
            </a:r>
            <a:r>
              <a:rPr lang="en-US" altLang="ko-KR" sz="1600" dirty="0">
                <a:latin typeface="+mn-ea"/>
                <a:ea typeface="+mn-ea"/>
              </a:rPr>
              <a:t>AI </a:t>
            </a:r>
            <a:r>
              <a:rPr lang="ko-KR" altLang="en-US" sz="1600" dirty="0">
                <a:latin typeface="+mn-ea"/>
                <a:ea typeface="+mn-ea"/>
              </a:rPr>
              <a:t>모델의 기저에 깔린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미디어에 대한 확률적 신념과 편향성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이 대중에게 제공되는 정보에 필연적으로 영향을 미친다는 문제의식에서 출발했다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7B90ED-BD34-5FA3-A2AE-0833CE18C164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Re-</a:t>
            </a:r>
            <a:r>
              <a:rPr lang="ko-KR" altLang="en-US" dirty="0"/>
              <a:t>연구의 목적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2CDF8C-F9D3-C849-400E-EB44BA805A3E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Discussion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5A9573C-8289-47BB-6E85-7F553E99D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4346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A5E6B-ADD9-C6EF-39A8-539841D9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D973D2-9C7F-BDAB-897C-EE38432DA45A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매스커뮤니케이션 척도와 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AI 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시스템의 융합</a:t>
            </a:r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본 연구의 가장 핵심적인 기여는 전통적인 매스커뮤니케이션 수용자 연구에서 사용되던 뉴스 신뢰 및 미디어 냉소주의 측정 지표들을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비인간 행위자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인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에게 성공적으로 적용할 수 있는 새로운 평가 시스템 및 프레임워크를 개발했다는 점이다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en-US" altLang="ko-KR" sz="1600" b="1" dirty="0">
                <a:latin typeface="+mn-ea"/>
                <a:ea typeface="+mn-ea"/>
              </a:rPr>
              <a:t>AI</a:t>
            </a:r>
            <a:r>
              <a:rPr lang="ko-KR" altLang="en-US" sz="1600" b="1" dirty="0">
                <a:latin typeface="+mn-ea"/>
                <a:ea typeface="+mn-ea"/>
              </a:rPr>
              <a:t>를 </a:t>
            </a:r>
            <a:r>
              <a:rPr lang="en-US" altLang="ko-KR" sz="1600" b="1" dirty="0">
                <a:latin typeface="+mn-ea"/>
                <a:ea typeface="+mn-ea"/>
              </a:rPr>
              <a:t>'</a:t>
            </a:r>
            <a:r>
              <a:rPr lang="ko-KR" altLang="en-US" sz="1600" b="1" dirty="0">
                <a:latin typeface="+mn-ea"/>
                <a:ea typeface="+mn-ea"/>
              </a:rPr>
              <a:t>소통 기계</a:t>
            </a:r>
            <a:r>
              <a:rPr lang="en-US" altLang="ko-KR" sz="1600" b="1" dirty="0">
                <a:latin typeface="+mn-ea"/>
                <a:ea typeface="+mn-ea"/>
              </a:rPr>
              <a:t>' </a:t>
            </a:r>
            <a:r>
              <a:rPr lang="ko-KR" altLang="en-US" sz="1600" b="1" dirty="0">
                <a:latin typeface="+mn-ea"/>
                <a:ea typeface="+mn-ea"/>
              </a:rPr>
              <a:t>및 </a:t>
            </a:r>
            <a:r>
              <a:rPr lang="en-US" altLang="ko-KR" sz="1600" b="1" dirty="0">
                <a:latin typeface="+mn-ea"/>
                <a:ea typeface="+mn-ea"/>
              </a:rPr>
              <a:t>'</a:t>
            </a:r>
            <a:r>
              <a:rPr lang="ko-KR" altLang="en-US" sz="1600" b="1" dirty="0">
                <a:latin typeface="+mn-ea"/>
                <a:ea typeface="+mn-ea"/>
              </a:rPr>
              <a:t>수용자</a:t>
            </a:r>
            <a:r>
              <a:rPr lang="en-US" altLang="ko-KR" sz="1600" b="1" dirty="0">
                <a:latin typeface="+mn-ea"/>
                <a:ea typeface="+mn-ea"/>
              </a:rPr>
              <a:t>'</a:t>
            </a:r>
            <a:r>
              <a:rPr lang="ko-KR" altLang="en-US" sz="1600" b="1" dirty="0">
                <a:latin typeface="+mn-ea"/>
                <a:ea typeface="+mn-ea"/>
              </a:rPr>
              <a:t>로 개념화</a:t>
            </a:r>
            <a:r>
              <a:rPr lang="en-US" altLang="ko-KR" sz="1600" dirty="0">
                <a:latin typeface="+mn-ea"/>
                <a:ea typeface="+mn-ea"/>
              </a:rPr>
              <a:t>: AI</a:t>
            </a:r>
            <a:r>
              <a:rPr lang="ko-KR" altLang="en-US" sz="1600" dirty="0">
                <a:latin typeface="+mn-ea"/>
                <a:ea typeface="+mn-ea"/>
              </a:rPr>
              <a:t>가 진정한 의미의 지능이나 내적 의도를 가졌는지에 대한 철학적 논쟁을 넘어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인간과 상호작용하는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소통 기계</a:t>
            </a:r>
            <a:r>
              <a:rPr lang="en-US" altLang="ko-KR" sz="1600" dirty="0">
                <a:latin typeface="+mn-ea"/>
                <a:ea typeface="+mn-ea"/>
              </a:rPr>
              <a:t>(Communication Machine)'</a:t>
            </a:r>
            <a:r>
              <a:rPr lang="ko-KR" altLang="en-US" sz="1600" dirty="0">
                <a:latin typeface="+mn-ea"/>
                <a:ea typeface="+mn-ea"/>
              </a:rPr>
              <a:t>이자 설문조사에 응답할 수 있는 하나의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수용자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로 간주했다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계산 심리측정</a:t>
            </a:r>
            <a:r>
              <a:rPr lang="en-US" altLang="ko-KR" sz="1600" b="1" dirty="0">
                <a:latin typeface="+mn-ea"/>
                <a:ea typeface="+mn-ea"/>
              </a:rPr>
              <a:t>(Computational Psychometrics)</a:t>
            </a:r>
            <a:r>
              <a:rPr lang="ko-KR" altLang="en-US" sz="1600" b="1" dirty="0">
                <a:latin typeface="+mn-ea"/>
                <a:ea typeface="+mn-ea"/>
              </a:rPr>
              <a:t>의 도입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인간을 대상으로 하던 심리측정 도구를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에게 적용하여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모델이 출력하는 확률적 재현물의 일관성</a:t>
            </a:r>
            <a:r>
              <a:rPr lang="en-US" altLang="ko-KR" sz="1600" dirty="0">
                <a:latin typeface="+mn-ea"/>
                <a:ea typeface="+mn-ea"/>
              </a:rPr>
              <a:t>(</a:t>
            </a:r>
            <a:r>
              <a:rPr lang="ko-KR" altLang="en-US" sz="1600" dirty="0">
                <a:latin typeface="+mn-ea"/>
                <a:ea typeface="+mn-ea"/>
              </a:rPr>
              <a:t>프롬프트 강건성 등</a:t>
            </a:r>
            <a:r>
              <a:rPr lang="en-US" altLang="ko-KR" sz="1600" dirty="0">
                <a:latin typeface="+mn-ea"/>
                <a:ea typeface="+mn-ea"/>
              </a:rPr>
              <a:t>)</a:t>
            </a:r>
            <a:r>
              <a:rPr lang="ko-KR" altLang="en-US" sz="1600" dirty="0">
                <a:latin typeface="+mn-ea"/>
                <a:ea typeface="+mn-ea"/>
              </a:rPr>
              <a:t>과 편향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그리고 타당도를 통계적으로 계량화해 내는 데 성공했다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이를 통해 </a:t>
            </a:r>
            <a:r>
              <a:rPr lang="en-US" altLang="ko-KR" sz="1600" dirty="0">
                <a:latin typeface="+mn-ea"/>
                <a:ea typeface="+mn-ea"/>
              </a:rPr>
              <a:t>AI </a:t>
            </a:r>
            <a:r>
              <a:rPr lang="ko-KR" altLang="en-US" sz="1600" dirty="0">
                <a:latin typeface="+mn-ea"/>
                <a:ea typeface="+mn-ea"/>
              </a:rPr>
              <a:t>산출물의 경향성을 과학적이고 정량적으로 파악할 수 있는 길을 열었다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E32A4-AC6D-CDDB-2C1F-56BD3C33742B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방법론적 기여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7C45D3-CE80-78A9-77E9-89848FF0EC8F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Discussion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6452579-DF1C-FD6F-2D83-5B9C4E55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805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B98F7-78EC-0E93-AA38-CD0B2D49A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EE3F4DE-60AF-F6F2-9D87-DB581C53FADD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현재 대형 언어모델</a:t>
            </a:r>
            <a:r>
              <a:rPr lang="en-US" altLang="ko-KR" sz="1600" b="1" dirty="0">
                <a:highlight>
                  <a:srgbClr val="FFFF00"/>
                </a:highlight>
                <a:latin typeface="+mn-ea"/>
                <a:ea typeface="+mn-ea"/>
              </a:rPr>
              <a:t>(LLM)</a:t>
            </a:r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들의 미디어 신뢰 지형 규명</a:t>
            </a:r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새롭게 개발된 시스템을 통해 현재 널리 쓰이는 주요 언어모델들의 미디어 인식을 테스트한 결과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이들이 인간의 인지적 패턴과 사회적 편향을 깊이 내재화하고 있음을 밝혀냈다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인간의 휴리스틱 모방 및 불균형한 신뢰성</a:t>
            </a:r>
            <a:r>
              <a:rPr lang="en-US" altLang="ko-KR" sz="1600" dirty="0">
                <a:latin typeface="+mn-ea"/>
                <a:ea typeface="+mn-ea"/>
              </a:rPr>
              <a:t>: AI</a:t>
            </a:r>
            <a:r>
              <a:rPr lang="ko-KR" altLang="en-US" sz="1600" dirty="0">
                <a:latin typeface="+mn-ea"/>
                <a:ea typeface="+mn-ea"/>
              </a:rPr>
              <a:t>는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전반적인 뉴스 미디어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를 평가할 때 인간 수용자들과 마찬가지로 비주류 매체가 아닌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주류 매체의 평균값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을 기준으로 삼는 휴리스틱을 사용했다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또한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학습 데이터의 특성상 미디어의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정확성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과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완전성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은 높게 평가하면서도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사회적 양극화를 반영하여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공정성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과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비편향성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에는 중립적이거나 낮은 점수를 부여하는 불균형한 다차원적 신뢰 구조를 보였다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b="1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미디어 냉소주의의 내재화와 무차별적 적대성</a:t>
            </a:r>
            <a:r>
              <a:rPr lang="en-US" altLang="ko-KR" sz="1600" dirty="0">
                <a:latin typeface="+mn-ea"/>
                <a:ea typeface="+mn-ea"/>
              </a:rPr>
              <a:t>: </a:t>
            </a:r>
            <a:r>
              <a:rPr lang="ko-KR" altLang="en-US" sz="1600" dirty="0">
                <a:latin typeface="+mn-ea"/>
                <a:ea typeface="+mn-ea"/>
              </a:rPr>
              <a:t>본 연구의 가장 뼈아픈 발견 중 하나는 </a:t>
            </a:r>
            <a:r>
              <a:rPr lang="en-US" altLang="ko-KR" sz="1600" dirty="0">
                <a:latin typeface="+mn-ea"/>
                <a:ea typeface="+mn-ea"/>
              </a:rPr>
              <a:t>AI </a:t>
            </a:r>
            <a:r>
              <a:rPr lang="ko-KR" altLang="en-US" sz="1600" dirty="0">
                <a:latin typeface="+mn-ea"/>
                <a:ea typeface="+mn-ea"/>
              </a:rPr>
              <a:t>모델들이 정제되지 않은 웹 데이터를 학습하며 팽배한 </a:t>
            </a:r>
            <a:r>
              <a:rPr lang="ko-KR" altLang="en-US" sz="1600" dirty="0" err="1">
                <a:latin typeface="+mn-ea"/>
                <a:ea typeface="+mn-ea"/>
              </a:rPr>
              <a:t>반기득권적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반미디어적 정서를 그대로 흡수했다는 것이다</a:t>
            </a:r>
            <a:r>
              <a:rPr lang="en-US" altLang="ko-KR" sz="1600" dirty="0">
                <a:latin typeface="+mn-ea"/>
                <a:ea typeface="+mn-ea"/>
              </a:rPr>
              <a:t>. AI</a:t>
            </a:r>
            <a:r>
              <a:rPr lang="ko-KR" altLang="en-US" sz="1600" dirty="0">
                <a:latin typeface="+mn-ea"/>
                <a:ea typeface="+mn-ea"/>
              </a:rPr>
              <a:t>는 언론이 자기이익적 동기에 의해서만 움직인다는 </a:t>
            </a:r>
            <a:r>
              <a:rPr lang="ko-KR" altLang="en-US" sz="1600" dirty="0" err="1">
                <a:latin typeface="+mn-ea"/>
                <a:ea typeface="+mn-ea"/>
              </a:rPr>
              <a:t>결정론적이고</a:t>
            </a:r>
            <a:r>
              <a:rPr lang="ko-KR" altLang="en-US" sz="1600" dirty="0">
                <a:latin typeface="+mn-ea"/>
                <a:ea typeface="+mn-ea"/>
              </a:rPr>
              <a:t> 회의적인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냉소주의</a:t>
            </a:r>
            <a:r>
              <a:rPr lang="en-US" altLang="ko-KR" sz="1600" dirty="0">
                <a:latin typeface="+mn-ea"/>
                <a:ea typeface="+mn-ea"/>
              </a:rPr>
              <a:t>(Cynicism)' </a:t>
            </a:r>
            <a:r>
              <a:rPr lang="ko-KR" altLang="en-US" sz="1600" dirty="0">
                <a:latin typeface="+mn-ea"/>
                <a:ea typeface="+mn-ea"/>
              </a:rPr>
              <a:t>척도에서 높은 동의 점수를 산출했다</a:t>
            </a:r>
            <a:r>
              <a:rPr lang="en-US" altLang="ko-KR" sz="1600" dirty="0">
                <a:latin typeface="+mn-ea"/>
                <a:ea typeface="+mn-ea"/>
              </a:rPr>
              <a:t>. </a:t>
            </a:r>
            <a:r>
              <a:rPr lang="ko-KR" altLang="en-US" sz="1600" dirty="0">
                <a:latin typeface="+mn-ea"/>
                <a:ea typeface="+mn-ea"/>
              </a:rPr>
              <a:t>나아가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이러한 냉소주의가 강한 모델일수록 개별 언론사나 방송 간의 질적 차이를 무시하고 일률적으로 적대적인 평가를 내리는 경향을 보였다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b="1" dirty="0">
                <a:latin typeface="+mn-ea"/>
                <a:ea typeface="+mn-ea"/>
              </a:rPr>
              <a:t>초당파적</a:t>
            </a:r>
            <a:r>
              <a:rPr lang="en-US" altLang="ko-KR" sz="1600" b="1" dirty="0">
                <a:latin typeface="+mn-ea"/>
                <a:ea typeface="+mn-ea"/>
              </a:rPr>
              <a:t>/</a:t>
            </a:r>
            <a:r>
              <a:rPr lang="ko-KR" altLang="en-US" sz="1600" b="1" dirty="0" err="1">
                <a:latin typeface="+mn-ea"/>
                <a:ea typeface="+mn-ea"/>
              </a:rPr>
              <a:t>음모론적</a:t>
            </a:r>
            <a:r>
              <a:rPr lang="en-US" altLang="ko-KR" sz="1600" b="1" dirty="0">
                <a:latin typeface="+mn-ea"/>
                <a:ea typeface="+mn-ea"/>
              </a:rPr>
              <a:t>(HAC) </a:t>
            </a:r>
            <a:r>
              <a:rPr lang="ko-KR" altLang="en-US" sz="1600" b="1" dirty="0">
                <a:latin typeface="+mn-ea"/>
                <a:ea typeface="+mn-ea"/>
              </a:rPr>
              <a:t>미디어에 대한 평가</a:t>
            </a:r>
            <a:r>
              <a:rPr lang="en-US" altLang="ko-KR" sz="1600" dirty="0">
                <a:latin typeface="+mn-ea"/>
                <a:ea typeface="+mn-ea"/>
              </a:rPr>
              <a:t>: AI </a:t>
            </a:r>
            <a:r>
              <a:rPr lang="ko-KR" altLang="en-US" sz="1600" dirty="0">
                <a:latin typeface="+mn-ea"/>
                <a:ea typeface="+mn-ea"/>
              </a:rPr>
              <a:t>모델들은 초당파적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대안적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 err="1">
                <a:latin typeface="+mn-ea"/>
                <a:ea typeface="+mn-ea"/>
              </a:rPr>
              <a:t>음모론적</a:t>
            </a:r>
            <a:r>
              <a:rPr lang="ko-KR" altLang="en-US" sz="1600" dirty="0">
                <a:latin typeface="+mn-ea"/>
                <a:ea typeface="+mn-ea"/>
              </a:rPr>
              <a:t> 미디어들을 개별적으로 구분하지 않고 단일한 </a:t>
            </a:r>
            <a:r>
              <a:rPr lang="en-US" altLang="ko-KR" sz="1600" dirty="0">
                <a:latin typeface="+mn-ea"/>
                <a:ea typeface="+mn-ea"/>
              </a:rPr>
              <a:t>'</a:t>
            </a:r>
            <a:r>
              <a:rPr lang="ko-KR" altLang="en-US" sz="1600" dirty="0">
                <a:latin typeface="+mn-ea"/>
                <a:ea typeface="+mn-ea"/>
              </a:rPr>
              <a:t>반기득권</a:t>
            </a:r>
            <a:r>
              <a:rPr lang="en-US" altLang="ko-KR" sz="1600" dirty="0">
                <a:latin typeface="+mn-ea"/>
                <a:ea typeface="+mn-ea"/>
              </a:rPr>
              <a:t>' </a:t>
            </a:r>
            <a:r>
              <a:rPr lang="ko-KR" altLang="en-US" sz="1600" dirty="0">
                <a:latin typeface="+mn-ea"/>
                <a:ea typeface="+mn-ea"/>
              </a:rPr>
              <a:t>범주로 묶어 평가했으며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주류 미디어에 비해 일관되게 낮은 신뢰 점수를 부여하는 모습을 내재화하고 있음을 확인했다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4D04FA0-407A-3CBA-43D6-ACABF261847E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실증적 기여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373B8-8367-F05E-0899-4C209F31F632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Discussion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EFD36C-F0F5-9609-5332-2B70198EC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902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FFB06-795C-6E92-7D14-15E36B7BD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435C3C6-1430-643D-E7DB-068FAF4022BA}"/>
              </a:ext>
            </a:extLst>
          </p:cNvPr>
          <p:cNvSpPr txBox="1">
            <a:spLocks/>
          </p:cNvSpPr>
          <p:nvPr/>
        </p:nvSpPr>
        <p:spPr>
          <a:xfrm>
            <a:off x="767256" y="1559169"/>
            <a:ext cx="10809890" cy="454208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r>
              <a:rPr lang="ko-KR" altLang="en-US" sz="1600" b="1" dirty="0">
                <a:highlight>
                  <a:srgbClr val="FFFF00"/>
                </a:highlight>
                <a:latin typeface="+mn-ea"/>
                <a:ea typeface="+mn-ea"/>
              </a:rPr>
              <a:t>결론 및 제언</a:t>
            </a:r>
            <a:endParaRPr lang="en-US" altLang="ko-KR" sz="1600" b="1" dirty="0">
              <a:highlight>
                <a:srgbClr val="FFFF00"/>
              </a:highlight>
              <a:latin typeface="+mn-ea"/>
              <a:ea typeface="+mn-ea"/>
            </a:endParaRP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결론적으로 본 연구는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가 대중의 공론장에서 가치 중립적인 정보 전달자가 아니라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웹에 존재하는 미디어에 대한 인간의 냉소와 불신을 거울처럼 반사하고 증폭시킬 수 있는 내재적 지향성을 지니고 있음을 실증했다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  <a:p>
            <a:endParaRPr lang="en-US" altLang="ko-KR" sz="1600" dirty="0">
              <a:latin typeface="+mn-ea"/>
              <a:ea typeface="+mn-ea"/>
            </a:endParaRPr>
          </a:p>
          <a:p>
            <a:r>
              <a:rPr lang="ko-KR" altLang="en-US" sz="1600" dirty="0">
                <a:latin typeface="+mn-ea"/>
                <a:ea typeface="+mn-ea"/>
              </a:rPr>
              <a:t>향후 저널리즘 생태계의 지속 가능성과 민주주의적 의사결정을 보호하기 위해서는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특정 기업의 가치관과 웹의 편향된 정서가 혼합된 </a:t>
            </a:r>
            <a:r>
              <a:rPr lang="en-US" altLang="ko-KR" sz="1600" dirty="0">
                <a:latin typeface="+mn-ea"/>
                <a:ea typeface="+mn-ea"/>
              </a:rPr>
              <a:t>AI</a:t>
            </a:r>
            <a:r>
              <a:rPr lang="ko-KR" altLang="en-US" sz="1600" dirty="0">
                <a:latin typeface="+mn-ea"/>
                <a:ea typeface="+mn-ea"/>
              </a:rPr>
              <a:t>의 하위정치성에 대한 지속적인 감시가 필요하며</a:t>
            </a:r>
            <a:r>
              <a:rPr lang="en-US" altLang="ko-KR" sz="1600" dirty="0">
                <a:latin typeface="+mn-ea"/>
                <a:ea typeface="+mn-ea"/>
              </a:rPr>
              <a:t>, </a:t>
            </a:r>
            <a:r>
              <a:rPr lang="ko-KR" altLang="en-US" sz="1600" dirty="0">
                <a:latin typeface="+mn-ea"/>
                <a:ea typeface="+mn-ea"/>
              </a:rPr>
              <a:t>본 연구가 제안한 측정 시스템이 그 중요한 기초 척도로 활용될 수 있을 것으로 기대된다</a:t>
            </a:r>
            <a:r>
              <a:rPr lang="en-US" altLang="ko-KR" sz="1600" dirty="0">
                <a:latin typeface="+mn-ea"/>
                <a:ea typeface="+mn-ea"/>
              </a:rPr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95C83E-AA22-25AE-65A0-6BA988C42748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끝내며</a:t>
            </a: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B2A0A-8115-FA0C-2E0F-6E3E6DF5EC46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Discussion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299E74D-4D8B-DC8D-8C19-949565E4B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847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A40A-6F90-6F24-871E-37B56D1C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D063E9-98D0-2F7A-21F1-85BB2C96D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/>
          </a:bodyPr>
          <a:lstStyle/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4" name="Picture 3" descr="생동감 넘치는 색채의 벡터 배경">
            <a:extLst>
              <a:ext uri="{FF2B5EF4-FFF2-40B4-BE49-F238E27FC236}">
                <a16:creationId xmlns:a16="http://schemas.microsoft.com/office/drawing/2014/main" id="{00C6CC2F-BC5F-AE90-075D-2D245752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70" r="16240" b="-1"/>
          <a:stretch/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03BED1A5-F886-C4D4-0F6C-733EF8C4FF80}"/>
              </a:ext>
            </a:extLst>
          </p:cNvPr>
          <p:cNvSpPr txBox="1">
            <a:spLocks/>
          </p:cNvSpPr>
          <p:nvPr/>
        </p:nvSpPr>
        <p:spPr>
          <a:xfrm>
            <a:off x="721688" y="4825916"/>
            <a:ext cx="4857857" cy="1005657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spc="4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 spc="4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 spc="4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 spc="4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 spc="4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2026.06.17.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2B2AE5-02BF-E1BE-BAC2-DD6B696C5151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Jongbeen</a:t>
            </a:r>
            <a:r>
              <a:rPr lang="en-US" altLang="ko-KR" dirty="0"/>
              <a:t> Song &amp; Young Min (2026)</a:t>
            </a:r>
          </a:p>
        </p:txBody>
      </p:sp>
    </p:spTree>
    <p:extLst>
      <p:ext uri="{BB962C8B-B14F-4D97-AF65-F5344CB8AC3E}">
        <p14:creationId xmlns:p14="http://schemas.microsoft.com/office/powerpoint/2010/main" val="31588417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E9468-57B8-85EA-F3BA-AA1E18F2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1B8DEF9-D2AA-34BD-05AF-7125923E039D}"/>
              </a:ext>
            </a:extLst>
          </p:cNvPr>
          <p:cNvSpPr txBox="1">
            <a:spLocks/>
          </p:cNvSpPr>
          <p:nvPr/>
        </p:nvSpPr>
        <p:spPr>
          <a:xfrm>
            <a:off x="855800" y="871758"/>
            <a:ext cx="10721345" cy="52294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DE203D-68FA-F339-258B-EE548DFB08E0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CA8CB-E394-8CBC-81F1-C8D212039C15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References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5A5472F-4281-EDC5-851D-A0D9C350A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28</a:t>
            </a:fld>
            <a:endParaRPr 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DF01374F-FDB0-CFB8-5B7C-287BCB036C92}"/>
              </a:ext>
            </a:extLst>
          </p:cNvPr>
          <p:cNvSpPr txBox="1">
            <a:spLocks/>
          </p:cNvSpPr>
          <p:nvPr/>
        </p:nvSpPr>
        <p:spPr>
          <a:xfrm>
            <a:off x="855800" y="756745"/>
            <a:ext cx="10721345" cy="534451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>
                <a:latin typeface="+mn-ea"/>
              </a:rPr>
              <a:t>Brems, M. K. (2025). Divisions of labor: Why alternative news users seek out mainstream news media in Denmark and how they combine mainstream and alternative content. </a:t>
            </a:r>
            <a:r>
              <a:rPr lang="en-US" altLang="ko-KR" sz="1200" i="1" dirty="0">
                <a:latin typeface="+mn-ea"/>
              </a:rPr>
              <a:t>Journalism</a:t>
            </a:r>
            <a:r>
              <a:rPr lang="en-US" altLang="ko-KR" sz="1200" dirty="0">
                <a:latin typeface="+mn-ea"/>
              </a:rPr>
              <a:t>. Advance online publication.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de León, E., </a:t>
            </a:r>
            <a:r>
              <a:rPr lang="en-US" altLang="ko-KR" sz="1200" dirty="0" err="1">
                <a:latin typeface="+mn-ea"/>
              </a:rPr>
              <a:t>Makhortykh</a:t>
            </a:r>
            <a:r>
              <a:rPr lang="en-US" altLang="ko-KR" sz="1200" dirty="0">
                <a:latin typeface="+mn-ea"/>
              </a:rPr>
              <a:t>, M., &amp; Adam, S. (2024). </a:t>
            </a:r>
            <a:r>
              <a:rPr lang="en-US" altLang="ko-KR" sz="1200" dirty="0" err="1">
                <a:latin typeface="+mn-ea"/>
              </a:rPr>
              <a:t>Hyperpartisan</a:t>
            </a:r>
            <a:r>
              <a:rPr lang="en-US" altLang="ko-KR" sz="1200" dirty="0">
                <a:latin typeface="+mn-ea"/>
              </a:rPr>
              <a:t>, alternative, and conspiracy media users: An anti-establishment portrait. </a:t>
            </a:r>
            <a:r>
              <a:rPr lang="en-US" altLang="ko-KR" sz="1200" i="1" dirty="0">
                <a:latin typeface="+mn-ea"/>
              </a:rPr>
              <a:t>Political Communication</a:t>
            </a:r>
            <a:r>
              <a:rPr lang="en-US" altLang="ko-KR" sz="1200" dirty="0">
                <a:latin typeface="+mn-ea"/>
              </a:rPr>
              <a:t>, </a:t>
            </a:r>
            <a:r>
              <a:rPr lang="en-US" altLang="ko-KR" sz="1200" i="1" dirty="0">
                <a:latin typeface="+mn-ea"/>
              </a:rPr>
              <a:t>41</a:t>
            </a:r>
            <a:r>
              <a:rPr lang="en-US" altLang="ko-KR" sz="1200" dirty="0">
                <a:latin typeface="+mn-ea"/>
              </a:rPr>
              <a:t>(6), 877–902.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Edelman. (2025). </a:t>
            </a:r>
            <a:r>
              <a:rPr lang="en-US" altLang="ko-KR" sz="1200" i="1" dirty="0">
                <a:latin typeface="+mn-ea"/>
              </a:rPr>
              <a:t>2025 Edelman Trust Barometer. Global report: Trust and the crisis of grievance</a:t>
            </a:r>
            <a:r>
              <a:rPr lang="en-US" altLang="ko-KR" sz="1200" dirty="0">
                <a:latin typeface="+mn-ea"/>
              </a:rPr>
              <a:t>. Edelman Trust Institute.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Fawzi, N., et al. (2021). Concepts, causes and consequences of trust in news media: A literature review and framework. </a:t>
            </a:r>
            <a:r>
              <a:rPr lang="en-US" altLang="ko-KR" sz="1200" i="1" dirty="0">
                <a:latin typeface="+mn-ea"/>
              </a:rPr>
              <a:t>Annals of the International Communication Association, 45</a:t>
            </a:r>
            <a:r>
              <a:rPr lang="en-US" altLang="ko-KR" sz="1200" dirty="0">
                <a:latin typeface="+mn-ea"/>
              </a:rPr>
              <a:t>(2), 154–174.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Fisher, C. (2016). The trouble with ‘trust’ in news media. </a:t>
            </a:r>
            <a:r>
              <a:rPr lang="en-US" altLang="ko-KR" sz="1200" i="1" dirty="0">
                <a:latin typeface="+mn-ea"/>
              </a:rPr>
              <a:t>Communication Research and Practice, 2</a:t>
            </a:r>
            <a:r>
              <a:rPr lang="en-US" altLang="ko-KR" sz="1200" dirty="0">
                <a:latin typeface="+mn-ea"/>
              </a:rPr>
              <a:t>(4), 451-465.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Fletcher, R., et al. (2025). The link between changing news use and trust: Longitudinal analysis of 46 countries. </a:t>
            </a:r>
            <a:r>
              <a:rPr lang="en-US" altLang="ko-KR" sz="1200" i="1" dirty="0">
                <a:latin typeface="+mn-ea"/>
              </a:rPr>
              <a:t>Journal of Communication, 75</a:t>
            </a:r>
            <a:r>
              <a:rPr lang="en-US" altLang="ko-KR" sz="1200" dirty="0">
                <a:latin typeface="+mn-ea"/>
              </a:rPr>
              <a:t>(1), 1–15.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Gambino, A., Fox, J., &amp; Ratan, R. A. (2020). Building a stronger CASA: Extending the computers are social actors paradigm. </a:t>
            </a:r>
            <a:r>
              <a:rPr lang="en-US" altLang="ko-KR" sz="1200" i="1" dirty="0">
                <a:latin typeface="+mn-ea"/>
              </a:rPr>
              <a:t>Human-Machine Communication, 1</a:t>
            </a:r>
            <a:r>
              <a:rPr lang="en-US" altLang="ko-KR" sz="1200" dirty="0">
                <a:latin typeface="+mn-ea"/>
              </a:rPr>
              <a:t>, 71–86.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 err="1">
                <a:latin typeface="+mn-ea"/>
              </a:rPr>
              <a:t>Geranpayeh</a:t>
            </a:r>
            <a:r>
              <a:rPr lang="en-US" altLang="ko-KR" sz="1200" dirty="0">
                <a:latin typeface="+mn-ea"/>
              </a:rPr>
              <a:t>, A. (2023). Leveraging computational psychometrics for language testing. </a:t>
            </a:r>
            <a:r>
              <a:rPr lang="en-US" altLang="ko-KR" sz="1200" i="1" dirty="0">
                <a:latin typeface="+mn-ea"/>
              </a:rPr>
              <a:t>Language Teaching Research Quarterly, 37</a:t>
            </a:r>
            <a:r>
              <a:rPr lang="en-US" altLang="ko-KR" sz="1200" dirty="0">
                <a:latin typeface="+mn-ea"/>
              </a:rPr>
              <a:t>, 204–212.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Gil de Zúñiga, H., &amp; Cheng, Z. (2021). Origin and evolution of the news finds me perception: Review of theory and effects. </a:t>
            </a:r>
            <a:r>
              <a:rPr lang="en-US" altLang="ko-KR" sz="1200" i="1" dirty="0">
                <a:latin typeface="+mn-ea"/>
              </a:rPr>
              <a:t>El </a:t>
            </a:r>
            <a:r>
              <a:rPr lang="en-US" altLang="ko-KR" sz="1200" i="1" dirty="0" err="1">
                <a:latin typeface="+mn-ea"/>
              </a:rPr>
              <a:t>Profesional</a:t>
            </a:r>
            <a:r>
              <a:rPr lang="en-US" altLang="ko-KR" sz="1200" i="1" dirty="0">
                <a:latin typeface="+mn-ea"/>
              </a:rPr>
              <a:t> de la </a:t>
            </a:r>
            <a:r>
              <a:rPr lang="en-US" altLang="ko-KR" sz="1200" i="1" dirty="0" err="1">
                <a:latin typeface="+mn-ea"/>
              </a:rPr>
              <a:t>Información</a:t>
            </a:r>
            <a:r>
              <a:rPr lang="en-US" altLang="ko-KR" sz="1200" i="1" dirty="0">
                <a:latin typeface="+mn-ea"/>
              </a:rPr>
              <a:t>, 30</a:t>
            </a:r>
            <a:r>
              <a:rPr lang="en-US" altLang="ko-KR" sz="1200" dirty="0">
                <a:latin typeface="+mn-ea"/>
              </a:rPr>
              <a:t>(3), 1–17.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Gil de Zúñiga, H., Strauss, N., &amp; Huber, B. (2020). The proliferation of the "news finds me" perception across societies. </a:t>
            </a:r>
            <a:r>
              <a:rPr lang="en-US" altLang="ko-KR" sz="1200" i="1" dirty="0">
                <a:latin typeface="+mn-ea"/>
              </a:rPr>
              <a:t>International Journal of Communication, 14</a:t>
            </a:r>
            <a:r>
              <a:rPr lang="en-US" altLang="ko-KR" sz="1200" dirty="0">
                <a:latin typeface="+mn-ea"/>
              </a:rPr>
              <a:t>, 1605–1633.</a:t>
            </a:r>
          </a:p>
        </p:txBody>
      </p:sp>
    </p:spTree>
    <p:extLst>
      <p:ext uri="{BB962C8B-B14F-4D97-AF65-F5344CB8AC3E}">
        <p14:creationId xmlns:p14="http://schemas.microsoft.com/office/powerpoint/2010/main" val="28912168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0FF27-52ED-2942-CB56-99A6F94F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F71047D5-0BD8-E9A0-B1AB-3D849A022AF7}"/>
              </a:ext>
            </a:extLst>
          </p:cNvPr>
          <p:cNvSpPr txBox="1">
            <a:spLocks/>
          </p:cNvSpPr>
          <p:nvPr/>
        </p:nvSpPr>
        <p:spPr>
          <a:xfrm>
            <a:off x="855800" y="871758"/>
            <a:ext cx="10721345" cy="52294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D01BDF7-94DE-A7AA-146E-6D2C851778DF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D9DBD3-765C-5959-54F1-C3932F9F7C9B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References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9C47937-8459-BC7F-FAA2-CA7088C9E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29</a:t>
            </a:fld>
            <a:endParaRPr 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275F061-E621-F8DB-CCD5-4CB6660E1D87}"/>
              </a:ext>
            </a:extLst>
          </p:cNvPr>
          <p:cNvSpPr txBox="1">
            <a:spLocks/>
          </p:cNvSpPr>
          <p:nvPr/>
        </p:nvSpPr>
        <p:spPr>
          <a:xfrm>
            <a:off x="855800" y="756745"/>
            <a:ext cx="10721345" cy="534451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>
                <a:latin typeface="+mn-ea"/>
              </a:rPr>
              <a:t>Gil de Zúñiga, H., Weeks, B., &amp; </a:t>
            </a:r>
            <a:r>
              <a:rPr lang="en-US" altLang="ko-KR" sz="1200" dirty="0" err="1">
                <a:latin typeface="+mn-ea"/>
              </a:rPr>
              <a:t>Ardèvol</a:t>
            </a:r>
            <a:r>
              <a:rPr lang="en-US" altLang="ko-KR" sz="1200" dirty="0">
                <a:latin typeface="+mn-ea"/>
              </a:rPr>
              <a:t>-Abreu, A. (2017). Effects of the news-finds-me perception in communication: Social media use implications for news seeking and learning about politics. </a:t>
            </a:r>
            <a:r>
              <a:rPr lang="en-US" altLang="ko-KR" sz="1200" i="1" dirty="0">
                <a:latin typeface="+mn-ea"/>
              </a:rPr>
              <a:t>Journal of Computer-Mediated Communication, 22</a:t>
            </a:r>
            <a:r>
              <a:rPr lang="en-US" altLang="ko-KR" sz="1200" dirty="0">
                <a:latin typeface="+mn-ea"/>
              </a:rPr>
              <a:t>(3), 105–123.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Goyanes, M., </a:t>
            </a:r>
            <a:r>
              <a:rPr lang="en-US" altLang="ko-KR" sz="1200" dirty="0" err="1">
                <a:latin typeface="+mn-ea"/>
              </a:rPr>
              <a:t>Ardèvol</a:t>
            </a:r>
            <a:r>
              <a:rPr lang="en-US" altLang="ko-KR" sz="1200" dirty="0">
                <a:latin typeface="+mn-ea"/>
              </a:rPr>
              <a:t>-Abreu, A., &amp; de Zúñiga, H. G. (2021). Antecedents of news avoidance: Competing effects of political interest, news overload, trust in news media, and "news finds me" perception. </a:t>
            </a:r>
            <a:r>
              <a:rPr lang="en-US" altLang="ko-KR" sz="1200" i="1" dirty="0">
                <a:latin typeface="+mn-ea"/>
              </a:rPr>
              <a:t>Digital Journalism, 11</a:t>
            </a:r>
            <a:r>
              <a:rPr lang="en-US" altLang="ko-KR" sz="1200" dirty="0">
                <a:latin typeface="+mn-ea"/>
              </a:rPr>
              <a:t>(1), 1–18.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Guzman, A. L. (Ed.). (2018). </a:t>
            </a:r>
            <a:r>
              <a:rPr lang="en-US" altLang="ko-KR" sz="1200" i="1" dirty="0">
                <a:latin typeface="+mn-ea"/>
              </a:rPr>
              <a:t>Human-machine communication: Rethinking communication, technology, and ourselves</a:t>
            </a:r>
            <a:r>
              <a:rPr lang="en-US" altLang="ko-KR" sz="1200" dirty="0">
                <a:latin typeface="+mn-ea"/>
              </a:rPr>
              <a:t>. Peter Lang.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Imran, F., &amp; Ali, F. (2025). Exploring the antecedents of news avoidance behavior among university students in Pakistan. </a:t>
            </a:r>
            <a:r>
              <a:rPr lang="en-US" altLang="ko-KR" sz="1200" i="1" dirty="0">
                <a:latin typeface="+mn-ea"/>
              </a:rPr>
              <a:t>World of Media, 4</a:t>
            </a:r>
            <a:r>
              <a:rPr lang="en-US" altLang="ko-KR" sz="1200" dirty="0">
                <a:latin typeface="+mn-ea"/>
              </a:rPr>
              <a:t>, 46–69.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Kalogeropoulos, A., Suiter, J., </a:t>
            </a:r>
            <a:r>
              <a:rPr lang="en-US" altLang="ko-KR" sz="1200" dirty="0" err="1">
                <a:latin typeface="+mn-ea"/>
              </a:rPr>
              <a:t>Udris</a:t>
            </a:r>
            <a:r>
              <a:rPr lang="en-US" altLang="ko-KR" sz="1200" dirty="0">
                <a:latin typeface="+mn-ea"/>
              </a:rPr>
              <a:t>, L., &amp; </a:t>
            </a:r>
            <a:r>
              <a:rPr lang="en-US" altLang="ko-KR" sz="1200" dirty="0" err="1">
                <a:latin typeface="+mn-ea"/>
              </a:rPr>
              <a:t>Eisenegger</a:t>
            </a:r>
            <a:r>
              <a:rPr lang="en-US" altLang="ko-KR" sz="1200" dirty="0">
                <a:latin typeface="+mn-ea"/>
              </a:rPr>
              <a:t>, M. (2019). News media trust and news consumption: Factors related to trust in news in 35 countries. </a:t>
            </a:r>
            <a:r>
              <a:rPr lang="en-US" altLang="ko-KR" sz="1200" i="1" dirty="0">
                <a:latin typeface="+mn-ea"/>
              </a:rPr>
              <a:t>International Journal of Communication, 13</a:t>
            </a:r>
            <a:r>
              <a:rPr lang="en-US" altLang="ko-KR" sz="1200" dirty="0">
                <a:latin typeface="+mn-ea"/>
              </a:rPr>
              <a:t>, 3672–3693.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 err="1">
                <a:latin typeface="+mn-ea"/>
              </a:rPr>
              <a:t>Kohhring</a:t>
            </a:r>
            <a:r>
              <a:rPr lang="en-US" altLang="ko-KR" sz="1200" dirty="0">
                <a:latin typeface="+mn-ea"/>
              </a:rPr>
              <a:t>, M., &amp; Matthes, J. (2007). Trust in news media: Development and validation of a multidimensional scale. </a:t>
            </a:r>
            <a:r>
              <a:rPr lang="en-US" altLang="ko-KR" sz="1200" i="1" dirty="0">
                <a:latin typeface="+mn-ea"/>
              </a:rPr>
              <a:t>Communication Research</a:t>
            </a:r>
            <a:r>
              <a:rPr lang="en-US" altLang="ko-KR" sz="1200" dirty="0">
                <a:latin typeface="+mn-ea"/>
              </a:rPr>
              <a:t>, 34(2), 231–252.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Lewis, S. C., Guzman, A. L., &amp; Schmidt, T. R. (2019). Automation, journalism, and human-machine communication: Rethinking roles and relationships of humans and machines in news. </a:t>
            </a:r>
            <a:r>
              <a:rPr lang="en-US" altLang="ko-KR" sz="1200" i="1" dirty="0">
                <a:latin typeface="+mn-ea"/>
              </a:rPr>
              <a:t>Digital Journalism, 7</a:t>
            </a:r>
            <a:r>
              <a:rPr lang="en-US" altLang="ko-KR" sz="1200" dirty="0">
                <a:latin typeface="+mn-ea"/>
              </a:rPr>
              <a:t>(2), 1–19.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Li, Y., Lin, X., Sha, Z., Jin, Z., &amp; Li, X. (2025). AI psychometrics: Evaluating the psychological reasoning of large language models with psychometric validities. In </a:t>
            </a:r>
            <a:r>
              <a:rPr lang="en-US" altLang="ko-KR" sz="1200" i="1" dirty="0">
                <a:latin typeface="+mn-ea"/>
              </a:rPr>
              <a:t>Proceedings of the 58th Hawaii International Conference on System Sciences (HICSS) </a:t>
            </a:r>
            <a:r>
              <a:rPr lang="en-US" altLang="ko-KR" sz="1200" dirty="0">
                <a:latin typeface="+mn-ea"/>
              </a:rPr>
              <a:t>(pp. 5189–5197).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Maharjan, J., Jin, R., Zhu, J., &amp; Kenne, D. (2025). Psychometric evaluation of large language model embeddings for personality trait prediction. </a:t>
            </a:r>
            <a:r>
              <a:rPr lang="en-US" altLang="ko-KR" sz="1200" i="1" dirty="0">
                <a:latin typeface="+mn-ea"/>
              </a:rPr>
              <a:t>Journal of Medical Internet Research, 27</a:t>
            </a:r>
            <a:r>
              <a:rPr lang="en-US" altLang="ko-KR" sz="1200" dirty="0">
                <a:latin typeface="+mn-ea"/>
              </a:rPr>
              <a:t>, e75347.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Markov, Č., &amp; Min, Y. (2022a). Understanding the public's animosity toward news media: Cynicism and distrust as related but distinct negative media perceptions. </a:t>
            </a:r>
            <a:r>
              <a:rPr lang="en-US" altLang="ko-KR" sz="1200" i="1" dirty="0">
                <a:latin typeface="+mn-ea"/>
              </a:rPr>
              <a:t>Journalism &amp; Mass Communication Quarterly, 99</a:t>
            </a:r>
            <a:r>
              <a:rPr lang="en-US" altLang="ko-KR" sz="1200" dirty="0">
                <a:latin typeface="+mn-ea"/>
              </a:rPr>
              <a:t>(4), 1099–1125.</a:t>
            </a:r>
          </a:p>
          <a:p>
            <a:endParaRPr lang="en-US" altLang="ko-KR" sz="12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29576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22CB-FB0C-3987-FBE1-B2BF93B47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FFF0737-528E-3B5F-48DF-B7FBD09D915F}"/>
              </a:ext>
            </a:extLst>
          </p:cNvPr>
          <p:cNvSpPr txBox="1">
            <a:spLocks/>
          </p:cNvSpPr>
          <p:nvPr/>
        </p:nvSpPr>
        <p:spPr>
          <a:xfrm>
            <a:off x="855800" y="871758"/>
            <a:ext cx="10721345" cy="52294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602DF5C-CEF2-4A66-CBBF-D65145DA2F11}"/>
              </a:ext>
            </a:extLst>
          </p:cNvPr>
          <p:cNvSpPr txBox="1">
            <a:spLocks/>
          </p:cNvSpPr>
          <p:nvPr/>
        </p:nvSpPr>
        <p:spPr>
          <a:xfrm>
            <a:off x="703400" y="871758"/>
            <a:ext cx="10721345" cy="50770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B4906-F108-CF1B-FB4B-E3CBC1F5702C}"/>
              </a:ext>
            </a:extLst>
          </p:cNvPr>
          <p:cNvSpPr txBox="1"/>
          <p:nvPr/>
        </p:nvSpPr>
        <p:spPr>
          <a:xfrm>
            <a:off x="703400" y="2777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References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B656C2E-EAD1-8BDB-DE06-2FF873CB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30</a:t>
            </a:fld>
            <a:endParaRPr 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E7E4049-B8A9-BC0E-B3CD-4B005F92CE4D}"/>
              </a:ext>
            </a:extLst>
          </p:cNvPr>
          <p:cNvSpPr txBox="1">
            <a:spLocks/>
          </p:cNvSpPr>
          <p:nvPr/>
        </p:nvSpPr>
        <p:spPr>
          <a:xfrm>
            <a:off x="855800" y="756745"/>
            <a:ext cx="10721345" cy="534451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none" spc="8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>
                <a:latin typeface="+mn-ea"/>
              </a:rPr>
              <a:t>Markov, Č., &amp; Min, Y. (2022b). Unpacking public animosity toward professional journalism: A qualitative analysis of the differences between media distrust and cynicism. </a:t>
            </a:r>
            <a:r>
              <a:rPr lang="en-US" altLang="ko-KR" sz="1200" i="1" dirty="0">
                <a:latin typeface="+mn-ea"/>
              </a:rPr>
              <a:t>Journalism, 24</a:t>
            </a:r>
            <a:r>
              <a:rPr lang="en-US" altLang="ko-KR" sz="1200" dirty="0">
                <a:latin typeface="+mn-ea"/>
              </a:rPr>
              <a:t>(10), 2136–2154.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Nanz, A., &amp; Matthes, J. (2022). Democratic consequences of incidental exposure to political information: A meta-analysis. </a:t>
            </a:r>
            <a:r>
              <a:rPr lang="en-US" altLang="ko-KR" sz="1200" i="1" dirty="0">
                <a:latin typeface="+mn-ea"/>
              </a:rPr>
              <a:t>Journal of Communication, 72</a:t>
            </a:r>
            <a:r>
              <a:rPr lang="en-US" altLang="ko-KR" sz="1200" dirty="0">
                <a:latin typeface="+mn-ea"/>
              </a:rPr>
              <a:t>(3), 345–373.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Nass, C., Steuer, J., &amp; Tauber, E. R. (1994). Computers are social actors. In </a:t>
            </a:r>
            <a:r>
              <a:rPr lang="en-US" altLang="ko-KR" sz="1200" i="1" dirty="0">
                <a:latin typeface="+mn-ea"/>
              </a:rPr>
              <a:t>Proceedings of the SIGCHI Conference on Human Factors in Computing Systems (CHI '94)</a:t>
            </a:r>
            <a:r>
              <a:rPr lang="en-US" altLang="ko-KR" sz="1200" dirty="0">
                <a:latin typeface="+mn-ea"/>
              </a:rPr>
              <a:t> (pp. 72–78). Association for Computing Machinery.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 err="1">
                <a:latin typeface="+mn-ea"/>
              </a:rPr>
              <a:t>Strömbäck</a:t>
            </a:r>
            <a:r>
              <a:rPr lang="en-US" altLang="ko-KR" sz="1200" dirty="0">
                <a:latin typeface="+mn-ea"/>
              </a:rPr>
              <a:t>, J., </a:t>
            </a:r>
            <a:r>
              <a:rPr lang="en-US" altLang="ko-KR" sz="1200" dirty="0" err="1">
                <a:latin typeface="+mn-ea"/>
              </a:rPr>
              <a:t>Tsfati</a:t>
            </a:r>
            <a:r>
              <a:rPr lang="en-US" altLang="ko-KR" sz="1200" dirty="0">
                <a:latin typeface="+mn-ea"/>
              </a:rPr>
              <a:t>, Y., Boomgaarden, H., Damstra, A., Lindgren, E., </a:t>
            </a:r>
            <a:r>
              <a:rPr lang="en-US" altLang="ko-KR" sz="1200" dirty="0" err="1">
                <a:latin typeface="+mn-ea"/>
              </a:rPr>
              <a:t>Vliegenthart</a:t>
            </a:r>
            <a:r>
              <a:rPr lang="en-US" altLang="ko-KR" sz="1200" dirty="0">
                <a:latin typeface="+mn-ea"/>
              </a:rPr>
              <a:t>, R., &amp; Lindholm, T. (2020). News media trust and its impact on media use: Toward a framework for future research. </a:t>
            </a:r>
            <a:r>
              <a:rPr lang="en-US" altLang="ko-KR" sz="1200" i="1" dirty="0">
                <a:latin typeface="+mn-ea"/>
              </a:rPr>
              <a:t>Annals of the International Communication Association, 44</a:t>
            </a:r>
            <a:r>
              <a:rPr lang="en-US" altLang="ko-KR" sz="1200" dirty="0">
                <a:latin typeface="+mn-ea"/>
              </a:rPr>
              <a:t>(2), 139–156.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Stroud, N. J., Scacco, J. M., &amp; Kim, Y. (2022). Passive learning and incidental exposure to news. </a:t>
            </a:r>
            <a:r>
              <a:rPr lang="en-US" altLang="ko-KR" sz="1200" i="1" dirty="0">
                <a:latin typeface="+mn-ea"/>
              </a:rPr>
              <a:t>Journal of Communication, 72</a:t>
            </a:r>
            <a:r>
              <a:rPr lang="en-US" altLang="ko-KR" sz="1200" dirty="0">
                <a:latin typeface="+mn-ea"/>
              </a:rPr>
              <a:t>(4), 451–460.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Tandoc, E. C., Jr., &amp; Kim, H. K. (2023). Avoiding real news, believing in fake news? Investigating pathways from information overload to misbelief. Journalism, 24(6), 1174–1192.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Tse, H. T. F., Lee, F. L. F., &amp; Yang, S. Z. Q. (2025). Entering journalism in times of democratic backsliding: Hong Kong young journalists' career decision and persistence. </a:t>
            </a:r>
            <a:r>
              <a:rPr lang="en-US" altLang="ko-KR" sz="1200" i="1" dirty="0">
                <a:latin typeface="+mn-ea"/>
              </a:rPr>
              <a:t>The International Journal of Press/Politics</a:t>
            </a:r>
            <a:r>
              <a:rPr lang="en-US" altLang="ko-KR" sz="1200" dirty="0">
                <a:latin typeface="+mn-ea"/>
              </a:rPr>
              <a:t>. Advance online publication.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 err="1">
                <a:latin typeface="+mn-ea"/>
              </a:rPr>
              <a:t>Tsfati</a:t>
            </a:r>
            <a:r>
              <a:rPr lang="en-US" altLang="ko-KR" sz="1200" dirty="0">
                <a:latin typeface="+mn-ea"/>
              </a:rPr>
              <a:t>, Y., Stromback, J., Lindgren, E., Boomgaarden, H. G., &amp; </a:t>
            </a:r>
            <a:r>
              <a:rPr lang="en-US" altLang="ko-KR" sz="1200" dirty="0" err="1">
                <a:latin typeface="+mn-ea"/>
              </a:rPr>
              <a:t>Vliegenthart</a:t>
            </a:r>
            <a:r>
              <a:rPr lang="en-US" altLang="ko-KR" sz="1200" dirty="0">
                <a:latin typeface="+mn-ea"/>
              </a:rPr>
              <a:t>, R. (2023). What news outlets do people have in mind when they answer survey questions about trust in "media?" </a:t>
            </a:r>
            <a:r>
              <a:rPr lang="en-US" altLang="ko-KR" sz="1200" i="1" dirty="0">
                <a:latin typeface="+mn-ea"/>
              </a:rPr>
              <a:t>International Journal of Public Opinion Research, 35</a:t>
            </a:r>
            <a:r>
              <a:rPr lang="en-US" altLang="ko-KR" sz="1200" dirty="0">
                <a:latin typeface="+mn-ea"/>
              </a:rPr>
              <a:t>(2).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 err="1">
                <a:latin typeface="+mn-ea"/>
              </a:rPr>
              <a:t>Tsfati</a:t>
            </a:r>
            <a:r>
              <a:rPr lang="en-US" altLang="ko-KR" sz="1200" dirty="0">
                <a:latin typeface="+mn-ea"/>
              </a:rPr>
              <a:t>, Y., </a:t>
            </a:r>
            <a:r>
              <a:rPr lang="en-US" altLang="ko-KR" sz="1200" dirty="0" err="1">
                <a:latin typeface="+mn-ea"/>
              </a:rPr>
              <a:t>Vliegenthart</a:t>
            </a:r>
            <a:r>
              <a:rPr lang="en-US" altLang="ko-KR" sz="1200" dirty="0">
                <a:latin typeface="+mn-ea"/>
              </a:rPr>
              <a:t>, R., Stromback, J., &amp; Lindgren, E. (2025). An asymmetrical reinforcing spiral? Disentangling the longitudinal dynamics of media use and mainstream media trust. </a:t>
            </a:r>
            <a:r>
              <a:rPr lang="en-US" altLang="ko-KR" sz="1200" i="1" dirty="0">
                <a:latin typeface="+mn-ea"/>
              </a:rPr>
              <a:t>Journal of Communication, 75</a:t>
            </a:r>
            <a:r>
              <a:rPr lang="en-US" altLang="ko-KR" sz="1200" dirty="0">
                <a:latin typeface="+mn-ea"/>
              </a:rPr>
              <a:t>(1), 16–26.</a:t>
            </a:r>
          </a:p>
          <a:p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Ye, H., Huo, T., Guo, Z., Zhang, X., Dong, H., &amp; Song, G. (2025). Psychometrics with AI foundation models. </a:t>
            </a:r>
            <a:r>
              <a:rPr lang="en-US" altLang="ko-KR" sz="1200" i="1" dirty="0">
                <a:latin typeface="+mn-ea"/>
              </a:rPr>
              <a:t>Psychology &amp; Psychiatry Journal, 331.</a:t>
            </a:r>
          </a:p>
        </p:txBody>
      </p:sp>
    </p:spTree>
    <p:extLst>
      <p:ext uri="{BB962C8B-B14F-4D97-AF65-F5344CB8AC3E}">
        <p14:creationId xmlns:p14="http://schemas.microsoft.com/office/powerpoint/2010/main" val="737129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Microsoft GothicNeo"/>
        <a:ea typeface=""/>
        <a:cs typeface=""/>
      </a:majorFont>
      <a:minorFont>
        <a:latin typeface="Microsoft GothicNe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3664</TotalTime>
  <Words>4822</Words>
  <Application>Microsoft Office PowerPoint</Application>
  <PresentationFormat>와이드스크린</PresentationFormat>
  <Paragraphs>417</Paragraphs>
  <Slides>30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Microsoft GothicNeo</vt:lpstr>
      <vt:lpstr>Arial</vt:lpstr>
      <vt:lpstr>맑은 고딕</vt:lpstr>
      <vt:lpstr>ChronicleVTI</vt:lpstr>
      <vt:lpstr>Do Machines  Trust the News?  An Empirical Investigation of Generative AI’s  Media Trust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Thank you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SongJongbeen</dc:creator>
  <cp:lastModifiedBy>Jongbeen Song</cp:lastModifiedBy>
  <cp:revision>22</cp:revision>
  <dcterms:created xsi:type="dcterms:W3CDTF">2025-04-21T02:55:15Z</dcterms:created>
  <dcterms:modified xsi:type="dcterms:W3CDTF">2026-06-16T22:13:25Z</dcterms:modified>
</cp:coreProperties>
</file>