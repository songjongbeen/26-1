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18"/>
  </p:notesMasterIdLst>
  <p:sldIdLst>
    <p:sldId id="288" r:id="rId2"/>
    <p:sldId id="304" r:id="rId3"/>
    <p:sldId id="257" r:id="rId4"/>
    <p:sldId id="305" r:id="rId5"/>
    <p:sldId id="306" r:id="rId6"/>
    <p:sldId id="307" r:id="rId7"/>
    <p:sldId id="308" r:id="rId8"/>
    <p:sldId id="309" r:id="rId9"/>
    <p:sldId id="310" r:id="rId10"/>
    <p:sldId id="315" r:id="rId11"/>
    <p:sldId id="316" r:id="rId12"/>
    <p:sldId id="311" r:id="rId13"/>
    <p:sldId id="265" r:id="rId14"/>
    <p:sldId id="312" r:id="rId15"/>
    <p:sldId id="313" r:id="rId16"/>
    <p:sldId id="314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57B6B"/>
    <a:srgbClr val="9E5ECE"/>
    <a:srgbClr val="E2E5E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242" autoAdjust="0"/>
  </p:normalViewPr>
  <p:slideViewPr>
    <p:cSldViewPr snapToGrid="0">
      <p:cViewPr varScale="1">
        <p:scale>
          <a:sx n="106" d="100"/>
          <a:sy n="106" d="100"/>
        </p:scale>
        <p:origin x="79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9CB8D08-34DA-4F78-8F9A-57C08BEFE083}" type="datetimeFigureOut">
              <a:rPr lang="ko-KR" altLang="en-US" smtClean="0"/>
              <a:t>2026-05-25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8D9D0D-256A-4334-8FBF-FD40B2DA71A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582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8D6CA-249E-60D1-4D6B-762024FF9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E816B5-70D8-FDCC-3F34-05B6E74DA7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822E71B-DC6D-A1D5-B54D-93CEEA4E6F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76AD67-ED21-6A33-A29E-651FABB849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3455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44000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2631D-EFF9-247E-377F-DDD50D5D6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4A180A-72D6-5CB4-C7CE-2613889AD3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3B6851-23B7-3128-19D1-099AB1488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9689ED4-7368-BD10-2A33-0D3186B48D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02236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FB753A-5925-3A3C-CF1F-EE97EF2985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CF28056-27A5-591C-D7DA-F9B7F9C6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2459B8D-660A-2AC7-B3AB-0ADA0AA699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C16DBF-AA5B-3A5E-0412-6FA08271E9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56503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010B5-E7F3-1F4A-93D6-274F8F01F8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12491B-6603-A629-F46F-A9CF04502A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7E4FA3-780C-18B2-050C-499DAEE8D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7617644-860E-EF5E-C268-15E1458B27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81537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44D987-C23C-535C-8785-A136CF7B75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347846-6961-1681-08CD-CA09705248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9C76FE-DCD0-6AF9-4253-80047A5A0E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46AA7F9-BCF0-4751-8C80-035A4719AD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37044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4D8D95-1108-9FBE-13CC-7BA98E6EC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9EEA0E-7456-4D70-0F31-C5682BE571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86FD1B-93BD-3135-AFF2-9F6C4A31DD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E89477-A229-991B-EA42-A37EDFF97DC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7475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88C288-5551-0323-5880-8B90A3B09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F101B0-F285-4E8F-D2D7-D0FEE4E441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A0B686F-B93F-91B6-4CAE-4D86EAFBBF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CBA96-0EB2-BEBC-F3AA-5F0BBD51CC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07902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1524F-305F-E58D-CC0B-9504B6F550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C182E5-804D-45B4-5ADE-DFE4CDF06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5C43FD-1A7E-C560-8F72-4C216560DF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CC84CB-2005-3FF3-885C-1F74D95B69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7050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A815F-8222-C079-8B86-0E41A2FFE0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6AF2F2C-24CF-6D8B-4840-C6887FEB79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E37ACF7-10AF-4F97-B87B-4034E91C59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013704-DEB0-D940-F126-1F33B05286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55131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5DD3A9-84D8-980F-6D54-DFDED7ABA9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D51CB7-175C-8964-09BA-7497578532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725099-4B18-4521-7BA0-399293898B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BFFDD5-F72B-4032-F9B9-D8BD2E196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748971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54EC6E-C5FE-1F90-42FB-5EF3FDD65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AADB18F-F674-43C7-062C-97AFC308FF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EDB565-EA6A-9024-5949-A657A4361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214F3C0-35A6-C270-1EB9-C9BFCBEE74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65799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129A6A-0386-46C5-A897-828D52E85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58458E-CD2A-837E-170F-54BE3CF60C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867EC6E-EE8C-00E0-40C2-240BD5CF39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982F09-2EA4-782E-6B6F-29F599CDF5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1639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7F090-F5C6-BF82-F1C6-E0B3AF505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6DBFFB-3B36-DD7A-CECD-9E349045EC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490E08B-5649-E3D9-C502-DB78900E01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1B055B-B792-EE5C-52EE-225B38F087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E8D9D0D-256A-4334-8FBF-FD40B2DA71AA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115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3D8E5E-745C-407D-B425-C78EBF08DF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71501" y="822960"/>
            <a:ext cx="6057899" cy="5015169"/>
          </a:xfrm>
        </p:spPr>
        <p:txBody>
          <a:bodyPr anchor="t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7A4D5-56F4-4287-B174-56C55B18FD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109113" y="3003642"/>
            <a:ext cx="3522199" cy="2900274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4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EB9C19-FEE0-4852-B181-14A0DD77F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DDF-01B7-463C-82BC-BBF4296182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2056A-C3EE-4809-B1F3-1CEEEA266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A240FCEE-B6E2-46D0-9BB0-F45F79545E9D}"/>
              </a:ext>
            </a:extLst>
          </p:cNvPr>
          <p:cNvCxnSpPr>
            <a:cxnSpLocks/>
          </p:cNvCxnSpPr>
          <p:nvPr/>
        </p:nvCxnSpPr>
        <p:spPr>
          <a:xfrm flipH="1">
            <a:off x="571501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BD2FB83-3783-4477-80B5-DA5BF10BAF57}"/>
              </a:ext>
            </a:extLst>
          </p:cNvPr>
          <p:cNvCxnSpPr>
            <a:cxnSpLocks/>
          </p:cNvCxnSpPr>
          <p:nvPr/>
        </p:nvCxnSpPr>
        <p:spPr>
          <a:xfrm>
            <a:off x="7742482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83EA203-71D5-49C0-9626-FFA8E46787B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38354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B2ED8-7F53-4C03-A740-493E507984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611087-99A9-4100-B5F7-520880DE32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499" y="2075688"/>
            <a:ext cx="11059811" cy="3910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B4B20-1A65-4A26-B11E-6095083A1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D52D3-E985-4FEB-89B9-57C754711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A751A-C72D-47C1-A7A6-E8510A40C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8202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81F78-07BF-45A9-92D4-E4E0A1E88D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914255"/>
            <a:ext cx="6867115" cy="5009471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CC2A83-A380-4828-BC68-C065C8BC5A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239817" y="914399"/>
            <a:ext cx="2370268" cy="2670273"/>
          </a:xfrm>
        </p:spPr>
        <p:txBody>
          <a:bodyPr anchor="t">
            <a:normAutofit/>
          </a:bodyPr>
          <a:lstStyle>
            <a:lvl1pPr marL="0" indent="0">
              <a:lnSpc>
                <a:spcPct val="130000"/>
              </a:lnSpc>
              <a:buNone/>
              <a:defRPr sz="1400" cap="all" spc="300" baseline="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F92B2F-8804-4195-A779-F5C67C25CB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99C26-4411-4833-A917-A45E62D56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68C7C7-F862-434D-A87A-DECE9FD2E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40BAA4B-C4C0-40C1-8DC8-B4E2F8A68E12}"/>
              </a:ext>
            </a:extLst>
          </p:cNvPr>
          <p:cNvCxnSpPr>
            <a:cxnSpLocks/>
          </p:cNvCxnSpPr>
          <p:nvPr/>
        </p:nvCxnSpPr>
        <p:spPr>
          <a:xfrm>
            <a:off x="8872625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0A2259-2540-4B32-A999-2B46A6790E3D}"/>
              </a:ext>
            </a:extLst>
          </p:cNvPr>
          <p:cNvCxnSpPr>
            <a:cxnSpLocks/>
          </p:cNvCxnSpPr>
          <p:nvPr/>
        </p:nvCxnSpPr>
        <p:spPr>
          <a:xfrm flipH="1">
            <a:off x="566094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CEFB0ED-3F76-4403-AD0B-E738DD9D8CB6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5255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6BD5F-CF53-4DD5-B8C5-27BBA2BB88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09684"/>
            <a:ext cx="11049000" cy="1057160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76C2E1-5D5E-409F-BEE8-F48CE86F55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79447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BBF823-1BFB-4CF0-BAF4-D660C8F1AFC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47082" y="2074990"/>
            <a:ext cx="5181600" cy="41019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FF816E-EE02-44A4-8B81-B324ECFD7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4D9E4-A693-44D2-A3E8-E3AABC9052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4F669F-4B8E-415D-A9BF-AD451F452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20AF959-FCDC-4B92-9324-06A06C0D56F2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805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F85E5-82C4-4BAE-B2B0-A078ABD6C6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3469" y="699118"/>
            <a:ext cx="11025062" cy="1063601"/>
          </a:xfrm>
        </p:spPr>
        <p:txBody>
          <a:bodyPr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2D15C7-F445-40F7-88F6-FD6526269C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3468" y="2022883"/>
            <a:ext cx="5230469" cy="564079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B652C35-AA8E-4154-8A78-7DE9590E1F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83469" y="2866031"/>
            <a:ext cx="5157787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57EAC6-567C-4A4A-BB10-57EC14B97D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41470" y="2022883"/>
            <a:ext cx="5183188" cy="564080"/>
          </a:xfrm>
        </p:spPr>
        <p:txBody>
          <a:bodyPr anchor="ctr">
            <a:normAutofit/>
          </a:bodyPr>
          <a:lstStyle>
            <a:lvl1pPr marL="0" indent="0">
              <a:buNone/>
              <a:defRPr sz="16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9A083F-AD60-4437-B32A-44035D78AF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41470" y="2866031"/>
            <a:ext cx="5183188" cy="32276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9DBF86F-3266-4551-B680-06F401FFE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55B38FE-80F9-4582-B2E1-B067C288DE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47BEF32-F637-47A1-9ED3-AFC4F79F3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0C508D4-7C99-4B8D-BCDE-F0001BD345D9}"/>
              </a:ext>
            </a:extLst>
          </p:cNvPr>
          <p:cNvCxnSpPr>
            <a:cxnSpLocks/>
          </p:cNvCxnSpPr>
          <p:nvPr/>
        </p:nvCxnSpPr>
        <p:spPr>
          <a:xfrm flipV="1">
            <a:off x="6101405" y="1883336"/>
            <a:ext cx="0" cy="439966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49BF61B-7951-48F4-982B-9401A483FFBF}"/>
              </a:ext>
            </a:extLst>
          </p:cNvPr>
          <p:cNvCxnSpPr>
            <a:cxnSpLocks/>
          </p:cNvCxnSpPr>
          <p:nvPr/>
        </p:nvCxnSpPr>
        <p:spPr>
          <a:xfrm flipH="1">
            <a:off x="577485" y="273859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33699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A94CB-6BE5-4B9E-B0A6-54F83B201A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717452"/>
            <a:ext cx="11049000" cy="1161836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5E8643C-1A5D-4F23-B0D7-5B46F5E456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1A3394-78CC-43B0-9762-5E826F8BBF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347F0A-1980-4E13-AB22-AE3B8AA440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E9D858B-8A9C-4235-B151-81C99A3D20D2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6C7798B-3ECB-4076-8955-A82116BB0D2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756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5C61D85-3E72-406F-AB26-B4ED949184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9C831E-4321-467E-9090-C89C48CF2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8A9556-B3D8-4403-835F-11AE2D409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2008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0AA48-D521-423D-B185-6490EF57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201" y="810344"/>
            <a:ext cx="3478084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64E6DD-DDD2-4ED6-B8A9-A8B6D7656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19809" y="931232"/>
            <a:ext cx="6700679" cy="507936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F08F5E-AD33-4ACF-84C9-78B0FF6BE3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500" y="2578608"/>
            <a:ext cx="3478783" cy="341724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D7604E-7DD4-4497-B325-74F899E8AC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02BEED-A8F6-4256-9539-4434694AA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A1AA6-EE0B-48FD-A7DE-6CEE6A8C7D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F35B32-9A23-4805-94A6-96826D202139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62BA7DA-3944-40D4-91CD-40CA24DBB79B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BEA0B78-39E7-4039-B8BE-4F425688C6DF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D68B99C-0744-42EE-9713-AB0CEC3F5D85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0470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912732-5D39-4B30-A499-D51BABC88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499" y="802204"/>
            <a:ext cx="3478787" cy="1408062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3AF5AEC-77BC-4A52-8A56-C6479CA6A2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723467" y="847384"/>
            <a:ext cx="6907844" cy="52168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0A9240-8762-4C7D-AF22-A844CB2EC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71498" y="2574906"/>
            <a:ext cx="3478787" cy="343571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995685-E45D-4E74-8B78-D3B8E85C4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1FCBA3-0FF5-47C2-901A-645F6185D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030381-5320-46AD-A0B9-7C04B3E5A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357A432-D933-402A-8657-216EE20450EE}"/>
              </a:ext>
            </a:extLst>
          </p:cNvPr>
          <p:cNvCxnSpPr>
            <a:cxnSpLocks/>
          </p:cNvCxnSpPr>
          <p:nvPr/>
        </p:nvCxnSpPr>
        <p:spPr>
          <a:xfrm flipH="1">
            <a:off x="571500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1B1E0F3-D71B-436F-A10B-B6EA7125F684}"/>
              </a:ext>
            </a:extLst>
          </p:cNvPr>
          <p:cNvCxnSpPr>
            <a:cxnSpLocks/>
          </p:cNvCxnSpPr>
          <p:nvPr/>
        </p:nvCxnSpPr>
        <p:spPr>
          <a:xfrm flipV="1">
            <a:off x="4419601" y="571500"/>
            <a:ext cx="0" cy="57150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BDEE64F5-2B48-4A2E-BA5E-1D37F1A7C9A3}"/>
              </a:ext>
            </a:extLst>
          </p:cNvPr>
          <p:cNvCxnSpPr>
            <a:cxnSpLocks/>
          </p:cNvCxnSpPr>
          <p:nvPr/>
        </p:nvCxnSpPr>
        <p:spPr>
          <a:xfrm flipH="1">
            <a:off x="571501" y="2406845"/>
            <a:ext cx="38481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99BF9AA-A2C8-4233-B597-EB11C6D6A0E0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97322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99A0A-70FC-426A-8B3B-60FAF9806E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F47EC6-9753-4ABC-BB66-64CCC8BA08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99" y="2036363"/>
            <a:ext cx="11059811" cy="387077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884D9F-DC99-4B4C-98CF-178BBBB766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A6840-AC0B-4260-8368-08E0A22D2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A5DAB8-EC07-4CCF-96EA-5D8ACDAE6E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0438F1AC-9961-4786-A189-20863DD97F68}"/>
              </a:ext>
            </a:extLst>
          </p:cNvPr>
          <p:cNvCxnSpPr>
            <a:cxnSpLocks/>
          </p:cNvCxnSpPr>
          <p:nvPr/>
        </p:nvCxnSpPr>
        <p:spPr>
          <a:xfrm flipH="1">
            <a:off x="571500" y="1780979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94494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75F678-EC03-4845-A51B-C90FA6A154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77953" y="797251"/>
            <a:ext cx="2483929" cy="528378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4A8B4D-A39F-4528-975A-9C84BEE778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66094" y="797251"/>
            <a:ext cx="8101072" cy="528378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5E4A23-6984-4AD1-A51D-600EDC263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273E28-C341-49CC-BAAB-0C0D19821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6D54A-8E86-4026-8DD0-5B0979BB8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CB05DA4-DF32-4D7A-9E4D-36309C90C5BB}"/>
              </a:ext>
            </a:extLst>
          </p:cNvPr>
          <p:cNvCxnSpPr>
            <a:cxnSpLocks/>
          </p:cNvCxnSpPr>
          <p:nvPr/>
        </p:nvCxnSpPr>
        <p:spPr>
          <a:xfrm flipH="1">
            <a:off x="566094" y="57711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7CC7262-4997-41E4-976D-BA82E148280F}"/>
              </a:ext>
            </a:extLst>
          </p:cNvPr>
          <p:cNvCxnSpPr>
            <a:cxnSpLocks/>
          </p:cNvCxnSpPr>
          <p:nvPr/>
        </p:nvCxnSpPr>
        <p:spPr>
          <a:xfrm flipV="1">
            <a:off x="8875226" y="571500"/>
            <a:ext cx="0" cy="571149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F5063B5-E478-4C41-AD40-49A39AE07429}"/>
              </a:ext>
            </a:extLst>
          </p:cNvPr>
          <p:cNvCxnSpPr>
            <a:cxnSpLocks/>
          </p:cNvCxnSpPr>
          <p:nvPr/>
        </p:nvCxnSpPr>
        <p:spPr>
          <a:xfrm flipH="1">
            <a:off x="577485" y="6283518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05335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9E1467D-9ED1-4211-A71E-41C91C755C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689289"/>
            <a:ext cx="11049000" cy="10841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F8A6A1-C9C7-4FDF-B4DA-1E86B6A35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71499" y="2075688"/>
            <a:ext cx="11059811" cy="38180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ACC44A-C635-4CD0-90E9-D9503AF4CCF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036732" y="6397103"/>
            <a:ext cx="30919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fld id="{1C8322F6-1C60-46CF-968C-BC20E470F443}" type="datetimeFigureOut">
              <a:rPr lang="en-US" smtClean="0"/>
              <a:t>5/25/2026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ABF682-1A47-492C-81E3-9DB0A50ECB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75782" y="6397103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cap="all" spc="2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CC814B-9105-44ED-98A9-D326B2E260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24553" y="6397103"/>
            <a:ext cx="7007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EEB83C2-341F-4C28-A243-1C56DDDA54D3}" type="slidenum">
              <a:rPr lang="en-US" smtClean="0"/>
              <a:t>‹#›</a:t>
            </a:fld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6814345-41DE-42C5-8657-66C1417DF81A}"/>
              </a:ext>
            </a:extLst>
          </p:cNvPr>
          <p:cNvCxnSpPr>
            <a:cxnSpLocks/>
          </p:cNvCxnSpPr>
          <p:nvPr/>
        </p:nvCxnSpPr>
        <p:spPr>
          <a:xfrm flipH="1">
            <a:off x="566094" y="6286347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E68E419-3727-4F5E-8840-AF149B33B0B7}"/>
              </a:ext>
            </a:extLst>
          </p:cNvPr>
          <p:cNvCxnSpPr>
            <a:cxnSpLocks/>
          </p:cNvCxnSpPr>
          <p:nvPr/>
        </p:nvCxnSpPr>
        <p:spPr>
          <a:xfrm flipH="1">
            <a:off x="577485" y="1883336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519B6EC-D7AE-452F-8D0C-D11BD3377F3E}"/>
              </a:ext>
            </a:extLst>
          </p:cNvPr>
          <p:cNvCxnSpPr>
            <a:cxnSpLocks/>
          </p:cNvCxnSpPr>
          <p:nvPr/>
        </p:nvCxnSpPr>
        <p:spPr>
          <a:xfrm flipH="1">
            <a:off x="577485" y="571500"/>
            <a:ext cx="1105981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56278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 spc="-100" baseline="0">
          <a:solidFill>
            <a:schemeClr val="tx1"/>
          </a:solidFill>
          <a:latin typeface="Batang" panose="02030600000101010101" pitchFamily="18" charset="-127"/>
          <a:ea typeface="Batang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0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venir Next LT Pro Light" panose="020B03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228600" algn="l" defTabSz="914400" rtl="0" eaLnBrk="1" latinLnBrk="0" hangingPunct="1">
        <a:lnSpc>
          <a:spcPct val="120000"/>
        </a:lnSpc>
        <a:spcBef>
          <a:spcPts val="500"/>
        </a:spcBef>
        <a:buSzPct val="80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1041489@gmail.com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.sv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1">
            <a:extLst>
              <a:ext uri="{FF2B5EF4-FFF2-40B4-BE49-F238E27FC236}">
                <a16:creationId xmlns:a16="http://schemas.microsoft.com/office/drawing/2014/main" id="{52EFEA85-236C-2B7C-8801-CA0257D68594}"/>
              </a:ext>
            </a:extLst>
          </p:cNvPr>
          <p:cNvSpPr txBox="1">
            <a:spLocks/>
          </p:cNvSpPr>
          <p:nvPr/>
        </p:nvSpPr>
        <p:spPr>
          <a:xfrm>
            <a:off x="433178" y="1031846"/>
            <a:ext cx="11325645" cy="1215547"/>
          </a:xfrm>
          <a:prstGeom prst="rect">
            <a:avLst/>
          </a:prstGeom>
        </p:spPr>
        <p:txBody>
          <a:bodyPr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kern="1200" spc="-100" baseline="0">
                <a:solidFill>
                  <a:schemeClr val="tx1"/>
                </a:solidFill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>
              <a:lnSpc>
                <a:spcPts val="6000"/>
              </a:lnSpc>
            </a:pPr>
            <a:r>
              <a:rPr lang="ko-KR" altLang="en-US" dirty="0"/>
              <a:t>인공지능과 정치 커뮤니케이션의 공진화</a:t>
            </a:r>
            <a:r>
              <a:rPr lang="en-US" altLang="ko-KR" dirty="0"/>
              <a:t>,</a:t>
            </a:r>
          </a:p>
          <a:p>
            <a:pPr>
              <a:lnSpc>
                <a:spcPts val="6000"/>
              </a:lnSpc>
            </a:pPr>
            <a:r>
              <a:rPr lang="ko-KR" altLang="en-US" dirty="0"/>
              <a:t>민주주의의 퇴행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6D4EFC-803D-F5E1-188D-37AFC2FBCE04}"/>
              </a:ext>
            </a:extLst>
          </p:cNvPr>
          <p:cNvSpPr txBox="1"/>
          <p:nvPr/>
        </p:nvSpPr>
        <p:spPr>
          <a:xfrm>
            <a:off x="433178" y="2554437"/>
            <a:ext cx="111834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Sociotechnical Co-evolution between Artificial Intelligence and Political Communication,</a:t>
            </a:r>
          </a:p>
          <a:p>
            <a:r>
              <a:rPr lang="en-US" altLang="ko-KR" dirty="0"/>
              <a:t>Democratic Backsliding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4626AA-195B-7251-627D-9A08E2A5A3F2}"/>
              </a:ext>
            </a:extLst>
          </p:cNvPr>
          <p:cNvSpPr txBox="1"/>
          <p:nvPr/>
        </p:nvSpPr>
        <p:spPr>
          <a:xfrm>
            <a:off x="433177" y="3967709"/>
            <a:ext cx="6157745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2400" dirty="0" err="1">
                <a:latin typeface="+mj-lt"/>
              </a:rPr>
              <a:t>송종빈</a:t>
            </a:r>
            <a:r>
              <a:rPr lang="ko-KR" altLang="en-US" sz="2400" dirty="0"/>
              <a:t> </a:t>
            </a:r>
            <a:r>
              <a:rPr lang="en-US" altLang="ko-KR" sz="2400" dirty="0"/>
              <a:t>(Jongbeen Song)</a:t>
            </a:r>
          </a:p>
          <a:p>
            <a:endParaRPr lang="en-US" altLang="ko-KR" sz="1400" dirty="0"/>
          </a:p>
          <a:p>
            <a:r>
              <a:rPr lang="ko-KR" altLang="en-US" sz="1400" dirty="0"/>
              <a:t>고려대학교 과학기술학 석사과정</a:t>
            </a:r>
            <a:endParaRPr lang="en-US" altLang="ko-KR" sz="1400" dirty="0"/>
          </a:p>
          <a:p>
            <a:r>
              <a:rPr lang="en-US" altLang="ko-KR" sz="1400" dirty="0"/>
              <a:t>M.A. Candidate in Science &amp; Technology Studies, Korea University</a:t>
            </a:r>
          </a:p>
          <a:p>
            <a:r>
              <a:rPr lang="en-US" altLang="ko-KR" sz="1400" dirty="0">
                <a:hlinkClick r:id="rId2"/>
              </a:rPr>
              <a:t>1041489@gmail.com</a:t>
            </a:r>
            <a:r>
              <a:rPr lang="en-US" altLang="ko-KR" sz="1400" dirty="0"/>
              <a:t> </a:t>
            </a:r>
            <a:endParaRPr lang="ko-KR" altLang="en-US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5A5137-B82A-BFBD-66DE-801154A7FEF7}"/>
              </a:ext>
            </a:extLst>
          </p:cNvPr>
          <p:cNvSpPr txBox="1"/>
          <p:nvPr/>
        </p:nvSpPr>
        <p:spPr>
          <a:xfrm>
            <a:off x="433178" y="5905238"/>
            <a:ext cx="714719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정치커뮤니케이션 </a:t>
            </a:r>
            <a:r>
              <a:rPr lang="en-US" altLang="ko-KR" dirty="0"/>
              <a:t>13</a:t>
            </a:r>
            <a:r>
              <a:rPr lang="ko-KR" altLang="en-US" dirty="0"/>
              <a:t>주차</a:t>
            </a:r>
            <a:r>
              <a:rPr lang="en-US" altLang="ko-KR" dirty="0"/>
              <a:t>: AI</a:t>
            </a:r>
            <a:r>
              <a:rPr lang="ko-KR" altLang="en-US" dirty="0"/>
              <a:t>와 알고리즘 민주주의</a:t>
            </a:r>
            <a:endParaRPr lang="en-US" altLang="ko-KR" dirty="0"/>
          </a:p>
          <a:p>
            <a:endParaRPr lang="en-US" altLang="ko-KR" sz="1200" dirty="0"/>
          </a:p>
          <a:p>
            <a:r>
              <a:rPr lang="en-US" altLang="ko-KR" sz="1200" dirty="0"/>
              <a:t>Spring 2026</a:t>
            </a:r>
            <a:r>
              <a:rPr lang="ko-KR" altLang="en-US" sz="1200" dirty="0"/>
              <a:t> </a:t>
            </a:r>
            <a:r>
              <a:rPr lang="en-US" altLang="ko-KR" sz="1200" dirty="0"/>
              <a:t>MAC539 Political</a:t>
            </a:r>
            <a:r>
              <a:rPr lang="ko-KR" altLang="en-US" sz="1200" dirty="0"/>
              <a:t> </a:t>
            </a:r>
            <a:r>
              <a:rPr lang="en-US" altLang="ko-KR" sz="1200" dirty="0"/>
              <a:t>Communication Week 13: AI &amp; Algorithmic Democracy</a:t>
            </a:r>
            <a:endParaRPr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63DDD5-0DBB-3592-A256-7777D0E6CC1F}"/>
              </a:ext>
            </a:extLst>
          </p:cNvPr>
          <p:cNvSpPr txBox="1"/>
          <p:nvPr/>
        </p:nvSpPr>
        <p:spPr>
          <a:xfrm>
            <a:off x="10347888" y="6336125"/>
            <a:ext cx="126873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dirty="0"/>
              <a:t>2026. 05. 27.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82989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96A0C-5AAA-D6D1-4B22-31B928433D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DC18-001C-F9AA-99CC-929DEDE756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Introduction:</a:t>
            </a:r>
            <a:r>
              <a:rPr lang="ko-KR" altLang="en-US" sz="3200" dirty="0"/>
              <a:t> </a:t>
            </a:r>
            <a:r>
              <a:rPr lang="en-US" altLang="ko-KR" sz="3200" dirty="0"/>
              <a:t>AI &amp; Crisis of Democracy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0E0FC9E-A70B-CE17-B100-3999D075EF00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인공지능의 발전과 민주주의 위협</a:t>
            </a:r>
            <a:endParaRPr lang="en-US" altLang="ko-KR" b="1" dirty="0"/>
          </a:p>
          <a:p>
            <a:r>
              <a:rPr lang="ko-KR" altLang="en-US" dirty="0"/>
              <a:t>생성형 </a:t>
            </a:r>
            <a:r>
              <a:rPr lang="en-US" altLang="ko-KR" dirty="0"/>
              <a:t>AI</a:t>
            </a:r>
            <a:r>
              <a:rPr lang="ko-KR" altLang="en-US" dirty="0"/>
              <a:t>는 무의미한 헛소리나 허위 정보를 엄청난 양으로 생산하여 미디어 환경과 인터넷을 뒤덮을 수 있음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이는 정부가 유권자의 진짜 정서를 파악하는 것을 방해하여 민주적 대표성</a:t>
            </a:r>
            <a:r>
              <a:rPr lang="en-US" altLang="ko-KR" dirty="0"/>
              <a:t>(democratic representation)</a:t>
            </a:r>
            <a:r>
              <a:rPr lang="ko-KR" altLang="en-US" dirty="0"/>
              <a:t>과 책임성</a:t>
            </a:r>
            <a:r>
              <a:rPr lang="en-US" altLang="ko-KR" dirty="0"/>
              <a:t>(accountability)</a:t>
            </a:r>
            <a:r>
              <a:rPr lang="ko-KR" altLang="en-US" dirty="0"/>
              <a:t>을 심각하게 파괴함 </a:t>
            </a:r>
            <a:r>
              <a:rPr lang="en-US" altLang="ko-KR" dirty="0"/>
              <a:t>(Kreps &amp; Kriner, 2023).</a:t>
            </a:r>
          </a:p>
          <a:p>
            <a:pPr marL="0" indent="0">
              <a:buNone/>
            </a:pPr>
            <a:r>
              <a:rPr lang="ko-KR" altLang="en-US" b="1" dirty="0"/>
              <a:t>플랫폼 기업의 정치적 개입과 공진화</a:t>
            </a:r>
            <a:r>
              <a:rPr lang="en-US" altLang="ko-KR" b="1" dirty="0"/>
              <a:t>(Co-evolution)</a:t>
            </a:r>
            <a:endParaRPr lang="en-US" altLang="ko-KR" dirty="0"/>
          </a:p>
          <a:p>
            <a:r>
              <a:rPr lang="ko-KR" altLang="en-US" dirty="0" err="1"/>
              <a:t>테크</a:t>
            </a:r>
            <a:r>
              <a:rPr lang="ko-KR" altLang="en-US" dirty="0"/>
              <a:t> 기업들</a:t>
            </a:r>
            <a:r>
              <a:rPr lang="en-US" altLang="ko-KR" dirty="0"/>
              <a:t>(</a:t>
            </a:r>
            <a:r>
              <a:rPr lang="ko-KR" altLang="en-US" dirty="0"/>
              <a:t>페이스북</a:t>
            </a:r>
            <a:r>
              <a:rPr lang="en-US" altLang="ko-KR" dirty="0"/>
              <a:t>, </a:t>
            </a:r>
            <a:r>
              <a:rPr lang="ko-KR" altLang="en-US" dirty="0"/>
              <a:t>구글 등</a:t>
            </a:r>
            <a:r>
              <a:rPr lang="en-US" altLang="ko-KR" dirty="0"/>
              <a:t>)</a:t>
            </a:r>
            <a:r>
              <a:rPr lang="ko-KR" altLang="en-US" dirty="0"/>
              <a:t>은 단순 플랫폼을 넘어 선거 캠페인의 유사 디지털 컨설턴트</a:t>
            </a:r>
            <a:r>
              <a:rPr lang="en-US" altLang="ko-KR" dirty="0"/>
              <a:t>(quasi-digital consultants)</a:t>
            </a:r>
            <a:r>
              <a:rPr lang="ko-KR" altLang="en-US" dirty="0"/>
              <a:t>로서 현대 정치 커뮤니케이션을 능동적으로 변화시켜 옴 </a:t>
            </a:r>
            <a:r>
              <a:rPr lang="en-US" altLang="ko-KR" dirty="0"/>
              <a:t>(Kreiss &amp; McGregor, 2018).</a:t>
            </a:r>
          </a:p>
          <a:p>
            <a:r>
              <a:rPr lang="ko-KR" altLang="en-US" dirty="0"/>
              <a:t>기존 소셜 미디어 시대의 포퓰리즘</a:t>
            </a:r>
            <a:r>
              <a:rPr lang="en-US" altLang="ko-KR" dirty="0"/>
              <a:t>(Baldwin-Philippi, 2019; Gil de Zúñiga et al., 2020)</a:t>
            </a:r>
            <a:r>
              <a:rPr lang="ko-KR" altLang="en-US" dirty="0"/>
              <a:t>이 </a:t>
            </a:r>
            <a:r>
              <a:rPr lang="en-US" altLang="ko-KR" dirty="0"/>
              <a:t>AI </a:t>
            </a:r>
            <a:r>
              <a:rPr lang="ko-KR" altLang="en-US" dirty="0"/>
              <a:t>기술과 결합하여 어떻게 조작의 피드백 루프</a:t>
            </a:r>
            <a:r>
              <a:rPr lang="en-US" altLang="ko-KR" dirty="0"/>
              <a:t>(Feedback Loop)</a:t>
            </a:r>
            <a:r>
              <a:rPr lang="ko-KR" altLang="en-US" dirty="0"/>
              <a:t>를 만드는지 분석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CA8DBC-BFE7-350E-8A4C-5C93DFCE6543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0810B3-381D-3CA9-85DC-83E8F48F1037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54602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F4846A-86BB-E33F-8B50-56D961591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Introduction:</a:t>
            </a:r>
            <a:r>
              <a:rPr lang="ko-KR" altLang="en-US" sz="3200" dirty="0"/>
              <a:t> </a:t>
            </a:r>
            <a:r>
              <a:rPr lang="en-US" altLang="ko-KR" sz="3200" dirty="0"/>
              <a:t>Feedback</a:t>
            </a:r>
            <a:r>
              <a:rPr lang="ko-KR" altLang="en-US" sz="3200" dirty="0"/>
              <a:t> </a:t>
            </a:r>
            <a:r>
              <a:rPr lang="en-US" altLang="ko-KR" sz="3200" dirty="0"/>
              <a:t>Loop</a:t>
            </a:r>
            <a:r>
              <a:rPr lang="ko-KR" altLang="en-US" sz="3200" dirty="0"/>
              <a:t> </a:t>
            </a:r>
            <a:r>
              <a:rPr lang="en-US" altLang="ko-KR" sz="3200" dirty="0"/>
              <a:t>Model</a:t>
            </a:r>
            <a:endParaRPr lang="ko-KR" alt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15D63-7DAB-5A7E-196C-17878E51DFA7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1992590-6410-E215-A4E7-CB19B379620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정치커뮤니케이션</a:t>
            </a:r>
            <a:r>
              <a:rPr lang="en-US" altLang="ko-KR" sz="1400" dirty="0"/>
              <a:t>: AI</a:t>
            </a:r>
            <a:r>
              <a:rPr lang="ko-KR" altLang="en-US" sz="1400" dirty="0"/>
              <a:t>와 알고리즘 민주주의</a:t>
            </a: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678E6B21-633A-CE77-DD50-EEFF9573D0DB}"/>
              </a:ext>
            </a:extLst>
          </p:cNvPr>
          <p:cNvGrpSpPr/>
          <p:nvPr/>
        </p:nvGrpSpPr>
        <p:grpSpPr>
          <a:xfrm>
            <a:off x="4105200" y="2065938"/>
            <a:ext cx="3286237" cy="3118965"/>
            <a:chOff x="3891481" y="1677501"/>
            <a:chExt cx="3286237" cy="3118965"/>
          </a:xfrm>
        </p:grpSpPr>
        <p:sp>
          <p:nvSpPr>
            <p:cNvPr id="6" name="화살표: 굽음 5">
              <a:extLst>
                <a:ext uri="{FF2B5EF4-FFF2-40B4-BE49-F238E27FC236}">
                  <a16:creationId xmlns:a16="http://schemas.microsoft.com/office/drawing/2014/main" id="{4D97E366-8D37-FA11-D637-5728587BB806}"/>
                </a:ext>
              </a:extLst>
            </p:cNvPr>
            <p:cNvSpPr/>
            <p:nvPr/>
          </p:nvSpPr>
          <p:spPr>
            <a:xfrm>
              <a:off x="4257702" y="1940052"/>
              <a:ext cx="729423" cy="778598"/>
            </a:xfrm>
            <a:prstGeom prst="bentArrow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7" name="화살표: 굽음 6">
              <a:extLst>
                <a:ext uri="{FF2B5EF4-FFF2-40B4-BE49-F238E27FC236}">
                  <a16:creationId xmlns:a16="http://schemas.microsoft.com/office/drawing/2014/main" id="{7B2764CD-36A4-9395-C61D-973B02FC5D58}"/>
                </a:ext>
              </a:extLst>
            </p:cNvPr>
            <p:cNvSpPr/>
            <p:nvPr/>
          </p:nvSpPr>
          <p:spPr>
            <a:xfrm rot="5400000">
              <a:off x="6125991" y="1940052"/>
              <a:ext cx="729423" cy="778598"/>
            </a:xfrm>
            <a:prstGeom prst="bentArrow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  <p:pic>
          <p:nvPicPr>
            <p:cNvPr id="9" name="그래픽 8" descr="사용자 단색으로 채워진">
              <a:extLst>
                <a:ext uri="{FF2B5EF4-FFF2-40B4-BE49-F238E27FC236}">
                  <a16:creationId xmlns:a16="http://schemas.microsoft.com/office/drawing/2014/main" id="{DAC6668E-396B-01C0-1F27-AA3BB1EF71F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91481" y="2718650"/>
              <a:ext cx="914400" cy="914400"/>
            </a:xfrm>
            <a:prstGeom prst="rect">
              <a:avLst/>
            </a:prstGeom>
          </p:spPr>
        </p:pic>
        <p:pic>
          <p:nvPicPr>
            <p:cNvPr id="11" name="그래픽 10" descr="서버 단색으로 채워진">
              <a:extLst>
                <a:ext uri="{FF2B5EF4-FFF2-40B4-BE49-F238E27FC236}">
                  <a16:creationId xmlns:a16="http://schemas.microsoft.com/office/drawing/2014/main" id="{9E8D7DAC-2D5F-3901-0AD6-AAD818003EE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87064" y="1677501"/>
              <a:ext cx="914400" cy="914400"/>
            </a:xfrm>
            <a:prstGeom prst="rect">
              <a:avLst/>
            </a:prstGeom>
          </p:spPr>
        </p:pic>
        <p:pic>
          <p:nvPicPr>
            <p:cNvPr id="12" name="그래픽 11" descr="사용자 단색으로 채워진">
              <a:extLst>
                <a:ext uri="{FF2B5EF4-FFF2-40B4-BE49-F238E27FC236}">
                  <a16:creationId xmlns:a16="http://schemas.microsoft.com/office/drawing/2014/main" id="{6D083027-B439-D48A-D20A-767D9FAEE91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263318" y="2718650"/>
              <a:ext cx="914400" cy="914400"/>
            </a:xfrm>
            <a:prstGeom prst="rect">
              <a:avLst/>
            </a:prstGeom>
          </p:spPr>
        </p:pic>
        <p:pic>
          <p:nvPicPr>
            <p:cNvPr id="13" name="그래픽 12" descr="서버 단색으로 채워진">
              <a:extLst>
                <a:ext uri="{FF2B5EF4-FFF2-40B4-BE49-F238E27FC236}">
                  <a16:creationId xmlns:a16="http://schemas.microsoft.com/office/drawing/2014/main" id="{805B1925-96E3-721C-1729-8CE7E4503F1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5087064" y="3882066"/>
              <a:ext cx="914400" cy="914400"/>
            </a:xfrm>
            <a:prstGeom prst="rect">
              <a:avLst/>
            </a:prstGeom>
          </p:spPr>
        </p:pic>
        <p:sp>
          <p:nvSpPr>
            <p:cNvPr id="14" name="화살표: 굽음 13">
              <a:extLst>
                <a:ext uri="{FF2B5EF4-FFF2-40B4-BE49-F238E27FC236}">
                  <a16:creationId xmlns:a16="http://schemas.microsoft.com/office/drawing/2014/main" id="{DC325684-CACB-8C57-CD11-700841C647FF}"/>
                </a:ext>
              </a:extLst>
            </p:cNvPr>
            <p:cNvSpPr/>
            <p:nvPr/>
          </p:nvSpPr>
          <p:spPr>
            <a:xfrm rot="10800000">
              <a:off x="6095627" y="3750527"/>
              <a:ext cx="729423" cy="778598"/>
            </a:xfrm>
            <a:prstGeom prst="bentArrow">
              <a:avLst/>
            </a:prstGeom>
            <a:solidFill>
              <a:schemeClr val="accent2"/>
            </a:solidFill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schemeClr val="tx1"/>
                </a:solidFill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3A13117A-85DD-BD14-7C25-C0B98A9D5A69}"/>
              </a:ext>
            </a:extLst>
          </p:cNvPr>
          <p:cNvSpPr txBox="1"/>
          <p:nvPr/>
        </p:nvSpPr>
        <p:spPr>
          <a:xfrm>
            <a:off x="362139" y="2354694"/>
            <a:ext cx="400934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ko-KR" sz="1400" b="1" dirty="0">
                <a:solidFill>
                  <a:srgbClr val="B57B6B"/>
                </a:solidFill>
              </a:rPr>
              <a:t>Cycle A: Human </a:t>
            </a:r>
            <a:r>
              <a:rPr lang="ko-KR" altLang="en-US" sz="1400" b="1" dirty="0">
                <a:solidFill>
                  <a:srgbClr val="B57B6B"/>
                </a:solidFill>
              </a:rPr>
              <a:t>▶ </a:t>
            </a:r>
            <a:r>
              <a:rPr lang="en-US" altLang="ko-KR" sz="1400" b="1" dirty="0">
                <a:solidFill>
                  <a:srgbClr val="B57B6B"/>
                </a:solidFill>
              </a:rPr>
              <a:t>AI</a:t>
            </a:r>
          </a:p>
          <a:p>
            <a:pPr algn="r"/>
            <a:r>
              <a:rPr lang="ko-KR" altLang="en-US" sz="1400" dirty="0">
                <a:solidFill>
                  <a:srgbClr val="B57B6B"/>
                </a:solidFill>
              </a:rPr>
              <a:t>인간 데이터의 편향</a:t>
            </a:r>
            <a:r>
              <a:rPr lang="en-US" altLang="ko-KR" sz="1400" dirty="0">
                <a:solidFill>
                  <a:srgbClr val="B57B6B"/>
                </a:solidFill>
              </a:rPr>
              <a:t>(Algorithmic Political Bias)</a:t>
            </a:r>
            <a:r>
              <a:rPr lang="ko-KR" altLang="en-US" sz="1400" dirty="0">
                <a:solidFill>
                  <a:srgbClr val="B57B6B"/>
                </a:solidFill>
              </a:rPr>
              <a:t>이 </a:t>
            </a:r>
            <a:r>
              <a:rPr lang="en-US" altLang="ko-KR" sz="1400" dirty="0">
                <a:solidFill>
                  <a:srgbClr val="B57B6B"/>
                </a:solidFill>
              </a:rPr>
              <a:t>AI</a:t>
            </a:r>
            <a:r>
              <a:rPr lang="ko-KR" altLang="en-US" sz="1400" dirty="0">
                <a:solidFill>
                  <a:srgbClr val="B57B6B"/>
                </a:solidFill>
              </a:rPr>
              <a:t>에 주입됨 </a:t>
            </a:r>
            <a:r>
              <a:rPr lang="en-US" altLang="ko-KR" sz="1400" dirty="0">
                <a:solidFill>
                  <a:srgbClr val="B57B6B"/>
                </a:solidFill>
              </a:rPr>
              <a:t>(Peters, 2022).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F55871-B52F-E49B-95E7-645F8E6A2C5A}"/>
              </a:ext>
            </a:extLst>
          </p:cNvPr>
          <p:cNvSpPr txBox="1"/>
          <p:nvPr/>
        </p:nvSpPr>
        <p:spPr>
          <a:xfrm>
            <a:off x="7193659" y="2246973"/>
            <a:ext cx="4645256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B57B6B"/>
                </a:solidFill>
              </a:rPr>
              <a:t>Cycle B: AI </a:t>
            </a:r>
            <a:r>
              <a:rPr lang="ko-KR" altLang="en-US" sz="1400" b="1" dirty="0">
                <a:solidFill>
                  <a:srgbClr val="B57B6B"/>
                </a:solidFill>
              </a:rPr>
              <a:t>▶ </a:t>
            </a:r>
            <a:r>
              <a:rPr lang="en-US" altLang="ko-KR" sz="1400" b="1" dirty="0">
                <a:solidFill>
                  <a:srgbClr val="B57B6B"/>
                </a:solidFill>
              </a:rPr>
              <a:t>Human</a:t>
            </a:r>
          </a:p>
          <a:p>
            <a:r>
              <a:rPr lang="ko-KR" altLang="en-US" sz="1400" dirty="0">
                <a:solidFill>
                  <a:srgbClr val="B57B6B"/>
                </a:solidFill>
              </a:rPr>
              <a:t>편향된 </a:t>
            </a:r>
            <a:r>
              <a:rPr lang="en-US" altLang="ko-KR" sz="1400" dirty="0">
                <a:solidFill>
                  <a:srgbClr val="B57B6B"/>
                </a:solidFill>
              </a:rPr>
              <a:t>AI</a:t>
            </a:r>
            <a:r>
              <a:rPr lang="ko-KR" altLang="en-US" sz="1400" dirty="0">
                <a:solidFill>
                  <a:srgbClr val="B57B6B"/>
                </a:solidFill>
              </a:rPr>
              <a:t>와 알고리즘</a:t>
            </a:r>
            <a:r>
              <a:rPr lang="en-US" altLang="ko-KR" sz="1400" dirty="0">
                <a:solidFill>
                  <a:srgbClr val="B57B6B"/>
                </a:solidFill>
              </a:rPr>
              <a:t>, </a:t>
            </a:r>
            <a:r>
              <a:rPr lang="ko-KR" altLang="en-US" sz="1400" dirty="0">
                <a:solidFill>
                  <a:srgbClr val="B57B6B"/>
                </a:solidFill>
              </a:rPr>
              <a:t>봇</a:t>
            </a:r>
            <a:r>
              <a:rPr lang="en-US" altLang="ko-KR" sz="1400" dirty="0">
                <a:solidFill>
                  <a:srgbClr val="B57B6B"/>
                </a:solidFill>
              </a:rPr>
              <a:t>(Bot) </a:t>
            </a:r>
            <a:r>
              <a:rPr lang="ko-KR" altLang="en-US" sz="1400" dirty="0">
                <a:solidFill>
                  <a:srgbClr val="B57B6B"/>
                </a:solidFill>
              </a:rPr>
              <a:t>기술이 의도된 </a:t>
            </a:r>
            <a:endParaRPr lang="en-US" altLang="ko-KR" sz="1400" dirty="0">
              <a:solidFill>
                <a:srgbClr val="B57B6B"/>
              </a:solidFill>
            </a:endParaRPr>
          </a:p>
          <a:p>
            <a:r>
              <a:rPr lang="ko-KR" altLang="en-US" sz="1400" dirty="0">
                <a:solidFill>
                  <a:srgbClr val="B57B6B"/>
                </a:solidFill>
              </a:rPr>
              <a:t>프로파간다를 생성 및 대량 유포함 </a:t>
            </a:r>
            <a:r>
              <a:rPr lang="en-US" altLang="ko-KR" sz="1400" dirty="0">
                <a:solidFill>
                  <a:srgbClr val="B57B6B"/>
                </a:solidFill>
              </a:rPr>
              <a:t>(Keller et al., 2020; Keller &amp; Klinger, 2019).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0DD17AA-1957-4644-99A3-CFCD7805F1DE}"/>
              </a:ext>
            </a:extLst>
          </p:cNvPr>
          <p:cNvSpPr txBox="1"/>
          <p:nvPr/>
        </p:nvSpPr>
        <p:spPr>
          <a:xfrm>
            <a:off x="7193659" y="4046074"/>
            <a:ext cx="464525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solidFill>
                  <a:srgbClr val="B57B6B"/>
                </a:solidFill>
              </a:rPr>
              <a:t>Cycle C: Human </a:t>
            </a:r>
            <a:r>
              <a:rPr lang="ko-KR" altLang="en-US" sz="1400" b="1" dirty="0">
                <a:solidFill>
                  <a:srgbClr val="B57B6B"/>
                </a:solidFill>
              </a:rPr>
              <a:t>▶ </a:t>
            </a:r>
            <a:r>
              <a:rPr lang="en-US" altLang="ko-KR" sz="1400" b="1" dirty="0">
                <a:solidFill>
                  <a:srgbClr val="B57B6B"/>
                </a:solidFill>
              </a:rPr>
              <a:t>AI</a:t>
            </a:r>
          </a:p>
          <a:p>
            <a:r>
              <a:rPr lang="ko-KR" altLang="en-US" sz="1400" dirty="0">
                <a:solidFill>
                  <a:srgbClr val="B57B6B"/>
                </a:solidFill>
              </a:rPr>
              <a:t>에코 </a:t>
            </a:r>
            <a:r>
              <a:rPr lang="ko-KR" altLang="en-US" sz="1400" dirty="0" err="1">
                <a:solidFill>
                  <a:srgbClr val="B57B6B"/>
                </a:solidFill>
              </a:rPr>
              <a:t>체임버</a:t>
            </a:r>
            <a:r>
              <a:rPr lang="ko-KR" altLang="en-US" sz="1400" dirty="0">
                <a:solidFill>
                  <a:srgbClr val="B57B6B"/>
                </a:solidFill>
              </a:rPr>
              <a:t> 속 인간의 반응을 언론이 </a:t>
            </a:r>
            <a:r>
              <a:rPr lang="en-US" altLang="ko-KR" sz="1400" dirty="0">
                <a:solidFill>
                  <a:srgbClr val="B57B6B"/>
                </a:solidFill>
              </a:rPr>
              <a:t>'</a:t>
            </a:r>
            <a:r>
              <a:rPr lang="ko-KR" altLang="en-US" sz="1400" dirty="0">
                <a:solidFill>
                  <a:srgbClr val="B57B6B"/>
                </a:solidFill>
              </a:rPr>
              <a:t>합성 여론</a:t>
            </a:r>
            <a:r>
              <a:rPr lang="en-US" altLang="ko-KR" sz="1400" dirty="0">
                <a:solidFill>
                  <a:srgbClr val="B57B6B"/>
                </a:solidFill>
              </a:rPr>
              <a:t>(Synthetic Public Opinion)'</a:t>
            </a:r>
            <a:r>
              <a:rPr lang="ko-KR" altLang="en-US" sz="1400" dirty="0">
                <a:solidFill>
                  <a:srgbClr val="B57B6B"/>
                </a:solidFill>
              </a:rPr>
              <a:t>으로 보도하며 다음 세대 </a:t>
            </a:r>
            <a:r>
              <a:rPr lang="en-US" altLang="ko-KR" sz="1400" dirty="0">
                <a:solidFill>
                  <a:srgbClr val="B57B6B"/>
                </a:solidFill>
              </a:rPr>
              <a:t>AI</a:t>
            </a:r>
            <a:r>
              <a:rPr lang="ko-KR" altLang="en-US" sz="1400" dirty="0">
                <a:solidFill>
                  <a:srgbClr val="B57B6B"/>
                </a:solidFill>
              </a:rPr>
              <a:t>의 데이터로 고착화 </a:t>
            </a:r>
            <a:r>
              <a:rPr lang="en-US" altLang="ko-KR" sz="1400" dirty="0">
                <a:solidFill>
                  <a:srgbClr val="B57B6B"/>
                </a:solidFill>
              </a:rPr>
              <a:t>(McGregor, 2019; Yarchi et al., 2021).</a:t>
            </a:r>
          </a:p>
        </p:txBody>
      </p:sp>
    </p:spTree>
    <p:extLst>
      <p:ext uri="{BB962C8B-B14F-4D97-AF65-F5344CB8AC3E}">
        <p14:creationId xmlns:p14="http://schemas.microsoft.com/office/powerpoint/2010/main" val="5255308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4BD096-00CC-B6D6-24F6-0761C7561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ED44B6-853E-FB87-F210-2F43C9EBC8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Cycle A (Human to AI): </a:t>
            </a:r>
            <a:r>
              <a:rPr lang="ko-KR" altLang="en-US" sz="3200" dirty="0"/>
              <a:t>편향된 데이터의 주입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8D4B35A-BCAD-977F-6379-16628B87853C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알고리즘적 정치 편향</a:t>
            </a:r>
            <a:r>
              <a:rPr lang="en-US" altLang="ko-KR" b="1" dirty="0"/>
              <a:t>(Algorithmic Political Bias)</a:t>
            </a:r>
          </a:p>
          <a:p>
            <a:r>
              <a:rPr lang="en-US" altLang="ko-KR" dirty="0"/>
              <a:t>AI </a:t>
            </a:r>
            <a:r>
              <a:rPr lang="ko-KR" altLang="en-US" dirty="0"/>
              <a:t>시스템은 개발 단계나 인간이 생산한 학습 데이터</a:t>
            </a:r>
            <a:r>
              <a:rPr lang="en-US" altLang="ko-KR" dirty="0"/>
              <a:t>(CV, </a:t>
            </a:r>
            <a:r>
              <a:rPr lang="ko-KR" altLang="en-US" dirty="0"/>
              <a:t>소셜미디어 해시태그 등</a:t>
            </a:r>
            <a:r>
              <a:rPr lang="en-US" altLang="ko-KR" dirty="0"/>
              <a:t>)</a:t>
            </a:r>
            <a:r>
              <a:rPr lang="ko-KR" altLang="en-US" dirty="0"/>
              <a:t>로부터 본질적인 </a:t>
            </a:r>
            <a:r>
              <a:rPr lang="en-US" altLang="ko-KR" dirty="0"/>
              <a:t>'</a:t>
            </a:r>
            <a:r>
              <a:rPr lang="ko-KR" altLang="en-US" dirty="0"/>
              <a:t>정치적 편향</a:t>
            </a:r>
            <a:r>
              <a:rPr lang="en-US" altLang="ko-KR" dirty="0"/>
              <a:t>'</a:t>
            </a:r>
            <a:r>
              <a:rPr lang="ko-KR" altLang="en-US" dirty="0"/>
              <a:t>을 띠게 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성차별이나 인종차별과 달리 </a:t>
            </a:r>
            <a:r>
              <a:rPr lang="en-US" altLang="ko-KR" dirty="0"/>
              <a:t>'</a:t>
            </a:r>
            <a:r>
              <a:rPr lang="ko-KR" altLang="en-US" dirty="0"/>
              <a:t>정치적 적대감</a:t>
            </a:r>
            <a:r>
              <a:rPr lang="en-US" altLang="ko-KR" dirty="0"/>
              <a:t>'</a:t>
            </a:r>
            <a:r>
              <a:rPr lang="ko-KR" altLang="en-US" dirty="0"/>
              <a:t>에 대해서는 사회적 규범 제재가 약하기 때문에</a:t>
            </a:r>
            <a:r>
              <a:rPr lang="en-US" altLang="ko-KR" dirty="0"/>
              <a:t>, </a:t>
            </a:r>
            <a:r>
              <a:rPr lang="ko-KR" altLang="en-US" dirty="0"/>
              <a:t>통제 없이 </a:t>
            </a:r>
            <a:r>
              <a:rPr lang="en-US" altLang="ko-KR" dirty="0"/>
              <a:t>AI </a:t>
            </a:r>
            <a:r>
              <a:rPr lang="ko-KR" altLang="en-US" dirty="0"/>
              <a:t>모델에 고스란히 전이됨 </a:t>
            </a:r>
            <a:r>
              <a:rPr lang="en-US" altLang="ko-KR" dirty="0"/>
              <a:t>(Peters, 2022).</a:t>
            </a:r>
          </a:p>
          <a:p>
            <a:r>
              <a:rPr lang="ko-KR" altLang="en-US" dirty="0"/>
              <a:t>이러한 데이터 편향은 </a:t>
            </a:r>
            <a:r>
              <a:rPr lang="en-US" altLang="ko-KR" dirty="0"/>
              <a:t>AI</a:t>
            </a:r>
            <a:r>
              <a:rPr lang="ko-KR" altLang="en-US" dirty="0"/>
              <a:t>가 자연어 처리나 감성 분석</a:t>
            </a:r>
            <a:r>
              <a:rPr lang="en-US" altLang="ko-KR" dirty="0"/>
              <a:t>(Sentiment Analysis)</a:t>
            </a:r>
            <a:r>
              <a:rPr lang="ko-KR" altLang="en-US" dirty="0"/>
              <a:t>을 수행할 때 특정 정치 집단에 더 긍정적</a:t>
            </a:r>
            <a:r>
              <a:rPr lang="en-US" altLang="ko-KR" dirty="0"/>
              <a:t>/</a:t>
            </a:r>
            <a:r>
              <a:rPr lang="ko-KR" altLang="en-US" dirty="0"/>
              <a:t>부정적 결과를 내놓는 원인이 됨 </a:t>
            </a:r>
            <a:r>
              <a:rPr lang="en-US" altLang="ko-KR" dirty="0"/>
              <a:t>(Mullen &amp; Collier, 2004).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01E27A8-0C1E-F446-C1C9-086947686B0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9A9BCE9-B456-9CC0-C1E0-A8E2134D4F50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7570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E41CB-C4E5-165B-BFB2-669EFB5EE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216E04-4D5D-EB71-2089-8C3537B0DC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Cycle A (Human to AI): </a:t>
            </a:r>
            <a:r>
              <a:rPr lang="ko-KR" altLang="en-US" sz="3200" dirty="0"/>
              <a:t>소수 과잉 활동자의 과대 대표성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31D362-9EB6-8F20-61A5-2655CDA0CD4E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과잉 활동 사용자</a:t>
            </a:r>
            <a:r>
              <a:rPr lang="en-US" altLang="ko-KR" b="1" dirty="0"/>
              <a:t>(Hyperactive users)</a:t>
            </a:r>
            <a:r>
              <a:rPr lang="ko-KR" altLang="en-US" b="1" dirty="0"/>
              <a:t> 문제</a:t>
            </a:r>
            <a:endParaRPr lang="en-US" altLang="ko-KR" b="1" dirty="0"/>
          </a:p>
          <a:p>
            <a:r>
              <a:rPr lang="ko-KR" altLang="en-US" dirty="0"/>
              <a:t>소셜 미디어의 정치 담론은 평균보다 활동량이 비정상적으로 많은 극소수의 </a:t>
            </a:r>
            <a:r>
              <a:rPr lang="en-US" altLang="ko-KR" dirty="0"/>
              <a:t>'</a:t>
            </a:r>
            <a:r>
              <a:rPr lang="ko-KR" altLang="en-US" dirty="0"/>
              <a:t>과잉 활동 사용자</a:t>
            </a:r>
            <a:r>
              <a:rPr lang="en-US" altLang="ko-KR" dirty="0"/>
              <a:t>'</a:t>
            </a:r>
            <a:r>
              <a:rPr lang="ko-KR" altLang="en-US" dirty="0"/>
              <a:t>들에 의해 지배됨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와 추천 알고리즘</a:t>
            </a:r>
            <a:r>
              <a:rPr lang="en-US" altLang="ko-KR" dirty="0"/>
              <a:t>(Recommender systems)</a:t>
            </a:r>
            <a:r>
              <a:rPr lang="ko-KR" altLang="en-US" dirty="0"/>
              <a:t>은 이 극소수의 편향된 목소리를 </a:t>
            </a:r>
            <a:r>
              <a:rPr lang="en-US" altLang="ko-KR" dirty="0"/>
              <a:t>'</a:t>
            </a:r>
            <a:r>
              <a:rPr lang="ko-KR" altLang="en-US" dirty="0"/>
              <a:t>보편적 여론</a:t>
            </a:r>
            <a:r>
              <a:rPr lang="en-US" altLang="ko-KR" dirty="0"/>
              <a:t>'</a:t>
            </a:r>
            <a:r>
              <a:rPr lang="ko-KR" altLang="en-US" dirty="0"/>
              <a:t>으로 착각하고 편향되게 학습함</a:t>
            </a:r>
            <a:r>
              <a:rPr lang="en-US" altLang="ko-KR" dirty="0"/>
              <a:t>(Data labeling bias) (</a:t>
            </a:r>
            <a:r>
              <a:rPr lang="en-US" altLang="ko-KR" dirty="0" err="1"/>
              <a:t>Papakyriakopoulos</a:t>
            </a:r>
            <a:r>
              <a:rPr lang="en-US" altLang="ko-KR" dirty="0"/>
              <a:t> et al., 2020).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22C31C-6D70-780C-5C6A-C8E545A47310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2E187F-BE82-DBCA-FA65-8932E68EBD0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371653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DBA964-D374-E713-2394-88ED4348C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A523E27-C7D1-58E4-0980-A063F46DC9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Cycle B (AI to Human): </a:t>
            </a:r>
            <a:r>
              <a:rPr lang="ko-KR" altLang="en-US" sz="3200" dirty="0"/>
              <a:t>의도된 프로파간다와 조작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3EEAF5A-04D3-AC7C-A629-A0F713A2C45D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전산화된 프로파간다</a:t>
            </a:r>
            <a:r>
              <a:rPr lang="en-US" altLang="ko-KR" b="1" dirty="0"/>
              <a:t>(Computational Propaganda)</a:t>
            </a:r>
          </a:p>
          <a:p>
            <a:r>
              <a:rPr lang="ko-KR" altLang="en-US" dirty="0"/>
              <a:t>소셜 봇</a:t>
            </a:r>
            <a:r>
              <a:rPr lang="en-US" altLang="ko-KR" dirty="0"/>
              <a:t>(Social bots)</a:t>
            </a:r>
            <a:r>
              <a:rPr lang="ko-KR" altLang="en-US" dirty="0"/>
              <a:t>은 선거 캠페인에서 인간의 행동을 모방하고</a:t>
            </a:r>
            <a:r>
              <a:rPr lang="en-US" altLang="ko-KR" dirty="0"/>
              <a:t>, </a:t>
            </a:r>
            <a:r>
              <a:rPr lang="ko-KR" altLang="en-US" dirty="0"/>
              <a:t>가짜 인기와 편승 효과</a:t>
            </a:r>
            <a:r>
              <a:rPr lang="en-US" altLang="ko-KR" dirty="0"/>
              <a:t>(Bandwagon effect)</a:t>
            </a:r>
            <a:r>
              <a:rPr lang="ko-KR" altLang="en-US" dirty="0"/>
              <a:t>를 유발해 담론을 조작함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봇 프로그램은 소수의 의견을 자발적인 시민 여론인 척 위장하는 </a:t>
            </a:r>
            <a:r>
              <a:rPr lang="en-US" altLang="ko-KR" dirty="0"/>
              <a:t>'</a:t>
            </a:r>
            <a:r>
              <a:rPr lang="ko-KR" altLang="en-US" dirty="0"/>
              <a:t>정치적 </a:t>
            </a:r>
            <a:r>
              <a:rPr lang="ko-KR" altLang="en-US" dirty="0" err="1"/>
              <a:t>애스트로터핑</a:t>
            </a:r>
            <a:r>
              <a:rPr lang="en-US" altLang="ko-KR" dirty="0"/>
              <a:t>(Political Astroturfing)'</a:t>
            </a:r>
            <a:r>
              <a:rPr lang="ko-KR" altLang="en-US" dirty="0"/>
              <a:t>을 동시다발적으로 조율해 냄 </a:t>
            </a:r>
            <a:r>
              <a:rPr lang="en-US" altLang="ko-KR" dirty="0"/>
              <a:t>(Keller et al., 2020).</a:t>
            </a:r>
          </a:p>
          <a:p>
            <a:r>
              <a:rPr lang="ko-KR" altLang="en-US" dirty="0"/>
              <a:t>이러한 조작은 대중</a:t>
            </a:r>
            <a:r>
              <a:rPr lang="en-US" altLang="ko-KR" dirty="0"/>
              <a:t>(the people)</a:t>
            </a:r>
            <a:r>
              <a:rPr lang="ko-KR" altLang="en-US" dirty="0"/>
              <a:t>을 중심에 두는 </a:t>
            </a:r>
            <a:r>
              <a:rPr lang="ko-KR" altLang="en-US" dirty="0" err="1"/>
              <a:t>포퓰리즘적</a:t>
            </a:r>
            <a:r>
              <a:rPr lang="ko-KR" altLang="en-US" dirty="0"/>
              <a:t> 기술 퍼포먼스</a:t>
            </a:r>
            <a:r>
              <a:rPr lang="en-US" altLang="ko-KR" dirty="0"/>
              <a:t>(Technological performance of populism)</a:t>
            </a:r>
            <a:r>
              <a:rPr lang="ko-KR" altLang="en-US" dirty="0"/>
              <a:t>를 극대화함 </a:t>
            </a:r>
            <a:r>
              <a:rPr lang="en-US" altLang="ko-KR" dirty="0"/>
              <a:t>(Baldwin-Philippi, 2019).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CAE933-07A9-78E9-43F5-ADBAE7F4DBDE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62FFE6-56CA-6899-72A7-CCA6521ED719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1351460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10C6D1-5680-33C7-09E2-4198F49AA8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651EE4-04BA-E9B4-8F94-5109C02CD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Cycle B (AI to Human): </a:t>
            </a:r>
            <a:r>
              <a:rPr lang="ko-KR" altLang="en-US" sz="3200" dirty="0"/>
              <a:t>맞춤형 정치 설득</a:t>
            </a:r>
            <a:r>
              <a:rPr lang="en-US" altLang="ko-KR" sz="3200" dirty="0"/>
              <a:t>(Micro-targeting)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E16A9E-9611-3F6B-6275-2FB9BD18062C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altLang="ko-KR" b="1" dirty="0"/>
          </a:p>
          <a:p>
            <a:r>
              <a:rPr lang="ko-KR" altLang="en-US" dirty="0"/>
              <a:t>기존의 포퓰리즘 정치인들은 분노를 자극하면서도 유권자와 친근한</a:t>
            </a:r>
            <a:r>
              <a:rPr lang="en-US" altLang="ko-KR" dirty="0"/>
              <a:t>(sociable and negative styles) </a:t>
            </a:r>
            <a:r>
              <a:rPr lang="ko-KR" altLang="en-US" dirty="0"/>
              <a:t>감정 커뮤니케이션 전략으로 정서적 결속을 </a:t>
            </a:r>
            <a:r>
              <a:rPr lang="ko-KR" altLang="en-US" dirty="0" err="1"/>
              <a:t>다져왔음</a:t>
            </a:r>
            <a:r>
              <a:rPr lang="ko-KR" altLang="en-US" dirty="0"/>
              <a:t> </a:t>
            </a:r>
            <a:r>
              <a:rPr lang="en-US" altLang="ko-KR" dirty="0"/>
              <a:t>(Lin et al., 2024).</a:t>
            </a:r>
          </a:p>
          <a:p>
            <a:r>
              <a:rPr lang="ko-KR" altLang="en-US" dirty="0"/>
              <a:t>생성형 </a:t>
            </a:r>
            <a:r>
              <a:rPr lang="en-US" altLang="ko-KR" dirty="0"/>
              <a:t>AI</a:t>
            </a:r>
            <a:r>
              <a:rPr lang="ko-KR" altLang="en-US" dirty="0"/>
              <a:t>는 이를 넘어 유권자 개인의 성향을 파악하고 맞춤형 옹호 메시지</a:t>
            </a:r>
            <a:r>
              <a:rPr lang="en-US" altLang="ko-KR" dirty="0"/>
              <a:t>(advocacy messages)</a:t>
            </a:r>
            <a:r>
              <a:rPr lang="ko-KR" altLang="en-US" dirty="0"/>
              <a:t>를 자동 생성하여 이러한 정서적 조작</a:t>
            </a:r>
            <a:r>
              <a:rPr lang="en-US" altLang="ko-KR" dirty="0"/>
              <a:t>(Micro-targeted Persuasion)</a:t>
            </a:r>
            <a:r>
              <a:rPr lang="ko-KR" altLang="en-US" dirty="0"/>
              <a:t>을 극대화함 </a:t>
            </a:r>
            <a:r>
              <a:rPr lang="en-US" altLang="ko-KR" dirty="0"/>
              <a:t>(Kreps &amp; Kriner, 2023).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91459D-D282-88E8-32AC-FF2BD192B716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3692057-5A69-DF3A-2EA7-1C083D6420E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4243572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4CD4F-087D-29F2-94BF-31240B7DC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84C0AF3-50B3-217A-C8B6-786D9098A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Cycle C (Human to</a:t>
            </a:r>
            <a:r>
              <a:rPr lang="ko-KR" altLang="en-US" sz="3200" dirty="0"/>
              <a:t> </a:t>
            </a:r>
            <a:r>
              <a:rPr lang="en-US" altLang="ko-KR" sz="3200" dirty="0"/>
              <a:t>AI): </a:t>
            </a:r>
            <a:r>
              <a:rPr lang="ko-KR" altLang="en-US" sz="3200" dirty="0"/>
              <a:t>에코 </a:t>
            </a:r>
            <a:r>
              <a:rPr lang="ko-KR" altLang="en-US" sz="3200" dirty="0" err="1"/>
              <a:t>체임버와</a:t>
            </a:r>
            <a:r>
              <a:rPr lang="ko-KR" altLang="en-US" sz="3200" dirty="0"/>
              <a:t> 정서적 양극화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08BC0CE-3E95-192C-7F47-88C8C553F969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상상된 공동체와 적대감</a:t>
            </a:r>
            <a:endParaRPr lang="en-US" altLang="ko-KR" b="1" dirty="0"/>
          </a:p>
          <a:p>
            <a:r>
              <a:rPr lang="ko-KR" altLang="en-US" dirty="0"/>
              <a:t>소셜 미디어상에서 포퓰리즘 지지자들은 자신들을 </a:t>
            </a:r>
            <a:r>
              <a:rPr lang="en-US" altLang="ko-KR" dirty="0"/>
              <a:t>'</a:t>
            </a:r>
            <a:r>
              <a:rPr lang="ko-KR" altLang="en-US" dirty="0"/>
              <a:t>도덕적이고 선량한 대중</a:t>
            </a:r>
            <a:r>
              <a:rPr lang="en-US" altLang="ko-KR" dirty="0"/>
              <a:t>'</a:t>
            </a:r>
            <a:r>
              <a:rPr lang="ko-KR" altLang="en-US" dirty="0"/>
              <a:t>으로 상상하며</a:t>
            </a:r>
            <a:r>
              <a:rPr lang="en-US" altLang="ko-KR" dirty="0"/>
              <a:t>, </a:t>
            </a:r>
            <a:r>
              <a:rPr lang="ko-KR" altLang="en-US" dirty="0"/>
              <a:t>강한 </a:t>
            </a:r>
            <a:r>
              <a:rPr lang="ko-KR" altLang="en-US" dirty="0" err="1"/>
              <a:t>내집단</a:t>
            </a:r>
            <a:r>
              <a:rPr lang="ko-KR" altLang="en-US" dirty="0"/>
              <a:t> 애정</a:t>
            </a:r>
            <a:r>
              <a:rPr lang="en-US" altLang="ko-KR" dirty="0"/>
              <a:t>(in-group love)</a:t>
            </a:r>
            <a:r>
              <a:rPr lang="ko-KR" altLang="en-US" dirty="0"/>
              <a:t>을 형성함 </a:t>
            </a:r>
            <a:r>
              <a:rPr lang="en-US" altLang="ko-KR" dirty="0"/>
              <a:t>(Juarez Miro, 2025).</a:t>
            </a:r>
          </a:p>
          <a:p>
            <a:r>
              <a:rPr lang="ko-KR" altLang="en-US" dirty="0"/>
              <a:t>소셜 미디어를 통한 낮은 진입장벽의 정치적 표현</a:t>
            </a:r>
            <a:r>
              <a:rPr lang="en-US" altLang="ko-KR" dirty="0"/>
              <a:t>(lower-threshold expression)</a:t>
            </a:r>
            <a:r>
              <a:rPr lang="ko-KR" altLang="en-US" dirty="0"/>
              <a:t>은 결국 오프라인의 강력한 정치 행동으로 이어짐 </a:t>
            </a:r>
            <a:r>
              <a:rPr lang="en-US" altLang="ko-KR" dirty="0"/>
              <a:t>(Vaccari et al., 2015).</a:t>
            </a:r>
          </a:p>
          <a:p>
            <a:r>
              <a:rPr lang="ko-KR" altLang="en-US" dirty="0"/>
              <a:t>플랫폼</a:t>
            </a:r>
            <a:r>
              <a:rPr lang="en-US" altLang="ko-KR" dirty="0"/>
              <a:t>(</a:t>
            </a:r>
            <a:r>
              <a:rPr lang="ko-KR" altLang="en-US" dirty="0"/>
              <a:t>특히 트위터와 페이스북</a:t>
            </a:r>
            <a:r>
              <a:rPr lang="en-US" altLang="ko-KR" dirty="0"/>
              <a:t>)</a:t>
            </a:r>
            <a:r>
              <a:rPr lang="ko-KR" altLang="en-US" dirty="0"/>
              <a:t>의 기술적 환경은 반대 진영에 대한 극단적 적대감을 조장하며 정서적 양극화</a:t>
            </a:r>
            <a:r>
              <a:rPr lang="en-US" altLang="ko-KR" dirty="0"/>
              <a:t>(Affective Polarization)</a:t>
            </a:r>
            <a:r>
              <a:rPr lang="ko-KR" altLang="en-US" dirty="0"/>
              <a:t>를 </a:t>
            </a:r>
            <a:r>
              <a:rPr lang="ko-KR" altLang="en-US" dirty="0" err="1"/>
              <a:t>심화시킴</a:t>
            </a:r>
            <a:r>
              <a:rPr lang="ko-KR" altLang="en-US" dirty="0"/>
              <a:t> </a:t>
            </a:r>
            <a:r>
              <a:rPr lang="en-US" altLang="ko-KR" dirty="0"/>
              <a:t>(Yarchi et al., 2021).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9C6353-4C46-FA16-69C7-F07F2516F97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77317C-AE43-EAC4-8B3F-8539B60E60DC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175620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A4EF5-1303-AE7E-7FA0-0971A3E7E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22CAC3-C492-51B9-1ACF-BB734D233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Cycle C (Human to</a:t>
            </a:r>
            <a:r>
              <a:rPr lang="ko-KR" altLang="en-US" sz="3200" dirty="0"/>
              <a:t> </a:t>
            </a:r>
            <a:r>
              <a:rPr lang="en-US" altLang="ko-KR" sz="3200" dirty="0"/>
              <a:t>AI): </a:t>
            </a:r>
            <a:r>
              <a:rPr lang="ko-KR" altLang="en-US" sz="3200" dirty="0"/>
              <a:t>합성 여론</a:t>
            </a:r>
            <a:r>
              <a:rPr lang="en-US" altLang="ko-KR" sz="3200" dirty="0"/>
              <a:t>(Synthetic Public Opinion)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6BDE74A-AF95-E02E-AA73-C88CF425C5A7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언론의 오독과 여론의 왜곡</a:t>
            </a:r>
            <a:endParaRPr lang="en-US" altLang="ko-KR" b="1" dirty="0"/>
          </a:p>
          <a:p>
            <a:r>
              <a:rPr lang="ko-KR" altLang="en-US" dirty="0"/>
              <a:t>현대의 언론인들은 트위터 등 소셜 미디어의 트렌드 지표나 반응을 </a:t>
            </a:r>
            <a:r>
              <a:rPr lang="en-US" altLang="ko-KR" dirty="0"/>
              <a:t>'</a:t>
            </a:r>
            <a:r>
              <a:rPr lang="ko-KR" altLang="en-US" dirty="0"/>
              <a:t>대중의 실제 여론</a:t>
            </a:r>
            <a:r>
              <a:rPr lang="en-US" altLang="ko-KR" dirty="0"/>
              <a:t>(Public Opinion)'</a:t>
            </a:r>
            <a:r>
              <a:rPr lang="ko-KR" altLang="en-US" dirty="0"/>
              <a:t>으로 간주하고 보도하는 경향이 있음 </a:t>
            </a:r>
            <a:r>
              <a:rPr lang="en-US" altLang="ko-KR" dirty="0"/>
              <a:t>(McGregor, 2019).</a:t>
            </a:r>
          </a:p>
          <a:p>
            <a:r>
              <a:rPr lang="ko-KR" altLang="en-US" dirty="0"/>
              <a:t>합성 여론</a:t>
            </a:r>
            <a:r>
              <a:rPr lang="en-US" altLang="ko-KR" dirty="0"/>
              <a:t>(Synthetic Public Opinion): </a:t>
            </a:r>
            <a:r>
              <a:rPr lang="ko-KR" altLang="en-US" dirty="0"/>
              <a:t>극단주의자들과 </a:t>
            </a:r>
            <a:r>
              <a:rPr lang="en-US" altLang="ko-KR" dirty="0"/>
              <a:t>AI/</a:t>
            </a:r>
            <a:r>
              <a:rPr lang="ko-KR" altLang="en-US" dirty="0"/>
              <a:t>봇이 조작해 낸 소셜 미디어 반응이 언론을 통해 정당성을 얻고</a:t>
            </a:r>
            <a:r>
              <a:rPr lang="en-US" altLang="ko-KR" dirty="0"/>
              <a:t>, </a:t>
            </a:r>
            <a:r>
              <a:rPr lang="ko-KR" altLang="en-US" dirty="0"/>
              <a:t>그 기사들이 다시 다음 세대 </a:t>
            </a:r>
            <a:r>
              <a:rPr lang="en-US" altLang="ko-KR" dirty="0"/>
              <a:t>AI</a:t>
            </a:r>
            <a:r>
              <a:rPr lang="ko-KR" altLang="en-US" dirty="0"/>
              <a:t>의 학습 데이터로 쓰이는 치명적 순환이 완성됨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4FA88D-449A-803D-C709-70B6855819B8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6CB8803-D3BC-9383-09D4-E202811878A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800302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48E45F-E0B3-ACDB-8EAE-D94C38F14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2AD03D-083F-8EBD-981C-D7AC89EA0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Cycle C (Human to</a:t>
            </a:r>
            <a:r>
              <a:rPr lang="ko-KR" altLang="en-US" sz="3200" dirty="0"/>
              <a:t> </a:t>
            </a:r>
            <a:r>
              <a:rPr lang="en-US" altLang="ko-KR" sz="3200" dirty="0"/>
              <a:t>AI): '</a:t>
            </a:r>
            <a:r>
              <a:rPr lang="ko-KR" altLang="en-US" sz="3200" dirty="0"/>
              <a:t>합성 여론</a:t>
            </a:r>
            <a:r>
              <a:rPr lang="en-US" altLang="ko-KR" sz="3200" dirty="0"/>
              <a:t>'</a:t>
            </a:r>
            <a:r>
              <a:rPr lang="ko-KR" altLang="en-US" sz="3200" dirty="0"/>
              <a:t>의 수용과 인지적 타협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4C654C5-B4C4-D120-4755-2438C479C939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소통 비용과 충실도의 타협 </a:t>
            </a:r>
            <a:r>
              <a:rPr lang="en-US" altLang="ko-KR" b="1" dirty="0"/>
              <a:t>(Communication Cost vs. Output Fidelity)</a:t>
            </a:r>
            <a:r>
              <a:rPr lang="ko-KR" altLang="en-US" b="1" dirty="0"/>
              <a:t> </a:t>
            </a:r>
            <a:endParaRPr lang="en-US" altLang="ko-KR" b="1" dirty="0"/>
          </a:p>
          <a:p>
            <a:r>
              <a:rPr lang="ko-KR" altLang="en-US" dirty="0"/>
              <a:t>사용자는 </a:t>
            </a:r>
            <a:r>
              <a:rPr lang="en-US" altLang="ko-KR" dirty="0"/>
              <a:t>AI</a:t>
            </a:r>
            <a:r>
              <a:rPr lang="ko-KR" altLang="en-US" dirty="0"/>
              <a:t>와 상호작용할 때 자신의 취향을 정확히 반영하기 위해 </a:t>
            </a:r>
            <a:r>
              <a:rPr lang="en-US" altLang="ko-KR" dirty="0"/>
              <a:t>AI</a:t>
            </a:r>
            <a:r>
              <a:rPr lang="ko-KR" altLang="en-US" dirty="0"/>
              <a:t>를 교정하는 </a:t>
            </a:r>
            <a:r>
              <a:rPr lang="en-US" altLang="ko-KR" dirty="0"/>
              <a:t>'</a:t>
            </a:r>
            <a:r>
              <a:rPr lang="ko-KR" altLang="en-US" dirty="0"/>
              <a:t>소통 비용</a:t>
            </a:r>
            <a:r>
              <a:rPr lang="en-US" altLang="ko-KR" dirty="0"/>
              <a:t>(</a:t>
            </a:r>
            <a:r>
              <a:rPr lang="ko-KR" altLang="en-US" dirty="0"/>
              <a:t>노력</a:t>
            </a:r>
            <a:r>
              <a:rPr lang="en-US" altLang="ko-KR" dirty="0"/>
              <a:t>)'</a:t>
            </a:r>
            <a:r>
              <a:rPr lang="ko-KR" altLang="en-US" dirty="0"/>
              <a:t>과 </a:t>
            </a:r>
            <a:r>
              <a:rPr lang="en-US" altLang="ko-KR" dirty="0"/>
              <a:t>AI </a:t>
            </a:r>
            <a:r>
              <a:rPr lang="ko-KR" altLang="en-US" dirty="0"/>
              <a:t>결과물의 </a:t>
            </a:r>
            <a:r>
              <a:rPr lang="en-US" altLang="ko-KR" dirty="0"/>
              <a:t>'</a:t>
            </a:r>
            <a:r>
              <a:rPr lang="ko-KR" altLang="en-US" dirty="0"/>
              <a:t>충실도</a:t>
            </a:r>
            <a:r>
              <a:rPr lang="en-US" altLang="ko-KR" dirty="0"/>
              <a:t>' </a:t>
            </a:r>
            <a:r>
              <a:rPr lang="ko-KR" altLang="en-US" dirty="0"/>
              <a:t>사이에서 끊임없이 타협함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대다수의 사람들은 인지적 노력을 아끼고 효율성을 극대화하기 위해</a:t>
            </a:r>
            <a:r>
              <a:rPr lang="en-US" altLang="ko-KR" dirty="0"/>
              <a:t>, </a:t>
            </a:r>
            <a:r>
              <a:rPr lang="ko-KR" altLang="en-US" dirty="0"/>
              <a:t>최소한의 상호작용만으로 </a:t>
            </a:r>
            <a:r>
              <a:rPr lang="en-US" altLang="ko-KR" dirty="0"/>
              <a:t>AI</a:t>
            </a:r>
            <a:r>
              <a:rPr lang="ko-KR" altLang="en-US" dirty="0"/>
              <a:t>가 제시하는 편향된 </a:t>
            </a:r>
            <a:r>
              <a:rPr lang="en-US" altLang="ko-KR" dirty="0"/>
              <a:t>'</a:t>
            </a:r>
            <a:r>
              <a:rPr lang="ko-KR" altLang="en-US" dirty="0"/>
              <a:t>기본 출력</a:t>
            </a:r>
            <a:r>
              <a:rPr lang="en-US" altLang="ko-KR" dirty="0"/>
              <a:t>'</a:t>
            </a:r>
            <a:r>
              <a:rPr lang="ko-KR" altLang="en-US" dirty="0"/>
              <a:t>을 그대로 수용하는 경향을 보임 </a:t>
            </a:r>
            <a:r>
              <a:rPr lang="en-US" altLang="ko-KR" dirty="0"/>
              <a:t>(Castro, Gao, &amp; Martin, 2024).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인간은 귀찮음이나 인지적 한계로 인해 </a:t>
            </a:r>
            <a:r>
              <a:rPr lang="en-US" altLang="ko-KR" dirty="0"/>
              <a:t>AI</a:t>
            </a:r>
            <a:r>
              <a:rPr lang="ko-KR" altLang="en-US" dirty="0"/>
              <a:t>나 봇</a:t>
            </a:r>
            <a:r>
              <a:rPr lang="en-US" altLang="ko-KR" dirty="0"/>
              <a:t>(Bot)</a:t>
            </a:r>
            <a:r>
              <a:rPr lang="ko-KR" altLang="en-US" dirty="0"/>
              <a:t>이 </a:t>
            </a:r>
            <a:r>
              <a:rPr lang="ko-KR" altLang="en-US" dirty="0" err="1"/>
              <a:t>뱉어낸</a:t>
            </a:r>
            <a:r>
              <a:rPr lang="ko-KR" altLang="en-US" dirty="0"/>
              <a:t> 조작된 정치적 텍스트를 무비판적으로 수용 및 동조하게 되며</a:t>
            </a:r>
            <a:r>
              <a:rPr lang="en-US" altLang="ko-KR" dirty="0"/>
              <a:t>, </a:t>
            </a:r>
            <a:r>
              <a:rPr lang="ko-KR" altLang="en-US" dirty="0"/>
              <a:t>이를 </a:t>
            </a:r>
            <a:r>
              <a:rPr lang="en-US" altLang="ko-KR" dirty="0"/>
              <a:t>'</a:t>
            </a:r>
            <a:r>
              <a:rPr lang="ko-KR" altLang="en-US" dirty="0"/>
              <a:t>진짜 여론</a:t>
            </a:r>
            <a:r>
              <a:rPr lang="en-US" altLang="ko-KR" dirty="0"/>
              <a:t>(</a:t>
            </a:r>
            <a:r>
              <a:rPr lang="ko-KR" altLang="en-US" dirty="0"/>
              <a:t>합성 여론</a:t>
            </a:r>
            <a:r>
              <a:rPr lang="en-US" altLang="ko-KR" dirty="0"/>
              <a:t>)'</a:t>
            </a:r>
            <a:r>
              <a:rPr lang="ko-KR" altLang="en-US" dirty="0"/>
              <a:t>으로 착각하게 됨</a:t>
            </a:r>
            <a:r>
              <a:rPr lang="en-US" altLang="ko-KR" dirty="0"/>
              <a:t>.</a:t>
            </a:r>
            <a:br>
              <a:rPr lang="ko-KR" altLang="en-US" dirty="0"/>
            </a:br>
            <a:endParaRPr lang="en-US" altLang="ko-KR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019D1B-8864-9BD1-83EE-01CFA6FBFF4F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AE16D4-7030-E670-9787-6F18189821A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31741999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713E6-E6DA-D147-BD4D-47113C6BC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922ED94-8CEC-0719-578A-96ED48B9D0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Cycle C (Human to</a:t>
            </a:r>
            <a:r>
              <a:rPr lang="ko-KR" altLang="en-US" sz="3200" dirty="0"/>
              <a:t> </a:t>
            </a:r>
            <a:r>
              <a:rPr lang="en-US" altLang="ko-KR" sz="3200" dirty="0"/>
              <a:t>AI): </a:t>
            </a:r>
            <a:r>
              <a:rPr lang="ko-KR" altLang="en-US" sz="3200" dirty="0"/>
              <a:t>자기 소비적 수행 루프와 편향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FD79AC6-6A0D-B0FA-EF56-AA3233CB5D40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자기 소비적 수행 루프 </a:t>
            </a:r>
            <a:r>
              <a:rPr lang="en-US" altLang="ko-KR" b="1" dirty="0"/>
              <a:t>(Self-Consuming Performative Loop, SCPL)</a:t>
            </a:r>
            <a:r>
              <a:rPr lang="ko-KR" altLang="en-US" b="1" dirty="0"/>
              <a:t> </a:t>
            </a:r>
            <a:endParaRPr lang="en-US" altLang="ko-KR" b="1" dirty="0"/>
          </a:p>
          <a:p>
            <a:r>
              <a:rPr lang="ko-KR" altLang="en-US" dirty="0"/>
              <a:t>무비판적으로 수용된 </a:t>
            </a:r>
            <a:r>
              <a:rPr lang="en-US" altLang="ko-KR" dirty="0"/>
              <a:t>'</a:t>
            </a:r>
            <a:r>
              <a:rPr lang="ko-KR" altLang="en-US" dirty="0"/>
              <a:t>합성 여론</a:t>
            </a:r>
            <a:r>
              <a:rPr lang="en-US" altLang="ko-KR" dirty="0"/>
              <a:t>'</a:t>
            </a:r>
            <a:r>
              <a:rPr lang="ko-KR" altLang="en-US" dirty="0"/>
              <a:t>은 인터넷에 기록되고</a:t>
            </a:r>
            <a:r>
              <a:rPr lang="en-US" altLang="ko-KR" dirty="0"/>
              <a:t>, </a:t>
            </a:r>
            <a:r>
              <a:rPr lang="ko-KR" altLang="en-US" dirty="0"/>
              <a:t>이 합성 데이터가 다시 다음 세대 </a:t>
            </a:r>
            <a:r>
              <a:rPr lang="en-US" altLang="ko-KR" dirty="0"/>
              <a:t>AI</a:t>
            </a:r>
            <a:r>
              <a:rPr lang="ko-KR" altLang="en-US" dirty="0"/>
              <a:t>의 반복적인 미세 조정</a:t>
            </a:r>
            <a:r>
              <a:rPr lang="en-US" altLang="ko-KR" dirty="0"/>
              <a:t>(fine-tuning)</a:t>
            </a:r>
            <a:r>
              <a:rPr lang="ko-KR" altLang="en-US" dirty="0"/>
              <a:t>과 재학습에 쓰이는 동적 순환이 발생함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이러한 루프를 거칠수록 세대가 지날수록 텍스트 생성 품질이 저하될 뿐만 아니라</a:t>
            </a:r>
            <a:r>
              <a:rPr lang="en-US" altLang="ko-KR" dirty="0"/>
              <a:t>, </a:t>
            </a:r>
            <a:r>
              <a:rPr lang="ko-KR" altLang="en-US" dirty="0"/>
              <a:t>특정 여론에 대한 </a:t>
            </a:r>
            <a:r>
              <a:rPr lang="en-US" altLang="ko-KR" dirty="0"/>
              <a:t>'</a:t>
            </a:r>
            <a:r>
              <a:rPr lang="ko-KR" altLang="en-US" dirty="0"/>
              <a:t>선호 편향</a:t>
            </a:r>
            <a:r>
              <a:rPr lang="en-US" altLang="ko-KR" dirty="0"/>
              <a:t>'</a:t>
            </a:r>
            <a:r>
              <a:rPr lang="ko-KR" altLang="en-US" dirty="0"/>
              <a:t>이 통제할 수 없을 정도로 기술적으로 증폭됨 </a:t>
            </a:r>
            <a:r>
              <a:rPr lang="en-US" altLang="ko-KR" dirty="0"/>
              <a:t>(Wang et al., 2024).</a:t>
            </a:r>
          </a:p>
          <a:p>
            <a:r>
              <a:rPr lang="ko-KR" altLang="en-US" dirty="0"/>
              <a:t>인간의 인지적 타협을 거친 조작된 합성 여론이</a:t>
            </a:r>
            <a:r>
              <a:rPr lang="en-US" altLang="ko-KR" dirty="0"/>
              <a:t>, SCPL</a:t>
            </a:r>
            <a:r>
              <a:rPr lang="ko-KR" altLang="en-US" dirty="0"/>
              <a:t>을 통해 다음 세대 </a:t>
            </a:r>
            <a:r>
              <a:rPr lang="en-US" altLang="ko-KR" dirty="0"/>
              <a:t>AI </a:t>
            </a:r>
            <a:r>
              <a:rPr lang="ko-KR" altLang="en-US" dirty="0"/>
              <a:t>내부에 </a:t>
            </a:r>
            <a:r>
              <a:rPr lang="en-US" altLang="ko-KR" dirty="0"/>
              <a:t>'</a:t>
            </a:r>
            <a:r>
              <a:rPr lang="ko-KR" altLang="en-US" dirty="0"/>
              <a:t>보편적 여론</a:t>
            </a:r>
            <a:r>
              <a:rPr lang="en-US" altLang="ko-KR" dirty="0"/>
              <a:t>'</a:t>
            </a:r>
            <a:r>
              <a:rPr lang="ko-KR" altLang="en-US" dirty="0"/>
              <a:t>으로 완전히 고착화</a:t>
            </a:r>
            <a:r>
              <a:rPr lang="en-US" altLang="ko-KR" dirty="0"/>
              <a:t>(Model Collapse)</a:t>
            </a:r>
            <a:r>
              <a:rPr lang="ko-KR" altLang="en-US" dirty="0"/>
              <a:t>되는 치명적 악순환이 완성됨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DFD96B-BE11-DB78-E2A1-489624A64F3B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33F004-2BBB-AA00-60E9-4DFB64CAB0D0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388166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354EEC-64FC-A61F-6B5F-3869025BD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F2AFEF-8245-32BC-74EF-496D23D8CB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Conclusion: </a:t>
            </a:r>
            <a:r>
              <a:rPr lang="ko-KR" altLang="en-US" sz="3200" dirty="0"/>
              <a:t>민주주의 퇴행 방지를 위한 제언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C82CEE-2A3A-5175-5D35-A51D32FBFD9B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b="1" dirty="0"/>
              <a:t>인식론적 위기의 극복</a:t>
            </a:r>
            <a:endParaRPr lang="en-US" altLang="ko-KR" b="1" dirty="0"/>
          </a:p>
          <a:p>
            <a:r>
              <a:rPr lang="ko-KR" altLang="en-US" dirty="0"/>
              <a:t>우리는 더 이상 </a:t>
            </a:r>
            <a:r>
              <a:rPr lang="en-US" altLang="ko-KR" dirty="0"/>
              <a:t>"</a:t>
            </a:r>
            <a:r>
              <a:rPr lang="ko-KR" altLang="en-US" dirty="0"/>
              <a:t>보는 것이 믿는 것</a:t>
            </a:r>
            <a:r>
              <a:rPr lang="en-US" altLang="ko-KR" dirty="0"/>
              <a:t>"</a:t>
            </a:r>
            <a:r>
              <a:rPr lang="ko-KR" altLang="en-US" dirty="0"/>
              <a:t>인 세상에 살지 않으며</a:t>
            </a:r>
            <a:r>
              <a:rPr lang="en-US" altLang="ko-KR" dirty="0"/>
              <a:t>, </a:t>
            </a:r>
            <a:r>
              <a:rPr lang="ko-KR" altLang="en-US" dirty="0"/>
              <a:t>검증을 동반한 </a:t>
            </a:r>
            <a:r>
              <a:rPr lang="en-US" altLang="ko-KR" dirty="0"/>
              <a:t>"</a:t>
            </a:r>
            <a:r>
              <a:rPr lang="ko-KR" altLang="en-US" dirty="0"/>
              <a:t>신뢰하되 검증하라</a:t>
            </a:r>
            <a:r>
              <a:rPr lang="en-US" altLang="ko-KR" dirty="0"/>
              <a:t>(trust but verify)"</a:t>
            </a:r>
            <a:r>
              <a:rPr lang="ko-KR" altLang="en-US" dirty="0"/>
              <a:t>는 미디어 소비 태도가 필수적임 </a:t>
            </a:r>
            <a:r>
              <a:rPr lang="en-US" altLang="ko-KR" dirty="0"/>
              <a:t>(Kreps &amp; Kriner, 2023).</a:t>
            </a:r>
          </a:p>
          <a:p>
            <a:r>
              <a:rPr lang="ko-KR" altLang="en-US" dirty="0"/>
              <a:t>플랫폼 기업들의 알고리즘 투명성 강화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'</a:t>
            </a:r>
            <a:r>
              <a:rPr lang="ko-KR" altLang="en-US" dirty="0"/>
              <a:t>합성 여론</a:t>
            </a:r>
            <a:r>
              <a:rPr lang="en-US" altLang="ko-KR" dirty="0"/>
              <a:t>'</a:t>
            </a:r>
            <a:r>
              <a:rPr lang="ko-KR" altLang="en-US" dirty="0"/>
              <a:t>과 </a:t>
            </a:r>
            <a:r>
              <a:rPr lang="en-US" altLang="ko-KR" dirty="0"/>
              <a:t>'</a:t>
            </a:r>
            <a:r>
              <a:rPr lang="ko-KR" altLang="en-US" dirty="0"/>
              <a:t>실제 여론</a:t>
            </a:r>
            <a:r>
              <a:rPr lang="en-US" altLang="ko-KR" dirty="0"/>
              <a:t>'</a:t>
            </a:r>
            <a:r>
              <a:rPr lang="ko-KR" altLang="en-US" dirty="0"/>
              <a:t>을 구분해 낼 수 있는 디지털 </a:t>
            </a:r>
            <a:r>
              <a:rPr lang="ko-KR" altLang="en-US" dirty="0" err="1"/>
              <a:t>리터러시</a:t>
            </a:r>
            <a:r>
              <a:rPr lang="ko-KR" altLang="en-US" dirty="0"/>
              <a:t> 함양 절실</a:t>
            </a:r>
            <a:r>
              <a:rPr lang="en-US" altLang="ko-KR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4DB2C-E1CD-9553-F414-FBE8DFFA76F4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DEF1F0D-1E35-4A89-C5C9-8074BE3D147F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5663201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1572A47-D215-D6D5-161F-1C267EEFA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00" y="2848082"/>
            <a:ext cx="11049000" cy="1161836"/>
          </a:xfrm>
        </p:spPr>
        <p:txBody>
          <a:bodyPr>
            <a:noAutofit/>
          </a:bodyPr>
          <a:lstStyle/>
          <a:p>
            <a:pPr algn="ctr"/>
            <a:r>
              <a:rPr lang="en-US" altLang="ko-KR" sz="9600" dirty="0"/>
              <a:t>Thank you</a:t>
            </a:r>
            <a:endParaRPr lang="ko-KR" altLang="en-US" sz="9600" dirty="0"/>
          </a:p>
        </p:txBody>
      </p:sp>
    </p:spTree>
    <p:extLst>
      <p:ext uri="{BB962C8B-B14F-4D97-AF65-F5344CB8AC3E}">
        <p14:creationId xmlns:p14="http://schemas.microsoft.com/office/powerpoint/2010/main" val="57891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6D105-578E-BE56-FBE9-725644ACD4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B07B515-6E19-BC94-3B0E-27DC1026F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References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F31376E-F32D-5961-F988-F95B51418A43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Baldwin-Philippi, J. (2019). The technological performance of populism. </a:t>
            </a:r>
            <a:r>
              <a:rPr lang="en-US" altLang="ko-KR" sz="1800" i="1" dirty="0"/>
              <a:t>New Media &amp; Society, 21</a:t>
            </a:r>
            <a:r>
              <a:rPr lang="en-US" altLang="ko-KR" sz="1800" dirty="0"/>
              <a:t>(2), 376–397.</a:t>
            </a:r>
          </a:p>
          <a:p>
            <a:r>
              <a:rPr lang="en-US" altLang="ko-KR" sz="1800" dirty="0"/>
              <a:t>Castro, F., Gao, J., &amp; Martin, S. (2024). Human-AI interactions and societal pitfalls. </a:t>
            </a:r>
            <a:r>
              <a:rPr lang="en-US" altLang="ko-KR" sz="1800" i="1" dirty="0" err="1"/>
              <a:t>arXiv</a:t>
            </a:r>
            <a:r>
              <a:rPr lang="en-US" altLang="ko-KR" sz="1800" i="1" dirty="0"/>
              <a:t> preprint.</a:t>
            </a:r>
          </a:p>
          <a:p>
            <a:r>
              <a:rPr lang="en-US" altLang="ko-KR" sz="1800" dirty="0"/>
              <a:t>Gil de Zúñiga, H., Koc Michalska, K., &amp; </a:t>
            </a:r>
            <a:r>
              <a:rPr lang="en-US" altLang="ko-KR" sz="1800" dirty="0" err="1"/>
              <a:t>Römmele</a:t>
            </a:r>
            <a:r>
              <a:rPr lang="en-US" altLang="ko-KR" sz="1800" dirty="0"/>
              <a:t>, A. (2020). Populism in the era of Twitter: How social media contextualized new insights into an old phenomenon. </a:t>
            </a:r>
            <a:r>
              <a:rPr lang="en-US" altLang="ko-KR" sz="1800" i="1" dirty="0"/>
              <a:t>New Media &amp; Society, 22</a:t>
            </a:r>
            <a:r>
              <a:rPr lang="en-US" altLang="ko-KR" sz="1800" dirty="0"/>
              <a:t>(4), 585–594.</a:t>
            </a:r>
          </a:p>
          <a:p>
            <a:r>
              <a:rPr lang="en-US" altLang="ko-KR" sz="1800" dirty="0"/>
              <a:t>Juarez Miro, C. (2025). “The people” imagined, felt, and experienced by populist supporters: A cross-national and cross-ideological approach. </a:t>
            </a:r>
            <a:r>
              <a:rPr lang="en-US" altLang="ko-KR" sz="1800" i="1" dirty="0"/>
              <a:t>Political Communication, 42</a:t>
            </a:r>
            <a:r>
              <a:rPr lang="en-US" altLang="ko-KR" sz="1800" dirty="0"/>
              <a:t>(6), 1087–1105.</a:t>
            </a:r>
          </a:p>
          <a:p>
            <a:r>
              <a:rPr lang="en-US" altLang="ko-KR" sz="1800" dirty="0"/>
              <a:t>Keller, F. B., Schoch, D., Stier, S., &amp; Yang, J. (2020). Political astroturfing on Twitter: How to coordinate a disinformation campaign. </a:t>
            </a:r>
            <a:r>
              <a:rPr lang="en-US" altLang="ko-KR" sz="1800" i="1" dirty="0"/>
              <a:t>Political Communication, 37</a:t>
            </a:r>
            <a:r>
              <a:rPr lang="en-US" altLang="ko-KR" sz="1800" dirty="0"/>
              <a:t>(2), 256–280.</a:t>
            </a:r>
          </a:p>
          <a:p>
            <a:r>
              <a:rPr lang="en-US" altLang="ko-KR" sz="1800" dirty="0"/>
              <a:t>Keller, T. R., &amp; Klinger, U. (2019). Social bots in election campaigns: Theoretical, empirical, and methodological implications. </a:t>
            </a:r>
            <a:r>
              <a:rPr lang="en-US" altLang="ko-KR" sz="1800" i="1" dirty="0"/>
              <a:t>Political Communication, 36</a:t>
            </a:r>
            <a:r>
              <a:rPr lang="en-US" altLang="ko-KR" sz="1800" dirty="0"/>
              <a:t>(1), 171–189.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453022-F707-2989-948A-BE4B09CA38C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242075C-6C8D-9069-4221-63F200FB4E23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10766654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F2FE6-B0EC-77E3-131C-AD3C355F4E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E2E128-138B-4892-7A04-37163DE57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References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55F805E-9A5D-FDCE-41A2-81BBE113594C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/>
              <a:t>Kreiss, D., &amp; McGregor, S. C. (2018). Technology firms shape political communication: The work of Microsoft, Facebook, Twitter, and Google with campaigns during the 2016 U.S. presidential cycle. </a:t>
            </a:r>
            <a:r>
              <a:rPr lang="en-US" altLang="ko-KR" sz="1800" i="1" dirty="0"/>
              <a:t>Political Communication, 35</a:t>
            </a:r>
            <a:r>
              <a:rPr lang="en-US" altLang="ko-KR" sz="1800" dirty="0"/>
              <a:t>(2), 155–177.</a:t>
            </a:r>
          </a:p>
          <a:p>
            <a:r>
              <a:rPr lang="en-US" altLang="ko-KR" sz="1800" dirty="0"/>
              <a:t>Kreps, S., &amp; Kriner, D. (2023). How AI threatens democracy. </a:t>
            </a:r>
            <a:r>
              <a:rPr lang="en-US" altLang="ko-KR" sz="1800" i="1" dirty="0"/>
              <a:t>Journal of Democracy, 34</a:t>
            </a:r>
            <a:r>
              <a:rPr lang="en-US" altLang="ko-KR" sz="1800" dirty="0"/>
              <a:t>(4), 123–132.</a:t>
            </a:r>
          </a:p>
          <a:p>
            <a:r>
              <a:rPr lang="en-US" altLang="ko-KR" sz="1800" dirty="0"/>
              <a:t>Lin, J.-C., </a:t>
            </a:r>
            <a:r>
              <a:rPr lang="en-US" altLang="ko-KR" sz="1800" dirty="0" err="1"/>
              <a:t>d’Haenens</a:t>
            </a:r>
            <a:r>
              <a:rPr lang="en-US" altLang="ko-KR" sz="1800" dirty="0"/>
              <a:t>, L., &amp; Liao, D. (2024). Building voter intimacy: Comparing populist communication strategies in the closing stages of elections in Taiwan and Germany. </a:t>
            </a:r>
            <a:r>
              <a:rPr lang="en-US" altLang="ko-KR" sz="1800" i="1" dirty="0"/>
              <a:t>International Journal of Communication, 18</a:t>
            </a:r>
            <a:r>
              <a:rPr lang="en-US" altLang="ko-KR" sz="1800" dirty="0"/>
              <a:t>, 4726–4747.</a:t>
            </a:r>
          </a:p>
          <a:p>
            <a:r>
              <a:rPr lang="en-US" altLang="ko-KR" sz="1800" dirty="0"/>
              <a:t>McGregor, S. C. (2019). Social media as public opinion: How journalists use social media to represent public opinion. </a:t>
            </a:r>
            <a:r>
              <a:rPr lang="en-US" altLang="ko-KR" sz="1800" i="1" dirty="0"/>
              <a:t>Journalism, 20</a:t>
            </a:r>
            <a:r>
              <a:rPr lang="en-US" altLang="ko-KR" sz="1800" dirty="0"/>
              <a:t>(8), 1070–1086.</a:t>
            </a:r>
          </a:p>
          <a:p>
            <a:r>
              <a:rPr lang="en-US" altLang="ko-KR" sz="1800" dirty="0"/>
              <a:t>Mullen, T., &amp; Collier, N. (2004). Sentiment analysis using support vector machines with diverse information sources. </a:t>
            </a:r>
            <a:r>
              <a:rPr lang="en-US" altLang="ko-KR" sz="1800" i="1" dirty="0"/>
              <a:t>Proceedings of the 2004 Conference on Empirical Methods in Natural Language Processing</a:t>
            </a:r>
            <a:r>
              <a:rPr lang="en-US" altLang="ko-KR" sz="1800" dirty="0"/>
              <a:t>, 41–48.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48F989B-B5C9-FFCE-8A97-0D5C846D1C6D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C799F9-5FEA-A86F-BF15-0986FB56F33E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23781256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F8AB63-C7DD-F521-61E3-76C2706FC0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5A8B01-E9A2-4421-1123-8E184EAE3A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sz="3200" dirty="0"/>
              <a:t>References</a:t>
            </a:r>
            <a:endParaRPr lang="ko-KR" altLang="en-US" sz="32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0EA065-77D3-CDE6-750B-B3E4B1C69894}"/>
              </a:ext>
            </a:extLst>
          </p:cNvPr>
          <p:cNvSpPr txBox="1">
            <a:spLocks/>
          </p:cNvSpPr>
          <p:nvPr/>
        </p:nvSpPr>
        <p:spPr>
          <a:xfrm>
            <a:off x="571499" y="1434172"/>
            <a:ext cx="11059811" cy="4407257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80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venir Next LT Pro Light" panose="020B0304020202020204" pitchFamily="34" charset="0"/>
              <a:buChar char="–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0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700" dirty="0" err="1"/>
              <a:t>Papakyriakopoulos</a:t>
            </a:r>
            <a:r>
              <a:rPr lang="en-US" altLang="ko-KR" sz="1700" dirty="0"/>
              <a:t>, O., Medina Serrano, J. C., &amp; </a:t>
            </a:r>
            <a:r>
              <a:rPr lang="en-US" altLang="ko-KR" sz="1700" dirty="0" err="1"/>
              <a:t>Hegelich</a:t>
            </a:r>
            <a:r>
              <a:rPr lang="en-US" altLang="ko-KR" sz="1700" dirty="0"/>
              <a:t>, S. (2020). Political communication on social media: A tale of hyperactive users and bias in recommender systems. </a:t>
            </a:r>
            <a:r>
              <a:rPr lang="en-US" altLang="ko-KR" sz="1700" i="1" dirty="0"/>
              <a:t>Online Social Networks and Media, 15</a:t>
            </a:r>
            <a:r>
              <a:rPr lang="en-US" altLang="ko-KR" sz="1700" dirty="0"/>
              <a:t>, 100058.</a:t>
            </a:r>
          </a:p>
          <a:p>
            <a:r>
              <a:rPr lang="en-US" altLang="ko-KR" sz="1700" dirty="0"/>
              <a:t>Peters, U. (2022). Algorithmic political bias in artificial intelligence systems. </a:t>
            </a:r>
            <a:r>
              <a:rPr lang="en-US" altLang="ko-KR" sz="1700" i="1" dirty="0"/>
              <a:t>Philosophy &amp; Technology, 35</a:t>
            </a:r>
            <a:r>
              <a:rPr lang="en-US" altLang="ko-KR" sz="1700" dirty="0"/>
              <a:t>(1), 25.</a:t>
            </a:r>
          </a:p>
          <a:p>
            <a:r>
              <a:rPr lang="en-US" altLang="ko-KR" sz="1700" dirty="0"/>
              <a:t>Vaccari, C., Valeriani, A., </a:t>
            </a:r>
            <a:r>
              <a:rPr lang="en-US" altLang="ko-KR" sz="1700" dirty="0" err="1"/>
              <a:t>Barberá</a:t>
            </a:r>
            <a:r>
              <a:rPr lang="en-US" altLang="ko-KR" sz="1700" dirty="0"/>
              <a:t>, P., Bonneau, R., Jost, J. T., Nagler, J., &amp; Tucker, J. A. (2015). Political expression and action on social media: Exploring the relationship between lower- and higher-threshold political activities among Twitter users in Italy. </a:t>
            </a:r>
            <a:r>
              <a:rPr lang="en-US" altLang="ko-KR" sz="1700" i="1" dirty="0"/>
              <a:t>Journal of Computer-Mediated Communication, 20</a:t>
            </a:r>
            <a:r>
              <a:rPr lang="en-US" altLang="ko-KR" sz="1700" dirty="0"/>
              <a:t>(2), 221–239.</a:t>
            </a:r>
          </a:p>
          <a:p>
            <a:r>
              <a:rPr lang="en-US" altLang="ko-KR" sz="1700" dirty="0"/>
              <a:t>Wang, Y., Cai, Z., Bao, Y., Zhang, X., &amp; Liu, Y. (2024). Observations and remedies for large language model bias in self-consuming performative loop. </a:t>
            </a:r>
            <a:r>
              <a:rPr lang="en-US" altLang="ko-KR" sz="1700" i="1" dirty="0" err="1"/>
              <a:t>arXiv</a:t>
            </a:r>
            <a:r>
              <a:rPr lang="en-US" altLang="ko-KR" sz="1700" i="1" dirty="0"/>
              <a:t> preprint</a:t>
            </a:r>
            <a:r>
              <a:rPr lang="en-US" altLang="ko-KR" sz="1700" dirty="0"/>
              <a:t>.</a:t>
            </a:r>
          </a:p>
          <a:p>
            <a:r>
              <a:rPr lang="en-US" altLang="ko-KR" sz="1700" dirty="0"/>
              <a:t>Yarchi, M., Baden, C., &amp; </a:t>
            </a:r>
            <a:r>
              <a:rPr lang="en-US" altLang="ko-KR" sz="1700" dirty="0" err="1"/>
              <a:t>Kligler-Vilenchik</a:t>
            </a:r>
            <a:r>
              <a:rPr lang="en-US" altLang="ko-KR" sz="1700" dirty="0"/>
              <a:t>, N. (2021). Political polarization on the digital sphere: A cross-platform, over-time analysis of interactional, positional, and affective polarization on social media. </a:t>
            </a:r>
            <a:r>
              <a:rPr lang="en-US" altLang="ko-KR" sz="1700" i="1" dirty="0"/>
              <a:t>Political Communication, 38</a:t>
            </a:r>
            <a:r>
              <a:rPr lang="en-US" altLang="ko-KR" sz="1700" dirty="0"/>
              <a:t>(1-2), 98–139.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1B3D5-53E2-57DC-D7BC-CEF0CA3C7D22}"/>
              </a:ext>
            </a:extLst>
          </p:cNvPr>
          <p:cNvSpPr txBox="1"/>
          <p:nvPr/>
        </p:nvSpPr>
        <p:spPr>
          <a:xfrm>
            <a:off x="571499" y="640036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400" dirty="0"/>
              <a:t>인공지능과 정치 커뮤니케이션의 공진화</a:t>
            </a:r>
            <a:r>
              <a:rPr lang="en-US" altLang="ko-KR" sz="1400" dirty="0"/>
              <a:t>, </a:t>
            </a:r>
            <a:r>
              <a:rPr lang="ko-KR" altLang="en-US" sz="1400" dirty="0"/>
              <a:t>민주주의 퇴행</a:t>
            </a:r>
            <a:endParaRPr lang="en-US" altLang="ko-KR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111F99-EA1E-63CB-F054-F140D764FF9D}"/>
              </a:ext>
            </a:extLst>
          </p:cNvPr>
          <p:cNvSpPr txBox="1"/>
          <p:nvPr/>
        </p:nvSpPr>
        <p:spPr>
          <a:xfrm>
            <a:off x="560690" y="223025"/>
            <a:ext cx="1105981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dirty="0"/>
              <a:t>2026 </a:t>
            </a:r>
            <a:r>
              <a:rPr lang="ko-KR" altLang="en-US" sz="1400" dirty="0"/>
              <a:t>한국소통학회 봄철 정기학술대회</a:t>
            </a:r>
          </a:p>
        </p:txBody>
      </p:sp>
    </p:spTree>
    <p:extLst>
      <p:ext uri="{BB962C8B-B14F-4D97-AF65-F5344CB8AC3E}">
        <p14:creationId xmlns:p14="http://schemas.microsoft.com/office/powerpoint/2010/main" val="828978160"/>
      </p:ext>
    </p:extLst>
  </p:cSld>
  <p:clrMapOvr>
    <a:masterClrMapping/>
  </p:clrMapOvr>
</p:sld>
</file>

<file path=ppt/theme/theme1.xml><?xml version="1.0" encoding="utf-8"?>
<a:theme xmlns:a="http://schemas.openxmlformats.org/drawingml/2006/main" name="AlignmentVTI">
  <a:themeElements>
    <a:clrScheme name="Alignment">
      <a:dk1>
        <a:sysClr val="windowText" lastClr="000000"/>
      </a:dk1>
      <a:lt1>
        <a:sysClr val="window" lastClr="FFFFFF"/>
      </a:lt1>
      <a:dk2>
        <a:srgbClr val="3B3D38"/>
      </a:dk2>
      <a:lt2>
        <a:srgbClr val="F7F2EE"/>
      </a:lt2>
      <a:accent1>
        <a:srgbClr val="928A63"/>
      </a:accent1>
      <a:accent2>
        <a:srgbClr val="B57B6B"/>
      </a:accent2>
      <a:accent3>
        <a:srgbClr val="9E8484"/>
      </a:accent3>
      <a:accent4>
        <a:srgbClr val="7C8A75"/>
      </a:accent4>
      <a:accent5>
        <a:srgbClr val="8C8578"/>
      </a:accent5>
      <a:accent6>
        <a:srgbClr val="A18563"/>
      </a:accent6>
      <a:hlink>
        <a:srgbClr val="B57B6B"/>
      </a:hlink>
      <a:folHlink>
        <a:srgbClr val="7C8A75"/>
      </a:folHlink>
    </a:clrScheme>
    <a:fontScheme name="Custom 1">
      <a:majorFont>
        <a:latin typeface="Batang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ignmentVTI" id="{606D7720-FAA0-4ADC-B967-3239DA8ECA1A}" vid="{10074623-6FCC-4A3C-AAA5-58644BD8FF19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3587</TotalTime>
  <Words>1937</Words>
  <Application>Microsoft Office PowerPoint</Application>
  <PresentationFormat>와이드스크린</PresentationFormat>
  <Paragraphs>131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맑은 고딕</vt:lpstr>
      <vt:lpstr>바탕</vt:lpstr>
      <vt:lpstr>Arial</vt:lpstr>
      <vt:lpstr>Avenir Next LT Pro Light</vt:lpstr>
      <vt:lpstr>AlignmentVTI</vt:lpstr>
      <vt:lpstr>PowerPoint 프레젠테이션</vt:lpstr>
      <vt:lpstr>Introduction: AI &amp; Crisis of Democracy</vt:lpstr>
      <vt:lpstr>Introduction: Feedback Loop Model</vt:lpstr>
      <vt:lpstr>Cycle A (Human to AI): 편향된 데이터의 주입</vt:lpstr>
      <vt:lpstr>Cycle A (Human to AI): 소수 과잉 활동자의 과대 대표성</vt:lpstr>
      <vt:lpstr>Cycle B (AI to Human): 의도된 프로파간다와 조작</vt:lpstr>
      <vt:lpstr>Cycle B (AI to Human): 맞춤형 정치 설득(Micro-targeting)</vt:lpstr>
      <vt:lpstr>Cycle C (Human to AI): 에코 체임버와 정서적 양극화</vt:lpstr>
      <vt:lpstr>Cycle C (Human to AI): 합성 여론(Synthetic Public Opinion)</vt:lpstr>
      <vt:lpstr>Cycle C (Human to AI): '합성 여론'의 수용과 인지적 타협</vt:lpstr>
      <vt:lpstr>Cycle C (Human to AI): 자기 소비적 수행 루프와 편향</vt:lpstr>
      <vt:lpstr>Conclusion: 민주주의 퇴행 방지를 위한 제언</vt:lpstr>
      <vt:lpstr>Thank you</vt:lpstr>
      <vt:lpstr>References</vt:lpstr>
      <vt:lpstr>References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Jongbeen Song</dc:creator>
  <cp:lastModifiedBy>Jongbeen Song</cp:lastModifiedBy>
  <cp:revision>20</cp:revision>
  <dcterms:created xsi:type="dcterms:W3CDTF">2026-02-13T15:35:19Z</dcterms:created>
  <dcterms:modified xsi:type="dcterms:W3CDTF">2026-05-25T22:48:01Z</dcterms:modified>
</cp:coreProperties>
</file>