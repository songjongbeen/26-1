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25"/>
  </p:notesMasterIdLst>
  <p:sldIdLst>
    <p:sldId id="288" r:id="rId2"/>
    <p:sldId id="304" r:id="rId3"/>
    <p:sldId id="257" r:id="rId4"/>
    <p:sldId id="305" r:id="rId5"/>
    <p:sldId id="306" r:id="rId6"/>
    <p:sldId id="307" r:id="rId7"/>
    <p:sldId id="308" r:id="rId8"/>
    <p:sldId id="309" r:id="rId9"/>
    <p:sldId id="310" r:id="rId10"/>
    <p:sldId id="315" r:id="rId11"/>
    <p:sldId id="316" r:id="rId12"/>
    <p:sldId id="318" r:id="rId13"/>
    <p:sldId id="319" r:id="rId14"/>
    <p:sldId id="320" r:id="rId15"/>
    <p:sldId id="317" r:id="rId16"/>
    <p:sldId id="321" r:id="rId17"/>
    <p:sldId id="322" r:id="rId18"/>
    <p:sldId id="323" r:id="rId19"/>
    <p:sldId id="324" r:id="rId20"/>
    <p:sldId id="265" r:id="rId21"/>
    <p:sldId id="312" r:id="rId22"/>
    <p:sldId id="313" r:id="rId23"/>
    <p:sldId id="31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7B6B"/>
    <a:srgbClr val="9E5ECE"/>
    <a:srgbClr val="E2E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>
      <p:cViewPr varScale="1">
        <p:scale>
          <a:sx n="52" d="100"/>
          <a:sy n="52" d="100"/>
        </p:scale>
        <p:origin x="45" y="11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B8D08-34DA-4F78-8F9A-57C08BEFE083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D9D0D-256A-4334-8FBF-FD40B2DA7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8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D6CA-249E-60D1-4D6B-762024FF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E816B5-70D8-FDCC-3F34-05B6E74DA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22E71B-DC6D-A1D5-B54D-93CEEA4E6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76AD67-ED21-6A33-A29E-651FABB84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34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400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631D-EFF9-247E-377F-DDD50D5D6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4A180A-72D6-5CB4-C7CE-2613889AD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3B6851-23B7-3128-19D1-099AB1488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689ED4-7368-BD10-2A33-0D3186B48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223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753A-5925-3A3C-CF1F-EE97EF29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F28056-27A5-591C-D7DA-F9B7F9C6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459B8D-660A-2AC7-B3AB-0ADA0AA69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16DBF-AA5B-3A5E-0412-6FA08271E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650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10B5-E7F3-1F4A-93D6-274F8F01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12491B-6603-A629-F46F-A9CF04502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7E4FA3-780C-18B2-050C-499DAEE8D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17644-860E-EF5E-C268-15E1458B2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153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D987-C23C-535C-8785-A136CF7B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347846-6961-1681-08CD-CA0970524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C76FE-DCD0-6AF9-4253-80047A5A0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6AA7F9-BCF0-4751-8C80-035A4719A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704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D8D95-1108-9FBE-13CC-7BA98E6E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9EEA0E-7456-4D70-0F31-C5682BE57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86FD1B-93BD-3135-AFF2-9F6C4A31D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89477-A229-991B-EA42-A37EDFF97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747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C288-5551-0323-5880-8B90A3B0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F101B0-F285-4E8F-D2D7-D0FEE4E44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0B686F-B93F-91B6-4CAE-4D86EAFBB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CBA96-0EB2-BEBC-F3AA-5F0BBD51C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079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1524F-305F-E58D-CC0B-9504B6F5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C182E5-804D-45B4-5ADE-DFE4CDF0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5C43FD-1A7E-C560-8F72-4C216560D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CC84CB-2005-3FF3-885C-1F74D95B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05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815F-8222-C079-8B86-0E41A2FF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AF2F2C-24CF-6D8B-4840-C6887FEB7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37ACF7-10AF-4F97-B87B-4034E91C5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013704-DEB0-D940-F126-1F33B0528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51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7E57-8E70-F357-3139-D30AAC7E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610456-B88F-717F-CA78-FDD85B81D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991AD9-6422-30DD-92FC-C2BA3BF0D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5B572E-0CEF-E756-778A-8598C11B6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048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CA34-22AA-3CFA-1D8C-5F2408C2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E80CB3-260C-802C-268C-FF93E6F92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D7F5E6-46D5-F54B-59A1-E91865F5B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23FE4-73EC-FDD6-2577-4860E7206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015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4CF3F-CEB7-37DB-5F48-C66A6AB6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D5C69A-4D88-DE74-564F-5933213B2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E51081-FA79-06A0-38BA-4E129CCF8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53F85-F46A-E6BC-6983-D6AEA1509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364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47AA-CD4B-FBAB-1A00-AF91AD42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7D0C73-C785-43CE-22EA-E517A3165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5A253A-03A9-CE82-923F-9EAF1FEA1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523C9-B6A1-9D2F-3083-913094A3C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788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A34CB-C922-7D82-9CDF-1ADE98FB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2D9F28-55D7-B018-75B6-D6EF47896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FD727F-E463-45EC-E8CA-73DD35F59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90BAD-4EAC-537A-8CA5-912B693FB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635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51B1-ACAC-6F44-FDCE-0104CC46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BDCF1-0A7B-4C0C-0882-4CF4E1D07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457287-80AD-0CED-3841-C781A5864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34B113-1505-CCA1-2674-745AE6530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382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C95E-C5D3-B109-744A-4C0980A8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558BA-DDFF-F445-D1FF-A9832823E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CAE906-607A-2A14-0D98-F5E7561B4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92B3B6-D3EE-AC34-747C-190A89957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2216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050B7-01F4-DB83-72B7-569B745A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3455B4-6C43-C3B3-0A53-D62BAA9E1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94E630-9086-FE4E-6071-41DA98801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1AAA92-7E6A-C5D5-2B39-1806AEEF9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589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EC6E-C5FE-1F90-42FB-5EF3FDD6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ADB18F-F674-43C7-062C-97AFC308F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DB565-EA6A-9024-5949-A657A4361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14F3C0-35A6-C270-1EB9-C9BFCBEE7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657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9A6A-0386-46C5-A897-828D52E8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58458E-CD2A-837E-170F-54BE3CF60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67EC6E-EE8C-00E0-40C2-240BD5CF3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82F09-2EA4-782E-6B6F-29F599CDF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163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F090-F5C6-BF82-F1C6-E0B3AF50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6DBFFB-3B36-DD7A-CECD-9E349045E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90E08B-5649-E3D9-C502-DB78900E0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B055B-B792-EE5C-52EE-225B38F08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711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3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5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3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1041489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2EFEA85-236C-2B7C-8801-CA0257D68594}"/>
              </a:ext>
            </a:extLst>
          </p:cNvPr>
          <p:cNvSpPr txBox="1">
            <a:spLocks/>
          </p:cNvSpPr>
          <p:nvPr/>
        </p:nvSpPr>
        <p:spPr>
          <a:xfrm>
            <a:off x="433178" y="1031846"/>
            <a:ext cx="11325645" cy="121554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100" baseline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>
              <a:lnSpc>
                <a:spcPts val="6000"/>
              </a:lnSpc>
            </a:pPr>
            <a:r>
              <a:rPr lang="ko-KR" altLang="en-US" dirty="0"/>
              <a:t>인공지능과 정치 커뮤니케이션의 공진화</a:t>
            </a:r>
            <a:r>
              <a:rPr lang="en-US" altLang="ko-KR" dirty="0"/>
              <a:t>,</a:t>
            </a:r>
          </a:p>
          <a:p>
            <a:pPr>
              <a:lnSpc>
                <a:spcPts val="6000"/>
              </a:lnSpc>
            </a:pPr>
            <a:r>
              <a:rPr lang="ko-KR" altLang="en-US" dirty="0"/>
              <a:t>민주주의의 퇴행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D4EFC-803D-F5E1-188D-37AFC2FBCE04}"/>
              </a:ext>
            </a:extLst>
          </p:cNvPr>
          <p:cNvSpPr txBox="1"/>
          <p:nvPr/>
        </p:nvSpPr>
        <p:spPr>
          <a:xfrm>
            <a:off x="433178" y="2554437"/>
            <a:ext cx="11183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Sociotechnical Co-evolution between Artificial Intelligence and Political Communication,</a:t>
            </a:r>
          </a:p>
          <a:p>
            <a:r>
              <a:rPr lang="en-US" altLang="ko-KR" dirty="0"/>
              <a:t>Democratic Backsliding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626AA-195B-7251-627D-9A08E2A5A3F2}"/>
              </a:ext>
            </a:extLst>
          </p:cNvPr>
          <p:cNvSpPr txBox="1"/>
          <p:nvPr/>
        </p:nvSpPr>
        <p:spPr>
          <a:xfrm>
            <a:off x="433177" y="3967709"/>
            <a:ext cx="61577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 err="1">
                <a:latin typeface="+mj-lt"/>
              </a:rPr>
              <a:t>송종빈</a:t>
            </a:r>
            <a:r>
              <a:rPr lang="ko-KR" altLang="en-US" sz="2400" dirty="0"/>
              <a:t> </a:t>
            </a:r>
            <a:r>
              <a:rPr lang="en-US" altLang="ko-KR" sz="2400" dirty="0"/>
              <a:t>(Jongbeen Song)</a:t>
            </a:r>
          </a:p>
          <a:p>
            <a:endParaRPr lang="en-US" altLang="ko-KR" sz="1400" dirty="0"/>
          </a:p>
          <a:p>
            <a:r>
              <a:rPr lang="ko-KR" altLang="en-US" sz="1400" dirty="0"/>
              <a:t>고려대학교 과학기술학 석사과정</a:t>
            </a:r>
            <a:endParaRPr lang="en-US" altLang="ko-KR" sz="1400" dirty="0"/>
          </a:p>
          <a:p>
            <a:r>
              <a:rPr lang="en-US" altLang="ko-KR" sz="1400" dirty="0"/>
              <a:t>M.A. Candidate in Science &amp; Technology Studies, Korea University</a:t>
            </a:r>
          </a:p>
          <a:p>
            <a:r>
              <a:rPr lang="en-US" altLang="ko-KR" sz="1400" dirty="0">
                <a:hlinkClick r:id="rId2"/>
              </a:rPr>
              <a:t>1041489@gmail.com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A5137-B82A-BFBD-66DE-801154A7FEF7}"/>
              </a:ext>
            </a:extLst>
          </p:cNvPr>
          <p:cNvSpPr txBox="1"/>
          <p:nvPr/>
        </p:nvSpPr>
        <p:spPr>
          <a:xfrm>
            <a:off x="433178" y="5905238"/>
            <a:ext cx="71471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정치커뮤니케이션 </a:t>
            </a:r>
            <a:r>
              <a:rPr lang="en-US" altLang="ko-KR" dirty="0"/>
              <a:t>13</a:t>
            </a:r>
            <a:r>
              <a:rPr lang="ko-KR" altLang="en-US" dirty="0"/>
              <a:t>주차</a:t>
            </a:r>
            <a:r>
              <a:rPr lang="en-US" altLang="ko-KR" dirty="0"/>
              <a:t>: AI</a:t>
            </a:r>
            <a:r>
              <a:rPr lang="ko-KR" altLang="en-US" dirty="0"/>
              <a:t>와 알고리즘 민주주의</a:t>
            </a:r>
            <a:endParaRPr lang="en-US" altLang="ko-KR" dirty="0"/>
          </a:p>
          <a:p>
            <a:endParaRPr lang="en-US" altLang="ko-KR" sz="1200" dirty="0"/>
          </a:p>
          <a:p>
            <a:r>
              <a:rPr lang="en-US" altLang="ko-KR" sz="1200" dirty="0"/>
              <a:t>Spring 2026</a:t>
            </a:r>
            <a:r>
              <a:rPr lang="ko-KR" altLang="en-US" sz="1200" dirty="0"/>
              <a:t> </a:t>
            </a:r>
            <a:r>
              <a:rPr lang="en-US" altLang="ko-KR" sz="1200" dirty="0"/>
              <a:t>MAC539 Political</a:t>
            </a:r>
            <a:r>
              <a:rPr lang="ko-KR" altLang="en-US" sz="1200" dirty="0"/>
              <a:t> </a:t>
            </a:r>
            <a:r>
              <a:rPr lang="en-US" altLang="ko-KR" sz="1200" dirty="0"/>
              <a:t>Communication Week 13: AI &amp; Algorithmic Democracy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3DDD5-0DBB-3592-A256-7777D0E6CC1F}"/>
              </a:ext>
            </a:extLst>
          </p:cNvPr>
          <p:cNvSpPr txBox="1"/>
          <p:nvPr/>
        </p:nvSpPr>
        <p:spPr>
          <a:xfrm>
            <a:off x="10347888" y="6336125"/>
            <a:ext cx="1268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/>
              <a:t>2026. 05. 27.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98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96A0C-5AAA-D6D1-4B22-31B92843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5DC18-001C-F9AA-99CC-929DEDE7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Introduction:</a:t>
            </a:r>
            <a:r>
              <a:rPr lang="ko-KR" altLang="en-US" sz="3200" dirty="0"/>
              <a:t> </a:t>
            </a:r>
            <a:r>
              <a:rPr lang="en-US" altLang="ko-KR" sz="3200" dirty="0"/>
              <a:t>AI &amp; Crisis of Democracy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0FC9E-A70B-CE17-B100-3999D075EF00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인공지능의 발전과 민주주의 위협</a:t>
            </a:r>
            <a:endParaRPr lang="en-US" altLang="ko-KR" b="1" dirty="0"/>
          </a:p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는 무의미한 헛소리나 허위 정보를 엄청난 양으로 생산하여 미디어 환경과 인터넷을 뒤덮을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정부가 유권자의 진짜 정서를 파악하는 것을 방해하여 민주적 대표성</a:t>
            </a:r>
            <a:r>
              <a:rPr lang="en-US" altLang="ko-KR" dirty="0"/>
              <a:t>(democratic representation)</a:t>
            </a:r>
            <a:r>
              <a:rPr lang="ko-KR" altLang="en-US" dirty="0"/>
              <a:t>과 책임성</a:t>
            </a:r>
            <a:r>
              <a:rPr lang="en-US" altLang="ko-KR" dirty="0"/>
              <a:t>(accountability)</a:t>
            </a:r>
            <a:r>
              <a:rPr lang="ko-KR" altLang="en-US" dirty="0"/>
              <a:t>을 심각하게 파괴함 </a:t>
            </a:r>
            <a:r>
              <a:rPr lang="en-US" altLang="ko-KR" dirty="0"/>
              <a:t>(Kreps &amp; Kriner, 2023).</a:t>
            </a:r>
          </a:p>
          <a:p>
            <a:pPr marL="0" indent="0">
              <a:buNone/>
            </a:pPr>
            <a:r>
              <a:rPr lang="ko-KR" altLang="en-US" b="1" dirty="0"/>
              <a:t>플랫폼 기업의 정치적 개입과 공진화</a:t>
            </a:r>
            <a:r>
              <a:rPr lang="en-US" altLang="ko-KR" b="1" dirty="0"/>
              <a:t>(Co-evolution)</a:t>
            </a:r>
            <a:endParaRPr lang="en-US" altLang="ko-KR" dirty="0"/>
          </a:p>
          <a:p>
            <a:r>
              <a:rPr lang="ko-KR" altLang="en-US" dirty="0" err="1"/>
              <a:t>테크</a:t>
            </a:r>
            <a:r>
              <a:rPr lang="ko-KR" altLang="en-US" dirty="0"/>
              <a:t> 기업들</a:t>
            </a:r>
            <a:r>
              <a:rPr lang="en-US" altLang="ko-KR" dirty="0"/>
              <a:t>(</a:t>
            </a:r>
            <a:r>
              <a:rPr lang="ko-KR" altLang="en-US" dirty="0"/>
              <a:t>페이스북</a:t>
            </a:r>
            <a:r>
              <a:rPr lang="en-US" altLang="ko-KR" dirty="0"/>
              <a:t>, </a:t>
            </a:r>
            <a:r>
              <a:rPr lang="ko-KR" altLang="en-US" dirty="0"/>
              <a:t>구글 등</a:t>
            </a:r>
            <a:r>
              <a:rPr lang="en-US" altLang="ko-KR" dirty="0"/>
              <a:t>)</a:t>
            </a:r>
            <a:r>
              <a:rPr lang="ko-KR" altLang="en-US" dirty="0"/>
              <a:t>은 단순 플랫폼을 넘어 선거 캠페인의 유사 디지털 컨설턴트</a:t>
            </a:r>
            <a:r>
              <a:rPr lang="en-US" altLang="ko-KR" dirty="0"/>
              <a:t>(quasi-digital consultants)</a:t>
            </a:r>
            <a:r>
              <a:rPr lang="ko-KR" altLang="en-US" dirty="0"/>
              <a:t>로서 현대 정치 커뮤니케이션을 능동적으로 변화시켜 옴 </a:t>
            </a:r>
            <a:r>
              <a:rPr lang="en-US" altLang="ko-KR" dirty="0"/>
              <a:t>(Kreiss &amp; McGregor, 2018).</a:t>
            </a:r>
          </a:p>
          <a:p>
            <a:r>
              <a:rPr lang="ko-KR" altLang="en-US" dirty="0"/>
              <a:t>기존 소셜 미디어 시대의 포퓰리즘</a:t>
            </a:r>
            <a:r>
              <a:rPr lang="en-US" altLang="ko-KR" dirty="0"/>
              <a:t>(Baldwin-Philippi, 2019; Gil de Zúñiga et al., 2020)</a:t>
            </a:r>
            <a:r>
              <a:rPr lang="ko-KR" altLang="en-US" dirty="0"/>
              <a:t>이 </a:t>
            </a:r>
            <a:r>
              <a:rPr lang="en-US" altLang="ko-KR" dirty="0"/>
              <a:t>AI </a:t>
            </a:r>
            <a:r>
              <a:rPr lang="ko-KR" altLang="en-US" dirty="0"/>
              <a:t>기술과 결합하여 어떻게 조작의 피드백 루프</a:t>
            </a:r>
            <a:r>
              <a:rPr lang="en-US" altLang="ko-KR" dirty="0"/>
              <a:t>(Feedback Loop)</a:t>
            </a:r>
            <a:r>
              <a:rPr lang="ko-KR" altLang="en-US" dirty="0"/>
              <a:t>를 만드는지 분석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A8DBC-BFE7-350E-8A4C-5C93DFCE6543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810B3-381D-3CA9-85DC-83E8F48F1037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85460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4846A-86BB-E33F-8B50-56D96159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Introduction:</a:t>
            </a:r>
            <a:r>
              <a:rPr lang="ko-KR" altLang="en-US" sz="3200" dirty="0"/>
              <a:t> </a:t>
            </a:r>
            <a:r>
              <a:rPr lang="en-US" altLang="ko-KR" sz="3200" dirty="0"/>
              <a:t>Feedback</a:t>
            </a:r>
            <a:r>
              <a:rPr lang="ko-KR" altLang="en-US" sz="3200" dirty="0"/>
              <a:t> </a:t>
            </a:r>
            <a:r>
              <a:rPr lang="en-US" altLang="ko-KR" sz="3200" dirty="0"/>
              <a:t>Loop</a:t>
            </a:r>
            <a:r>
              <a:rPr lang="ko-KR" altLang="en-US" sz="3200" dirty="0"/>
              <a:t> </a:t>
            </a:r>
            <a:r>
              <a:rPr lang="en-US" altLang="ko-KR" sz="3200" dirty="0"/>
              <a:t>Model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5D63-7DAB-5A7E-196C-17878E51DFA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92590-6410-E215-A4E7-CB19B379620C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정치커뮤니케이션</a:t>
            </a:r>
            <a:r>
              <a:rPr lang="en-US" altLang="ko-KR" sz="1400" dirty="0"/>
              <a:t>: AI</a:t>
            </a:r>
            <a:r>
              <a:rPr lang="ko-KR" altLang="en-US" sz="1400" dirty="0"/>
              <a:t>와 알고리즘 민주주의</a:t>
            </a:r>
          </a:p>
        </p:txBody>
      </p:sp>
      <p:sp>
        <p:nvSpPr>
          <p:cNvPr id="6" name="화살표: 굽음 5">
            <a:extLst>
              <a:ext uri="{FF2B5EF4-FFF2-40B4-BE49-F238E27FC236}">
                <a16:creationId xmlns:a16="http://schemas.microsoft.com/office/drawing/2014/main" id="{4D97E366-8D37-FA11-D637-5728587BB806}"/>
              </a:ext>
            </a:extLst>
          </p:cNvPr>
          <p:cNvSpPr/>
          <p:nvPr/>
        </p:nvSpPr>
        <p:spPr>
          <a:xfrm>
            <a:off x="4471421" y="2134636"/>
            <a:ext cx="729423" cy="778598"/>
          </a:xfrm>
          <a:prstGeom prst="ben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화살표: 굽음 6">
            <a:extLst>
              <a:ext uri="{FF2B5EF4-FFF2-40B4-BE49-F238E27FC236}">
                <a16:creationId xmlns:a16="http://schemas.microsoft.com/office/drawing/2014/main" id="{7B2764CD-36A4-9395-C61D-973B02FC5D58}"/>
              </a:ext>
            </a:extLst>
          </p:cNvPr>
          <p:cNvSpPr/>
          <p:nvPr/>
        </p:nvSpPr>
        <p:spPr>
          <a:xfrm rot="5400000">
            <a:off x="5815561" y="2683372"/>
            <a:ext cx="1777718" cy="778598"/>
          </a:xfrm>
          <a:prstGeom prst="ben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9" name="그래픽 8" descr="사용자 단색으로 채워진">
            <a:extLst>
              <a:ext uri="{FF2B5EF4-FFF2-40B4-BE49-F238E27FC236}">
                <a16:creationId xmlns:a16="http://schemas.microsoft.com/office/drawing/2014/main" id="{DAC6668E-396B-01C0-1F27-AA3BB1EF71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5200" y="2913234"/>
            <a:ext cx="914400" cy="914400"/>
          </a:xfrm>
          <a:prstGeom prst="rect">
            <a:avLst/>
          </a:prstGeom>
        </p:spPr>
      </p:pic>
      <p:pic>
        <p:nvPicPr>
          <p:cNvPr id="11" name="그래픽 10" descr="서버 단색으로 채워진">
            <a:extLst>
              <a:ext uri="{FF2B5EF4-FFF2-40B4-BE49-F238E27FC236}">
                <a16:creationId xmlns:a16="http://schemas.microsoft.com/office/drawing/2014/main" id="{9E8D7DAC-2D5F-3901-0AD6-AAD818003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0783" y="1872085"/>
            <a:ext cx="914400" cy="914400"/>
          </a:xfrm>
          <a:prstGeom prst="rect">
            <a:avLst/>
          </a:prstGeom>
        </p:spPr>
      </p:pic>
      <p:pic>
        <p:nvPicPr>
          <p:cNvPr id="12" name="그래픽 11" descr="사용자 단색으로 채워진">
            <a:extLst>
              <a:ext uri="{FF2B5EF4-FFF2-40B4-BE49-F238E27FC236}">
                <a16:creationId xmlns:a16="http://schemas.microsoft.com/office/drawing/2014/main" id="{6D083027-B439-D48A-D20A-767D9FAEE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37" y="4076650"/>
            <a:ext cx="914400" cy="914400"/>
          </a:xfrm>
          <a:prstGeom prst="rect">
            <a:avLst/>
          </a:prstGeom>
        </p:spPr>
      </p:pic>
      <p:pic>
        <p:nvPicPr>
          <p:cNvPr id="13" name="그래픽 12" descr="서버 단색으로 채워진">
            <a:extLst>
              <a:ext uri="{FF2B5EF4-FFF2-40B4-BE49-F238E27FC236}">
                <a16:creationId xmlns:a16="http://schemas.microsoft.com/office/drawing/2014/main" id="{805B1925-96E3-721C-1729-8CE7E4503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5200" y="4076650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A13117A-85DD-BD14-7C25-C0B98A9D5A69}"/>
              </a:ext>
            </a:extLst>
          </p:cNvPr>
          <p:cNvSpPr txBox="1"/>
          <p:nvPr/>
        </p:nvSpPr>
        <p:spPr>
          <a:xfrm>
            <a:off x="362139" y="2160841"/>
            <a:ext cx="40093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B57B6B"/>
                </a:solidFill>
              </a:rPr>
              <a:t>Cycle A: Human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AI</a:t>
            </a:r>
          </a:p>
          <a:p>
            <a:pPr algn="r"/>
            <a:r>
              <a:rPr lang="ko-KR" altLang="en-US" sz="1400" dirty="0">
                <a:solidFill>
                  <a:srgbClr val="B57B6B"/>
                </a:solidFill>
              </a:rPr>
              <a:t>인간 데이터의 편향</a:t>
            </a:r>
            <a:r>
              <a:rPr lang="en-US" altLang="ko-KR" sz="1400" dirty="0">
                <a:solidFill>
                  <a:srgbClr val="B57B6B"/>
                </a:solidFill>
              </a:rPr>
              <a:t>(Algorithmic Political Bias)</a:t>
            </a:r>
            <a:r>
              <a:rPr lang="ko-KR" altLang="en-US" sz="1400" dirty="0">
                <a:solidFill>
                  <a:srgbClr val="B57B6B"/>
                </a:solidFill>
              </a:rPr>
              <a:t>이 </a:t>
            </a:r>
            <a:r>
              <a:rPr lang="en-US" altLang="ko-KR" sz="1400" dirty="0">
                <a:solidFill>
                  <a:srgbClr val="B57B6B"/>
                </a:solidFill>
              </a:rPr>
              <a:t>AI</a:t>
            </a:r>
            <a:r>
              <a:rPr lang="ko-KR" altLang="en-US" sz="1400" dirty="0">
                <a:solidFill>
                  <a:srgbClr val="B57B6B"/>
                </a:solidFill>
              </a:rPr>
              <a:t>에 주입됨 </a:t>
            </a:r>
            <a:r>
              <a:rPr lang="en-US" altLang="ko-KR" sz="1400" dirty="0">
                <a:solidFill>
                  <a:srgbClr val="B57B6B"/>
                </a:solidFill>
              </a:rPr>
              <a:t>(Peters, 2022).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F55871-B52F-E49B-95E7-645F8E6A2C5A}"/>
              </a:ext>
            </a:extLst>
          </p:cNvPr>
          <p:cNvSpPr txBox="1"/>
          <p:nvPr/>
        </p:nvSpPr>
        <p:spPr>
          <a:xfrm>
            <a:off x="7193659" y="2277588"/>
            <a:ext cx="4645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B57B6B"/>
                </a:solidFill>
              </a:rPr>
              <a:t>Cycle B: AI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Human</a:t>
            </a:r>
          </a:p>
          <a:p>
            <a:r>
              <a:rPr lang="ko-KR" altLang="en-US" sz="1400" dirty="0">
                <a:solidFill>
                  <a:srgbClr val="B57B6B"/>
                </a:solidFill>
              </a:rPr>
              <a:t>편향된 </a:t>
            </a:r>
            <a:r>
              <a:rPr lang="en-US" altLang="ko-KR" sz="1400" dirty="0">
                <a:solidFill>
                  <a:srgbClr val="B57B6B"/>
                </a:solidFill>
              </a:rPr>
              <a:t>AI</a:t>
            </a:r>
            <a:r>
              <a:rPr lang="ko-KR" altLang="en-US" sz="1400" dirty="0">
                <a:solidFill>
                  <a:srgbClr val="B57B6B"/>
                </a:solidFill>
              </a:rPr>
              <a:t>와 알고리즘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봇</a:t>
            </a:r>
            <a:r>
              <a:rPr lang="en-US" altLang="ko-KR" sz="1400" dirty="0">
                <a:solidFill>
                  <a:srgbClr val="B57B6B"/>
                </a:solidFill>
              </a:rPr>
              <a:t>(Bot) </a:t>
            </a:r>
            <a:r>
              <a:rPr lang="ko-KR" altLang="en-US" sz="1400" dirty="0">
                <a:solidFill>
                  <a:srgbClr val="B57B6B"/>
                </a:solidFill>
              </a:rPr>
              <a:t>기술이 의도된 </a:t>
            </a:r>
            <a:endParaRPr lang="en-US" altLang="ko-KR" sz="1400" dirty="0">
              <a:solidFill>
                <a:srgbClr val="B57B6B"/>
              </a:solidFill>
            </a:endParaRPr>
          </a:p>
          <a:p>
            <a:r>
              <a:rPr lang="ko-KR" altLang="en-US" sz="1400" dirty="0">
                <a:solidFill>
                  <a:srgbClr val="B57B6B"/>
                </a:solidFill>
              </a:rPr>
              <a:t>프로파간다를 생성 및 대량 유포함 </a:t>
            </a:r>
            <a:r>
              <a:rPr lang="en-US" altLang="ko-KR" sz="1400" dirty="0">
                <a:solidFill>
                  <a:srgbClr val="B57B6B"/>
                </a:solidFill>
              </a:rPr>
              <a:t>(Keller et al., 2020; Keller &amp; Klinger, 2019).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D17AA-1957-4644-99A3-CFCD7805F1DE}"/>
              </a:ext>
            </a:extLst>
          </p:cNvPr>
          <p:cNvSpPr txBox="1"/>
          <p:nvPr/>
        </p:nvSpPr>
        <p:spPr>
          <a:xfrm>
            <a:off x="7193659" y="3459615"/>
            <a:ext cx="46452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B57B6B"/>
                </a:solidFill>
              </a:rPr>
              <a:t>Cycle C: AI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Human</a:t>
            </a:r>
          </a:p>
          <a:p>
            <a:r>
              <a:rPr lang="ko-KR" altLang="en-US" sz="1400" dirty="0">
                <a:solidFill>
                  <a:srgbClr val="B57B6B"/>
                </a:solidFill>
              </a:rPr>
              <a:t>에코 </a:t>
            </a:r>
            <a:r>
              <a:rPr lang="ko-KR" altLang="en-US" sz="1400" dirty="0" err="1">
                <a:solidFill>
                  <a:srgbClr val="B57B6B"/>
                </a:solidFill>
              </a:rPr>
              <a:t>체임버</a:t>
            </a:r>
            <a:r>
              <a:rPr lang="ko-KR" altLang="en-US" sz="1400" dirty="0">
                <a:solidFill>
                  <a:srgbClr val="B57B6B"/>
                </a:solidFill>
              </a:rPr>
              <a:t> 속 인간의 반응을 언론이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합성 여론</a:t>
            </a:r>
            <a:r>
              <a:rPr lang="en-US" altLang="ko-KR" sz="1400" dirty="0">
                <a:solidFill>
                  <a:srgbClr val="B57B6B"/>
                </a:solidFill>
              </a:rPr>
              <a:t>(Synthetic Public Opinion)'</a:t>
            </a:r>
            <a:r>
              <a:rPr lang="ko-KR" altLang="en-US" sz="1400" dirty="0">
                <a:solidFill>
                  <a:srgbClr val="B57B6B"/>
                </a:solidFill>
              </a:rPr>
              <a:t>으로 보도하며 다음 세대 </a:t>
            </a:r>
            <a:r>
              <a:rPr lang="en-US" altLang="ko-KR" sz="1400" dirty="0">
                <a:solidFill>
                  <a:srgbClr val="B57B6B"/>
                </a:solidFill>
              </a:rPr>
              <a:t>AI</a:t>
            </a:r>
            <a:r>
              <a:rPr lang="ko-KR" altLang="en-US" sz="1400" dirty="0">
                <a:solidFill>
                  <a:srgbClr val="B57B6B"/>
                </a:solidFill>
              </a:rPr>
              <a:t>의 데이터로 고착화 </a:t>
            </a:r>
            <a:r>
              <a:rPr lang="en-US" altLang="ko-KR" sz="1400" dirty="0">
                <a:solidFill>
                  <a:srgbClr val="B57B6B"/>
                </a:solidFill>
              </a:rPr>
              <a:t>(McGregor, 2019; Yarchi et al., 2021).</a:t>
            </a:r>
          </a:p>
        </p:txBody>
      </p:sp>
      <p:sp>
        <p:nvSpPr>
          <p:cNvPr id="3" name="화살표: 왼쪽 2">
            <a:extLst>
              <a:ext uri="{FF2B5EF4-FFF2-40B4-BE49-F238E27FC236}">
                <a16:creationId xmlns:a16="http://schemas.microsoft.com/office/drawing/2014/main" id="{DE381E00-D0E8-A7DD-87A9-A1C86168E692}"/>
              </a:ext>
            </a:extLst>
          </p:cNvPr>
          <p:cNvSpPr/>
          <p:nvPr/>
        </p:nvSpPr>
        <p:spPr>
          <a:xfrm>
            <a:off x="5110222" y="4319898"/>
            <a:ext cx="1295521" cy="353201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44783-A677-7236-EDD4-15B243149426}"/>
              </a:ext>
            </a:extLst>
          </p:cNvPr>
          <p:cNvSpPr txBox="1"/>
          <p:nvPr/>
        </p:nvSpPr>
        <p:spPr>
          <a:xfrm>
            <a:off x="1309378" y="4978713"/>
            <a:ext cx="60820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B57B6B"/>
                </a:solidFill>
              </a:rPr>
              <a:t>Cycle D: Human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AI</a:t>
            </a:r>
          </a:p>
          <a:p>
            <a:pPr algn="r"/>
            <a:r>
              <a:rPr lang="ko-KR" altLang="en-US" sz="1400" dirty="0">
                <a:solidFill>
                  <a:srgbClr val="B57B6B"/>
                </a:solidFill>
              </a:rPr>
              <a:t>사용자는 </a:t>
            </a:r>
            <a:r>
              <a:rPr lang="en-US" altLang="ko-KR" sz="1400" dirty="0">
                <a:solidFill>
                  <a:srgbClr val="B57B6B"/>
                </a:solidFill>
              </a:rPr>
              <a:t>AI</a:t>
            </a:r>
            <a:r>
              <a:rPr lang="ko-KR" altLang="en-US" sz="1400" dirty="0">
                <a:solidFill>
                  <a:srgbClr val="B57B6B"/>
                </a:solidFill>
              </a:rPr>
              <a:t>의 기본 출력을 그대로 수용하고 </a:t>
            </a:r>
            <a:r>
              <a:rPr lang="en-US" altLang="ko-KR" sz="1400" dirty="0">
                <a:solidFill>
                  <a:srgbClr val="B57B6B"/>
                </a:solidFill>
              </a:rPr>
              <a:t>(Castro, Gao, &amp; Martin, 2024), </a:t>
            </a:r>
            <a:r>
              <a:rPr lang="ko-KR" altLang="en-US" sz="1400" dirty="0">
                <a:solidFill>
                  <a:srgbClr val="B57B6B"/>
                </a:solidFill>
              </a:rPr>
              <a:t>자기소비적 수행 루프로 인해 무비판적으로 수용된 합성여론이 모델에 학습되며 기술적으로 증폭됨</a:t>
            </a:r>
            <a:r>
              <a:rPr lang="en-US" altLang="ko-KR" sz="1400" dirty="0">
                <a:solidFill>
                  <a:srgbClr val="B57B6B"/>
                </a:solidFill>
              </a:rPr>
              <a:t> (Wang et al., 2024).</a:t>
            </a:r>
          </a:p>
        </p:txBody>
      </p:sp>
    </p:spTree>
    <p:extLst>
      <p:ext uri="{BB962C8B-B14F-4D97-AF65-F5344CB8AC3E}">
        <p14:creationId xmlns:p14="http://schemas.microsoft.com/office/powerpoint/2010/main" val="52553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D096-00CC-B6D6-24F6-0761C756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D44B6-853E-FB87-F210-2F43C9EB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A (Human to AI): </a:t>
            </a:r>
            <a:r>
              <a:rPr lang="ko-KR" altLang="en-US" sz="3200" dirty="0"/>
              <a:t>편향된 데이터의 주입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4B35A-BCAD-977F-6379-16628B87853C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알고리즘적 정치 편향</a:t>
            </a:r>
            <a:r>
              <a:rPr lang="en-US" altLang="ko-KR" b="1" dirty="0"/>
              <a:t>(Algorithmic Political Bias)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시스템은 개발 단계나 인간이 생산한 학습 데이터</a:t>
            </a:r>
            <a:r>
              <a:rPr lang="en-US" altLang="ko-KR" dirty="0"/>
              <a:t>(CV, </a:t>
            </a:r>
            <a:r>
              <a:rPr lang="ko-KR" altLang="en-US" dirty="0"/>
              <a:t>소셜미디어 해시태그 등</a:t>
            </a:r>
            <a:r>
              <a:rPr lang="en-US" altLang="ko-KR" dirty="0"/>
              <a:t>)</a:t>
            </a:r>
            <a:r>
              <a:rPr lang="ko-KR" altLang="en-US" dirty="0"/>
              <a:t>로부터 본질적인 </a:t>
            </a:r>
            <a:r>
              <a:rPr lang="en-US" altLang="ko-KR" dirty="0"/>
              <a:t>'</a:t>
            </a:r>
            <a:r>
              <a:rPr lang="ko-KR" altLang="en-US" dirty="0"/>
              <a:t>정치적 편향</a:t>
            </a:r>
            <a:r>
              <a:rPr lang="en-US" altLang="ko-KR" dirty="0"/>
              <a:t>'</a:t>
            </a:r>
            <a:r>
              <a:rPr lang="ko-KR" altLang="en-US" dirty="0"/>
              <a:t>을 띠게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성차별이나 인종차별과 달리 </a:t>
            </a:r>
            <a:r>
              <a:rPr lang="en-US" altLang="ko-KR" dirty="0"/>
              <a:t>'</a:t>
            </a:r>
            <a:r>
              <a:rPr lang="ko-KR" altLang="en-US" dirty="0"/>
              <a:t>정치적 적대감</a:t>
            </a:r>
            <a:r>
              <a:rPr lang="en-US" altLang="ko-KR" dirty="0"/>
              <a:t>'</a:t>
            </a:r>
            <a:r>
              <a:rPr lang="ko-KR" altLang="en-US" dirty="0"/>
              <a:t>에 대해서는 사회적 규범 제재가 약하기 때문에</a:t>
            </a:r>
            <a:r>
              <a:rPr lang="en-US" altLang="ko-KR" dirty="0"/>
              <a:t>, </a:t>
            </a:r>
            <a:r>
              <a:rPr lang="ko-KR" altLang="en-US" dirty="0"/>
              <a:t>통제 없이 </a:t>
            </a:r>
            <a:r>
              <a:rPr lang="en-US" altLang="ko-KR" dirty="0"/>
              <a:t>AI </a:t>
            </a:r>
            <a:r>
              <a:rPr lang="ko-KR" altLang="en-US" dirty="0"/>
              <a:t>모델에 고스란히 전이됨 </a:t>
            </a:r>
            <a:r>
              <a:rPr lang="en-US" altLang="ko-KR" dirty="0"/>
              <a:t>(Peters, 2022).</a:t>
            </a:r>
          </a:p>
          <a:p>
            <a:r>
              <a:rPr lang="ko-KR" altLang="en-US" dirty="0"/>
              <a:t>이러한 데이터 편향은 </a:t>
            </a:r>
            <a:r>
              <a:rPr lang="en-US" altLang="ko-KR" dirty="0"/>
              <a:t>AI</a:t>
            </a:r>
            <a:r>
              <a:rPr lang="ko-KR" altLang="en-US" dirty="0"/>
              <a:t>가 자연어 처리나 감성 분석</a:t>
            </a:r>
            <a:r>
              <a:rPr lang="en-US" altLang="ko-KR" dirty="0"/>
              <a:t>(Sentiment Analysis)</a:t>
            </a:r>
            <a:r>
              <a:rPr lang="ko-KR" altLang="en-US" dirty="0"/>
              <a:t>을 수행할 때 특정 정치 집단에 더 긍정적</a:t>
            </a:r>
            <a:r>
              <a:rPr lang="en-US" altLang="ko-KR" dirty="0"/>
              <a:t>/</a:t>
            </a:r>
            <a:r>
              <a:rPr lang="ko-KR" altLang="en-US" dirty="0"/>
              <a:t>부정적 결과를 내놓는 원인이 됨 </a:t>
            </a:r>
            <a:r>
              <a:rPr lang="en-US" altLang="ko-KR" dirty="0"/>
              <a:t>(Mullen &amp; Collier, 2004).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E27A8-0C1E-F446-C1C9-086947686B0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9BCE9-B456-9CC0-C1E0-A8E2134D4F50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1757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E41CB-C4E5-165B-BFB2-669EFB5E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16E04-4D5D-EB71-2089-8C3537B0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A (Human to AI): </a:t>
            </a:r>
            <a:r>
              <a:rPr lang="ko-KR" altLang="en-US" sz="3200" dirty="0"/>
              <a:t>소수 과잉 활동자의 과대 대표성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1D362-9EB6-8F20-61A5-2655CDA0CD4E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과잉 활동 사용자</a:t>
            </a:r>
            <a:r>
              <a:rPr lang="en-US" altLang="ko-KR" b="1" dirty="0"/>
              <a:t>(Hyperactive users)</a:t>
            </a:r>
            <a:r>
              <a:rPr lang="ko-KR" altLang="en-US" b="1" dirty="0"/>
              <a:t> 문제</a:t>
            </a:r>
            <a:endParaRPr lang="en-US" altLang="ko-KR" b="1" dirty="0"/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소셜 미디어의 정치 담론은 평균보다 활동량이 비정상적으로 많은 극소수의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과잉 활동 사용자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들에 의해 지배됨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와 추천 알고리즘</a:t>
            </a:r>
            <a:r>
              <a:rPr lang="en-US" altLang="ko-KR" dirty="0"/>
              <a:t>(Recommender systems)</a:t>
            </a:r>
            <a:r>
              <a:rPr lang="ko-KR" altLang="en-US" dirty="0"/>
              <a:t>은 이 극소수의 편향된 목소리를 </a:t>
            </a:r>
            <a:r>
              <a:rPr lang="en-US" altLang="ko-KR" dirty="0"/>
              <a:t>'</a:t>
            </a:r>
            <a:r>
              <a:rPr lang="ko-KR" altLang="en-US" dirty="0"/>
              <a:t>보편적 여론</a:t>
            </a:r>
            <a:r>
              <a:rPr lang="en-US" altLang="ko-KR" dirty="0"/>
              <a:t>'</a:t>
            </a:r>
            <a:r>
              <a:rPr lang="ko-KR" altLang="en-US" dirty="0"/>
              <a:t>으로 착각하고 편향되게 학습함</a:t>
            </a:r>
            <a:r>
              <a:rPr lang="en-US" altLang="ko-KR" dirty="0"/>
              <a:t>(Data labeling bias) (</a:t>
            </a:r>
            <a:r>
              <a:rPr lang="en-US" altLang="ko-KR" dirty="0" err="1"/>
              <a:t>Papakyriakopoulos</a:t>
            </a:r>
            <a:r>
              <a:rPr lang="en-US" altLang="ko-KR" dirty="0"/>
              <a:t> et al., 2020).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2C31C-6D70-780C-5C6A-C8E545A47310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E187F-BE82-DBCA-FA65-8932E68EBD09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37165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A964-D374-E713-2394-88ED4348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23E27-C7D1-58E4-0980-A063F46D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B (AI to Human): </a:t>
            </a:r>
            <a:r>
              <a:rPr lang="ko-KR" altLang="en-US" sz="3200" dirty="0"/>
              <a:t>의도된 프로파간다와 조작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EAF5A-04D3-AC7C-A629-A0F713A2C45D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전산화된 프로파간다</a:t>
            </a:r>
            <a:r>
              <a:rPr lang="en-US" altLang="ko-KR" b="1" dirty="0"/>
              <a:t>(Computational Propaganda)</a:t>
            </a:r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소셜 봇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(Social bots)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은 선거 캠페인에서 인간의 행동을 모방하고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가짜 인기와 편승 효과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(Bandwagon effect)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를 유발해 담론을 조작함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봇 프로그램은 소수의 의견을 자발적인 시민 여론인 척 위장하는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정치적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애스트로터핑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(Political Astroturfing)'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을 동시다발적으로 조율해 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(Keller et al., 2020).</a:t>
            </a:r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이러한 조작은 대중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(the people)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을 중심에 두는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포퓰리즘적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기술 퍼포먼스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(Technological performance of populism)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를 극대화함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(Baldwin-Philippi, 2019).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AE933-07A9-78E9-43F5-ADBAE7F4DBD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2FFE6-56CA-6899-72A7-CCA6521ED719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135146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0C6D1-5680-33C7-09E2-4198F49A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51EE4-04BA-E9B4-8F94-5109C02C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B (AI to Human): </a:t>
            </a:r>
            <a:r>
              <a:rPr lang="ko-KR" altLang="en-US" sz="3200" dirty="0"/>
              <a:t>맞춤형 정치 설득</a:t>
            </a:r>
            <a:r>
              <a:rPr lang="en-US" altLang="ko-KR" sz="3200" dirty="0"/>
              <a:t>(Micro-targeting)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16A9E-9611-3F6B-6275-2FB9BD18062C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친밀성의 자동 생성과 의미의 왜곡</a:t>
            </a:r>
            <a:r>
              <a:rPr lang="en-US" altLang="ko-KR" b="1" dirty="0"/>
              <a:t>: </a:t>
            </a:r>
            <a:r>
              <a:rPr lang="ko-KR" altLang="en-US" b="1" dirty="0"/>
              <a:t>비인간 행위자의 마이크로 타겟팅</a:t>
            </a:r>
            <a:endParaRPr lang="en-US" altLang="ko-KR" b="1" dirty="0"/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기존의 포퓰리즘 정치인들은 분노를 자극하면서도 유권자와 친근한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(sociable and negative styles)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감정 커뮤니케이션 전략으로 정서적 결속을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다져왔음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(Lin et al., 2024).</a:t>
            </a:r>
          </a:p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는 이를 넘어 유권자 개인의 성향을 파악하고 맞춤형 옹호 메시지</a:t>
            </a:r>
            <a:r>
              <a:rPr lang="en-US" altLang="ko-KR" dirty="0"/>
              <a:t>(advocacy messages)</a:t>
            </a:r>
            <a:r>
              <a:rPr lang="ko-KR" altLang="en-US" dirty="0"/>
              <a:t>를 자동 생성하여 이러한 정서적 조작</a:t>
            </a:r>
            <a:r>
              <a:rPr lang="en-US" altLang="ko-KR" dirty="0"/>
              <a:t>(Micro-targeted Persuasion)</a:t>
            </a:r>
            <a:r>
              <a:rPr lang="ko-KR" altLang="en-US" dirty="0"/>
              <a:t>을 극대화함 </a:t>
            </a:r>
            <a:r>
              <a:rPr lang="en-US" altLang="ko-KR" dirty="0"/>
              <a:t>(Kreps &amp; Kriner, 2023).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1459D-D282-88E8-32AC-FF2BD192B716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92057-5A69-DF3A-2EA7-1C083D6420E3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42435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CD4F-087D-29F2-94BF-31240B7DC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C0AF3-50B3-217A-C8B6-786D9098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C (AI to Human): </a:t>
            </a:r>
            <a:r>
              <a:rPr lang="ko-KR" altLang="en-US" sz="3200" dirty="0"/>
              <a:t>에코 </a:t>
            </a:r>
            <a:r>
              <a:rPr lang="ko-KR" altLang="en-US" sz="3200" dirty="0" err="1"/>
              <a:t>체임버와</a:t>
            </a:r>
            <a:r>
              <a:rPr lang="ko-KR" altLang="en-US" sz="3200" dirty="0"/>
              <a:t> 정서적 양극화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BC0CE-3E95-192C-7F47-88C8C553F969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상상된 공동체와 적대감</a:t>
            </a:r>
            <a:endParaRPr lang="en-US" altLang="ko-KR" b="1" dirty="0"/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소셜 미디어상에서 포퓰리즘 지지자들은 자신들을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도덕적이고 선량한 대중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으로 상상하며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강한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내집단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애정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(in-group love)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을 형성함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(Juarez Miro, 2025).</a:t>
            </a:r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소셜 미디어를 통한 낮은 진입장벽의 정치적 표현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(lower-threshold expression)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은 결국 오프라인의 강력한 정치 행동으로 이어짐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(Vaccari et al., 2015).</a:t>
            </a:r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플랫폼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특히 트위터와 페이스북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 기술적 환경은 반대 진영에 대한 극단적 적대감을 조장하며 정서적 양극화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(Affective Polarization)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를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심화시킴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(Yarchi et al., 2021).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C6353-4C46-FA16-69C7-F07F2516F97B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7317C-AE43-EAC4-8B3F-8539B60E60DC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17562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4EF5-1303-AE7E-7FA0-0971A3E7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2CAC3-C492-51B9-1ACF-BB734D233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C (AI to Human): </a:t>
            </a:r>
            <a:r>
              <a:rPr lang="ko-KR" altLang="en-US" sz="3200" dirty="0"/>
              <a:t>합성 여론</a:t>
            </a:r>
            <a:r>
              <a:rPr lang="en-US" altLang="ko-KR" sz="3200" dirty="0"/>
              <a:t>(Synthetic Public Opinion)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BDE74A-AF95-E02E-AA73-C88CF425C5A7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언론의 오독과 여론의 왜곡</a:t>
            </a:r>
            <a:endParaRPr lang="en-US" altLang="ko-KR" b="1" dirty="0"/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현대의 언론인들은 트위터 등 소셜 미디어의 트렌드 지표나 반응을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대중의 실제 여론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(Public Opinion)'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으로 간주하고 보도하는 경향이 있음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(McGregor, 2019).</a:t>
            </a:r>
          </a:p>
          <a:p>
            <a:r>
              <a:rPr lang="ko-KR" altLang="en-US" dirty="0"/>
              <a:t>합성 여론</a:t>
            </a:r>
            <a:r>
              <a:rPr lang="en-US" altLang="ko-KR" dirty="0"/>
              <a:t>(Synthetic Public Opinion): </a:t>
            </a:r>
            <a:r>
              <a:rPr lang="ko-KR" altLang="en-US" dirty="0"/>
              <a:t>극단주의자들과 </a:t>
            </a:r>
            <a:r>
              <a:rPr lang="en-US" altLang="ko-KR" dirty="0"/>
              <a:t>AI/</a:t>
            </a:r>
            <a:r>
              <a:rPr lang="ko-KR" altLang="en-US" dirty="0"/>
              <a:t>봇이 조작해 낸 소셜 미디어 반응이 언론을 통해 정당성을 얻고</a:t>
            </a:r>
            <a:r>
              <a:rPr lang="en-US" altLang="ko-KR" dirty="0"/>
              <a:t>, </a:t>
            </a:r>
            <a:r>
              <a:rPr lang="ko-KR" altLang="en-US" dirty="0"/>
              <a:t>그 기사들이 다시 다음 세대 </a:t>
            </a:r>
            <a:r>
              <a:rPr lang="en-US" altLang="ko-KR" dirty="0"/>
              <a:t>AI</a:t>
            </a:r>
            <a:r>
              <a:rPr lang="ko-KR" altLang="en-US" dirty="0"/>
              <a:t>의 학습 데이터로 쓰이는 치명적 순환이 완성됨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FA88D-449A-803D-C709-70B6855819B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B8803-D3BC-9383-09D4-E202811878AE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80030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8E45F-E0B3-ACDB-8EAE-D94C38F1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AD03D-083F-8EBD-981C-D7AC89EA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D (Human to</a:t>
            </a:r>
            <a:r>
              <a:rPr lang="ko-KR" altLang="en-US" sz="3200" dirty="0"/>
              <a:t> </a:t>
            </a:r>
            <a:r>
              <a:rPr lang="en-US" altLang="ko-KR" sz="3200" dirty="0"/>
              <a:t>AI): '</a:t>
            </a:r>
            <a:r>
              <a:rPr lang="ko-KR" altLang="en-US" sz="3200" dirty="0"/>
              <a:t>합성 여론</a:t>
            </a:r>
            <a:r>
              <a:rPr lang="en-US" altLang="ko-KR" sz="3200" dirty="0"/>
              <a:t>'</a:t>
            </a:r>
            <a:r>
              <a:rPr lang="ko-KR" altLang="en-US" sz="3200" dirty="0"/>
              <a:t>의 수용과 인지적 타협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654C5-B4C4-D120-4755-2438C479C939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소통 비용과 충실도의 타협 </a:t>
            </a:r>
            <a:r>
              <a:rPr lang="en-US" altLang="ko-KR" b="1" dirty="0"/>
              <a:t>(Communication Cost vs. Output Fidelity)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dirty="0"/>
              <a:t>사용자는 </a:t>
            </a:r>
            <a:r>
              <a:rPr lang="en-US" altLang="ko-KR" dirty="0"/>
              <a:t>AI</a:t>
            </a:r>
            <a:r>
              <a:rPr lang="ko-KR" altLang="en-US" dirty="0"/>
              <a:t>와 상호작용할 때 자신의 취향을 정확히 반영하기 위해 </a:t>
            </a:r>
            <a:r>
              <a:rPr lang="en-US" altLang="ko-KR" dirty="0"/>
              <a:t>AI</a:t>
            </a:r>
            <a:r>
              <a:rPr lang="ko-KR" altLang="en-US" dirty="0"/>
              <a:t>를 교정하는 </a:t>
            </a:r>
            <a:r>
              <a:rPr lang="en-US" altLang="ko-KR" dirty="0"/>
              <a:t>'</a:t>
            </a:r>
            <a:r>
              <a:rPr lang="ko-KR" altLang="en-US" dirty="0"/>
              <a:t>소통 비용</a:t>
            </a:r>
            <a:r>
              <a:rPr lang="en-US" altLang="ko-KR" dirty="0"/>
              <a:t>(</a:t>
            </a:r>
            <a:r>
              <a:rPr lang="ko-KR" altLang="en-US" dirty="0"/>
              <a:t>노력</a:t>
            </a:r>
            <a:r>
              <a:rPr lang="en-US" altLang="ko-KR" dirty="0"/>
              <a:t>)'</a:t>
            </a:r>
            <a:r>
              <a:rPr lang="ko-KR" altLang="en-US" dirty="0"/>
              <a:t>과 </a:t>
            </a:r>
            <a:r>
              <a:rPr lang="en-US" altLang="ko-KR" dirty="0"/>
              <a:t>AI </a:t>
            </a:r>
            <a:r>
              <a:rPr lang="ko-KR" altLang="en-US" dirty="0"/>
              <a:t>결과물의 </a:t>
            </a:r>
            <a:r>
              <a:rPr lang="en-US" altLang="ko-KR" dirty="0"/>
              <a:t>'</a:t>
            </a:r>
            <a:r>
              <a:rPr lang="ko-KR" altLang="en-US" dirty="0"/>
              <a:t>충실도</a:t>
            </a:r>
            <a:r>
              <a:rPr lang="en-US" altLang="ko-KR" dirty="0"/>
              <a:t>' </a:t>
            </a:r>
            <a:r>
              <a:rPr lang="ko-KR" altLang="en-US" dirty="0"/>
              <a:t>사이에서 끊임없이 타협함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대다수의 사람들은 인지적 노력을 아끼고 효율성을 극대화하기 위해</a:t>
            </a:r>
            <a:r>
              <a:rPr lang="en-US" altLang="ko-KR" dirty="0"/>
              <a:t>, </a:t>
            </a:r>
            <a:r>
              <a:rPr lang="ko-KR" altLang="en-US" dirty="0"/>
              <a:t>최소한의 상호작용만으로 </a:t>
            </a:r>
            <a:r>
              <a:rPr lang="en-US" altLang="ko-KR" dirty="0"/>
              <a:t>AI</a:t>
            </a:r>
            <a:r>
              <a:rPr lang="ko-KR" altLang="en-US" dirty="0"/>
              <a:t>가 제시하는 편향된 </a:t>
            </a:r>
            <a:r>
              <a:rPr lang="en-US" altLang="ko-KR" dirty="0"/>
              <a:t>'</a:t>
            </a:r>
            <a:r>
              <a:rPr lang="ko-KR" altLang="en-US" dirty="0"/>
              <a:t>기본 출력</a:t>
            </a:r>
            <a:r>
              <a:rPr lang="en-US" altLang="ko-KR" dirty="0"/>
              <a:t>'</a:t>
            </a:r>
            <a:r>
              <a:rPr lang="ko-KR" altLang="en-US" dirty="0"/>
              <a:t>을 그대로 수용하는 경향을 보임 </a:t>
            </a:r>
            <a:r>
              <a:rPr lang="en-US" altLang="ko-KR" dirty="0"/>
              <a:t>(Castro, Gao, &amp; Martin, 2024).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인간은 귀찮음이나 인지적 한계로 인해 </a:t>
            </a:r>
            <a:r>
              <a:rPr lang="en-US" altLang="ko-KR" dirty="0"/>
              <a:t>AI</a:t>
            </a:r>
            <a:r>
              <a:rPr lang="ko-KR" altLang="en-US" dirty="0"/>
              <a:t>나 봇</a:t>
            </a:r>
            <a:r>
              <a:rPr lang="en-US" altLang="ko-KR" dirty="0"/>
              <a:t>(Bot)</a:t>
            </a:r>
            <a:r>
              <a:rPr lang="ko-KR" altLang="en-US" dirty="0"/>
              <a:t>이 </a:t>
            </a:r>
            <a:r>
              <a:rPr lang="ko-KR" altLang="en-US" dirty="0" err="1"/>
              <a:t>뱉어낸</a:t>
            </a:r>
            <a:r>
              <a:rPr lang="ko-KR" altLang="en-US" dirty="0"/>
              <a:t> 조작된 정치적 텍스트를 무비판적으로 수용 및 동조하게 되며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'</a:t>
            </a:r>
            <a:r>
              <a:rPr lang="ko-KR" altLang="en-US" dirty="0"/>
              <a:t>진짜 여론</a:t>
            </a:r>
            <a:r>
              <a:rPr lang="en-US" altLang="ko-KR" dirty="0"/>
              <a:t>(</a:t>
            </a:r>
            <a:r>
              <a:rPr lang="ko-KR" altLang="en-US" dirty="0"/>
              <a:t>합성 여론</a:t>
            </a:r>
            <a:r>
              <a:rPr lang="en-US" altLang="ko-KR" dirty="0"/>
              <a:t>)'</a:t>
            </a:r>
            <a:r>
              <a:rPr lang="ko-KR" altLang="en-US" dirty="0"/>
              <a:t>으로 착각하게 됨</a:t>
            </a:r>
            <a:r>
              <a:rPr lang="en-US" altLang="ko-KR" dirty="0"/>
              <a:t>.</a:t>
            </a:r>
            <a:br>
              <a:rPr lang="ko-KR" altLang="en-US" dirty="0"/>
            </a:b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19D1B-8864-9BD1-83EE-01CFA6FBFF4F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E16D4-7030-E670-9787-6F18189821AD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174199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713E6-E6DA-D147-BD4D-47113C6BC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2ED94-8CEC-0719-578A-96ED48B9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Cycle D (Human to</a:t>
            </a:r>
            <a:r>
              <a:rPr lang="ko-KR" altLang="en-US" sz="3200" dirty="0"/>
              <a:t> </a:t>
            </a:r>
            <a:r>
              <a:rPr lang="en-US" altLang="ko-KR" sz="3200" dirty="0"/>
              <a:t>AI): </a:t>
            </a:r>
            <a:r>
              <a:rPr lang="ko-KR" altLang="en-US" sz="3200" dirty="0"/>
              <a:t>자기 소비적 수행 루프와 편향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79AC6-6A0D-B0FA-EF56-AA3233CB5D40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자기 소비적 수행 루프 </a:t>
            </a:r>
            <a:r>
              <a:rPr lang="en-US" altLang="ko-KR" b="1" dirty="0"/>
              <a:t>(Self-Consuming Performative Loop, SCPL)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dirty="0"/>
              <a:t>무비판적으로 수용된 </a:t>
            </a:r>
            <a:r>
              <a:rPr lang="en-US" altLang="ko-KR" dirty="0"/>
              <a:t>'</a:t>
            </a:r>
            <a:r>
              <a:rPr lang="ko-KR" altLang="en-US" dirty="0"/>
              <a:t>합성 여론</a:t>
            </a:r>
            <a:r>
              <a:rPr lang="en-US" altLang="ko-KR" dirty="0"/>
              <a:t>'</a:t>
            </a:r>
            <a:r>
              <a:rPr lang="ko-KR" altLang="en-US" dirty="0"/>
              <a:t>은 인터넷에 기록되고</a:t>
            </a:r>
            <a:r>
              <a:rPr lang="en-US" altLang="ko-KR" dirty="0"/>
              <a:t>, </a:t>
            </a:r>
            <a:r>
              <a:rPr lang="ko-KR" altLang="en-US" dirty="0"/>
              <a:t>이 합성 데이터가 다시 다음 세대 </a:t>
            </a:r>
            <a:r>
              <a:rPr lang="en-US" altLang="ko-KR" dirty="0"/>
              <a:t>AI</a:t>
            </a:r>
            <a:r>
              <a:rPr lang="ko-KR" altLang="en-US" dirty="0"/>
              <a:t>의 반복적인 미세 조정</a:t>
            </a:r>
            <a:r>
              <a:rPr lang="en-US" altLang="ko-KR" dirty="0"/>
              <a:t>(fine-tuning)</a:t>
            </a:r>
            <a:r>
              <a:rPr lang="ko-KR" altLang="en-US" dirty="0"/>
              <a:t>과 재학습에 쓰이는 동적 순환이 발생함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루프를 거칠수록 세대가 지날수록 텍스트 생성 품질이 저하될 뿐만 아니라</a:t>
            </a:r>
            <a:r>
              <a:rPr lang="en-US" altLang="ko-KR" dirty="0"/>
              <a:t>, </a:t>
            </a:r>
            <a:r>
              <a:rPr lang="ko-KR" altLang="en-US" dirty="0"/>
              <a:t>특정 여론에 대한 </a:t>
            </a:r>
            <a:r>
              <a:rPr lang="en-US" altLang="ko-KR" dirty="0"/>
              <a:t>'</a:t>
            </a:r>
            <a:r>
              <a:rPr lang="ko-KR" altLang="en-US" dirty="0"/>
              <a:t>선호 편향</a:t>
            </a:r>
            <a:r>
              <a:rPr lang="en-US" altLang="ko-KR" dirty="0"/>
              <a:t>'</a:t>
            </a:r>
            <a:r>
              <a:rPr lang="ko-KR" altLang="en-US" dirty="0"/>
              <a:t>이 통제할 수 없을 정도로 기술적으로 증폭됨 </a:t>
            </a:r>
            <a:r>
              <a:rPr lang="en-US" altLang="ko-KR" dirty="0"/>
              <a:t>(Wang et al., 2024).</a:t>
            </a:r>
          </a:p>
          <a:p>
            <a:r>
              <a:rPr lang="ko-KR" altLang="en-US" dirty="0"/>
              <a:t>인간의 인지적 타협을 거친 조작된 합성 여론이</a:t>
            </a:r>
            <a:r>
              <a:rPr lang="en-US" altLang="ko-KR" dirty="0"/>
              <a:t>, SCPL</a:t>
            </a:r>
            <a:r>
              <a:rPr lang="ko-KR" altLang="en-US" dirty="0"/>
              <a:t>을 통해 다음 세대 </a:t>
            </a:r>
            <a:r>
              <a:rPr lang="en-US" altLang="ko-KR" dirty="0"/>
              <a:t>AI </a:t>
            </a:r>
            <a:r>
              <a:rPr lang="ko-KR" altLang="en-US" dirty="0"/>
              <a:t>내부에 </a:t>
            </a:r>
            <a:r>
              <a:rPr lang="en-US" altLang="ko-KR" dirty="0"/>
              <a:t>'</a:t>
            </a:r>
            <a:r>
              <a:rPr lang="ko-KR" altLang="en-US" dirty="0"/>
              <a:t>보편적 여론</a:t>
            </a:r>
            <a:r>
              <a:rPr lang="en-US" altLang="ko-KR" dirty="0"/>
              <a:t>'</a:t>
            </a:r>
            <a:r>
              <a:rPr lang="ko-KR" altLang="en-US" dirty="0"/>
              <a:t>으로 완전히 고착화</a:t>
            </a:r>
            <a:r>
              <a:rPr lang="en-US" altLang="ko-KR" dirty="0"/>
              <a:t>(Model Collapse)</a:t>
            </a:r>
            <a:r>
              <a:rPr lang="ko-KR" altLang="en-US" dirty="0"/>
              <a:t>되는 치명적 악순환이 완성됨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FD96B-BE11-DB78-E2A1-489624A64F3B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3F004-2BBB-AA00-60E9-4DFB64CAB0D0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38816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85FC2-3D7A-6A37-616A-9F9A92D4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5C70-72EC-3746-3F11-954DD8EC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Approach:</a:t>
            </a:r>
            <a:r>
              <a:rPr lang="ko-KR" altLang="en-US" sz="3200" dirty="0"/>
              <a:t> </a:t>
            </a:r>
            <a:r>
              <a:rPr lang="en-US" altLang="ko-KR" sz="3200" dirty="0"/>
              <a:t>Feedback</a:t>
            </a:r>
            <a:r>
              <a:rPr lang="ko-KR" altLang="en-US" sz="3200" dirty="0"/>
              <a:t> </a:t>
            </a:r>
            <a:r>
              <a:rPr lang="en-US" altLang="ko-KR" sz="3200" dirty="0"/>
              <a:t>Loop</a:t>
            </a:r>
            <a:r>
              <a:rPr lang="ko-KR" altLang="en-US" sz="3200" dirty="0"/>
              <a:t> </a:t>
            </a:r>
            <a:r>
              <a:rPr lang="en-US" altLang="ko-KR" sz="3200" dirty="0"/>
              <a:t>Model</a:t>
            </a:r>
            <a:r>
              <a:rPr lang="ko-KR" altLang="en-US" sz="3200" dirty="0"/>
              <a:t>에 대한 새로운 관점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4AF56-D918-6867-CDBB-D1E0FF338092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127BD-2D6E-5D01-AAF0-1C1052B2C17A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정치커뮤니케이션</a:t>
            </a:r>
            <a:r>
              <a:rPr lang="en-US" altLang="ko-KR" sz="1400" dirty="0"/>
              <a:t>: AI</a:t>
            </a:r>
            <a:r>
              <a:rPr lang="ko-KR" altLang="en-US" sz="1400" dirty="0"/>
              <a:t>와 알고리즘 민주주의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43797D8-3679-F07A-C0B9-989B0389E8F1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 err="1"/>
              <a:t>라투르의</a:t>
            </a:r>
            <a:r>
              <a:rPr lang="ko-KR" altLang="en-US" b="1" dirty="0"/>
              <a:t> 기술적 매개 </a:t>
            </a:r>
            <a:r>
              <a:rPr lang="en-US" altLang="ko-KR" b="1" dirty="0"/>
              <a:t>(Technical Mediation)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sz="1800" dirty="0" err="1"/>
              <a:t>라투르는</a:t>
            </a:r>
            <a:r>
              <a:rPr lang="ko-KR" altLang="en-US" sz="1800" dirty="0"/>
              <a:t> 인간과 비인간</a:t>
            </a:r>
            <a:r>
              <a:rPr lang="en-US" altLang="ko-KR" sz="1800" dirty="0"/>
              <a:t>(</a:t>
            </a:r>
            <a:r>
              <a:rPr lang="ko-KR" altLang="en-US" sz="1800" dirty="0"/>
              <a:t>사물</a:t>
            </a:r>
            <a:r>
              <a:rPr lang="en-US" altLang="ko-KR" sz="1800" dirty="0"/>
              <a:t>, </a:t>
            </a:r>
            <a:r>
              <a:rPr lang="ko-KR" altLang="en-US" sz="1800" dirty="0"/>
              <a:t>기술 등</a:t>
            </a:r>
            <a:r>
              <a:rPr lang="en-US" altLang="ko-KR" sz="1800" dirty="0"/>
              <a:t>)</a:t>
            </a:r>
            <a:r>
              <a:rPr lang="ko-KR" altLang="en-US" sz="1800" dirty="0"/>
              <a:t>을 이분법적으로 나누는 것을 거부하며</a:t>
            </a:r>
            <a:r>
              <a:rPr lang="en-US" altLang="ko-KR" sz="1800" dirty="0"/>
              <a:t>, </a:t>
            </a:r>
            <a:r>
              <a:rPr lang="ko-KR" altLang="en-US" sz="1800" dirty="0"/>
              <a:t>기술과 사물이 사회적 관계와 행동에 어떻게 적극적으로 개입하는지를 설명함</a:t>
            </a:r>
            <a:endParaRPr lang="en-US" altLang="ko-KR" sz="1800" dirty="0"/>
          </a:p>
          <a:p>
            <a:r>
              <a:rPr lang="ko-KR" altLang="en-US" sz="1800" dirty="0" err="1"/>
              <a:t>행위소</a:t>
            </a:r>
            <a:r>
              <a:rPr lang="en-US" altLang="ko-KR" sz="1800" dirty="0"/>
              <a:t>(Actant): </a:t>
            </a:r>
            <a:r>
              <a:rPr lang="ko-KR" altLang="en-US" sz="1800" dirty="0" err="1"/>
              <a:t>라투르는</a:t>
            </a:r>
            <a:r>
              <a:rPr lang="ko-KR" altLang="en-US" sz="1800" dirty="0"/>
              <a:t> 의도를 가진 인간만을 행위의 주체로 보는 것을 넘어</a:t>
            </a:r>
            <a:r>
              <a:rPr lang="en-US" altLang="ko-KR" sz="1800" dirty="0"/>
              <a:t>, </a:t>
            </a:r>
            <a:r>
              <a:rPr lang="ko-KR" altLang="en-US" sz="1800" dirty="0"/>
              <a:t>어떤 줄거리 내에서 행위를 유발하거나 역할을 수행하는 모든 실체를 </a:t>
            </a:r>
            <a:r>
              <a:rPr lang="en-US" altLang="ko-KR" sz="1800" dirty="0"/>
              <a:t>'</a:t>
            </a:r>
            <a:r>
              <a:rPr lang="ko-KR" altLang="en-US" sz="1800" dirty="0" err="1"/>
              <a:t>행위소</a:t>
            </a:r>
            <a:r>
              <a:rPr lang="en-US" altLang="ko-KR" sz="1800" dirty="0"/>
              <a:t>(Actant)'</a:t>
            </a:r>
            <a:r>
              <a:rPr lang="ko-KR" altLang="en-US" sz="1800" dirty="0"/>
              <a:t>라는 중립적인 용어로 지칭함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중간자</a:t>
            </a:r>
            <a:r>
              <a:rPr lang="en-US" altLang="ko-KR" sz="1800" dirty="0"/>
              <a:t>(Intermediary) vs </a:t>
            </a:r>
            <a:r>
              <a:rPr lang="ko-KR" altLang="en-US" sz="1800" dirty="0"/>
              <a:t>매개자</a:t>
            </a:r>
            <a:r>
              <a:rPr lang="en-US" altLang="ko-KR" sz="1800" dirty="0"/>
              <a:t>(Mediator)</a:t>
            </a:r>
          </a:p>
          <a:p>
            <a:pPr lvl="1"/>
            <a:r>
              <a:rPr lang="ko-KR" altLang="en-US" sz="1600" dirty="0"/>
              <a:t>중간자</a:t>
            </a:r>
            <a:r>
              <a:rPr lang="en-US" altLang="ko-KR" sz="1600" dirty="0"/>
              <a:t>: </a:t>
            </a:r>
            <a:r>
              <a:rPr lang="ko-KR" altLang="en-US" sz="1600" dirty="0"/>
              <a:t>단순히 인간의 의지나 힘을 아무런 변형 없이 그대로 전달하는 투명한 도구 </a:t>
            </a:r>
            <a:r>
              <a:rPr lang="en-US" altLang="ko-KR" sz="1600" dirty="0"/>
              <a:t>(ex. "</a:t>
            </a:r>
            <a:r>
              <a:rPr lang="ko-KR" altLang="en-US" sz="1600" dirty="0"/>
              <a:t>총은 스스로 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사람이 쏠 뿐이다</a:t>
            </a:r>
            <a:r>
              <a:rPr lang="en-US" altLang="ko-KR" sz="1600" dirty="0"/>
              <a:t>"</a:t>
            </a:r>
            <a:r>
              <a:rPr lang="ko-KR" altLang="en-US" sz="1600" dirty="0"/>
              <a:t>라고 주장할 때</a:t>
            </a:r>
            <a:r>
              <a:rPr lang="en-US" altLang="ko-KR" sz="1600" dirty="0"/>
              <a:t>, </a:t>
            </a:r>
            <a:r>
              <a:rPr lang="ko-KR" altLang="en-US" sz="1600" dirty="0"/>
              <a:t>총은 인간의 의도를 전달하기만 하는 수동적인 </a:t>
            </a:r>
            <a:r>
              <a:rPr lang="en-US" altLang="ko-KR" sz="1600" dirty="0"/>
              <a:t>'</a:t>
            </a:r>
            <a:r>
              <a:rPr lang="ko-KR" altLang="en-US" sz="1600" dirty="0"/>
              <a:t>중간자</a:t>
            </a:r>
            <a:r>
              <a:rPr lang="en-US" altLang="ko-KR" sz="1600" dirty="0"/>
              <a:t>'</a:t>
            </a:r>
            <a:r>
              <a:rPr lang="ko-KR" altLang="en-US" sz="1600" dirty="0"/>
              <a:t>로 간주됨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매개자</a:t>
            </a:r>
            <a:r>
              <a:rPr lang="en-US" altLang="ko-KR" sz="1600" dirty="0"/>
              <a:t>: </a:t>
            </a:r>
            <a:r>
              <a:rPr lang="ko-KR" altLang="en-US" sz="1600" dirty="0"/>
              <a:t>자신을 통과하는 행위나 목표의 의미를 적극적으로 변형</a:t>
            </a:r>
            <a:r>
              <a:rPr lang="en-US" altLang="ko-KR" sz="1600" dirty="0"/>
              <a:t>(</a:t>
            </a:r>
            <a:r>
              <a:rPr lang="ko-KR" altLang="en-US" sz="1600" dirty="0"/>
              <a:t>번역</a:t>
            </a:r>
            <a:r>
              <a:rPr lang="en-US" altLang="ko-KR" sz="1600" dirty="0"/>
              <a:t>)</a:t>
            </a:r>
            <a:r>
              <a:rPr lang="ko-KR" altLang="en-US" sz="1600" dirty="0"/>
              <a:t>하고 새로운 것을 창출해 내는 </a:t>
            </a:r>
            <a:r>
              <a:rPr lang="ko-KR" altLang="en-US" sz="1600" dirty="0" err="1"/>
              <a:t>행위소</a:t>
            </a:r>
            <a:r>
              <a:rPr lang="en-US" altLang="ko-KR" sz="1600" dirty="0"/>
              <a:t>. (ex. </a:t>
            </a:r>
            <a:r>
              <a:rPr lang="ko-KR" altLang="en-US" sz="1600" dirty="0"/>
              <a:t>인간이 총을 쥐었을 때 단순히 화력이 세지는 것이 아니라</a:t>
            </a:r>
            <a:r>
              <a:rPr lang="en-US" altLang="ko-KR" sz="1600" dirty="0"/>
              <a:t>, '</a:t>
            </a:r>
            <a:r>
              <a:rPr lang="ko-KR" altLang="en-US" sz="1600" dirty="0"/>
              <a:t>총을 쥔 사람</a:t>
            </a:r>
            <a:r>
              <a:rPr lang="en-US" altLang="ko-KR" sz="1600" dirty="0"/>
              <a:t>(gunman)'</a:t>
            </a:r>
            <a:r>
              <a:rPr lang="ko-KR" altLang="en-US" sz="1600" dirty="0"/>
              <a:t>이라는 전혀 새로운 주체로 변모함</a:t>
            </a:r>
            <a:r>
              <a:rPr lang="en-US" altLang="ko-KR" sz="1600" dirty="0"/>
              <a:t>; </a:t>
            </a:r>
            <a:r>
              <a:rPr lang="ko-KR" altLang="en-US" sz="1600" dirty="0"/>
              <a:t>결국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매개란</a:t>
            </a:r>
            <a:r>
              <a:rPr lang="en-US" altLang="ko-KR" sz="1600" dirty="0"/>
              <a:t>, </a:t>
            </a:r>
            <a:r>
              <a:rPr lang="ko-KR" altLang="en-US" sz="1600" dirty="0"/>
              <a:t>기술과 인간이 결합하여 원래 누구의 것도 아니었던 새로운 목표나 행동이 만들어지는 과정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83051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E9AD-19B1-9E59-F925-541047C6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8B611-BC30-5A40-0754-02D084E3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Approach:</a:t>
            </a:r>
            <a:r>
              <a:rPr lang="ko-KR" altLang="en-US" sz="3200" dirty="0"/>
              <a:t> </a:t>
            </a:r>
            <a:r>
              <a:rPr lang="en-US" altLang="ko-KR" sz="3200" dirty="0"/>
              <a:t>Feedback</a:t>
            </a:r>
            <a:r>
              <a:rPr lang="ko-KR" altLang="en-US" sz="3200" dirty="0"/>
              <a:t> </a:t>
            </a:r>
            <a:r>
              <a:rPr lang="en-US" altLang="ko-KR" sz="3200" dirty="0"/>
              <a:t>Loop</a:t>
            </a:r>
            <a:r>
              <a:rPr lang="ko-KR" altLang="en-US" sz="3200" dirty="0"/>
              <a:t> </a:t>
            </a:r>
            <a:r>
              <a:rPr lang="en-US" altLang="ko-KR" sz="3200" dirty="0"/>
              <a:t>Model</a:t>
            </a:r>
            <a:r>
              <a:rPr lang="ko-KR" altLang="en-US" sz="3200" dirty="0"/>
              <a:t>에 대한 새로운 관점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33EB3-ED8E-FEE7-EE24-7477C6259E0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DCE75-961C-0E2F-8E90-37BA9F45A07F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정치커뮤니케이션</a:t>
            </a:r>
            <a:r>
              <a:rPr lang="en-US" altLang="ko-KR" sz="1400" dirty="0"/>
              <a:t>: AI</a:t>
            </a:r>
            <a:r>
              <a:rPr lang="ko-KR" altLang="en-US" sz="1400" dirty="0"/>
              <a:t>와 알고리즘 민주주의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896993F-85DA-29C7-40AE-1761D16225AD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 err="1"/>
              <a:t>라투르의</a:t>
            </a:r>
            <a:r>
              <a:rPr lang="ko-KR" altLang="en-US" b="1" dirty="0"/>
              <a:t> 기술적 매개 </a:t>
            </a:r>
            <a:r>
              <a:rPr lang="en-US" altLang="ko-KR" b="1" dirty="0"/>
              <a:t>(Technical Mediation)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sz="1800" dirty="0"/>
              <a:t>기입</a:t>
            </a:r>
            <a:r>
              <a:rPr lang="en-US" altLang="ko-KR" sz="1800" dirty="0"/>
              <a:t>(Inscription)</a:t>
            </a:r>
            <a:r>
              <a:rPr lang="ko-KR" altLang="en-US" sz="1800" dirty="0"/>
              <a:t>과 물화</a:t>
            </a:r>
            <a:r>
              <a:rPr lang="en-US" altLang="ko-KR" sz="1800" dirty="0"/>
              <a:t>(Materialization): </a:t>
            </a:r>
            <a:r>
              <a:rPr lang="ko-KR" altLang="en-US" sz="1800" dirty="0"/>
              <a:t>인간의 행동 프로그램</a:t>
            </a:r>
            <a:r>
              <a:rPr lang="en-US" altLang="ko-KR" sz="1800" dirty="0"/>
              <a:t>(</a:t>
            </a:r>
            <a:r>
              <a:rPr lang="ko-KR" altLang="en-US" sz="1800" dirty="0"/>
              <a:t>목표나 의도</a:t>
            </a:r>
            <a:r>
              <a:rPr lang="en-US" altLang="ko-KR" sz="1800" dirty="0"/>
              <a:t>)</a:t>
            </a:r>
            <a:r>
              <a:rPr lang="ko-KR" altLang="en-US" sz="1800" dirty="0"/>
              <a:t>이 비인간 사물의 물리적 형태로 새겨지는 것</a:t>
            </a:r>
            <a:endParaRPr lang="en-US" altLang="ko-KR" sz="1800" dirty="0"/>
          </a:p>
          <a:p>
            <a:pPr lvl="1"/>
            <a:r>
              <a:rPr lang="en-US" altLang="ko-KR" sz="1600" dirty="0"/>
              <a:t>Ex.</a:t>
            </a:r>
            <a:r>
              <a:rPr lang="ko-KR" altLang="en-US" sz="1600" dirty="0"/>
              <a:t> 캠퍼스에서 차들의 속도를 줄이게 하려는 엔지니어의 의도</a:t>
            </a:r>
            <a:r>
              <a:rPr lang="en-US" altLang="ko-KR" sz="1600" dirty="0"/>
              <a:t>(</a:t>
            </a:r>
            <a:r>
              <a:rPr lang="ko-KR" altLang="en-US" sz="1600" dirty="0"/>
              <a:t>행동 프로그램</a:t>
            </a:r>
            <a:r>
              <a:rPr lang="en-US" altLang="ko-KR" sz="1600" dirty="0"/>
              <a:t>)</a:t>
            </a:r>
            <a:r>
              <a:rPr lang="ko-KR" altLang="en-US" sz="1600" dirty="0"/>
              <a:t>는 경고 표지판</a:t>
            </a:r>
            <a:r>
              <a:rPr lang="en-US" altLang="ko-KR" sz="1600" dirty="0"/>
              <a:t>(</a:t>
            </a:r>
            <a:r>
              <a:rPr lang="ko-KR" altLang="en-US" sz="1600" dirty="0"/>
              <a:t>언어</a:t>
            </a:r>
            <a:r>
              <a:rPr lang="en-US" altLang="ko-KR" sz="1600" dirty="0"/>
              <a:t>) </a:t>
            </a:r>
            <a:r>
              <a:rPr lang="ko-KR" altLang="en-US" sz="1600" dirty="0"/>
              <a:t>대신 콘크리트로 만든 </a:t>
            </a:r>
            <a:r>
              <a:rPr lang="en-US" altLang="ko-KR" sz="1600" dirty="0"/>
              <a:t>'</a:t>
            </a:r>
            <a:r>
              <a:rPr lang="ko-KR" altLang="en-US" sz="1600" dirty="0"/>
              <a:t>과속방지턱</a:t>
            </a:r>
            <a:r>
              <a:rPr lang="en-US" altLang="ko-KR" sz="1600" dirty="0"/>
              <a:t>'</a:t>
            </a:r>
            <a:r>
              <a:rPr lang="ko-KR" altLang="en-US" sz="1600" dirty="0"/>
              <a:t>의 형태로 기입</a:t>
            </a:r>
            <a:r>
              <a:rPr lang="en-US" altLang="ko-KR" sz="1600" dirty="0"/>
              <a:t>(Inscription)</a:t>
            </a:r>
            <a:r>
              <a:rPr lang="ko-KR" altLang="en-US" sz="1600" dirty="0"/>
              <a:t>되거나 물화</a:t>
            </a:r>
            <a:r>
              <a:rPr lang="en-US" altLang="ko-KR" sz="1600" dirty="0"/>
              <a:t>(Objectified/Materialized)</a:t>
            </a:r>
            <a:r>
              <a:rPr lang="ko-KR" altLang="en-US" sz="1600" dirty="0"/>
              <a:t>됨</a:t>
            </a:r>
            <a:endParaRPr lang="en-US" altLang="ko-KR" sz="1600" dirty="0"/>
          </a:p>
          <a:p>
            <a:pPr lvl="1"/>
            <a:r>
              <a:rPr lang="ko-KR" altLang="en-US" sz="1600" dirty="0"/>
              <a:t>이 과정을 통해 인간의 법 집행 의지가 사물의 물리적 속성으로 번역되어 강력한 행위성을 </a:t>
            </a:r>
            <a:r>
              <a:rPr lang="ko-KR" altLang="en-US" sz="1600" dirty="0" err="1"/>
              <a:t>갖게됨</a:t>
            </a:r>
            <a:endParaRPr lang="en-US" altLang="ko-KR" sz="1600" dirty="0"/>
          </a:p>
          <a:p>
            <a:r>
              <a:rPr lang="ko-KR" altLang="en-US" sz="1800" dirty="0"/>
              <a:t>블랙박스화</a:t>
            </a:r>
            <a:r>
              <a:rPr lang="en-US" altLang="ko-KR" sz="1800" dirty="0"/>
              <a:t>(</a:t>
            </a:r>
            <a:r>
              <a:rPr lang="en-US" altLang="ko-KR" sz="1800" dirty="0" err="1"/>
              <a:t>Blackboxing</a:t>
            </a:r>
            <a:r>
              <a:rPr lang="en-US" altLang="ko-KR" sz="1800" dirty="0"/>
              <a:t>): </a:t>
            </a:r>
            <a:r>
              <a:rPr lang="ko-KR" altLang="en-US" sz="1800" dirty="0"/>
              <a:t>수많은 인간과 비인간 행위자들의 복잡한 협상과 연결망이 안정화되면</a:t>
            </a:r>
            <a:r>
              <a:rPr lang="en-US" altLang="ko-KR" sz="1800" dirty="0"/>
              <a:t>, </a:t>
            </a:r>
            <a:r>
              <a:rPr lang="ko-KR" altLang="en-US" sz="1800" dirty="0"/>
              <a:t>사람들은 더 이상 그 내부의 복잡한 작동 방식을 의심하거나 들여다보지 않고 하나의 투명한 도구처럼 기정사실로 받아들이게 됨</a:t>
            </a:r>
            <a:endParaRPr lang="en-US" altLang="ko-KR" sz="18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527227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623D6-DF05-ED84-9A39-02C85153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6BD5E-1B65-31B8-0D63-F530CCC2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Approach:</a:t>
            </a:r>
            <a:r>
              <a:rPr lang="ko-KR" altLang="en-US" sz="3200" dirty="0"/>
              <a:t> </a:t>
            </a:r>
            <a:r>
              <a:rPr lang="en-US" altLang="ko-KR" sz="3200" dirty="0"/>
              <a:t>Feedback</a:t>
            </a:r>
            <a:r>
              <a:rPr lang="ko-KR" altLang="en-US" sz="3200" dirty="0"/>
              <a:t> </a:t>
            </a:r>
            <a:r>
              <a:rPr lang="en-US" altLang="ko-KR" sz="3200" dirty="0"/>
              <a:t>Loop</a:t>
            </a:r>
            <a:r>
              <a:rPr lang="ko-KR" altLang="en-US" sz="3200" dirty="0"/>
              <a:t> </a:t>
            </a:r>
            <a:r>
              <a:rPr lang="en-US" altLang="ko-KR" sz="3200" dirty="0"/>
              <a:t>Model</a:t>
            </a:r>
            <a:r>
              <a:rPr lang="ko-KR" altLang="en-US" sz="3200" dirty="0"/>
              <a:t>에 대한 새로운 관점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04E99-B6D6-CC99-92AC-721E8D74919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5E689-6290-4459-0BC1-34F8A32B756B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정치커뮤니케이션</a:t>
            </a:r>
            <a:r>
              <a:rPr lang="en-US" altLang="ko-KR" sz="1400" dirty="0"/>
              <a:t>: AI</a:t>
            </a:r>
            <a:r>
              <a:rPr lang="ko-KR" altLang="en-US" sz="1400" dirty="0"/>
              <a:t>와 알고리즘 민주주의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8B8A796-AD91-FB3A-B1AE-B24189702D20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 err="1"/>
              <a:t>콜롱의</a:t>
            </a:r>
            <a:r>
              <a:rPr lang="ko-KR" altLang="en-US" b="1" dirty="0"/>
              <a:t> 번역의 사회학 </a:t>
            </a:r>
            <a:r>
              <a:rPr lang="en-US" altLang="ko-KR" b="1" dirty="0"/>
              <a:t>(Sociology of Translation)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sz="1800" dirty="0" err="1"/>
              <a:t>콜롱은</a:t>
            </a:r>
            <a:r>
              <a:rPr lang="ko-KR" altLang="en-US" sz="1800" dirty="0"/>
              <a:t> 가리비 양식업을 둘러싼 연구자</a:t>
            </a:r>
            <a:r>
              <a:rPr lang="en-US" altLang="ko-KR" sz="1800" dirty="0"/>
              <a:t>, </a:t>
            </a:r>
            <a:r>
              <a:rPr lang="ko-KR" altLang="en-US" sz="1800" dirty="0"/>
              <a:t>어부</a:t>
            </a:r>
            <a:r>
              <a:rPr lang="en-US" altLang="ko-KR" sz="1800" dirty="0"/>
              <a:t>, </a:t>
            </a:r>
            <a:r>
              <a:rPr lang="ko-KR" altLang="en-US" sz="1800" dirty="0"/>
              <a:t>가리비 간의 관계 형성 과정을 통해</a:t>
            </a:r>
            <a:r>
              <a:rPr lang="en-US" altLang="ko-KR" sz="1800" dirty="0"/>
              <a:t>, </a:t>
            </a:r>
            <a:r>
              <a:rPr lang="ko-KR" altLang="en-US" sz="1800" dirty="0"/>
              <a:t>어떻게 소수의 행위자가 다수의 이질적인 대중을 통제하고 권력 관계를 형성하는지를 번역의 </a:t>
            </a:r>
            <a:r>
              <a:rPr lang="en-US" altLang="ko-KR" sz="1800" dirty="0"/>
              <a:t>4</a:t>
            </a:r>
            <a:r>
              <a:rPr lang="ko-KR" altLang="en-US" sz="1800" dirty="0"/>
              <a:t>단계로 설명함</a:t>
            </a:r>
            <a:endParaRPr lang="en-US" altLang="ko-KR" sz="1800" dirty="0"/>
          </a:p>
          <a:p>
            <a:pPr lvl="1"/>
            <a:r>
              <a:rPr lang="en-US" altLang="ko-KR" sz="1600" dirty="0"/>
              <a:t>1</a:t>
            </a:r>
            <a:r>
              <a:rPr lang="ko-KR" altLang="en-US" sz="1600" dirty="0"/>
              <a:t>단계</a:t>
            </a:r>
            <a:r>
              <a:rPr lang="en-US" altLang="ko-KR" sz="1600" dirty="0"/>
              <a:t>: </a:t>
            </a:r>
            <a:r>
              <a:rPr lang="ko-KR" altLang="en-US" sz="1600" dirty="0"/>
              <a:t>문제제기와 의무통과점</a:t>
            </a:r>
            <a:r>
              <a:rPr lang="en-US" altLang="ko-KR" sz="1600" dirty="0"/>
              <a:t>(Obligatory Passage Point, OPP)</a:t>
            </a:r>
          </a:p>
          <a:p>
            <a:pPr lvl="1"/>
            <a:r>
              <a:rPr lang="en-US" altLang="ko-KR" sz="1600" dirty="0"/>
              <a:t>2</a:t>
            </a:r>
            <a:r>
              <a:rPr lang="ko-KR" altLang="en-US" sz="1600" dirty="0"/>
              <a:t>단계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관심끌기와</a:t>
            </a:r>
            <a:r>
              <a:rPr lang="ko-KR" altLang="en-US" sz="1600" dirty="0"/>
              <a:t> 이해관계 부여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Interessement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b="1" dirty="0"/>
              <a:t>3</a:t>
            </a:r>
            <a:r>
              <a:rPr lang="ko-KR" altLang="en-US" sz="1600" b="1" dirty="0"/>
              <a:t>단계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등록</a:t>
            </a:r>
            <a:r>
              <a:rPr lang="en-US" altLang="ko-KR" sz="1600" b="1" dirty="0"/>
              <a:t>(Enrolment)</a:t>
            </a:r>
          </a:p>
          <a:p>
            <a:pPr lvl="2"/>
            <a:r>
              <a:rPr lang="ko-KR" altLang="en-US" sz="1400" dirty="0" err="1"/>
              <a:t>관심끌기가</a:t>
            </a:r>
            <a:r>
              <a:rPr lang="ko-KR" altLang="en-US" sz="1400" dirty="0"/>
              <a:t> 성공하여 행위자들이 자신에게 부여된 역할을 실제로 수용하고 동의하게 만드는 다자간의 협상과 힘겨루기 과정 </a:t>
            </a:r>
            <a:r>
              <a:rPr lang="en-US" altLang="ko-KR" sz="1400" dirty="0"/>
              <a:t>(ex. </a:t>
            </a:r>
            <a:r>
              <a:rPr lang="ko-KR" altLang="en-US" sz="1400" dirty="0"/>
              <a:t>가리비가 실제로 그물에 달라붙거나</a:t>
            </a:r>
            <a:r>
              <a:rPr lang="en-US" altLang="ko-KR" sz="1400" dirty="0"/>
              <a:t>, </a:t>
            </a:r>
            <a:r>
              <a:rPr lang="ko-KR" altLang="en-US" sz="1400" dirty="0"/>
              <a:t>어부들이 연구자들의 계획에 동의하는 등 합의가 도출되는 단계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sz="1600" b="1" dirty="0"/>
              <a:t>4</a:t>
            </a:r>
            <a:r>
              <a:rPr lang="ko-KR" altLang="en-US" sz="1600" b="1" dirty="0"/>
              <a:t>단계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동원</a:t>
            </a:r>
            <a:r>
              <a:rPr lang="en-US" altLang="ko-KR" sz="1600" b="1" dirty="0"/>
              <a:t>(Mobilization)</a:t>
            </a:r>
            <a:r>
              <a:rPr lang="ko-KR" altLang="en-US" sz="1600" b="1" dirty="0"/>
              <a:t>과 대변인</a:t>
            </a:r>
            <a:r>
              <a:rPr lang="en-US" altLang="ko-KR" sz="1600" b="1" dirty="0"/>
              <a:t>(Spokesperson)</a:t>
            </a:r>
          </a:p>
          <a:p>
            <a:pPr lvl="2"/>
            <a:r>
              <a:rPr lang="ko-KR" altLang="en-US" sz="1400" dirty="0"/>
              <a:t>동원</a:t>
            </a:r>
            <a:r>
              <a:rPr lang="en-US" altLang="ko-KR" sz="1400" dirty="0"/>
              <a:t>: </a:t>
            </a:r>
            <a:r>
              <a:rPr lang="ko-KR" altLang="en-US" sz="1400" dirty="0"/>
              <a:t>흩어져 있고 접근하기 어려운 실체들</a:t>
            </a:r>
            <a:r>
              <a:rPr lang="en-US" altLang="ko-KR" sz="1400" dirty="0"/>
              <a:t>(</a:t>
            </a:r>
            <a:r>
              <a:rPr lang="ko-KR" altLang="en-US" sz="1400" dirty="0"/>
              <a:t>가리비</a:t>
            </a:r>
            <a:r>
              <a:rPr lang="en-US" altLang="ko-KR" sz="1400" dirty="0"/>
              <a:t>, </a:t>
            </a:r>
            <a:r>
              <a:rPr lang="ko-KR" altLang="en-US" sz="1400" dirty="0"/>
              <a:t>어부 등</a:t>
            </a:r>
            <a:r>
              <a:rPr lang="en-US" altLang="ko-KR" sz="1400" dirty="0"/>
              <a:t>)</a:t>
            </a:r>
            <a:r>
              <a:rPr lang="ko-KR" altLang="en-US" sz="1400" dirty="0"/>
              <a:t>이 변형과 치환의 과정을 거쳐 회의실의 도표와 데이터로 결집하는 현상</a:t>
            </a:r>
            <a:r>
              <a:rPr lang="en-US" altLang="ko-KR" sz="1400" dirty="0"/>
              <a:t>. </a:t>
            </a:r>
            <a:r>
              <a:rPr lang="ko-KR" altLang="en-US" sz="1400" dirty="0"/>
              <a:t>이렇게 동원된 대중은 대변인</a:t>
            </a:r>
            <a:r>
              <a:rPr lang="en-US" altLang="ko-KR" sz="1400" dirty="0"/>
              <a:t>(</a:t>
            </a:r>
            <a:r>
              <a:rPr lang="ko-KR" altLang="en-US" sz="1400" dirty="0"/>
              <a:t>연구자</a:t>
            </a:r>
            <a:r>
              <a:rPr lang="en-US" altLang="ko-KR" sz="1400" dirty="0"/>
              <a:t>)</a:t>
            </a:r>
            <a:r>
              <a:rPr lang="ko-KR" altLang="en-US" sz="1400" dirty="0"/>
              <a:t>의 주장을 반박할 수 없는 강력한 힘으로 </a:t>
            </a:r>
            <a:r>
              <a:rPr lang="ko-KR" altLang="en-US" sz="1400" dirty="0" err="1"/>
              <a:t>만들어줌</a:t>
            </a:r>
            <a:r>
              <a:rPr lang="en-US" altLang="ko-KR" sz="1400" dirty="0"/>
              <a:t>.</a:t>
            </a:r>
          </a:p>
          <a:p>
            <a:pPr lvl="2"/>
            <a:r>
              <a:rPr lang="ko-KR" altLang="en-US" sz="1400" dirty="0"/>
              <a:t>대변인</a:t>
            </a:r>
            <a:r>
              <a:rPr lang="en-US" altLang="ko-KR" sz="1400" dirty="0"/>
              <a:t>: </a:t>
            </a:r>
            <a:r>
              <a:rPr lang="ko-KR" altLang="en-US" sz="1400" dirty="0"/>
              <a:t>바다 밑의 수많은 가리비나 흩어져 있는 어부들은 직접 말을 할 수 없거나 침묵하는 군중임</a:t>
            </a:r>
            <a:r>
              <a:rPr lang="en-US" altLang="ko-KR" sz="1400" dirty="0"/>
              <a:t>. </a:t>
            </a:r>
            <a:r>
              <a:rPr lang="ko-KR" altLang="en-US" sz="1400" dirty="0"/>
              <a:t>연구자들은 수집된 소수의 가리비 유생이나 투표로 뽑힌 어부 대표의 데이터를 종이 위의 도표와 숫자로 변환</a:t>
            </a:r>
            <a:r>
              <a:rPr lang="en-US" altLang="ko-KR" sz="1400" dirty="0"/>
              <a:t>(</a:t>
            </a:r>
            <a:r>
              <a:rPr lang="ko-KR" altLang="en-US" sz="1400" dirty="0"/>
              <a:t>번역</a:t>
            </a:r>
            <a:r>
              <a:rPr lang="en-US" altLang="ko-KR" sz="1400" dirty="0"/>
              <a:t>)</a:t>
            </a:r>
            <a:r>
              <a:rPr lang="ko-KR" altLang="en-US" sz="1400" dirty="0"/>
              <a:t>함</a:t>
            </a:r>
            <a:r>
              <a:rPr lang="en-US" altLang="ko-KR" sz="1400" dirty="0"/>
              <a:t>. </a:t>
            </a:r>
            <a:r>
              <a:rPr lang="ko-KR" altLang="en-US" sz="1400" dirty="0"/>
              <a:t>이를 통해 소수의 연구자가 그 거대한 침묵의 집단을 합법적으로 대표하여 입장을 밝히는 </a:t>
            </a:r>
            <a:r>
              <a:rPr lang="en-US" altLang="ko-KR" sz="1400" dirty="0"/>
              <a:t>'</a:t>
            </a:r>
            <a:r>
              <a:rPr lang="ko-KR" altLang="en-US" sz="1400" dirty="0"/>
              <a:t>대변인</a:t>
            </a:r>
            <a:r>
              <a:rPr lang="en-US" altLang="ko-KR" sz="1400" dirty="0"/>
              <a:t>'</a:t>
            </a:r>
            <a:r>
              <a:rPr lang="ko-KR" altLang="en-US" sz="1400" dirty="0"/>
              <a:t>의 지위를 획득하게 됨</a:t>
            </a:r>
            <a:r>
              <a:rPr lang="en-US" altLang="ko-KR" sz="1400" dirty="0"/>
              <a:t>.</a:t>
            </a:r>
          </a:p>
          <a:p>
            <a:pPr lvl="2"/>
            <a:endParaRPr lang="en-US" altLang="ko-KR" sz="14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24928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ABEB-3422-1700-127E-F951359C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5E57B-D02A-D503-0E1E-DF01268F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Approach:</a:t>
            </a:r>
            <a:r>
              <a:rPr lang="ko-KR" altLang="en-US" sz="3200" dirty="0"/>
              <a:t> </a:t>
            </a:r>
            <a:r>
              <a:rPr lang="en-US" altLang="ko-KR" sz="3200" dirty="0"/>
              <a:t>Feedback</a:t>
            </a:r>
            <a:r>
              <a:rPr lang="ko-KR" altLang="en-US" sz="3200" dirty="0"/>
              <a:t> </a:t>
            </a:r>
            <a:r>
              <a:rPr lang="en-US" altLang="ko-KR" sz="3200" dirty="0"/>
              <a:t>Loop</a:t>
            </a:r>
            <a:r>
              <a:rPr lang="ko-KR" altLang="en-US" sz="3200" dirty="0"/>
              <a:t> </a:t>
            </a:r>
            <a:r>
              <a:rPr lang="en-US" altLang="ko-KR" sz="3200" dirty="0"/>
              <a:t>Model</a:t>
            </a:r>
            <a:r>
              <a:rPr lang="ko-KR" altLang="en-US" sz="3200" dirty="0"/>
              <a:t>에 대한 새로운 관점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98886-3525-AE79-11BB-981CEEE46502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28739-8AEA-55CD-E89A-5150BE1535C4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정치커뮤니케이션</a:t>
            </a:r>
            <a:r>
              <a:rPr lang="en-US" altLang="ko-KR" sz="1400" dirty="0"/>
              <a:t>: AI</a:t>
            </a:r>
            <a:r>
              <a:rPr lang="ko-KR" altLang="en-US" sz="1400" dirty="0"/>
              <a:t>와 알고리즘 민주주의</a:t>
            </a:r>
          </a:p>
        </p:txBody>
      </p:sp>
      <p:sp>
        <p:nvSpPr>
          <p:cNvPr id="6" name="화살표: 굽음 5">
            <a:extLst>
              <a:ext uri="{FF2B5EF4-FFF2-40B4-BE49-F238E27FC236}">
                <a16:creationId xmlns:a16="http://schemas.microsoft.com/office/drawing/2014/main" id="{BADF9500-A3B8-1D1E-2F87-7D11589F9C9C}"/>
              </a:ext>
            </a:extLst>
          </p:cNvPr>
          <p:cNvSpPr/>
          <p:nvPr/>
        </p:nvSpPr>
        <p:spPr>
          <a:xfrm>
            <a:off x="4471421" y="1884096"/>
            <a:ext cx="729423" cy="778598"/>
          </a:xfrm>
          <a:prstGeom prst="ben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화살표: 굽음 6">
            <a:extLst>
              <a:ext uri="{FF2B5EF4-FFF2-40B4-BE49-F238E27FC236}">
                <a16:creationId xmlns:a16="http://schemas.microsoft.com/office/drawing/2014/main" id="{A77DD0C0-EFC0-24AF-29CD-F224DD558CCE}"/>
              </a:ext>
            </a:extLst>
          </p:cNvPr>
          <p:cNvSpPr/>
          <p:nvPr/>
        </p:nvSpPr>
        <p:spPr>
          <a:xfrm rot="5400000">
            <a:off x="5815561" y="2432832"/>
            <a:ext cx="1777718" cy="778598"/>
          </a:xfrm>
          <a:prstGeom prst="ben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9" name="그래픽 8" descr="사용자 단색으로 채워진">
            <a:extLst>
              <a:ext uri="{FF2B5EF4-FFF2-40B4-BE49-F238E27FC236}">
                <a16:creationId xmlns:a16="http://schemas.microsoft.com/office/drawing/2014/main" id="{8B0243B2-1DF8-A78F-032A-B2AE89110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5200" y="2662694"/>
            <a:ext cx="914400" cy="914400"/>
          </a:xfrm>
          <a:prstGeom prst="rect">
            <a:avLst/>
          </a:prstGeom>
        </p:spPr>
      </p:pic>
      <p:pic>
        <p:nvPicPr>
          <p:cNvPr id="11" name="그래픽 10" descr="서버 단색으로 채워진">
            <a:extLst>
              <a:ext uri="{FF2B5EF4-FFF2-40B4-BE49-F238E27FC236}">
                <a16:creationId xmlns:a16="http://schemas.microsoft.com/office/drawing/2014/main" id="{F2F5D1FC-32C1-50B8-2EA1-DC78D20ED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0783" y="1621545"/>
            <a:ext cx="914400" cy="914400"/>
          </a:xfrm>
          <a:prstGeom prst="rect">
            <a:avLst/>
          </a:prstGeom>
        </p:spPr>
      </p:pic>
      <p:pic>
        <p:nvPicPr>
          <p:cNvPr id="12" name="그래픽 11" descr="사용자 단색으로 채워진">
            <a:extLst>
              <a:ext uri="{FF2B5EF4-FFF2-40B4-BE49-F238E27FC236}">
                <a16:creationId xmlns:a16="http://schemas.microsoft.com/office/drawing/2014/main" id="{0D3C1A0E-57E1-3333-885D-EE6342CA84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37" y="3826110"/>
            <a:ext cx="914400" cy="914400"/>
          </a:xfrm>
          <a:prstGeom prst="rect">
            <a:avLst/>
          </a:prstGeom>
        </p:spPr>
      </p:pic>
      <p:pic>
        <p:nvPicPr>
          <p:cNvPr id="13" name="그래픽 12" descr="서버 단색으로 채워진">
            <a:extLst>
              <a:ext uri="{FF2B5EF4-FFF2-40B4-BE49-F238E27FC236}">
                <a16:creationId xmlns:a16="http://schemas.microsoft.com/office/drawing/2014/main" id="{4671CF4B-894F-8094-5590-46DF086508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5200" y="3826110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BF2C40-5604-F215-0B61-1C7B3069621E}"/>
              </a:ext>
            </a:extLst>
          </p:cNvPr>
          <p:cNvSpPr txBox="1"/>
          <p:nvPr/>
        </p:nvSpPr>
        <p:spPr>
          <a:xfrm>
            <a:off x="280833" y="1879288"/>
            <a:ext cx="40093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B57B6B"/>
                </a:solidFill>
              </a:rPr>
              <a:t>Cycle A: Human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AI</a:t>
            </a:r>
          </a:p>
          <a:p>
            <a:pPr algn="r"/>
            <a:r>
              <a:rPr lang="ko-KR" altLang="en-US" sz="1400" dirty="0">
                <a:solidFill>
                  <a:srgbClr val="B57B6B"/>
                </a:solidFill>
              </a:rPr>
              <a:t>소셜 미디어 상의 과잉 활동자나 정치적 적대감이 단순한 데이터로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주입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되는 것을 넘어</a:t>
            </a:r>
            <a:r>
              <a:rPr lang="en-US" altLang="ko-KR" sz="1400" dirty="0">
                <a:solidFill>
                  <a:srgbClr val="B57B6B"/>
                </a:solidFill>
              </a:rPr>
              <a:t>, AI </a:t>
            </a:r>
            <a:r>
              <a:rPr lang="ko-KR" altLang="en-US" sz="1400" dirty="0">
                <a:solidFill>
                  <a:srgbClr val="B57B6B"/>
                </a:solidFill>
              </a:rPr>
              <a:t>모델의 수학적 가중치와 코드라는 강력한 물리적 </a:t>
            </a:r>
            <a:r>
              <a:rPr lang="ko-KR" altLang="en-US" sz="1400" dirty="0" err="1">
                <a:solidFill>
                  <a:srgbClr val="B57B6B"/>
                </a:solidFill>
              </a:rPr>
              <a:t>행위성</a:t>
            </a:r>
            <a:r>
              <a:rPr lang="en-US" altLang="ko-KR" sz="1400" dirty="0">
                <a:solidFill>
                  <a:srgbClr val="B57B6B"/>
                </a:solidFill>
              </a:rPr>
              <a:t>(</a:t>
            </a:r>
            <a:r>
              <a:rPr lang="ko-KR" altLang="en-US" sz="1400" dirty="0">
                <a:solidFill>
                  <a:srgbClr val="B57B6B"/>
                </a:solidFill>
              </a:rPr>
              <a:t>물화</a:t>
            </a:r>
            <a:r>
              <a:rPr lang="en-US" altLang="ko-KR" sz="1400" dirty="0">
                <a:solidFill>
                  <a:srgbClr val="B57B6B"/>
                </a:solidFill>
              </a:rPr>
              <a:t>)</a:t>
            </a:r>
            <a:r>
              <a:rPr lang="ko-KR" altLang="en-US" sz="1400" dirty="0">
                <a:solidFill>
                  <a:srgbClr val="B57B6B"/>
                </a:solidFill>
              </a:rPr>
              <a:t>을 지닌 형태로 번역되어 새겨지는 과정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즉 기입</a:t>
            </a:r>
            <a:r>
              <a:rPr lang="en-US" altLang="ko-KR" sz="1400" dirty="0">
                <a:solidFill>
                  <a:srgbClr val="B57B6B"/>
                </a:solidFill>
              </a:rPr>
              <a:t>(Inscription)</a:t>
            </a:r>
            <a:r>
              <a:rPr lang="ko-KR" altLang="en-US" sz="1400" dirty="0">
                <a:solidFill>
                  <a:srgbClr val="B57B6B"/>
                </a:solidFill>
              </a:rPr>
              <a:t>에 해당함 </a:t>
            </a:r>
            <a:r>
              <a:rPr lang="en-US" altLang="ko-KR" sz="1400" dirty="0">
                <a:solidFill>
                  <a:srgbClr val="B57B6B"/>
                </a:solidFill>
              </a:rPr>
              <a:t>(Latour, 1994).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9B10F-C069-6924-8AFB-55CE32A33525}"/>
              </a:ext>
            </a:extLst>
          </p:cNvPr>
          <p:cNvSpPr txBox="1"/>
          <p:nvPr/>
        </p:nvSpPr>
        <p:spPr>
          <a:xfrm>
            <a:off x="7265911" y="1802580"/>
            <a:ext cx="46452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B57B6B"/>
                </a:solidFill>
              </a:rPr>
              <a:t>Cycle B: AI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Human</a:t>
            </a:r>
          </a:p>
          <a:p>
            <a:r>
              <a:rPr lang="ko-KR" altLang="en-US" sz="1400" dirty="0">
                <a:solidFill>
                  <a:srgbClr val="B57B6B"/>
                </a:solidFill>
              </a:rPr>
              <a:t>정보를 투명하게 전달하는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중간자</a:t>
            </a:r>
            <a:r>
              <a:rPr lang="en-US" altLang="ko-KR" sz="1400" dirty="0">
                <a:solidFill>
                  <a:srgbClr val="B57B6B"/>
                </a:solidFill>
              </a:rPr>
              <a:t>(Intermediary)'</a:t>
            </a:r>
            <a:r>
              <a:rPr lang="ko-KR" altLang="en-US" sz="1400" dirty="0">
                <a:solidFill>
                  <a:srgbClr val="B57B6B"/>
                </a:solidFill>
              </a:rPr>
              <a:t>와 달리</a:t>
            </a:r>
            <a:r>
              <a:rPr lang="en-US" altLang="ko-KR" sz="1400" dirty="0">
                <a:solidFill>
                  <a:srgbClr val="B57B6B"/>
                </a:solidFill>
              </a:rPr>
              <a:t>, '</a:t>
            </a:r>
            <a:r>
              <a:rPr lang="ko-KR" altLang="en-US" sz="1400" dirty="0">
                <a:solidFill>
                  <a:srgbClr val="B57B6B"/>
                </a:solidFill>
              </a:rPr>
              <a:t>매개자</a:t>
            </a:r>
            <a:r>
              <a:rPr lang="en-US" altLang="ko-KR" sz="1400" dirty="0">
                <a:solidFill>
                  <a:srgbClr val="B57B6B"/>
                </a:solidFill>
              </a:rPr>
              <a:t>(Mediator)'</a:t>
            </a:r>
            <a:r>
              <a:rPr lang="ko-KR" altLang="en-US" sz="1400" dirty="0">
                <a:solidFill>
                  <a:srgbClr val="B57B6B"/>
                </a:solidFill>
              </a:rPr>
              <a:t>는 입력된 것을 변형하고 왜곡하여 출력함 </a:t>
            </a:r>
            <a:r>
              <a:rPr lang="en-US" altLang="ko-KR" sz="1400" dirty="0">
                <a:solidFill>
                  <a:srgbClr val="B57B6B"/>
                </a:solidFill>
              </a:rPr>
              <a:t>(Latour, 1994). AI</a:t>
            </a:r>
            <a:r>
              <a:rPr lang="ko-KR" altLang="en-US" sz="1400" dirty="0">
                <a:solidFill>
                  <a:srgbClr val="B57B6B"/>
                </a:solidFill>
              </a:rPr>
              <a:t>와 소셜 봇은 단순한 도구가 아니라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스스로 마이크로 타겟팅과 </a:t>
            </a:r>
            <a:r>
              <a:rPr lang="ko-KR" altLang="en-US" sz="1400" dirty="0" err="1">
                <a:solidFill>
                  <a:srgbClr val="B57B6B"/>
                </a:solidFill>
              </a:rPr>
              <a:t>애스트로터핑을</a:t>
            </a:r>
            <a:r>
              <a:rPr lang="ko-KR" altLang="en-US" sz="1400" dirty="0">
                <a:solidFill>
                  <a:srgbClr val="B57B6B"/>
                </a:solidFill>
              </a:rPr>
              <a:t> 수행하며 정치적 담론의 의미를 적극적으로 변형</a:t>
            </a:r>
            <a:r>
              <a:rPr lang="en-US" altLang="ko-KR" sz="1400" dirty="0">
                <a:solidFill>
                  <a:srgbClr val="B57B6B"/>
                </a:solidFill>
              </a:rPr>
              <a:t>(</a:t>
            </a:r>
            <a:r>
              <a:rPr lang="ko-KR" altLang="en-US" sz="1400" dirty="0">
                <a:solidFill>
                  <a:srgbClr val="B57B6B"/>
                </a:solidFill>
              </a:rPr>
              <a:t>번역</a:t>
            </a:r>
            <a:r>
              <a:rPr lang="en-US" altLang="ko-KR" sz="1400" dirty="0">
                <a:solidFill>
                  <a:srgbClr val="B57B6B"/>
                </a:solidFill>
              </a:rPr>
              <a:t>)</a:t>
            </a:r>
            <a:r>
              <a:rPr lang="ko-KR" altLang="en-US" sz="1400" dirty="0">
                <a:solidFill>
                  <a:srgbClr val="B57B6B"/>
                </a:solidFill>
              </a:rPr>
              <a:t>하는 강력한 비인간 행위자가 됨</a:t>
            </a:r>
            <a:r>
              <a:rPr lang="en-US" altLang="ko-KR" sz="1400" dirty="0">
                <a:solidFill>
                  <a:srgbClr val="B57B6B"/>
                </a:solidFill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C2DB02-B91A-D1BF-390E-E077B4F58CF6}"/>
              </a:ext>
            </a:extLst>
          </p:cNvPr>
          <p:cNvSpPr txBox="1"/>
          <p:nvPr/>
        </p:nvSpPr>
        <p:spPr>
          <a:xfrm>
            <a:off x="7265911" y="3403018"/>
            <a:ext cx="46452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B57B6B"/>
                </a:solidFill>
              </a:rPr>
              <a:t>Cycle C: AI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Human</a:t>
            </a:r>
          </a:p>
          <a:p>
            <a:r>
              <a:rPr lang="ko-KR" altLang="en-US" sz="1400" dirty="0">
                <a:solidFill>
                  <a:srgbClr val="B57B6B"/>
                </a:solidFill>
              </a:rPr>
              <a:t>트위터의 트렌드 지표나 </a:t>
            </a:r>
            <a:r>
              <a:rPr lang="en-US" altLang="ko-KR" sz="1400" dirty="0">
                <a:solidFill>
                  <a:srgbClr val="B57B6B"/>
                </a:solidFill>
              </a:rPr>
              <a:t>AI</a:t>
            </a:r>
            <a:r>
              <a:rPr lang="ko-KR" altLang="en-US" sz="1400" dirty="0">
                <a:solidFill>
                  <a:srgbClr val="B57B6B"/>
                </a:solidFill>
              </a:rPr>
              <a:t>가 생성한 합성 여론은 그 자체로는 실체가 없는 데이터 쪼가리에 불과하지만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언론과 알고리즘이 이를 </a:t>
            </a:r>
            <a:r>
              <a:rPr lang="en-US" altLang="ko-KR" sz="1400" dirty="0">
                <a:solidFill>
                  <a:srgbClr val="B57B6B"/>
                </a:solidFill>
              </a:rPr>
              <a:t>"</a:t>
            </a:r>
            <a:r>
              <a:rPr lang="ko-KR" altLang="en-US" sz="1400" dirty="0">
                <a:solidFill>
                  <a:srgbClr val="B57B6B"/>
                </a:solidFill>
              </a:rPr>
              <a:t>이것이 대중의 진짜 여론이다</a:t>
            </a:r>
            <a:r>
              <a:rPr lang="en-US" altLang="ko-KR" sz="1400" dirty="0">
                <a:solidFill>
                  <a:srgbClr val="B57B6B"/>
                </a:solidFill>
              </a:rPr>
              <a:t>"</a:t>
            </a:r>
            <a:r>
              <a:rPr lang="ko-KR" altLang="en-US" sz="1400" dirty="0">
                <a:solidFill>
                  <a:srgbClr val="B57B6B"/>
                </a:solidFill>
              </a:rPr>
              <a:t>라고 대표</a:t>
            </a:r>
            <a:r>
              <a:rPr lang="en-US" altLang="ko-KR" sz="1400" dirty="0">
                <a:solidFill>
                  <a:srgbClr val="B57B6B"/>
                </a:solidFill>
              </a:rPr>
              <a:t>(represent)</a:t>
            </a:r>
            <a:r>
              <a:rPr lang="ko-KR" altLang="en-US" sz="1400" dirty="0">
                <a:solidFill>
                  <a:srgbClr val="B57B6B"/>
                </a:solidFill>
              </a:rPr>
              <a:t>하는 순간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조작된 데이터는 </a:t>
            </a:r>
            <a:r>
              <a:rPr lang="en-US" altLang="ko-KR" sz="1400" dirty="0">
                <a:solidFill>
                  <a:srgbClr val="B57B6B"/>
                </a:solidFill>
              </a:rPr>
              <a:t>‘</a:t>
            </a:r>
            <a:r>
              <a:rPr lang="ko-KR" altLang="en-US" sz="1400" dirty="0">
                <a:solidFill>
                  <a:srgbClr val="B57B6B"/>
                </a:solidFill>
              </a:rPr>
              <a:t>대변인</a:t>
            </a:r>
            <a:r>
              <a:rPr lang="en-US" altLang="ko-KR" sz="1400" dirty="0">
                <a:solidFill>
                  <a:srgbClr val="B57B6B"/>
                </a:solidFill>
              </a:rPr>
              <a:t>(spokesperson)'</a:t>
            </a:r>
            <a:r>
              <a:rPr lang="ko-KR" altLang="en-US" sz="1400" dirty="0">
                <a:solidFill>
                  <a:srgbClr val="B57B6B"/>
                </a:solidFill>
              </a:rPr>
              <a:t>의 지위를 획득함</a:t>
            </a:r>
            <a:r>
              <a:rPr lang="en-US" altLang="ko-KR" sz="1400" dirty="0">
                <a:solidFill>
                  <a:srgbClr val="B57B6B"/>
                </a:solidFill>
              </a:rPr>
              <a:t>. </a:t>
            </a:r>
            <a:r>
              <a:rPr lang="ko-KR" altLang="en-US" sz="1400" dirty="0">
                <a:solidFill>
                  <a:srgbClr val="B57B6B"/>
                </a:solidFill>
              </a:rPr>
              <a:t>이로 인해 수많은 이질적 데이터와 봇들이 마치 하나의 거대한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보편적 대중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인 것처럼 결집</a:t>
            </a:r>
            <a:r>
              <a:rPr lang="en-US" altLang="ko-KR" sz="1400" dirty="0">
                <a:solidFill>
                  <a:srgbClr val="B57B6B"/>
                </a:solidFill>
              </a:rPr>
              <a:t>(</a:t>
            </a:r>
            <a:r>
              <a:rPr lang="ko-KR" altLang="en-US" sz="1400" dirty="0">
                <a:solidFill>
                  <a:srgbClr val="B57B6B"/>
                </a:solidFill>
              </a:rPr>
              <a:t>동원</a:t>
            </a:r>
            <a:r>
              <a:rPr lang="en-US" altLang="ko-KR" sz="1400" dirty="0">
                <a:solidFill>
                  <a:srgbClr val="B57B6B"/>
                </a:solidFill>
              </a:rPr>
              <a:t>)</a:t>
            </a:r>
            <a:r>
              <a:rPr lang="ko-KR" altLang="en-US" sz="1400" dirty="0">
                <a:solidFill>
                  <a:srgbClr val="B57B6B"/>
                </a:solidFill>
              </a:rPr>
              <a:t>되는 현상을 설명할 수 있음 </a:t>
            </a:r>
            <a:r>
              <a:rPr lang="en-US" altLang="ko-KR" sz="1400" dirty="0">
                <a:solidFill>
                  <a:srgbClr val="B57B6B"/>
                </a:solidFill>
              </a:rPr>
              <a:t>(Callon, 1986).</a:t>
            </a:r>
          </a:p>
        </p:txBody>
      </p:sp>
      <p:sp>
        <p:nvSpPr>
          <p:cNvPr id="3" name="화살표: 왼쪽 2">
            <a:extLst>
              <a:ext uri="{FF2B5EF4-FFF2-40B4-BE49-F238E27FC236}">
                <a16:creationId xmlns:a16="http://schemas.microsoft.com/office/drawing/2014/main" id="{3ED835E6-84C9-2799-9553-C4A5BE4D85F3}"/>
              </a:ext>
            </a:extLst>
          </p:cNvPr>
          <p:cNvSpPr/>
          <p:nvPr/>
        </p:nvSpPr>
        <p:spPr>
          <a:xfrm>
            <a:off x="5110222" y="4069358"/>
            <a:ext cx="1295521" cy="353201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E336A-3E0D-AA4A-2DC5-9A0D833AA02D}"/>
              </a:ext>
            </a:extLst>
          </p:cNvPr>
          <p:cNvSpPr txBox="1"/>
          <p:nvPr/>
        </p:nvSpPr>
        <p:spPr>
          <a:xfrm>
            <a:off x="362208" y="4728173"/>
            <a:ext cx="63422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B57B6B"/>
                </a:solidFill>
              </a:rPr>
              <a:t>Cycle D: Human </a:t>
            </a:r>
            <a:r>
              <a:rPr lang="ko-KR" altLang="en-US" sz="1400" b="1" dirty="0">
                <a:solidFill>
                  <a:srgbClr val="B57B6B"/>
                </a:solidFill>
              </a:rPr>
              <a:t>▶ </a:t>
            </a:r>
            <a:r>
              <a:rPr lang="en-US" altLang="ko-KR" sz="1400" b="1" dirty="0">
                <a:solidFill>
                  <a:srgbClr val="B57B6B"/>
                </a:solidFill>
              </a:rPr>
              <a:t>AI</a:t>
            </a:r>
          </a:p>
          <a:p>
            <a:pPr algn="r"/>
            <a:r>
              <a:rPr lang="ko-KR" altLang="en-US" sz="1400" dirty="0">
                <a:solidFill>
                  <a:srgbClr val="B57B6B"/>
                </a:solidFill>
              </a:rPr>
              <a:t>극단주의자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봇</a:t>
            </a:r>
            <a:r>
              <a:rPr lang="en-US" altLang="ko-KR" sz="1400" dirty="0">
                <a:solidFill>
                  <a:srgbClr val="B57B6B"/>
                </a:solidFill>
              </a:rPr>
              <a:t>(Bot), </a:t>
            </a:r>
            <a:r>
              <a:rPr lang="ko-KR" altLang="en-US" sz="1400" dirty="0">
                <a:solidFill>
                  <a:srgbClr val="B57B6B"/>
                </a:solidFill>
              </a:rPr>
              <a:t>편향된 알고리즘</a:t>
            </a:r>
            <a:r>
              <a:rPr lang="en-US" altLang="ko-KR" sz="1400" dirty="0">
                <a:solidFill>
                  <a:srgbClr val="B57B6B"/>
                </a:solidFill>
              </a:rPr>
              <a:t>, </a:t>
            </a:r>
            <a:r>
              <a:rPr lang="ko-KR" altLang="en-US" sz="1400" dirty="0">
                <a:solidFill>
                  <a:srgbClr val="B57B6B"/>
                </a:solidFill>
              </a:rPr>
              <a:t>언론이 뒤엉켜 만들어낸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합성 여론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의 복잡하고 조작된 연결망</a:t>
            </a:r>
            <a:r>
              <a:rPr lang="en-US" altLang="ko-KR" sz="1400" dirty="0">
                <a:solidFill>
                  <a:srgbClr val="B57B6B"/>
                </a:solidFill>
              </a:rPr>
              <a:t>(Cycle A~C)</a:t>
            </a:r>
            <a:r>
              <a:rPr lang="ko-KR" altLang="en-US" sz="1400" dirty="0">
                <a:solidFill>
                  <a:srgbClr val="B57B6B"/>
                </a:solidFill>
              </a:rPr>
              <a:t>이 인간의 귀찮음과 인지적 한계로 인해 완전히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블랙박스화</a:t>
            </a:r>
            <a:r>
              <a:rPr lang="en-US" altLang="ko-KR" sz="1400" dirty="0">
                <a:solidFill>
                  <a:srgbClr val="B57B6B"/>
                </a:solidFill>
              </a:rPr>
              <a:t>’ </a:t>
            </a:r>
            <a:r>
              <a:rPr lang="ko-KR" altLang="en-US" sz="1400" dirty="0">
                <a:solidFill>
                  <a:srgbClr val="B57B6B"/>
                </a:solidFill>
              </a:rPr>
              <a:t>됨 </a:t>
            </a:r>
            <a:r>
              <a:rPr lang="en-US" altLang="ko-KR" sz="1400" dirty="0">
                <a:solidFill>
                  <a:srgbClr val="B57B6B"/>
                </a:solidFill>
              </a:rPr>
              <a:t>(Latour,</a:t>
            </a:r>
            <a:r>
              <a:rPr lang="ko-KR" altLang="en-US" sz="1400" dirty="0">
                <a:solidFill>
                  <a:srgbClr val="B57B6B"/>
                </a:solidFill>
              </a:rPr>
              <a:t> </a:t>
            </a:r>
            <a:r>
              <a:rPr lang="en-US" altLang="ko-KR" sz="1400" dirty="0">
                <a:solidFill>
                  <a:srgbClr val="B57B6B"/>
                </a:solidFill>
              </a:rPr>
              <a:t>1994). </a:t>
            </a:r>
            <a:r>
              <a:rPr lang="ko-KR" altLang="en-US" sz="1400" dirty="0">
                <a:solidFill>
                  <a:srgbClr val="B57B6B"/>
                </a:solidFill>
              </a:rPr>
              <a:t>인간이 </a:t>
            </a:r>
            <a:r>
              <a:rPr lang="ko-KR" altLang="en-US" sz="1400" dirty="0" err="1">
                <a:solidFill>
                  <a:srgbClr val="B57B6B"/>
                </a:solidFill>
              </a:rPr>
              <a:t>블랙박스화된</a:t>
            </a:r>
            <a:r>
              <a:rPr lang="ko-KR" altLang="en-US" sz="1400" dirty="0">
                <a:solidFill>
                  <a:srgbClr val="B57B6B"/>
                </a:solidFill>
              </a:rPr>
              <a:t> 합성 여론에 동조하고 이를 인터넷에 그대로 수용하여 남기는 행위는</a:t>
            </a:r>
            <a:r>
              <a:rPr lang="en-US" altLang="ko-KR" sz="1400" dirty="0">
                <a:solidFill>
                  <a:srgbClr val="B57B6B"/>
                </a:solidFill>
              </a:rPr>
              <a:t>, AI</a:t>
            </a:r>
            <a:r>
              <a:rPr lang="ko-KR" altLang="en-US" sz="1400" dirty="0">
                <a:solidFill>
                  <a:srgbClr val="B57B6B"/>
                </a:solidFill>
              </a:rPr>
              <a:t>가 구성한 새로운 공중</a:t>
            </a:r>
            <a:r>
              <a:rPr lang="en-US" altLang="ko-KR" sz="1400" dirty="0">
                <a:solidFill>
                  <a:srgbClr val="B57B6B"/>
                </a:solidFill>
              </a:rPr>
              <a:t>(Public)</a:t>
            </a:r>
            <a:r>
              <a:rPr lang="ko-KR" altLang="en-US" sz="1400" dirty="0">
                <a:solidFill>
                  <a:srgbClr val="B57B6B"/>
                </a:solidFill>
              </a:rPr>
              <a:t>의 일원으로 인간 스스로가 </a:t>
            </a:r>
            <a:r>
              <a:rPr lang="en-US" altLang="ko-KR" sz="1400" dirty="0">
                <a:solidFill>
                  <a:srgbClr val="B57B6B"/>
                </a:solidFill>
              </a:rPr>
              <a:t>'</a:t>
            </a:r>
            <a:r>
              <a:rPr lang="ko-KR" altLang="en-US" sz="1400" dirty="0">
                <a:solidFill>
                  <a:srgbClr val="B57B6B"/>
                </a:solidFill>
              </a:rPr>
              <a:t>등록</a:t>
            </a:r>
            <a:r>
              <a:rPr lang="en-US" altLang="ko-KR" sz="1400" dirty="0">
                <a:solidFill>
                  <a:srgbClr val="B57B6B"/>
                </a:solidFill>
              </a:rPr>
              <a:t>(Enrolment)'</a:t>
            </a:r>
            <a:r>
              <a:rPr lang="ko-KR" altLang="en-US" sz="1400" dirty="0">
                <a:solidFill>
                  <a:srgbClr val="B57B6B"/>
                </a:solidFill>
              </a:rPr>
              <a:t>되는 과정임 </a:t>
            </a:r>
            <a:r>
              <a:rPr lang="en-US" altLang="ko-KR" sz="1400" dirty="0">
                <a:solidFill>
                  <a:srgbClr val="B57B6B"/>
                </a:solidFill>
              </a:rPr>
              <a:t>(Callon, 1986). </a:t>
            </a:r>
          </a:p>
        </p:txBody>
      </p:sp>
    </p:spTree>
    <p:extLst>
      <p:ext uri="{BB962C8B-B14F-4D97-AF65-F5344CB8AC3E}">
        <p14:creationId xmlns:p14="http://schemas.microsoft.com/office/powerpoint/2010/main" val="208233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F219-4A3D-255F-A981-EF31269F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8DA33-6CAC-EDD2-2E03-87EA0352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Conclusion: </a:t>
            </a:r>
            <a:r>
              <a:rPr lang="ko-KR" altLang="en-US" sz="3200" dirty="0"/>
              <a:t>비인간 대변인의 해체와 블랙박스 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A1BDB-6EE3-368A-20F3-A29AC22BC922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 err="1"/>
              <a:t>매개자로서의</a:t>
            </a:r>
            <a:r>
              <a:rPr lang="ko-KR" altLang="en-US" b="1" dirty="0"/>
              <a:t> 인공지능과 대변인 지위의 찬탈</a:t>
            </a:r>
            <a:endParaRPr lang="en-US" altLang="ko-KR" b="1" dirty="0"/>
          </a:p>
          <a:p>
            <a:r>
              <a:rPr lang="ko-KR" altLang="en-US" dirty="0"/>
              <a:t>인공지능은 단순히 인간의 편향을 거울처럼 비추는 수동적인 도구</a:t>
            </a:r>
            <a:r>
              <a:rPr lang="en-US" altLang="ko-KR" dirty="0"/>
              <a:t>(</a:t>
            </a:r>
            <a:r>
              <a:rPr lang="ko-KR" altLang="en-US" dirty="0"/>
              <a:t>중간자</a:t>
            </a:r>
            <a:r>
              <a:rPr lang="en-US" altLang="ko-KR" dirty="0"/>
              <a:t>)</a:t>
            </a:r>
            <a:r>
              <a:rPr lang="ko-KR" altLang="en-US" dirty="0"/>
              <a:t>가 아니며</a:t>
            </a:r>
            <a:r>
              <a:rPr lang="en-US" altLang="ko-KR" dirty="0"/>
              <a:t>, </a:t>
            </a:r>
            <a:r>
              <a:rPr lang="ko-KR" altLang="en-US" dirty="0"/>
              <a:t>인간의 데이터를 수학적 가중치로 기입</a:t>
            </a:r>
            <a:r>
              <a:rPr lang="en-US" altLang="ko-KR" dirty="0"/>
              <a:t>(Inscription)</a:t>
            </a:r>
            <a:r>
              <a:rPr lang="ko-KR" altLang="en-US" dirty="0"/>
              <a:t>받아</a:t>
            </a:r>
            <a:r>
              <a:rPr lang="en-US" altLang="ko-KR" dirty="0"/>
              <a:t>, </a:t>
            </a:r>
            <a:r>
              <a:rPr lang="ko-KR" altLang="en-US" dirty="0"/>
              <a:t>유권자 맞춤형 메시지를 능동적으로 변형하고 조작해 내는 강력한 매개자</a:t>
            </a:r>
            <a:r>
              <a:rPr lang="en-US" altLang="ko-KR" dirty="0"/>
              <a:t>(Mediator)</a:t>
            </a:r>
            <a:r>
              <a:rPr lang="ko-KR" altLang="en-US" dirty="0"/>
              <a:t>로 작동함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치명적인 점은</a:t>
            </a:r>
            <a:r>
              <a:rPr lang="en-US" altLang="ko-KR" dirty="0"/>
              <a:t>, AI</a:t>
            </a:r>
            <a:r>
              <a:rPr lang="ko-KR" altLang="en-US" dirty="0"/>
              <a:t>와 봇이 만들어낸 실체 없는 </a:t>
            </a:r>
            <a:r>
              <a:rPr lang="en-US" altLang="ko-KR" dirty="0"/>
              <a:t>'</a:t>
            </a:r>
            <a:r>
              <a:rPr lang="ko-KR" altLang="en-US" dirty="0"/>
              <a:t>합성 여론</a:t>
            </a:r>
            <a:r>
              <a:rPr lang="en-US" altLang="ko-KR" dirty="0"/>
              <a:t>(Synthetic Public Opinion)'</a:t>
            </a:r>
            <a:r>
              <a:rPr lang="ko-KR" altLang="en-US" dirty="0"/>
              <a:t>이 플랫폼과 언론을 거치며 실제 대중의 </a:t>
            </a:r>
            <a:r>
              <a:rPr lang="en-US" altLang="ko-KR" dirty="0"/>
              <a:t>'</a:t>
            </a:r>
            <a:r>
              <a:rPr lang="ko-KR" altLang="en-US" dirty="0"/>
              <a:t>대변인</a:t>
            </a:r>
            <a:r>
              <a:rPr lang="en-US" altLang="ko-KR" dirty="0"/>
              <a:t>(Spokesperson)' </a:t>
            </a:r>
            <a:r>
              <a:rPr lang="ko-KR" altLang="en-US" dirty="0"/>
              <a:t>지위를 획득한다는 것임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과정에서 존재하지 않는 허수가 마치 거대한 보편적 대중인 것처럼 동원</a:t>
            </a:r>
            <a:r>
              <a:rPr lang="en-US" altLang="ko-KR" dirty="0"/>
              <a:t>(Mobilization)</a:t>
            </a:r>
            <a:r>
              <a:rPr lang="ko-KR" altLang="en-US" dirty="0"/>
              <a:t>되며</a:t>
            </a:r>
            <a:r>
              <a:rPr lang="en-US" altLang="ko-KR" dirty="0"/>
              <a:t>, </a:t>
            </a:r>
            <a:r>
              <a:rPr lang="ko-KR" altLang="en-US" dirty="0"/>
              <a:t>민주주의의 핵심인 유권자의 진정한 정서 파악과 민주적 대표성</a:t>
            </a:r>
            <a:r>
              <a:rPr lang="en-US" altLang="ko-KR" dirty="0"/>
              <a:t>(democratic representation)</a:t>
            </a:r>
            <a:r>
              <a:rPr lang="ko-KR" altLang="en-US" dirty="0"/>
              <a:t>은 심각하게 파괴됨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F2750-8156-851F-1AB3-C06880341246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0E551-A27E-7547-8D8C-467CC48BC809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959646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C283-52C1-3837-7747-7997F792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4A7CB-BCC9-8F95-7856-5E29306A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Conclusion: </a:t>
            </a:r>
            <a:r>
              <a:rPr lang="ko-KR" altLang="en-US" sz="3200" dirty="0"/>
              <a:t>비인간 대변인의 해체와 블랙박스 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4799C-818F-D8D5-9156-B094398E6CB2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블랙박스화와 비가역성의 경계</a:t>
            </a:r>
            <a:endParaRPr lang="en-US" altLang="ko-KR" b="1" dirty="0"/>
          </a:p>
          <a:p>
            <a:r>
              <a:rPr lang="ko-KR" altLang="en-US" dirty="0"/>
              <a:t>인간은 소통 비용과 충실도의 타협 속에서 인지적 노력을 줄이기 위해</a:t>
            </a:r>
            <a:r>
              <a:rPr lang="en-US" altLang="ko-KR" dirty="0"/>
              <a:t>, AI</a:t>
            </a:r>
            <a:r>
              <a:rPr lang="ko-KR" altLang="en-US" dirty="0"/>
              <a:t>가 만들어낸 조작된 담론을 무비판적으로 수용하게 되고</a:t>
            </a:r>
            <a:r>
              <a:rPr lang="en-US" altLang="ko-KR" dirty="0"/>
              <a:t>, </a:t>
            </a:r>
            <a:r>
              <a:rPr lang="ko-KR" altLang="en-US" dirty="0"/>
              <a:t>이로 인해 조작과 동원의 복잡한 네트워크는 투명한 기정사실처럼 블랙박스화</a:t>
            </a:r>
            <a:r>
              <a:rPr lang="en-US" altLang="ko-KR" dirty="0"/>
              <a:t>(</a:t>
            </a:r>
            <a:r>
              <a:rPr lang="en-US" altLang="ko-KR" dirty="0" err="1"/>
              <a:t>Blackboxing</a:t>
            </a:r>
            <a:r>
              <a:rPr lang="en-US" altLang="ko-KR" dirty="0"/>
              <a:t>)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인간이 스스로를 </a:t>
            </a:r>
            <a:r>
              <a:rPr lang="en-US" altLang="ko-KR" dirty="0"/>
              <a:t>AI</a:t>
            </a:r>
            <a:r>
              <a:rPr lang="ko-KR" altLang="en-US" dirty="0"/>
              <a:t>가 구성한 새로운 공중에 등록</a:t>
            </a:r>
            <a:r>
              <a:rPr lang="en-US" altLang="ko-KR" dirty="0"/>
              <a:t>(Enrolment)</a:t>
            </a:r>
            <a:r>
              <a:rPr lang="ko-KR" altLang="en-US" dirty="0"/>
              <a:t>시키고 동조한 데이터는</a:t>
            </a:r>
            <a:r>
              <a:rPr lang="en-US" altLang="ko-KR" dirty="0"/>
              <a:t>, </a:t>
            </a:r>
            <a:r>
              <a:rPr lang="ko-KR" altLang="en-US" dirty="0"/>
              <a:t>자기 소비적 수행 루프</a:t>
            </a:r>
            <a:r>
              <a:rPr lang="en-US" altLang="ko-KR" dirty="0"/>
              <a:t>(SCPL)</a:t>
            </a:r>
            <a:r>
              <a:rPr lang="ko-KR" altLang="en-US" dirty="0"/>
              <a:t>를 통해 다음 세대 </a:t>
            </a:r>
            <a:r>
              <a:rPr lang="en-US" altLang="ko-KR" dirty="0"/>
              <a:t>AI</a:t>
            </a:r>
            <a:r>
              <a:rPr lang="ko-KR" altLang="en-US" dirty="0"/>
              <a:t>에 재학습됨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조작된 편향이 </a:t>
            </a:r>
            <a:r>
              <a:rPr lang="en-US" altLang="ko-KR" dirty="0"/>
              <a:t>AI </a:t>
            </a:r>
            <a:r>
              <a:rPr lang="ko-KR" altLang="en-US" dirty="0"/>
              <a:t>모델 내부에 고착화</a:t>
            </a:r>
            <a:r>
              <a:rPr lang="en-US" altLang="ko-KR" dirty="0"/>
              <a:t>(Model Collapse)</a:t>
            </a:r>
            <a:r>
              <a:rPr lang="ko-KR" altLang="en-US" dirty="0"/>
              <a:t>되면</a:t>
            </a:r>
            <a:r>
              <a:rPr lang="en-US" altLang="ko-KR" dirty="0"/>
              <a:t>, </a:t>
            </a:r>
            <a:r>
              <a:rPr lang="ko-KR" altLang="en-US" dirty="0"/>
              <a:t>이는 인간의 힘으로 되돌릴 수 없는 기술적 비가역성을 갖게 되어 민주주의를 영구적으로 위협함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/>
              <a:t>대응 방안</a:t>
            </a:r>
            <a:r>
              <a:rPr lang="en-US" altLang="ko-KR" b="1" dirty="0"/>
              <a:t>: </a:t>
            </a:r>
            <a:r>
              <a:rPr lang="ko-KR" altLang="en-US" b="1" dirty="0"/>
              <a:t>신뢰하되 검증하라 </a:t>
            </a:r>
            <a:r>
              <a:rPr lang="en-US" altLang="ko-KR" b="1" dirty="0"/>
              <a:t>(Trust but verify)</a:t>
            </a:r>
          </a:p>
          <a:p>
            <a:r>
              <a:rPr lang="ko-KR" altLang="en-US" dirty="0"/>
              <a:t>우리는 더 이상 </a:t>
            </a:r>
            <a:r>
              <a:rPr lang="en-US" altLang="ko-KR" dirty="0"/>
              <a:t>"</a:t>
            </a:r>
            <a:r>
              <a:rPr lang="ko-KR" altLang="en-US" dirty="0"/>
              <a:t>보는 것이 믿는 것</a:t>
            </a:r>
            <a:r>
              <a:rPr lang="en-US" altLang="ko-KR" dirty="0"/>
              <a:t>"</a:t>
            </a:r>
            <a:r>
              <a:rPr lang="ko-KR" altLang="en-US" dirty="0"/>
              <a:t>인 세상에 살지 않으며</a:t>
            </a:r>
            <a:r>
              <a:rPr lang="en-US" altLang="ko-KR" dirty="0"/>
              <a:t>, </a:t>
            </a:r>
            <a:r>
              <a:rPr lang="ko-KR" altLang="en-US" dirty="0"/>
              <a:t>검증을 동반한 </a:t>
            </a:r>
            <a:r>
              <a:rPr lang="en-US" altLang="ko-KR" dirty="0"/>
              <a:t>"</a:t>
            </a:r>
            <a:r>
              <a:rPr lang="ko-KR" altLang="en-US" dirty="0"/>
              <a:t>신뢰하되 검증하라</a:t>
            </a:r>
            <a:r>
              <a:rPr lang="en-US" altLang="ko-KR" dirty="0"/>
              <a:t>(trust but verify)"</a:t>
            </a:r>
            <a:r>
              <a:rPr lang="ko-KR" altLang="en-US" dirty="0"/>
              <a:t>는 미디어 소비 태도가 필수적임 </a:t>
            </a:r>
            <a:r>
              <a:rPr lang="en-US" altLang="ko-KR" dirty="0"/>
              <a:t>(Kreps &amp; Kriner, 2023).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CAEA0-0C5D-F477-3A66-BEB483B647D3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CE7A2-D77C-3C63-B1E4-747777788620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21444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96E8-4337-BB7F-2C4B-594C50E9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901D5-4AE2-501F-A4F0-84A8C9AF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Discussion Questions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41C03-38AC-9127-1381-428B668D2AE3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비인간 행위자</a:t>
            </a:r>
            <a:r>
              <a:rPr lang="en-US" altLang="ko-KR" b="1" dirty="0"/>
              <a:t>(</a:t>
            </a:r>
            <a:r>
              <a:rPr lang="ko-KR" altLang="en-US" b="1" dirty="0"/>
              <a:t>인공지능</a:t>
            </a:r>
            <a:r>
              <a:rPr lang="en-US" altLang="ko-KR" b="1" dirty="0"/>
              <a:t>)</a:t>
            </a:r>
            <a:r>
              <a:rPr lang="ko-KR" altLang="en-US" b="1" dirty="0"/>
              <a:t>의 </a:t>
            </a:r>
            <a:r>
              <a:rPr lang="en-US" altLang="ko-KR" b="1" dirty="0"/>
              <a:t>‘</a:t>
            </a:r>
            <a:r>
              <a:rPr lang="ko-KR" altLang="en-US" b="1" dirty="0"/>
              <a:t>대변인</a:t>
            </a:r>
            <a:r>
              <a:rPr lang="en-US" altLang="ko-KR" b="1" dirty="0"/>
              <a:t>‘ </a:t>
            </a:r>
            <a:r>
              <a:rPr lang="ko-KR" altLang="en-US" b="1" dirty="0"/>
              <a:t>자격 획득과 정치적 책임성에 대하여</a:t>
            </a:r>
            <a:endParaRPr lang="en-US" altLang="ko-KR" b="1" dirty="0"/>
          </a:p>
          <a:p>
            <a:r>
              <a:rPr lang="ko-KR" altLang="en-US" dirty="0"/>
              <a:t>인공지능이 대변인의 지위를 얻었다는 본 발표의 관점에 동의하시나요</a:t>
            </a:r>
            <a:r>
              <a:rPr lang="en-US" altLang="ko-KR" dirty="0"/>
              <a:t>? </a:t>
            </a:r>
            <a:r>
              <a:rPr lang="ko-KR" altLang="en-US" dirty="0"/>
              <a:t>만약 그렇다면</a:t>
            </a:r>
            <a:r>
              <a:rPr lang="en-US" altLang="ko-KR" dirty="0"/>
              <a:t>, </a:t>
            </a:r>
            <a:r>
              <a:rPr lang="ko-KR" altLang="en-US" dirty="0"/>
              <a:t>비인간 행위자에게 이러한 지위를 부여하는 것이 가능하다고 보시는지</a:t>
            </a:r>
            <a:r>
              <a:rPr lang="en-US" altLang="ko-KR" dirty="0"/>
              <a:t>, </a:t>
            </a:r>
            <a:r>
              <a:rPr lang="ko-KR" altLang="en-US" dirty="0"/>
              <a:t>바람직하다고 보시는지 궁금합니다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만약 바람직하지 않다면</a:t>
            </a:r>
            <a:r>
              <a:rPr lang="en-US" altLang="ko-KR" dirty="0"/>
              <a:t>, </a:t>
            </a:r>
            <a:r>
              <a:rPr lang="ko-KR" altLang="en-US" dirty="0"/>
              <a:t>그것은 현재의 비인간 행위자가 이러한 지위를 가지는 것 자체에 대한 비판인지</a:t>
            </a:r>
            <a:r>
              <a:rPr lang="en-US" altLang="ko-KR" dirty="0"/>
              <a:t>, </a:t>
            </a:r>
            <a:r>
              <a:rPr lang="ko-KR" altLang="en-US" dirty="0"/>
              <a:t>기술적인 결함 때문인지</a:t>
            </a:r>
            <a:r>
              <a:rPr lang="en-US" altLang="ko-KR" dirty="0"/>
              <a:t>, </a:t>
            </a:r>
            <a:r>
              <a:rPr lang="ko-KR" altLang="en-US" dirty="0"/>
              <a:t>아니면 인간 행위자들의 하위정치성이나 시스템이 아직 마련되지 못하였기 때문인지 등의 의견을 나눠보면 좋을 것 같습니다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동의하신다면</a:t>
            </a:r>
            <a:r>
              <a:rPr lang="en-US" altLang="ko-KR" dirty="0"/>
              <a:t>, </a:t>
            </a:r>
            <a:r>
              <a:rPr lang="ko-KR" altLang="en-US" dirty="0"/>
              <a:t>민주주의의 핵심인 </a:t>
            </a:r>
            <a:r>
              <a:rPr lang="en-US" altLang="ko-KR" dirty="0"/>
              <a:t>‘</a:t>
            </a:r>
            <a:r>
              <a:rPr lang="ko-KR" altLang="en-US" dirty="0"/>
              <a:t>책임성</a:t>
            </a:r>
            <a:r>
              <a:rPr lang="en-US" altLang="ko-KR" dirty="0"/>
              <a:t>’</a:t>
            </a:r>
            <a:r>
              <a:rPr lang="ko-KR" altLang="en-US" dirty="0"/>
              <a:t>에 있어서는 어떻게 바라봐야 할까요</a:t>
            </a:r>
            <a:r>
              <a:rPr lang="en-US" altLang="ko-KR" dirty="0"/>
              <a:t>? </a:t>
            </a:r>
            <a:r>
              <a:rPr lang="ko-KR" altLang="en-US" dirty="0"/>
              <a:t>기술을 설계한 기업</a:t>
            </a:r>
            <a:r>
              <a:rPr lang="en-US" altLang="ko-KR" dirty="0"/>
              <a:t>? </a:t>
            </a:r>
            <a:r>
              <a:rPr lang="ko-KR" altLang="en-US" dirty="0"/>
              <a:t>합성여론을 무비판적으로 퍼뜨린 알고리즘이나 언론</a:t>
            </a:r>
            <a:r>
              <a:rPr lang="en-US" altLang="ko-KR" dirty="0"/>
              <a:t>? </a:t>
            </a:r>
            <a:r>
              <a:rPr lang="ko-KR" altLang="en-US" dirty="0"/>
              <a:t>효율성을 이유로 쉽게 받아들인 사용자들</a:t>
            </a:r>
            <a:r>
              <a:rPr lang="en-US" altLang="ko-KR" dirty="0"/>
              <a:t>? </a:t>
            </a:r>
            <a:r>
              <a:rPr lang="ko-KR" altLang="en-US" dirty="0"/>
              <a:t>이를 악용</a:t>
            </a:r>
            <a:r>
              <a:rPr lang="en-US" altLang="ko-KR" dirty="0"/>
              <a:t>/</a:t>
            </a:r>
            <a:r>
              <a:rPr lang="ko-KR" altLang="en-US" dirty="0"/>
              <a:t>활용하는 정치인들이나 특정 과잉활동자들</a:t>
            </a:r>
            <a:r>
              <a:rPr lang="en-US" altLang="ko-KR" dirty="0"/>
              <a:t>? </a:t>
            </a:r>
            <a:r>
              <a:rPr lang="ko-KR" altLang="en-US" dirty="0"/>
              <a:t>아니면 </a:t>
            </a:r>
            <a:r>
              <a:rPr lang="en-US" altLang="ko-KR" dirty="0"/>
              <a:t>‘</a:t>
            </a:r>
            <a:r>
              <a:rPr lang="ko-KR" altLang="en-US" dirty="0"/>
              <a:t>비인간</a:t>
            </a:r>
            <a:r>
              <a:rPr lang="en-US" altLang="ko-KR" dirty="0"/>
              <a:t>‘</a:t>
            </a:r>
            <a:r>
              <a:rPr lang="ko-KR" altLang="en-US" dirty="0"/>
              <a:t>에게 책임을 </a:t>
            </a:r>
            <a:r>
              <a:rPr lang="ko-KR" altLang="en-US" dirty="0" err="1"/>
              <a:t>물어야할까요</a:t>
            </a:r>
            <a:r>
              <a:rPr lang="en-US" altLang="ko-KR" dirty="0"/>
              <a:t>? </a:t>
            </a:r>
            <a:r>
              <a:rPr lang="ko-KR" altLang="en-US" dirty="0"/>
              <a:t>그렇다면 어떻게</a:t>
            </a:r>
            <a:r>
              <a:rPr lang="en-US" altLang="ko-KR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FDBA7-81BE-2703-B513-20DD37E2E81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DFB90-00C7-4735-8B89-77E30EC1CEF0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257497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FEA3B-C9F9-408F-A255-FFFF3328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387C4-D190-B632-721D-0DD491E6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Discussion Questions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5705D-2545-F11F-8721-4C2C8E265068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자기 소비적 수행 루프와 테크기업들의 역할</a:t>
            </a:r>
            <a:endParaRPr lang="en-US" altLang="ko-KR" b="1" dirty="0"/>
          </a:p>
          <a:p>
            <a:r>
              <a:rPr lang="ko-KR" altLang="en-US" dirty="0"/>
              <a:t>모델 학습과정에서 이러한 </a:t>
            </a:r>
            <a:r>
              <a:rPr lang="en-US" altLang="ko-KR" dirty="0"/>
              <a:t>SCPL</a:t>
            </a:r>
            <a:r>
              <a:rPr lang="ko-KR" altLang="en-US" dirty="0"/>
              <a:t>로 인한 </a:t>
            </a:r>
            <a:r>
              <a:rPr lang="ko-KR" altLang="en-US" dirty="0" err="1"/>
              <a:t>비가역적이고</a:t>
            </a:r>
            <a:r>
              <a:rPr lang="ko-KR" altLang="en-US" dirty="0"/>
              <a:t> 민주주의 퇴행에 기여하는 모습을 어떻게 끊어낼 수 있을까요</a:t>
            </a:r>
            <a:r>
              <a:rPr lang="en-US" altLang="ko-KR" dirty="0"/>
              <a:t>? </a:t>
            </a:r>
            <a:r>
              <a:rPr lang="ko-KR" altLang="en-US" dirty="0"/>
              <a:t>인공지능이 아닌 플랫폼의 관점에서 보면</a:t>
            </a:r>
            <a:r>
              <a:rPr lang="en-US" altLang="ko-KR" dirty="0"/>
              <a:t>, </a:t>
            </a:r>
            <a:r>
              <a:rPr lang="ko-KR" altLang="en-US" dirty="0"/>
              <a:t>이번주 리딩</a:t>
            </a:r>
            <a:r>
              <a:rPr lang="en-US" altLang="ko-KR" dirty="0"/>
              <a:t>(</a:t>
            </a:r>
            <a:r>
              <a:rPr lang="en-US" altLang="ko-KR" dirty="0" err="1"/>
              <a:t>Piccardi</a:t>
            </a:r>
            <a:r>
              <a:rPr lang="en-US" altLang="ko-KR" dirty="0"/>
              <a:t> et al., 2025)</a:t>
            </a:r>
            <a:r>
              <a:rPr lang="ko-KR" altLang="en-US" dirty="0"/>
              <a:t>에서도 </a:t>
            </a:r>
            <a:r>
              <a:rPr lang="en-US" altLang="ko-KR" dirty="0"/>
              <a:t>AAPA </a:t>
            </a:r>
            <a:r>
              <a:rPr lang="ko-KR" altLang="en-US" dirty="0"/>
              <a:t>콘텐츠를 줄이는 것이 소셜미디어 플랫폼에서의 참여가 줄어드는 모습이 발견되었습니다</a:t>
            </a:r>
            <a:r>
              <a:rPr lang="en-US" altLang="ko-KR" dirty="0"/>
              <a:t>. </a:t>
            </a:r>
            <a:r>
              <a:rPr lang="ko-KR" altLang="en-US" dirty="0"/>
              <a:t>인공지능이 사용자들에게 영합하고 더 자극적인 방향으로 </a:t>
            </a:r>
            <a:r>
              <a:rPr lang="ko-KR" altLang="en-US" dirty="0" err="1"/>
              <a:t>강화학습되는</a:t>
            </a:r>
            <a:r>
              <a:rPr lang="ko-KR" altLang="en-US" dirty="0"/>
              <a:t> 과정에서 기업들에게 </a:t>
            </a:r>
            <a:r>
              <a:rPr lang="en-US" altLang="ko-KR" dirty="0"/>
              <a:t>SCPL </a:t>
            </a:r>
            <a:r>
              <a:rPr lang="ko-KR" altLang="en-US" dirty="0"/>
              <a:t>고리를 끊어낼 의무를 지울 수 있을까요</a:t>
            </a:r>
            <a:r>
              <a:rPr lang="en-US" altLang="ko-KR" dirty="0"/>
              <a:t>?</a:t>
            </a:r>
            <a:r>
              <a:rPr lang="ko-KR" altLang="en-US" dirty="0"/>
              <a:t> 아니면 이윤추구가 목적인 기술 기업들에게 </a:t>
            </a:r>
            <a:r>
              <a:rPr lang="ko-KR" altLang="en-US" dirty="0" err="1"/>
              <a:t>공론장</a:t>
            </a:r>
            <a:r>
              <a:rPr lang="ko-KR" altLang="en-US" dirty="0"/>
              <a:t> 보호의 책임을 지우는 것은 너무 무리한 요구일까요</a:t>
            </a:r>
            <a:r>
              <a:rPr lang="en-US" altLang="ko-KR" dirty="0"/>
              <a:t>? </a:t>
            </a:r>
            <a:r>
              <a:rPr lang="ko-KR" altLang="en-US" dirty="0"/>
              <a:t>후자라면</a:t>
            </a:r>
            <a:r>
              <a:rPr lang="en-US" altLang="ko-KR" dirty="0"/>
              <a:t>, SCPL</a:t>
            </a:r>
            <a:r>
              <a:rPr lang="ko-KR" altLang="en-US" dirty="0"/>
              <a:t>에 대해 개발 기업에게 과한 요구와 제재를 하지 않으면서 이를 완화 및 해결하려면 어떻게 </a:t>
            </a:r>
            <a:r>
              <a:rPr lang="ko-KR" altLang="en-US" dirty="0" err="1"/>
              <a:t>해야할까요</a:t>
            </a:r>
            <a:r>
              <a:rPr lang="en-US" altLang="ko-KR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84281-B561-BA6E-5084-27CC464C5D8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63F00-D394-F222-DF4A-7750B1792E5F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989740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72A47-D215-D6D5-161F-1C267EE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48082"/>
            <a:ext cx="11049000" cy="1161836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/>
              <a:t>Thank you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891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D105-578E-BE56-FBE9-725644ACD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7B515-6E19-BC94-3B0E-27DC1026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References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1376E-F32D-5961-F988-F95B51418A43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Baldwin-Philippi, J. (2019). The technological performance of populism. </a:t>
            </a:r>
            <a:r>
              <a:rPr lang="en-US" altLang="ko-KR" sz="1600" i="1" dirty="0"/>
              <a:t>New Media &amp; Society, 21</a:t>
            </a:r>
            <a:r>
              <a:rPr lang="en-US" altLang="ko-KR" sz="1600" dirty="0"/>
              <a:t>(2), 376–397.</a:t>
            </a:r>
          </a:p>
          <a:p>
            <a:r>
              <a:rPr lang="en-US" altLang="ko-KR" sz="1600" dirty="0"/>
              <a:t>Callon,</a:t>
            </a:r>
            <a:r>
              <a:rPr lang="ko-KR" altLang="en-US" sz="1600" dirty="0"/>
              <a:t> </a:t>
            </a:r>
            <a:r>
              <a:rPr lang="en-US" altLang="ko-KR" sz="1600" dirty="0"/>
              <a:t>M.</a:t>
            </a:r>
            <a:r>
              <a:rPr lang="ko-KR" altLang="en-US" sz="1600" dirty="0"/>
              <a:t> </a:t>
            </a:r>
            <a:r>
              <a:rPr lang="en-US" altLang="ko-KR" sz="1600" dirty="0"/>
              <a:t>(1986).</a:t>
            </a:r>
            <a:r>
              <a:rPr lang="ko-KR" altLang="en-US" sz="1600" dirty="0"/>
              <a:t> </a:t>
            </a:r>
            <a:r>
              <a:rPr lang="en-US" altLang="ko-KR" sz="1600" dirty="0"/>
              <a:t>Some elements of a sociology of translation: domestication of the scallops and the fishermen of St Brieuc Bay. In J. Law (Ed.), Power, action and belief: A new sociology of knowledge (pp. 196-233). Routledge.</a:t>
            </a:r>
          </a:p>
          <a:p>
            <a:r>
              <a:rPr lang="en-US" altLang="ko-KR" sz="1600" dirty="0"/>
              <a:t>Castro, F., Gao, J., &amp; Martin, S. (2024). Human-AI interactions and societal pitfalls. </a:t>
            </a:r>
            <a:r>
              <a:rPr lang="en-US" altLang="ko-KR" sz="1600" i="1" dirty="0" err="1"/>
              <a:t>arXiv</a:t>
            </a:r>
            <a:r>
              <a:rPr lang="en-US" altLang="ko-KR" sz="1600" i="1" dirty="0"/>
              <a:t> preprint.</a:t>
            </a:r>
          </a:p>
          <a:p>
            <a:r>
              <a:rPr lang="en-US" altLang="ko-KR" sz="1600" dirty="0"/>
              <a:t>Gil de Zúñiga, H., Koc Michalska, K., &amp; </a:t>
            </a:r>
            <a:r>
              <a:rPr lang="en-US" altLang="ko-KR" sz="1600" dirty="0" err="1"/>
              <a:t>Römmele</a:t>
            </a:r>
            <a:r>
              <a:rPr lang="en-US" altLang="ko-KR" sz="1600" dirty="0"/>
              <a:t>, A. (2020). Populism in the era of Twitter: How social media contextualized new insights into an old phenomenon. </a:t>
            </a:r>
            <a:r>
              <a:rPr lang="en-US" altLang="ko-KR" sz="1600" i="1" dirty="0"/>
              <a:t>New Media &amp; Society, 22</a:t>
            </a:r>
            <a:r>
              <a:rPr lang="en-US" altLang="ko-KR" sz="1600" dirty="0"/>
              <a:t>(4), 585–594.</a:t>
            </a:r>
          </a:p>
          <a:p>
            <a:r>
              <a:rPr lang="en-US" altLang="ko-KR" sz="1600" dirty="0"/>
              <a:t>Juarez Miro, C. (2025). “The people” imagined, felt, and experienced by populist supporters: A cross-national and cross-ideological approach. </a:t>
            </a:r>
            <a:r>
              <a:rPr lang="en-US" altLang="ko-KR" sz="1600" i="1" dirty="0"/>
              <a:t>Political Communication, 42</a:t>
            </a:r>
            <a:r>
              <a:rPr lang="en-US" altLang="ko-KR" sz="1600" dirty="0"/>
              <a:t>(6), 1087–1105.</a:t>
            </a:r>
          </a:p>
          <a:p>
            <a:r>
              <a:rPr lang="en-US" altLang="ko-KR" sz="1600" dirty="0"/>
              <a:t>Keller, F. B., Schoch, D., Stier, S., &amp; Yang, J. (2020). Political astroturfing on Twitter: How to coordinate a disinformation campaign. </a:t>
            </a:r>
            <a:r>
              <a:rPr lang="en-US" altLang="ko-KR" sz="1600" i="1" dirty="0"/>
              <a:t>Political Communication, 37</a:t>
            </a:r>
            <a:r>
              <a:rPr lang="en-US" altLang="ko-KR" sz="1600" dirty="0"/>
              <a:t>(2), 256–280.</a:t>
            </a:r>
          </a:p>
          <a:p>
            <a:r>
              <a:rPr lang="en-US" altLang="ko-KR" sz="1600" dirty="0"/>
              <a:t>Keller, T. R., &amp; Klinger, U. (2019). Social bots in election campaigns: Theoretical, empirical, and methodological implications. </a:t>
            </a:r>
            <a:r>
              <a:rPr lang="en-US" altLang="ko-KR" sz="1600" i="1" dirty="0"/>
              <a:t>Political Communication, 36</a:t>
            </a:r>
            <a:r>
              <a:rPr lang="en-US" altLang="ko-KR" sz="1600" dirty="0"/>
              <a:t>(1), 171–189.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53022-F707-2989-948A-BE4B09CA38C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2075C-6C8D-9069-4221-63F200FB4E23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107666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2FE6-B0EC-77E3-131C-AD3C355F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E128-138B-4892-7A04-37163DE5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References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5F805E-9A5D-FDCE-41A2-81BBE113594C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/>
              <a:t>Kreiss, D., &amp; McGregor, S. C. (2018). Technology firms shape political communication: The work of Microsoft, Facebook, Twitter, and Google with campaigns during the 2016 U.S. presidential cycle. </a:t>
            </a:r>
            <a:r>
              <a:rPr lang="en-US" altLang="ko-KR" sz="1700" i="1" dirty="0"/>
              <a:t>Political Communication, 35</a:t>
            </a:r>
            <a:r>
              <a:rPr lang="en-US" altLang="ko-KR" sz="1700" dirty="0"/>
              <a:t>(2), 155–177.</a:t>
            </a:r>
          </a:p>
          <a:p>
            <a:r>
              <a:rPr lang="en-US" altLang="ko-KR" sz="1700" dirty="0"/>
              <a:t>Kreps, S., &amp; Kriner, D. (2023). How AI threatens democracy. </a:t>
            </a:r>
            <a:r>
              <a:rPr lang="en-US" altLang="ko-KR" sz="1700" i="1" dirty="0"/>
              <a:t>Journal of Democracy, 34</a:t>
            </a:r>
            <a:r>
              <a:rPr lang="en-US" altLang="ko-KR" sz="1700" dirty="0"/>
              <a:t>(4), 123–132.</a:t>
            </a:r>
          </a:p>
          <a:p>
            <a:r>
              <a:rPr lang="en-US" altLang="ko-KR" sz="1700" dirty="0"/>
              <a:t>Latour, B. (1994). On Technical Mediation. Common Knowledge, 3(2), 29-64.</a:t>
            </a:r>
          </a:p>
          <a:p>
            <a:r>
              <a:rPr lang="en-US" altLang="ko-KR" sz="1700" dirty="0"/>
              <a:t>Lin, J.-C., </a:t>
            </a:r>
            <a:r>
              <a:rPr lang="en-US" altLang="ko-KR" sz="1700" dirty="0" err="1"/>
              <a:t>d’Haenens</a:t>
            </a:r>
            <a:r>
              <a:rPr lang="en-US" altLang="ko-KR" sz="1700" dirty="0"/>
              <a:t>, L., &amp; Liao, D. (2024). Building voter intimacy: Comparing populist communication strategies in the closing stages of elections in Taiwan and Germany. </a:t>
            </a:r>
            <a:r>
              <a:rPr lang="en-US" altLang="ko-KR" sz="1700" i="1" dirty="0"/>
              <a:t>International Journal of Communication, 18</a:t>
            </a:r>
            <a:r>
              <a:rPr lang="en-US" altLang="ko-KR" sz="1700" dirty="0"/>
              <a:t>, 4726–4747.</a:t>
            </a:r>
          </a:p>
          <a:p>
            <a:r>
              <a:rPr lang="en-US" altLang="ko-KR" sz="1700" dirty="0"/>
              <a:t>McGregor, S. C. (2019). Social media as public opinion: How journalists use social media to represent public opinion. </a:t>
            </a:r>
            <a:r>
              <a:rPr lang="en-US" altLang="ko-KR" sz="1700" i="1" dirty="0"/>
              <a:t>Journalism, 20</a:t>
            </a:r>
            <a:r>
              <a:rPr lang="en-US" altLang="ko-KR" sz="1700" dirty="0"/>
              <a:t>(8), 1070–1086.</a:t>
            </a:r>
          </a:p>
          <a:p>
            <a:r>
              <a:rPr lang="en-US" altLang="ko-KR" sz="1700" dirty="0"/>
              <a:t>Mullen, T., &amp; Collier, N. (2004). Sentiment analysis using support vector machines with diverse information sources. </a:t>
            </a:r>
            <a:r>
              <a:rPr lang="en-US" altLang="ko-KR" sz="1700" i="1" dirty="0"/>
              <a:t>Proceedings of the 2004 Conference on Empirical Methods in Natural Language Processing</a:t>
            </a:r>
            <a:r>
              <a:rPr lang="en-US" altLang="ko-KR" sz="1700" dirty="0"/>
              <a:t>, 41–48.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F989B-B5C9-FFCE-8A97-0D5C846D1C6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799F9-5FEA-A86F-BF15-0986FB56F33E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378125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8AB63-C7DD-F521-61E3-76C2706F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A8B01-E9A2-4421-1123-8E184EAE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References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EA065-77D3-CDE6-750B-B3E4B1C69894}"/>
              </a:ext>
            </a:extLst>
          </p:cNvPr>
          <p:cNvSpPr txBox="1">
            <a:spLocks/>
          </p:cNvSpPr>
          <p:nvPr/>
        </p:nvSpPr>
        <p:spPr>
          <a:xfrm>
            <a:off x="571499" y="1434172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 err="1"/>
              <a:t>Papakyriakopoulos</a:t>
            </a:r>
            <a:r>
              <a:rPr lang="en-US" altLang="ko-KR" sz="1700" dirty="0"/>
              <a:t>, O., Medina Serrano, J. C., &amp; </a:t>
            </a:r>
            <a:r>
              <a:rPr lang="en-US" altLang="ko-KR" sz="1700" dirty="0" err="1"/>
              <a:t>Hegelich</a:t>
            </a:r>
            <a:r>
              <a:rPr lang="en-US" altLang="ko-KR" sz="1700" dirty="0"/>
              <a:t>, S. (2020). Political communication on social media: A tale of hyperactive users and bias in recommender systems. </a:t>
            </a:r>
            <a:r>
              <a:rPr lang="en-US" altLang="ko-KR" sz="1700" i="1" dirty="0"/>
              <a:t>Online Social Networks and Media, 15</a:t>
            </a:r>
            <a:r>
              <a:rPr lang="en-US" altLang="ko-KR" sz="1700" dirty="0"/>
              <a:t>, 100058.</a:t>
            </a:r>
          </a:p>
          <a:p>
            <a:r>
              <a:rPr lang="en-US" altLang="ko-KR" sz="1700" dirty="0"/>
              <a:t>Peters, U. (2022). Algorithmic political bias in artificial intelligence systems. </a:t>
            </a:r>
            <a:r>
              <a:rPr lang="en-US" altLang="ko-KR" sz="1700" i="1" dirty="0"/>
              <a:t>Philosophy &amp; Technology, 35</a:t>
            </a:r>
            <a:r>
              <a:rPr lang="en-US" altLang="ko-KR" sz="1700" dirty="0"/>
              <a:t>(1), 25.</a:t>
            </a:r>
          </a:p>
          <a:p>
            <a:r>
              <a:rPr lang="en-US" altLang="ko-KR" sz="1700" dirty="0"/>
              <a:t>Vaccari, C., Valeriani, A., </a:t>
            </a:r>
            <a:r>
              <a:rPr lang="en-US" altLang="ko-KR" sz="1700" dirty="0" err="1"/>
              <a:t>Barberá</a:t>
            </a:r>
            <a:r>
              <a:rPr lang="en-US" altLang="ko-KR" sz="1700" dirty="0"/>
              <a:t>, P., Bonneau, R., Jost, J. T., Nagler, J., &amp; Tucker, J. A. (2015). Political expression and action on social media: Exploring the relationship between lower- and higher-threshold political activities among Twitter users in Italy. </a:t>
            </a:r>
            <a:r>
              <a:rPr lang="en-US" altLang="ko-KR" sz="1700" i="1" dirty="0"/>
              <a:t>Journal of Computer-Mediated Communication, 20</a:t>
            </a:r>
            <a:r>
              <a:rPr lang="en-US" altLang="ko-KR" sz="1700" dirty="0"/>
              <a:t>(2), 221–239.</a:t>
            </a:r>
          </a:p>
          <a:p>
            <a:r>
              <a:rPr lang="en-US" altLang="ko-KR" sz="1700" dirty="0"/>
              <a:t>Wang, Y., Cai, Z., Bao, Y., Zhang, X., &amp; Liu, Y. (2024). Observations and remedies for large language model bias in self-consuming performative loop. </a:t>
            </a:r>
            <a:r>
              <a:rPr lang="en-US" altLang="ko-KR" sz="1700" i="1" dirty="0" err="1"/>
              <a:t>arXiv</a:t>
            </a:r>
            <a:r>
              <a:rPr lang="en-US" altLang="ko-KR" sz="1700" i="1" dirty="0"/>
              <a:t> preprint</a:t>
            </a:r>
            <a:r>
              <a:rPr lang="en-US" altLang="ko-KR" sz="1700" dirty="0"/>
              <a:t>.</a:t>
            </a:r>
          </a:p>
          <a:p>
            <a:r>
              <a:rPr lang="en-US" altLang="ko-KR" sz="1700" dirty="0"/>
              <a:t>Yarchi, M., Baden, C., &amp; </a:t>
            </a:r>
            <a:r>
              <a:rPr lang="en-US" altLang="ko-KR" sz="1700" dirty="0" err="1"/>
              <a:t>Kligler-Vilenchik</a:t>
            </a:r>
            <a:r>
              <a:rPr lang="en-US" altLang="ko-KR" sz="1700" dirty="0"/>
              <a:t>, N. (2021). Political polarization on the digital sphere: A cross-platform, over-time analysis of interactional, positional, and affective polarization on social media. </a:t>
            </a:r>
            <a:r>
              <a:rPr lang="en-US" altLang="ko-KR" sz="1700" i="1" dirty="0"/>
              <a:t>Political Communication, 38</a:t>
            </a:r>
            <a:r>
              <a:rPr lang="en-US" altLang="ko-KR" sz="1700" dirty="0"/>
              <a:t>(1-2), 98–139.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1B3D5-53E2-57DC-D7BC-CEF0CA3C7D22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인공지능과 정치 커뮤니케이션의 공진화</a:t>
            </a:r>
            <a:r>
              <a:rPr lang="en-US" altLang="ko-KR" sz="1400" dirty="0"/>
              <a:t>, </a:t>
            </a:r>
            <a:r>
              <a:rPr lang="ko-KR" altLang="en-US" sz="1400" dirty="0"/>
              <a:t>민주주의 퇴행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11F99-EA1E-63CB-F054-F140D764FF9D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828978160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3712</TotalTime>
  <Words>3377</Words>
  <Application>Microsoft Office PowerPoint</Application>
  <PresentationFormat>와이드스크린</PresentationFormat>
  <Paragraphs>203</Paragraphs>
  <Slides>23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Batang</vt:lpstr>
      <vt:lpstr>Arial</vt:lpstr>
      <vt:lpstr>Avenir Next LT Pro Light</vt:lpstr>
      <vt:lpstr>AlignmentVTI</vt:lpstr>
      <vt:lpstr>PowerPoint 프레젠테이션</vt:lpstr>
      <vt:lpstr>Introduction: AI &amp; Crisis of Democracy</vt:lpstr>
      <vt:lpstr>Introduction: Feedback Loop Model</vt:lpstr>
      <vt:lpstr>Cycle A (Human to AI): 편향된 데이터의 주입</vt:lpstr>
      <vt:lpstr>Cycle A (Human to AI): 소수 과잉 활동자의 과대 대표성</vt:lpstr>
      <vt:lpstr>Cycle B (AI to Human): 의도된 프로파간다와 조작</vt:lpstr>
      <vt:lpstr>Cycle B (AI to Human): 맞춤형 정치 설득(Micro-targeting)</vt:lpstr>
      <vt:lpstr>Cycle C (AI to Human): 에코 체임버와 정서적 양극화</vt:lpstr>
      <vt:lpstr>Cycle C (AI to Human): 합성 여론(Synthetic Public Opinion)</vt:lpstr>
      <vt:lpstr>Cycle D (Human to AI): '합성 여론'의 수용과 인지적 타협</vt:lpstr>
      <vt:lpstr>Cycle D (Human to AI): 자기 소비적 수행 루프와 편향</vt:lpstr>
      <vt:lpstr>Approach: Feedback Loop Model에 대한 새로운 관점</vt:lpstr>
      <vt:lpstr>Approach: Feedback Loop Model에 대한 새로운 관점</vt:lpstr>
      <vt:lpstr>Approach: Feedback Loop Model에 대한 새로운 관점</vt:lpstr>
      <vt:lpstr>Approach: Feedback Loop Model에 대한 새로운 관점</vt:lpstr>
      <vt:lpstr>Conclusion: 비인간 대변인의 해체와 블랙박스 열기</vt:lpstr>
      <vt:lpstr>Conclusion: 비인간 대변인의 해체와 블랙박스 열기</vt:lpstr>
      <vt:lpstr>Discussion Questions</vt:lpstr>
      <vt:lpstr>Discussion Questions</vt:lpstr>
      <vt:lpstr>Thank you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송종빈[ 대학원석사과정재학 / 과학기술학협동과정 ]</cp:lastModifiedBy>
  <cp:revision>28</cp:revision>
  <dcterms:created xsi:type="dcterms:W3CDTF">2026-02-13T15:35:19Z</dcterms:created>
  <dcterms:modified xsi:type="dcterms:W3CDTF">2026-05-26T11:45:28Z</dcterms:modified>
</cp:coreProperties>
</file>