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67" r:id="rId4"/>
    <p:sldId id="268" r:id="rId5"/>
    <p:sldId id="270" r:id="rId6"/>
    <p:sldId id="276" r:id="rId7"/>
    <p:sldId id="271" r:id="rId8"/>
    <p:sldId id="277" r:id="rId9"/>
    <p:sldId id="272" r:id="rId10"/>
    <p:sldId id="278" r:id="rId11"/>
    <p:sldId id="273" r:id="rId12"/>
    <p:sldId id="274" r:id="rId13"/>
    <p:sldId id="275" r:id="rId14"/>
    <p:sldId id="269" r:id="rId15"/>
    <p:sldId id="26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835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2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25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05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369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56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0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04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3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44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335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27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24" r:id="rId4"/>
    <p:sldLayoutId id="2147483725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3AB9E1-499E-41EB-A74E-905920CCD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782" y="0"/>
            <a:ext cx="1219878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0CE4A5-073E-20DF-3204-2E8843F88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601" y="4840264"/>
            <a:ext cx="8044280" cy="1215547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altLang="ko-KR" dirty="0"/>
              <a:t>Image Repair Discourse and Crisis Communication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0225EA-8675-E5A8-8C22-621C1FF1B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89720" y="4753342"/>
            <a:ext cx="2519973" cy="1389390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KU STS</a:t>
            </a:r>
          </a:p>
          <a:p>
            <a:r>
              <a:rPr lang="en-US" altLang="ko-KR" dirty="0"/>
              <a:t>SONG JONGBEEN</a:t>
            </a:r>
            <a:endParaRPr lang="ko-KR" alt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EA40C4-6B9E-4B9E-8CDF-A0C572462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869" y="4610607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54810C-5CC0-45D3-BD8F-C4407F92F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7300" y="4610607"/>
            <a:ext cx="0" cy="16748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458AAC-F667-498F-A263-A8C7AB4FC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1819" y="6289514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875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4846A-86BB-E33F-8B50-56D96159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Background &amp; Significance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B8A756-57B3-37FA-6E0F-83C974C807C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이미지의 중요성</a:t>
            </a:r>
            <a:endParaRPr lang="en-US" altLang="ko-KR" dirty="0"/>
          </a:p>
          <a:p>
            <a:pPr lvl="1"/>
            <a:r>
              <a:rPr lang="ko-KR" altLang="en-US" dirty="0"/>
              <a:t>개인 </a:t>
            </a:r>
            <a:r>
              <a:rPr lang="en-US" altLang="ko-KR" dirty="0"/>
              <a:t>&amp; </a:t>
            </a:r>
            <a:r>
              <a:rPr lang="ko-KR" altLang="en-US" dirty="0"/>
              <a:t>조직</a:t>
            </a:r>
            <a:r>
              <a:rPr lang="en-US" altLang="ko-KR" dirty="0"/>
              <a:t>(i.e.</a:t>
            </a:r>
            <a:r>
              <a:rPr lang="ko-KR" altLang="en-US" dirty="0"/>
              <a:t> 기업</a:t>
            </a:r>
            <a:r>
              <a:rPr lang="en-US" altLang="ko-KR" dirty="0"/>
              <a:t>, </a:t>
            </a:r>
            <a:r>
              <a:rPr lang="ko-KR" altLang="en-US" dirty="0"/>
              <a:t>정부</a:t>
            </a:r>
            <a:r>
              <a:rPr lang="en-US" altLang="ko-KR" dirty="0"/>
              <a:t>, </a:t>
            </a:r>
            <a:r>
              <a:rPr lang="ko-KR" altLang="en-US" dirty="0"/>
              <a:t>비영리단체</a:t>
            </a:r>
            <a:r>
              <a:rPr lang="en-US" altLang="ko-KR" dirty="0"/>
              <a:t>)</a:t>
            </a:r>
            <a:r>
              <a:rPr lang="ko-KR" altLang="en-US" dirty="0"/>
              <a:t> 모두에게 중요한 요소임</a:t>
            </a:r>
            <a:endParaRPr lang="en-US" altLang="ko-KR" dirty="0"/>
          </a:p>
          <a:p>
            <a:pPr lvl="1"/>
            <a:r>
              <a:rPr lang="ko-KR" altLang="en-US" dirty="0"/>
              <a:t>기업은 이미지 문제에 대해 </a:t>
            </a:r>
            <a:r>
              <a:rPr lang="en-US" altLang="ko-KR" dirty="0"/>
              <a:t>(a) </a:t>
            </a:r>
            <a:r>
              <a:rPr lang="ko-KR" altLang="en-US" dirty="0"/>
              <a:t>예방적</a:t>
            </a:r>
            <a:r>
              <a:rPr lang="en-US" altLang="ko-KR" dirty="0"/>
              <a:t>, </a:t>
            </a:r>
            <a:r>
              <a:rPr lang="ko-KR" altLang="en-US" dirty="0"/>
              <a:t>혹은 </a:t>
            </a:r>
            <a:r>
              <a:rPr lang="en-US" altLang="ko-KR" dirty="0"/>
              <a:t>(b) </a:t>
            </a:r>
            <a:r>
              <a:rPr lang="ko-KR" altLang="en-US" dirty="0"/>
              <a:t>회복적 접근을 취할 수 있음</a:t>
            </a:r>
            <a:endParaRPr lang="en-US" altLang="ko-KR" dirty="0"/>
          </a:p>
          <a:p>
            <a:pPr lvl="1"/>
            <a:r>
              <a:rPr lang="en-US" altLang="ko-KR" dirty="0"/>
              <a:t>Theory of Image Restoration Discourse </a:t>
            </a:r>
            <a:r>
              <a:rPr lang="ko-KR" altLang="en-US" dirty="0"/>
              <a:t>→ 기업 이미지 위기에 대응하는 메시지를 </a:t>
            </a:r>
            <a:r>
              <a:rPr lang="en-US" altLang="ko-KR" dirty="0"/>
              <a:t>(1)</a:t>
            </a:r>
            <a:r>
              <a:rPr lang="ko-KR" altLang="en-US" dirty="0"/>
              <a:t> 개발하거나</a:t>
            </a:r>
            <a:r>
              <a:rPr lang="en-US" altLang="ko-KR" dirty="0"/>
              <a:t>, (2) </a:t>
            </a:r>
            <a:r>
              <a:rPr lang="ko-KR" altLang="en-US" dirty="0"/>
              <a:t>이해하는데 유효한 접근법임</a:t>
            </a:r>
            <a:endParaRPr lang="en-US" altLang="ko-KR" dirty="0"/>
          </a:p>
          <a:p>
            <a:r>
              <a:rPr lang="ko-KR" altLang="en-US" dirty="0"/>
              <a:t>기존 이론의 한계와 발전</a:t>
            </a:r>
            <a:endParaRPr lang="en-US" altLang="ko-KR" dirty="0"/>
          </a:p>
          <a:p>
            <a:pPr lvl="1"/>
            <a:r>
              <a:rPr lang="ko-KR" altLang="en-US" dirty="0"/>
              <a:t>과거의 변명</a:t>
            </a:r>
            <a:r>
              <a:rPr lang="en-US" altLang="ko-KR" dirty="0"/>
              <a:t>(Apologia) </a:t>
            </a:r>
            <a:r>
              <a:rPr lang="ko-KR" altLang="en-US" dirty="0"/>
              <a:t>및 해명</a:t>
            </a:r>
            <a:r>
              <a:rPr lang="en-US" altLang="ko-KR" dirty="0"/>
              <a:t>(Accounts) </a:t>
            </a:r>
            <a:r>
              <a:rPr lang="ko-KR" altLang="en-US" dirty="0"/>
              <a:t>이론을 통합하고 확장하여 훨씬 더 포괄적인 프레임워크 제공</a:t>
            </a:r>
            <a:endParaRPr lang="en-US" altLang="ko-KR" dirty="0"/>
          </a:p>
          <a:p>
            <a:r>
              <a:rPr lang="ko-KR" altLang="en-US" dirty="0"/>
              <a:t>연구의 활용도</a:t>
            </a:r>
            <a:endParaRPr lang="en-US" altLang="ko-KR" dirty="0"/>
          </a:p>
          <a:p>
            <a:pPr lvl="1"/>
            <a:r>
              <a:rPr lang="en-US" altLang="ko-KR" dirty="0"/>
              <a:t>PR </a:t>
            </a:r>
            <a:r>
              <a:rPr lang="ko-KR" altLang="en-US" dirty="0"/>
              <a:t>실무자</a:t>
            </a:r>
            <a:r>
              <a:rPr lang="en-US" altLang="ko-KR" dirty="0"/>
              <a:t>: </a:t>
            </a:r>
            <a:r>
              <a:rPr lang="ko-KR" altLang="en-US" dirty="0"/>
              <a:t>위기 상황 시 효과적인 대응 메시지 설계의 가이드라인으로 활용</a:t>
            </a:r>
            <a:endParaRPr lang="en-US" altLang="ko-KR" dirty="0"/>
          </a:p>
          <a:p>
            <a:pPr lvl="1"/>
            <a:r>
              <a:rPr lang="ko-KR" altLang="en-US" dirty="0"/>
              <a:t>비평가</a:t>
            </a:r>
            <a:r>
              <a:rPr lang="en-US" altLang="ko-KR" dirty="0"/>
              <a:t>/</a:t>
            </a:r>
            <a:r>
              <a:rPr lang="ko-KR" altLang="en-US" dirty="0"/>
              <a:t>교육자</a:t>
            </a:r>
            <a:r>
              <a:rPr lang="en-US" altLang="ko-KR" dirty="0"/>
              <a:t>: </a:t>
            </a:r>
            <a:r>
              <a:rPr lang="ko-KR" altLang="en-US" dirty="0"/>
              <a:t>위기 대응 메시지를 비판적으로 평가하는 분석 도구로서의 활용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15D63-7DAB-5A7E-196C-17878E51DFA7}"/>
              </a:ext>
            </a:extLst>
          </p:cNvPr>
          <p:cNvSpPr txBox="1"/>
          <p:nvPr/>
        </p:nvSpPr>
        <p:spPr>
          <a:xfrm>
            <a:off x="571499" y="6359297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Benoit. (1997). Image Repair Discourse and Crisis Communication, </a:t>
            </a:r>
            <a:r>
              <a:rPr lang="en-US" altLang="ko-KR" sz="1400" i="1" dirty="0"/>
              <a:t>Public Relations Review, 23</a:t>
            </a:r>
            <a:r>
              <a:rPr lang="en-US" altLang="ko-KR" sz="1400" dirty="0"/>
              <a:t>(2), 177-186.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25530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9E669-A3D8-0204-F570-F93951A42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F089B-D1B4-F866-96EE-7D874DA20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Nature of Crisis &amp; Attack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1F3339-DC2B-140E-4893-7B682B83D792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위기를 유발하는 공격의 </a:t>
            </a:r>
            <a:r>
              <a:rPr lang="en-US" altLang="ko-KR" dirty="0"/>
              <a:t>2</a:t>
            </a:r>
            <a:r>
              <a:rPr lang="ko-KR" altLang="en-US" dirty="0"/>
              <a:t>가지 필수 조건</a:t>
            </a:r>
            <a:endParaRPr lang="en-US" altLang="ko-KR" dirty="0"/>
          </a:p>
          <a:p>
            <a:pPr lvl="1"/>
            <a:r>
              <a:rPr lang="ko-KR" altLang="en-US" dirty="0"/>
              <a:t>책임</a:t>
            </a:r>
            <a:r>
              <a:rPr lang="en-US" altLang="ko-KR" dirty="0"/>
              <a:t>(Responsibility): </a:t>
            </a:r>
            <a:r>
              <a:rPr lang="ko-KR" altLang="en-US" dirty="0"/>
              <a:t>피고발자</a:t>
            </a:r>
            <a:r>
              <a:rPr lang="en-US" altLang="ko-KR" dirty="0"/>
              <a:t>(</a:t>
            </a:r>
            <a:r>
              <a:rPr lang="ko-KR" altLang="en-US" dirty="0"/>
              <a:t>기업</a:t>
            </a:r>
            <a:r>
              <a:rPr lang="en-US" altLang="ko-KR" dirty="0"/>
              <a:t>)</a:t>
            </a:r>
            <a:r>
              <a:rPr lang="ko-KR" altLang="en-US" dirty="0"/>
              <a:t>가 해당 행위를 했거나 책임이 있다고 여겨질 때</a:t>
            </a:r>
            <a:endParaRPr lang="en-US" altLang="ko-KR" dirty="0"/>
          </a:p>
          <a:p>
            <a:pPr lvl="1"/>
            <a:r>
              <a:rPr lang="ko-KR" altLang="en-US" dirty="0"/>
              <a:t>불쾌감</a:t>
            </a:r>
            <a:r>
              <a:rPr lang="en-US" altLang="ko-KR" dirty="0"/>
              <a:t>(Offensiveness): </a:t>
            </a:r>
            <a:r>
              <a:rPr lang="ko-KR" altLang="en-US" dirty="0"/>
              <a:t>그 행위가 대중에게 불쾌하거나 모욕적이라고 간주될 때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핵심 원칙</a:t>
            </a:r>
            <a:r>
              <a:rPr lang="en-US" altLang="ko-KR" dirty="0"/>
              <a:t>: “</a:t>
            </a:r>
            <a:r>
              <a:rPr lang="ko-KR" altLang="en-US" dirty="0"/>
              <a:t>현실보다 인식이 중요하다</a:t>
            </a:r>
            <a:r>
              <a:rPr lang="en-US" altLang="ko-KR" dirty="0"/>
              <a:t>”</a:t>
            </a:r>
          </a:p>
          <a:p>
            <a:pPr lvl="1"/>
            <a:r>
              <a:rPr lang="ko-KR" altLang="en-US" dirty="0"/>
              <a:t>실제 기업의 잘못이 없거나 피해가 미미하더라도</a:t>
            </a:r>
            <a:r>
              <a:rPr lang="en-US" altLang="ko-KR" dirty="0"/>
              <a:t>, </a:t>
            </a:r>
            <a:r>
              <a:rPr lang="ko-KR" altLang="en-US" dirty="0"/>
              <a:t>주요 청중</a:t>
            </a:r>
            <a:r>
              <a:rPr lang="en-US" altLang="ko-KR" dirty="0"/>
              <a:t>(Audience)</a:t>
            </a:r>
            <a:r>
              <a:rPr lang="ko-KR" altLang="en-US" dirty="0"/>
              <a:t>이 그렇게 믿는다면 이미지는 심각한 위협을 받음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83DA33-CB08-537F-6F79-96B6120917A6}"/>
              </a:ext>
            </a:extLst>
          </p:cNvPr>
          <p:cNvSpPr txBox="1"/>
          <p:nvPr/>
        </p:nvSpPr>
        <p:spPr>
          <a:xfrm>
            <a:off x="571499" y="6359297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Benoit. (1997). Image Repair Discourse and Crisis Communication, </a:t>
            </a:r>
            <a:r>
              <a:rPr lang="en-US" altLang="ko-KR" sz="1400" i="1" dirty="0"/>
              <a:t>Public Relations Review, 23</a:t>
            </a:r>
            <a:r>
              <a:rPr lang="en-US" altLang="ko-KR" sz="1400" dirty="0"/>
              <a:t>(2), 177-186.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15465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CBA86-497F-374D-B152-68C9EEE89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28AC31-0608-C4EE-2DE5-DC3911DCB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 of Image Restoration Theory (IRT)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212F08-EC64-8481-7D31-6C450C29E51F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IRT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위기의 종류나 진행 단계가 아닌 </a:t>
            </a:r>
            <a:r>
              <a:rPr lang="ko-KR" altLang="en-US" b="1" dirty="0"/>
              <a:t>메시지 옵션</a:t>
            </a:r>
            <a:r>
              <a:rPr lang="en-US" altLang="ko-KR" b="1" dirty="0"/>
              <a:t>(Message Options)</a:t>
            </a:r>
            <a:r>
              <a:rPr lang="ko-KR" altLang="en-US" dirty="0"/>
              <a:t> 자체에 초점을 맞춘 이론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이미지 회복을 위한 </a:t>
            </a:r>
            <a:r>
              <a:rPr lang="en-US" altLang="ko-KR" dirty="0"/>
              <a:t>5</a:t>
            </a:r>
            <a:r>
              <a:rPr lang="ko-KR" altLang="en-US" dirty="0"/>
              <a:t>대 전략 범주</a:t>
            </a:r>
            <a:endParaRPr lang="en-US" altLang="ko-KR" dirty="0"/>
          </a:p>
          <a:p>
            <a:pPr lvl="1"/>
            <a:r>
              <a:rPr lang="ko-KR" altLang="en-US" dirty="0"/>
              <a:t>부인</a:t>
            </a:r>
            <a:r>
              <a:rPr lang="en-US" altLang="ko-KR" dirty="0"/>
              <a:t>(Denial): </a:t>
            </a:r>
            <a:r>
              <a:rPr lang="ko-KR" altLang="en-US" dirty="0"/>
              <a:t>우리가 안 했다</a:t>
            </a:r>
            <a:endParaRPr lang="en-US" altLang="ko-KR" dirty="0"/>
          </a:p>
          <a:p>
            <a:pPr lvl="1"/>
            <a:r>
              <a:rPr lang="ko-KR" altLang="en-US" dirty="0"/>
              <a:t>책임 회피</a:t>
            </a:r>
            <a:r>
              <a:rPr lang="en-US" altLang="ko-KR" dirty="0"/>
              <a:t>(Evasion of Responsibility): </a:t>
            </a:r>
            <a:r>
              <a:rPr lang="ko-KR" altLang="en-US" dirty="0"/>
              <a:t>어쩔 수 없었다</a:t>
            </a:r>
            <a:endParaRPr lang="en-US" altLang="ko-KR" dirty="0"/>
          </a:p>
          <a:p>
            <a:pPr lvl="1"/>
            <a:r>
              <a:rPr lang="ko-KR" altLang="en-US" dirty="0"/>
              <a:t>불쾌감 축소</a:t>
            </a:r>
            <a:r>
              <a:rPr lang="en-US" altLang="ko-KR" dirty="0"/>
              <a:t>(Reducing Offensiveness): </a:t>
            </a:r>
            <a:r>
              <a:rPr lang="ko-KR" altLang="en-US" dirty="0"/>
              <a:t>생각보다 나쁘지 않다</a:t>
            </a:r>
            <a:endParaRPr lang="en-US" altLang="ko-KR" dirty="0"/>
          </a:p>
          <a:p>
            <a:pPr lvl="1"/>
            <a:r>
              <a:rPr lang="ko-KR" altLang="en-US" dirty="0"/>
              <a:t>시정 조치</a:t>
            </a:r>
            <a:r>
              <a:rPr lang="en-US" altLang="ko-KR" dirty="0"/>
              <a:t>(Corrective Action): </a:t>
            </a:r>
            <a:r>
              <a:rPr lang="ko-KR" altLang="en-US" dirty="0"/>
              <a:t>다시는 안 그러겠다</a:t>
            </a:r>
            <a:r>
              <a:rPr lang="en-US" altLang="ko-KR" dirty="0"/>
              <a:t>/</a:t>
            </a:r>
            <a:r>
              <a:rPr lang="ko-KR" altLang="en-US" dirty="0"/>
              <a:t>고치겠다</a:t>
            </a:r>
            <a:endParaRPr lang="en-US" altLang="ko-KR" dirty="0"/>
          </a:p>
          <a:p>
            <a:pPr lvl="1"/>
            <a:r>
              <a:rPr lang="ko-KR" altLang="en-US" dirty="0"/>
              <a:t>고해</a:t>
            </a:r>
            <a:r>
              <a:rPr lang="en-US" altLang="ko-KR" dirty="0"/>
              <a:t>/</a:t>
            </a:r>
            <a:r>
              <a:rPr lang="ko-KR" altLang="en-US" dirty="0"/>
              <a:t>사과 </a:t>
            </a:r>
            <a:r>
              <a:rPr lang="en-US" altLang="ko-KR" dirty="0"/>
              <a:t>(Mortification): </a:t>
            </a:r>
            <a:r>
              <a:rPr lang="ko-KR" altLang="en-US" dirty="0"/>
              <a:t>정말 죄송하다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7591E5-0AEB-D75D-1FA5-FA6D9706FFA1}"/>
              </a:ext>
            </a:extLst>
          </p:cNvPr>
          <p:cNvSpPr txBox="1"/>
          <p:nvPr/>
        </p:nvSpPr>
        <p:spPr>
          <a:xfrm>
            <a:off x="571499" y="6359297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Benoit. (1997). Image Repair Discourse and Crisis Communication, </a:t>
            </a:r>
            <a:r>
              <a:rPr lang="en-US" altLang="ko-KR" sz="1400" i="1" dirty="0"/>
              <a:t>Public Relations Review, 23</a:t>
            </a:r>
            <a:r>
              <a:rPr lang="en-US" altLang="ko-KR" sz="1400" dirty="0"/>
              <a:t>(2), 177-186.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82251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9F0FC-33A5-86AF-0637-D8199B27D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8A14E-5968-7830-3A56-A3365123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Denial &amp; Evasion of Responsibility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44CD2B-9110-405B-52E9-5C5AD2C8AE00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Denial</a:t>
            </a:r>
          </a:p>
          <a:p>
            <a:pPr lvl="1"/>
            <a:r>
              <a:rPr lang="en-US" altLang="ko-KR" dirty="0"/>
              <a:t>Simple Denial: </a:t>
            </a:r>
            <a:r>
              <a:rPr lang="ko-KR" altLang="en-US" dirty="0"/>
              <a:t>혐의 자체를 거짓으로 규정</a:t>
            </a:r>
            <a:endParaRPr lang="en-US" altLang="ko-KR" dirty="0"/>
          </a:p>
          <a:p>
            <a:pPr lvl="1"/>
            <a:r>
              <a:rPr lang="en-US" altLang="ko-KR" dirty="0"/>
              <a:t>Shift the Blame: </a:t>
            </a:r>
            <a:r>
              <a:rPr lang="ko-KR" altLang="en-US" dirty="0"/>
              <a:t>타인</a:t>
            </a:r>
            <a:r>
              <a:rPr lang="en-US" altLang="ko-KR" dirty="0"/>
              <a:t>/</a:t>
            </a:r>
            <a:r>
              <a:rPr lang="ko-KR" altLang="en-US" dirty="0"/>
              <a:t>타 기관에 잘못을 돌림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Evasion of Responsibility</a:t>
            </a:r>
          </a:p>
          <a:p>
            <a:pPr lvl="1"/>
            <a:r>
              <a:rPr lang="en-US" altLang="ko-KR" dirty="0"/>
              <a:t>Provocation: </a:t>
            </a:r>
            <a:r>
              <a:rPr lang="ko-KR" altLang="en-US" dirty="0"/>
              <a:t>상대의 선행 공격에 대한 방어적 반응이었음</a:t>
            </a:r>
            <a:endParaRPr lang="en-US" altLang="ko-KR" dirty="0"/>
          </a:p>
          <a:p>
            <a:pPr lvl="1"/>
            <a:r>
              <a:rPr lang="en-US" altLang="ko-KR" dirty="0"/>
              <a:t>Defeasibility: </a:t>
            </a:r>
            <a:r>
              <a:rPr lang="ko-KR" altLang="en-US" dirty="0"/>
              <a:t>정보 부족이나 통제할 수 없는 외부 요인 탓</a:t>
            </a:r>
            <a:endParaRPr lang="en-US" altLang="ko-KR" dirty="0"/>
          </a:p>
          <a:p>
            <a:pPr lvl="1"/>
            <a:r>
              <a:rPr lang="en-US" altLang="ko-KR" dirty="0"/>
              <a:t>Accident: </a:t>
            </a:r>
            <a:r>
              <a:rPr lang="ko-KR" altLang="en-US" dirty="0"/>
              <a:t>의도치 않은 우발적 실수임을 강조</a:t>
            </a:r>
            <a:endParaRPr lang="en-US" altLang="ko-KR" dirty="0"/>
          </a:p>
          <a:p>
            <a:pPr lvl="1"/>
            <a:r>
              <a:rPr lang="en-US" altLang="ko-KR" dirty="0"/>
              <a:t>Good Intentions: </a:t>
            </a:r>
            <a:r>
              <a:rPr lang="ko-KR" altLang="en-US" dirty="0"/>
              <a:t>결과와 무관하게 선한 의도로 시작된 일이었음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51C58-2AD3-FA79-F1D9-303DF45BEB68}"/>
              </a:ext>
            </a:extLst>
          </p:cNvPr>
          <p:cNvSpPr txBox="1"/>
          <p:nvPr/>
        </p:nvSpPr>
        <p:spPr>
          <a:xfrm>
            <a:off x="571499" y="6359297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Benoit. (1997). Image Repair Discourse and Crisis Communication, </a:t>
            </a:r>
            <a:r>
              <a:rPr lang="en-US" altLang="ko-KR" sz="1400" i="1" dirty="0"/>
              <a:t>Public Relations Review, 23</a:t>
            </a:r>
            <a:r>
              <a:rPr lang="en-US" altLang="ko-KR" sz="1400" dirty="0"/>
              <a:t>(2), 177-186.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45500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7FF0-9FA1-F3D1-7A04-16A8DEE3D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CDBAA-6FC8-EF6E-62BF-E8D5D203E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[CASE]</a:t>
            </a:r>
            <a:r>
              <a:rPr lang="ko-KR" altLang="en-US" dirty="0"/>
              <a:t> </a:t>
            </a:r>
            <a:r>
              <a:rPr lang="en-US" altLang="ko-KR" dirty="0"/>
              <a:t>Denial &amp; Evasion of Responsibility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5EA923-6CA5-FA62-5514-E23FE56D8D94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Johnson&amp;Johnson</a:t>
            </a:r>
            <a:r>
              <a:rPr lang="ko-KR" altLang="en-US" dirty="0"/>
              <a:t> 타이레놀 독극물 사건 </a:t>
            </a:r>
            <a:r>
              <a:rPr lang="en-US" altLang="ko-KR" dirty="0"/>
              <a:t>(</a:t>
            </a:r>
            <a:r>
              <a:rPr lang="ko-KR" altLang="en-US" dirty="0"/>
              <a:t>단순 부인 </a:t>
            </a:r>
            <a:r>
              <a:rPr lang="en-US" altLang="ko-KR" dirty="0"/>
              <a:t>+ </a:t>
            </a:r>
            <a:r>
              <a:rPr lang="ko-KR" altLang="en-US" dirty="0"/>
              <a:t>시정 조치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상황</a:t>
            </a:r>
            <a:r>
              <a:rPr lang="en-US" altLang="ko-KR" dirty="0"/>
              <a:t>: </a:t>
            </a:r>
            <a:r>
              <a:rPr lang="ko-KR" altLang="en-US" dirty="0"/>
              <a:t>누군가 고의로 </a:t>
            </a:r>
            <a:r>
              <a:rPr lang="ko-KR" altLang="en-US" dirty="0" err="1"/>
              <a:t>타이레놀에</a:t>
            </a:r>
            <a:r>
              <a:rPr lang="ko-KR" altLang="en-US" dirty="0"/>
              <a:t> 독극물을 투입해 사망자 발생</a:t>
            </a:r>
            <a:endParaRPr lang="en-US" altLang="ko-KR" dirty="0"/>
          </a:p>
          <a:p>
            <a:pPr lvl="1"/>
            <a:r>
              <a:rPr lang="en-US" altLang="ko-KR" dirty="0"/>
              <a:t>IRT </a:t>
            </a:r>
            <a:r>
              <a:rPr lang="ko-KR" altLang="en-US" dirty="0"/>
              <a:t>적용</a:t>
            </a:r>
            <a:r>
              <a:rPr lang="en-US" altLang="ko-KR" dirty="0"/>
              <a:t>: </a:t>
            </a:r>
            <a:r>
              <a:rPr lang="ko-KR" altLang="en-US" dirty="0"/>
              <a:t>기업 자체의 제조상 과실은 강력히 부인</a:t>
            </a:r>
            <a:r>
              <a:rPr lang="en-US" altLang="ko-KR" dirty="0"/>
              <a:t>(Denial)</a:t>
            </a:r>
            <a:r>
              <a:rPr lang="ko-KR" altLang="en-US" dirty="0"/>
              <a:t>하면서도</a:t>
            </a:r>
            <a:r>
              <a:rPr lang="en-US" altLang="ko-KR" dirty="0"/>
              <a:t>, </a:t>
            </a:r>
            <a:r>
              <a:rPr lang="ko-KR" altLang="en-US" dirty="0"/>
              <a:t>즉각적인 전량 회수라는 시정 조치</a:t>
            </a:r>
            <a:r>
              <a:rPr lang="en-US" altLang="ko-KR" dirty="0"/>
              <a:t>(Corrective action)</a:t>
            </a:r>
            <a:r>
              <a:rPr lang="ko-KR" altLang="en-US" dirty="0"/>
              <a:t>를 결합해 신뢰도 극강으로 상승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대한항공 </a:t>
            </a:r>
            <a:r>
              <a:rPr lang="en-US" altLang="ko-KR" dirty="0"/>
              <a:t>‘</a:t>
            </a:r>
            <a:r>
              <a:rPr lang="ko-KR" altLang="en-US" dirty="0"/>
              <a:t>땅콩 회항</a:t>
            </a:r>
            <a:r>
              <a:rPr lang="en-US" altLang="ko-KR" dirty="0"/>
              <a:t>‘ </a:t>
            </a:r>
            <a:r>
              <a:rPr lang="ko-KR" altLang="en-US" dirty="0"/>
              <a:t>사태</a:t>
            </a:r>
            <a:endParaRPr lang="en-US" altLang="ko-KR" dirty="0"/>
          </a:p>
          <a:p>
            <a:pPr lvl="1"/>
            <a:r>
              <a:rPr lang="ko-KR" altLang="en-US" dirty="0"/>
              <a:t>상황</a:t>
            </a:r>
            <a:r>
              <a:rPr lang="en-US" altLang="ko-KR" dirty="0"/>
              <a:t>: </a:t>
            </a:r>
            <a:r>
              <a:rPr lang="ko-KR" altLang="en-US" dirty="0"/>
              <a:t>오너 일가의 갑질로 비행기를 </a:t>
            </a:r>
            <a:r>
              <a:rPr lang="ko-KR" altLang="en-US" dirty="0" err="1"/>
              <a:t>회항시킨</a:t>
            </a:r>
            <a:r>
              <a:rPr lang="ko-KR" altLang="en-US" dirty="0"/>
              <a:t> 사건</a:t>
            </a:r>
            <a:endParaRPr lang="en-US" altLang="ko-KR" dirty="0"/>
          </a:p>
          <a:p>
            <a:pPr lvl="1"/>
            <a:r>
              <a:rPr lang="en-US" altLang="ko-KR" dirty="0"/>
              <a:t>IRT </a:t>
            </a:r>
            <a:r>
              <a:rPr lang="ko-KR" altLang="en-US" dirty="0"/>
              <a:t>적용</a:t>
            </a:r>
            <a:r>
              <a:rPr lang="en-US" altLang="ko-KR" dirty="0"/>
              <a:t>: </a:t>
            </a:r>
            <a:r>
              <a:rPr lang="ko-KR" altLang="en-US" dirty="0"/>
              <a:t>초기 사과문에서 </a:t>
            </a:r>
            <a:r>
              <a:rPr lang="en-US" altLang="ko-KR" dirty="0"/>
              <a:t>"</a:t>
            </a:r>
            <a:r>
              <a:rPr lang="ko-KR" altLang="en-US" dirty="0"/>
              <a:t>승무원과 사무장의 서비스 결함 때문</a:t>
            </a:r>
            <a:r>
              <a:rPr lang="en-US" altLang="ko-KR" dirty="0"/>
              <a:t>"</a:t>
            </a:r>
            <a:r>
              <a:rPr lang="ko-KR" altLang="en-US" dirty="0"/>
              <a:t>이라고 책임을 아랫사람에게 떠넘기는 </a:t>
            </a:r>
            <a:r>
              <a:rPr lang="en-US" altLang="ko-KR" dirty="0"/>
              <a:t>'</a:t>
            </a:r>
            <a:r>
              <a:rPr lang="ko-KR" altLang="en-US" dirty="0"/>
              <a:t>책임 전가</a:t>
            </a:r>
            <a:r>
              <a:rPr lang="en-US" altLang="ko-KR" dirty="0"/>
              <a:t>(Shifting Blame)' </a:t>
            </a:r>
            <a:r>
              <a:rPr lang="ko-KR" altLang="en-US" dirty="0"/>
              <a:t>전략을 사용하다가 전 국민적 공분을 삼</a:t>
            </a:r>
            <a:r>
              <a:rPr lang="en-US" altLang="ko-KR" dirty="0"/>
              <a:t>. </a:t>
            </a:r>
            <a:r>
              <a:rPr lang="ko-KR" altLang="en-US" dirty="0"/>
              <a:t>결국 마지못한 </a:t>
            </a:r>
            <a:r>
              <a:rPr lang="en-US" altLang="ko-KR" dirty="0"/>
              <a:t>'</a:t>
            </a:r>
            <a:r>
              <a:rPr lang="ko-KR" altLang="en-US" dirty="0"/>
              <a:t>고해</a:t>
            </a:r>
            <a:r>
              <a:rPr lang="en-US" altLang="ko-KR" dirty="0"/>
              <a:t>(Mortification)'</a:t>
            </a:r>
            <a:r>
              <a:rPr lang="ko-KR" altLang="en-US" dirty="0"/>
              <a:t>로 넘어갔으나 이미지는 이미 추락함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4BCAD-E634-2ABF-66EC-5281977DCDAB}"/>
              </a:ext>
            </a:extLst>
          </p:cNvPr>
          <p:cNvSpPr txBox="1"/>
          <p:nvPr/>
        </p:nvSpPr>
        <p:spPr>
          <a:xfrm>
            <a:off x="571499" y="6359297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Benoit. (1997). Image Repair Discourse and Crisis Communication, </a:t>
            </a:r>
            <a:r>
              <a:rPr lang="en-US" altLang="ko-KR" sz="1400" i="1" dirty="0"/>
              <a:t>Public Relations Review, 23</a:t>
            </a:r>
            <a:r>
              <a:rPr lang="en-US" altLang="ko-KR" sz="1400" dirty="0"/>
              <a:t>(2), 177-186.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60790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209B7-8059-66DD-B94F-D5C251B23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2EA06-D69A-95DC-61D7-3EBAA1145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Reducing Offensiveness of Event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E183F8-D520-789A-27C2-1C393F5BC2FF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Reducing Offensiveness of Event</a:t>
            </a:r>
          </a:p>
          <a:p>
            <a:pPr lvl="1"/>
            <a:r>
              <a:rPr lang="en-US" altLang="ko-KR" dirty="0"/>
              <a:t>Bolstering: </a:t>
            </a:r>
            <a:r>
              <a:rPr lang="ko-KR" altLang="en-US" dirty="0"/>
              <a:t>기업의 과거 선행이나 긍정적 측면 부각</a:t>
            </a:r>
            <a:endParaRPr lang="en-US" altLang="ko-KR" dirty="0"/>
          </a:p>
          <a:p>
            <a:pPr lvl="1"/>
            <a:r>
              <a:rPr lang="en-US" altLang="ko-KR" dirty="0"/>
              <a:t>Minimization: </a:t>
            </a:r>
            <a:r>
              <a:rPr lang="ko-KR" altLang="en-US" dirty="0"/>
              <a:t>피해나 문제의 심각성을 작게 보이도록 유도</a:t>
            </a:r>
            <a:endParaRPr lang="en-US" altLang="ko-KR" dirty="0"/>
          </a:p>
          <a:p>
            <a:pPr lvl="1"/>
            <a:r>
              <a:rPr lang="en-US" altLang="ko-KR" dirty="0"/>
              <a:t>Differentiation: </a:t>
            </a:r>
            <a:r>
              <a:rPr lang="ko-KR" altLang="en-US" dirty="0"/>
              <a:t>기존의 더 최악인 사례들과 비교하여 본인들의 행위는 낫다고 항변</a:t>
            </a:r>
            <a:endParaRPr lang="en-US" altLang="ko-KR" dirty="0"/>
          </a:p>
          <a:p>
            <a:pPr lvl="1"/>
            <a:r>
              <a:rPr lang="en-US" altLang="ko-KR" dirty="0"/>
              <a:t>Transcendence: </a:t>
            </a:r>
            <a:r>
              <a:rPr lang="ko-KR" altLang="en-US" dirty="0"/>
              <a:t>부정적 행위를 더 숭고하고 큰 목적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인류 복지</a:t>
            </a:r>
            <a:r>
              <a:rPr lang="en-US" altLang="ko-KR" dirty="0"/>
              <a:t>)</a:t>
            </a:r>
            <a:r>
              <a:rPr lang="ko-KR" altLang="en-US" dirty="0"/>
              <a:t>으로 정당화</a:t>
            </a:r>
            <a:endParaRPr lang="en-US" altLang="ko-KR" dirty="0"/>
          </a:p>
          <a:p>
            <a:pPr lvl="1"/>
            <a:r>
              <a:rPr lang="en-US" altLang="ko-KR" dirty="0"/>
              <a:t>Attack Accuser: </a:t>
            </a:r>
            <a:r>
              <a:rPr lang="ko-KR" altLang="en-US" dirty="0"/>
              <a:t>비판하는 측의 신뢰성을 공격하여 논점을 흐림</a:t>
            </a:r>
            <a:endParaRPr lang="en-US" altLang="ko-KR" dirty="0"/>
          </a:p>
          <a:p>
            <a:pPr lvl="1"/>
            <a:r>
              <a:rPr lang="en-US" altLang="ko-KR" dirty="0"/>
              <a:t>Compensation: </a:t>
            </a:r>
            <a:r>
              <a:rPr lang="ko-KR" altLang="en-US" dirty="0"/>
              <a:t>피해자에게 혜택을 제공하여 이미지를 만회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52E62-512E-6DBF-D9B6-0C3B39607832}"/>
              </a:ext>
            </a:extLst>
          </p:cNvPr>
          <p:cNvSpPr txBox="1"/>
          <p:nvPr/>
        </p:nvSpPr>
        <p:spPr>
          <a:xfrm>
            <a:off x="571499" y="6359297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Benoit. (1997). Image Repair Discourse and Crisis Communication, </a:t>
            </a:r>
            <a:r>
              <a:rPr lang="en-US" altLang="ko-KR" sz="1400" i="1" dirty="0"/>
              <a:t>Public Relations Review, 23</a:t>
            </a:r>
            <a:r>
              <a:rPr lang="en-US" altLang="ko-KR" sz="1400" dirty="0"/>
              <a:t>(2), 177-186.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84074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62F7C-F090-3F65-90B2-144B732A3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661E8-162F-C2E3-7DEF-7082A327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[CASE] Reducing Offensiveness of Event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701A43-0AEC-2873-DE91-40423A23B8CB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Transcendence </a:t>
            </a:r>
            <a:r>
              <a:rPr lang="ko-KR" altLang="en-US" dirty="0"/>
              <a:t>전략 사례</a:t>
            </a:r>
            <a:r>
              <a:rPr lang="en-US" altLang="ko-KR" dirty="0"/>
              <a:t>: </a:t>
            </a:r>
            <a:r>
              <a:rPr lang="ko-KR" altLang="en-US" dirty="0"/>
              <a:t>삼성그룹 비자금</a:t>
            </a:r>
            <a:r>
              <a:rPr lang="en-US" altLang="ko-KR" dirty="0"/>
              <a:t>/</a:t>
            </a:r>
            <a:r>
              <a:rPr lang="ko-KR" altLang="en-US" dirty="0"/>
              <a:t>내부 고발 사태</a:t>
            </a:r>
            <a:endParaRPr lang="en-US" altLang="ko-KR" dirty="0"/>
          </a:p>
          <a:p>
            <a:pPr lvl="1"/>
            <a:r>
              <a:rPr lang="ko-KR" altLang="en-US" dirty="0"/>
              <a:t>상황</a:t>
            </a:r>
            <a:r>
              <a:rPr lang="en-US" altLang="ko-KR" dirty="0"/>
              <a:t>: </a:t>
            </a:r>
            <a:r>
              <a:rPr lang="ko-KR" altLang="en-US" dirty="0"/>
              <a:t>김용철 변호사의 내부고발로 시작된 특검 </a:t>
            </a:r>
            <a:r>
              <a:rPr lang="en-US" altLang="ko-KR" dirty="0"/>
              <a:t>+ </a:t>
            </a:r>
            <a:r>
              <a:rPr lang="ko-KR" altLang="en-US" dirty="0"/>
              <a:t>이건희 회장의 경영 일선 퇴진</a:t>
            </a:r>
            <a:endParaRPr lang="en-US" altLang="ko-KR" dirty="0"/>
          </a:p>
          <a:p>
            <a:pPr lvl="1"/>
            <a:r>
              <a:rPr lang="en-US" altLang="ko-KR" dirty="0"/>
              <a:t>IRT </a:t>
            </a:r>
            <a:r>
              <a:rPr lang="ko-KR" altLang="en-US" dirty="0"/>
              <a:t>적용</a:t>
            </a:r>
            <a:r>
              <a:rPr lang="en-US" altLang="ko-KR" dirty="0"/>
              <a:t>: "</a:t>
            </a:r>
            <a:r>
              <a:rPr lang="ko-KR" altLang="en-US" dirty="0"/>
              <a:t>삼성이 잘되는 것이 곧 국가 경제에 좋다</a:t>
            </a:r>
            <a:r>
              <a:rPr lang="en-US" altLang="ko-KR" dirty="0"/>
              <a:t>(Good for Samsung is Good for Korea)"</a:t>
            </a:r>
            <a:r>
              <a:rPr lang="ko-KR" altLang="en-US" dirty="0"/>
              <a:t>는 프레임을 형성</a:t>
            </a:r>
            <a:r>
              <a:rPr lang="en-US" altLang="ko-KR" dirty="0"/>
              <a:t>. </a:t>
            </a:r>
            <a:r>
              <a:rPr lang="ko-KR" altLang="en-US" dirty="0"/>
              <a:t>기업의 과실이 주는 불쾌감을 </a:t>
            </a:r>
            <a:r>
              <a:rPr lang="en-US" altLang="ko-KR" dirty="0"/>
              <a:t>'</a:t>
            </a:r>
            <a:r>
              <a:rPr lang="ko-KR" altLang="en-US" dirty="0"/>
              <a:t>국가 경제 보호</a:t>
            </a:r>
            <a:r>
              <a:rPr lang="en-US" altLang="ko-KR" dirty="0"/>
              <a:t>'</a:t>
            </a:r>
            <a:r>
              <a:rPr lang="ko-KR" altLang="en-US" dirty="0"/>
              <a:t>라는 더 큰 대의와 문맥으로 </a:t>
            </a:r>
            <a:r>
              <a:rPr lang="ko-KR" altLang="en-US" dirty="0" err="1"/>
              <a:t>덮어버림으로써</a:t>
            </a:r>
            <a:r>
              <a:rPr lang="ko-KR" altLang="en-US" dirty="0"/>
              <a:t> 대중의 부정적 인식을 상당 부분 무마시키는 데 성공한 대표적 초월 전략 사례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Minimization </a:t>
            </a:r>
            <a:r>
              <a:rPr lang="ko-KR" altLang="en-US" dirty="0"/>
              <a:t>전략 실패 사례</a:t>
            </a:r>
            <a:r>
              <a:rPr lang="en-US" altLang="ko-KR" dirty="0"/>
              <a:t>: </a:t>
            </a:r>
            <a:r>
              <a:rPr lang="ko-KR" altLang="en-US" dirty="0"/>
              <a:t>유나이티드 항공 승객 강제 퇴거 사건</a:t>
            </a:r>
            <a:endParaRPr lang="en-US" altLang="ko-KR" dirty="0"/>
          </a:p>
          <a:p>
            <a:pPr lvl="1"/>
            <a:r>
              <a:rPr lang="ko-KR" altLang="en-US" dirty="0"/>
              <a:t>상황</a:t>
            </a:r>
            <a:r>
              <a:rPr lang="en-US" altLang="ko-KR" dirty="0"/>
              <a:t>: </a:t>
            </a:r>
            <a:r>
              <a:rPr lang="ko-KR" altLang="en-US" dirty="0"/>
              <a:t>초과 예약</a:t>
            </a:r>
            <a:r>
              <a:rPr lang="en-US" altLang="ko-KR" dirty="0"/>
              <a:t>(Overbooking)</a:t>
            </a:r>
            <a:r>
              <a:rPr lang="ko-KR" altLang="en-US" dirty="0"/>
              <a:t>을 이유로 승객을 폭력적으로 끌어냄</a:t>
            </a:r>
            <a:endParaRPr lang="en-US" altLang="ko-KR" dirty="0"/>
          </a:p>
          <a:p>
            <a:pPr lvl="1"/>
            <a:r>
              <a:rPr lang="en-US" altLang="ko-KR" dirty="0"/>
              <a:t>IRT </a:t>
            </a:r>
            <a:r>
              <a:rPr lang="ko-KR" altLang="en-US" dirty="0"/>
              <a:t>적용</a:t>
            </a:r>
            <a:r>
              <a:rPr lang="en-US" altLang="ko-KR" dirty="0"/>
              <a:t>: </a:t>
            </a:r>
            <a:r>
              <a:rPr lang="ko-KR" altLang="en-US" dirty="0"/>
              <a:t>초기 </a:t>
            </a:r>
            <a:r>
              <a:rPr lang="en-US" altLang="ko-KR" dirty="0"/>
              <a:t>CEO </a:t>
            </a:r>
            <a:r>
              <a:rPr lang="ko-KR" altLang="en-US" dirty="0"/>
              <a:t>성명에서 승객이 난폭했다고 책임을 전가하고</a:t>
            </a:r>
            <a:r>
              <a:rPr lang="en-US" altLang="ko-KR" dirty="0"/>
              <a:t>, </a:t>
            </a:r>
            <a:r>
              <a:rPr lang="ko-KR" altLang="en-US" dirty="0"/>
              <a:t>이를 단순한 </a:t>
            </a:r>
            <a:r>
              <a:rPr lang="en-US" altLang="ko-KR" dirty="0"/>
              <a:t>'</a:t>
            </a:r>
            <a:r>
              <a:rPr lang="ko-KR" altLang="en-US" dirty="0"/>
              <a:t>재수용</a:t>
            </a:r>
            <a:r>
              <a:rPr lang="en-US" altLang="ko-KR" dirty="0"/>
              <a:t>(Re-accommodating)' </a:t>
            </a:r>
            <a:r>
              <a:rPr lang="ko-KR" altLang="en-US" dirty="0"/>
              <a:t>과정으로 </a:t>
            </a:r>
            <a:r>
              <a:rPr lang="en-US" altLang="ko-KR" dirty="0"/>
              <a:t>'</a:t>
            </a:r>
            <a:r>
              <a:rPr lang="ko-KR" altLang="en-US" dirty="0"/>
              <a:t>축소</a:t>
            </a:r>
            <a:r>
              <a:rPr lang="en-US" altLang="ko-KR" dirty="0"/>
              <a:t>(Minimization)'</a:t>
            </a:r>
            <a:r>
              <a:rPr lang="ko-KR" altLang="en-US" dirty="0"/>
              <a:t>하려 함</a:t>
            </a:r>
            <a:r>
              <a:rPr lang="en-US" altLang="ko-KR" dirty="0"/>
              <a:t>. </a:t>
            </a:r>
            <a:r>
              <a:rPr lang="ko-KR" altLang="en-US" dirty="0"/>
              <a:t>이는 대중의 폭발적 분노와 주가 폭락이라는 최악의 역풍</a:t>
            </a:r>
            <a:r>
              <a:rPr lang="en-US" altLang="ko-KR" dirty="0"/>
              <a:t>(Backlash)</a:t>
            </a:r>
            <a:r>
              <a:rPr lang="ko-KR" altLang="en-US" dirty="0"/>
              <a:t>을 불러옴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7F306-E3A0-0749-157E-D0F495A50763}"/>
              </a:ext>
            </a:extLst>
          </p:cNvPr>
          <p:cNvSpPr txBox="1"/>
          <p:nvPr/>
        </p:nvSpPr>
        <p:spPr>
          <a:xfrm>
            <a:off x="571499" y="6359297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Benoit. (1997). Image Repair Discourse and Crisis Communication, </a:t>
            </a:r>
            <a:r>
              <a:rPr lang="en-US" altLang="ko-KR" sz="1400" i="1" dirty="0"/>
              <a:t>Public Relations Review, 23</a:t>
            </a:r>
            <a:r>
              <a:rPr lang="en-US" altLang="ko-KR" sz="1400" dirty="0"/>
              <a:t>(2), 177-186.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5164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55D0-C564-6E28-4DB9-4554560F7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E1DF0-7F61-9147-565F-0C6221A8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Corrective Action &amp; Mortification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EE48C-A6CB-1816-0946-0F18F80C9336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Corrective Action</a:t>
            </a:r>
          </a:p>
          <a:p>
            <a:pPr lvl="1"/>
            <a:r>
              <a:rPr lang="ko-KR" altLang="en-US" dirty="0"/>
              <a:t>사건 이전 상태로의 복구 노력</a:t>
            </a:r>
            <a:endParaRPr lang="en-US" altLang="ko-KR" dirty="0"/>
          </a:p>
          <a:p>
            <a:pPr lvl="1"/>
            <a:r>
              <a:rPr lang="ko-KR" altLang="en-US" dirty="0"/>
              <a:t>문제 재발을 방지하기 위한 구체적이고 실질적인 계획 약속</a:t>
            </a:r>
            <a:endParaRPr lang="en-US" altLang="ko-KR" dirty="0"/>
          </a:p>
          <a:p>
            <a:pPr marL="228600" lvl="1" indent="0">
              <a:buNone/>
            </a:pPr>
            <a:endParaRPr lang="en-US" altLang="ko-KR" dirty="0"/>
          </a:p>
          <a:p>
            <a:r>
              <a:rPr lang="en-US" altLang="ko-KR" dirty="0"/>
              <a:t>Mortification</a:t>
            </a:r>
          </a:p>
          <a:p>
            <a:pPr lvl="1"/>
            <a:r>
              <a:rPr lang="ko-KR" altLang="en-US" dirty="0"/>
              <a:t>책임을 전면 인정하고 대중 및 피해자에게 직접 용서를 구함</a:t>
            </a:r>
            <a:endParaRPr lang="en-US" altLang="ko-KR" dirty="0"/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: </a:t>
            </a:r>
            <a:r>
              <a:rPr lang="ko-KR" altLang="en-US" dirty="0"/>
              <a:t>진정성이 전달될 경우 가장 빠른 감정적 앙금 해소</a:t>
            </a:r>
            <a:endParaRPr lang="en-US" altLang="ko-KR" dirty="0"/>
          </a:p>
          <a:p>
            <a:pPr lvl="1"/>
            <a:r>
              <a:rPr lang="ko-KR" altLang="en-US" dirty="0"/>
              <a:t>단점</a:t>
            </a:r>
            <a:r>
              <a:rPr lang="en-US" altLang="ko-KR" dirty="0"/>
              <a:t>/</a:t>
            </a:r>
            <a:r>
              <a:rPr lang="ko-KR" altLang="en-US" dirty="0"/>
              <a:t>리스크</a:t>
            </a:r>
            <a:r>
              <a:rPr lang="en-US" altLang="ko-KR" dirty="0"/>
              <a:t>: </a:t>
            </a:r>
            <a:r>
              <a:rPr lang="ko-KR" altLang="en-US" dirty="0"/>
              <a:t>피해자들의 법적 소송</a:t>
            </a:r>
            <a:r>
              <a:rPr lang="en-US" altLang="ko-KR" dirty="0"/>
              <a:t>(lawsuits)</a:t>
            </a:r>
            <a:r>
              <a:rPr lang="ko-KR" altLang="en-US" dirty="0"/>
              <a:t>을 유발할 근거가 될 수 있음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D6AD3-1A8D-4D15-57D0-3DB22CF653BF}"/>
              </a:ext>
            </a:extLst>
          </p:cNvPr>
          <p:cNvSpPr txBox="1"/>
          <p:nvPr/>
        </p:nvSpPr>
        <p:spPr>
          <a:xfrm>
            <a:off x="571499" y="6359297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Benoit. (1997). Image Repair Discourse and Crisis Communication, </a:t>
            </a:r>
            <a:r>
              <a:rPr lang="en-US" altLang="ko-KR" sz="1400" i="1" dirty="0"/>
              <a:t>Public Relations Review, 23</a:t>
            </a:r>
            <a:r>
              <a:rPr lang="en-US" altLang="ko-KR" sz="1400" dirty="0"/>
              <a:t>(2), 177-186.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99732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94753-3032-E15F-7DA3-ACA53F3CC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DDCE6-2879-28A7-0FD4-80066E2A8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[CASE]</a:t>
            </a:r>
            <a:r>
              <a:rPr lang="ko-KR" altLang="en-US" dirty="0"/>
              <a:t> </a:t>
            </a:r>
            <a:r>
              <a:rPr lang="en-US" altLang="ko-KR" dirty="0"/>
              <a:t>Corrective Action &amp; Mortification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062DA7-3FA6-8765-3A0F-EE42BE10E20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삼성전자 </a:t>
            </a:r>
            <a:r>
              <a:rPr lang="en-US" altLang="ko-KR" dirty="0"/>
              <a:t>‘</a:t>
            </a:r>
            <a:r>
              <a:rPr lang="ko-KR" altLang="en-US" dirty="0"/>
              <a:t>갤럭시 노트</a:t>
            </a:r>
            <a:r>
              <a:rPr lang="en-US" altLang="ko-KR" dirty="0"/>
              <a:t>7’ </a:t>
            </a:r>
            <a:r>
              <a:rPr lang="ko-KR" altLang="en-US" dirty="0"/>
              <a:t>배터리 발화 사태</a:t>
            </a:r>
            <a:endParaRPr lang="en-US" altLang="ko-KR" dirty="0"/>
          </a:p>
          <a:p>
            <a:pPr lvl="1"/>
            <a:r>
              <a:rPr lang="en-US" altLang="ko-KR" dirty="0"/>
              <a:t>IRT </a:t>
            </a:r>
            <a:r>
              <a:rPr lang="ko-KR" altLang="en-US" dirty="0"/>
              <a:t>적용</a:t>
            </a:r>
            <a:r>
              <a:rPr lang="en-US" altLang="ko-KR" dirty="0"/>
              <a:t>: </a:t>
            </a:r>
            <a:r>
              <a:rPr lang="ko-KR" altLang="en-US" dirty="0"/>
              <a:t>초기에는 일부 기기의 문제로 </a:t>
            </a:r>
            <a:r>
              <a:rPr lang="en-US" altLang="ko-KR" dirty="0"/>
              <a:t>'</a:t>
            </a:r>
            <a:r>
              <a:rPr lang="ko-KR" altLang="en-US" dirty="0"/>
              <a:t>축소</a:t>
            </a:r>
            <a:r>
              <a:rPr lang="en-US" altLang="ko-KR" dirty="0"/>
              <a:t>'</a:t>
            </a:r>
            <a:r>
              <a:rPr lang="ko-KR" altLang="en-US" dirty="0"/>
              <a:t>하려 했으나</a:t>
            </a:r>
            <a:r>
              <a:rPr lang="en-US" altLang="ko-KR" dirty="0"/>
              <a:t>, </a:t>
            </a:r>
            <a:r>
              <a:rPr lang="ko-KR" altLang="en-US" dirty="0"/>
              <a:t>사태가 심각해지자 전 세계적인 단종 및 전량 리콜이라는 천문학적 비용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7</a:t>
            </a:r>
            <a:r>
              <a:rPr lang="ko-KR" altLang="en-US" dirty="0"/>
              <a:t>조 원</a:t>
            </a:r>
            <a:r>
              <a:rPr lang="en-US" altLang="ko-KR" dirty="0"/>
              <a:t>)</a:t>
            </a:r>
            <a:r>
              <a:rPr lang="ko-KR" altLang="en-US" dirty="0"/>
              <a:t>을 감수한 강력한 </a:t>
            </a:r>
            <a:r>
              <a:rPr lang="en-US" altLang="ko-KR" dirty="0"/>
              <a:t>'</a:t>
            </a:r>
            <a:r>
              <a:rPr lang="ko-KR" altLang="en-US" dirty="0"/>
              <a:t>시정 조치</a:t>
            </a:r>
            <a:r>
              <a:rPr lang="en-US" altLang="ko-KR" dirty="0"/>
              <a:t>(Corrective action)'</a:t>
            </a:r>
            <a:r>
              <a:rPr lang="ko-KR" altLang="en-US" dirty="0"/>
              <a:t>를 실행</a:t>
            </a:r>
            <a:r>
              <a:rPr lang="en-US" altLang="ko-KR" dirty="0"/>
              <a:t>. </a:t>
            </a:r>
            <a:r>
              <a:rPr lang="ko-KR" altLang="en-US" dirty="0"/>
              <a:t>기자 회견을 통한 투명한 원인 공개와 사과</a:t>
            </a:r>
            <a:r>
              <a:rPr lang="en-US" altLang="ko-KR" dirty="0"/>
              <a:t>(Mortification)</a:t>
            </a:r>
            <a:r>
              <a:rPr lang="ko-KR" altLang="en-US" dirty="0"/>
              <a:t>로 오히려 기업의 위기관리 능력을 증명하며 이미지를 방어함</a:t>
            </a:r>
            <a:endParaRPr lang="en-US" altLang="ko-KR" dirty="0"/>
          </a:p>
          <a:p>
            <a:r>
              <a:rPr lang="ko-KR" altLang="en-US" dirty="0"/>
              <a:t>남양유업 대리점 갑질 사태</a:t>
            </a:r>
            <a:endParaRPr lang="en-US" altLang="ko-KR" dirty="0"/>
          </a:p>
          <a:p>
            <a:pPr lvl="1"/>
            <a:r>
              <a:rPr lang="ko-KR" altLang="en-US" dirty="0"/>
              <a:t>상황</a:t>
            </a:r>
            <a:r>
              <a:rPr lang="en-US" altLang="ko-KR" dirty="0"/>
              <a:t>: </a:t>
            </a:r>
            <a:r>
              <a:rPr lang="ko-KR" altLang="en-US" dirty="0"/>
              <a:t>영업사원의 폭언 </a:t>
            </a:r>
            <a:r>
              <a:rPr lang="ko-KR" altLang="en-US" dirty="0" err="1"/>
              <a:t>녹취록</a:t>
            </a:r>
            <a:r>
              <a:rPr lang="ko-KR" altLang="en-US" dirty="0"/>
              <a:t> 공개 및 대리점 </a:t>
            </a:r>
            <a:r>
              <a:rPr lang="en-US" altLang="ko-KR" dirty="0"/>
              <a:t>'</a:t>
            </a:r>
            <a:r>
              <a:rPr lang="ko-KR" altLang="en-US" dirty="0"/>
              <a:t>밀어내기</a:t>
            </a:r>
            <a:r>
              <a:rPr lang="en-US" altLang="ko-KR" dirty="0"/>
              <a:t>' </a:t>
            </a:r>
            <a:r>
              <a:rPr lang="ko-KR" altLang="en-US" dirty="0"/>
              <a:t>발각</a:t>
            </a:r>
            <a:endParaRPr lang="en-US" altLang="ko-KR" dirty="0"/>
          </a:p>
          <a:p>
            <a:pPr lvl="1"/>
            <a:r>
              <a:rPr lang="en-US" altLang="ko-KR" dirty="0"/>
              <a:t>IRT </a:t>
            </a:r>
            <a:r>
              <a:rPr lang="ko-KR" altLang="en-US" dirty="0"/>
              <a:t>적용</a:t>
            </a:r>
            <a:r>
              <a:rPr lang="en-US" altLang="ko-KR" dirty="0"/>
              <a:t>: </a:t>
            </a:r>
            <a:r>
              <a:rPr lang="ko-KR" altLang="en-US" dirty="0"/>
              <a:t>초기 소극적인 대응과 책임 회피로 일관하다가 </a:t>
            </a:r>
            <a:r>
              <a:rPr lang="en-US" altLang="ko-KR" dirty="0"/>
              <a:t>'</a:t>
            </a:r>
            <a:r>
              <a:rPr lang="ko-KR" altLang="en-US" dirty="0"/>
              <a:t>불매운동</a:t>
            </a:r>
            <a:r>
              <a:rPr lang="en-US" altLang="ko-KR" dirty="0"/>
              <a:t>'</a:t>
            </a:r>
            <a:r>
              <a:rPr lang="ko-KR" altLang="en-US" dirty="0"/>
              <a:t>이라는 거대한 역풍을 맞음</a:t>
            </a:r>
            <a:r>
              <a:rPr lang="en-US" altLang="ko-KR" dirty="0"/>
              <a:t>. </a:t>
            </a:r>
            <a:r>
              <a:rPr lang="ko-KR" altLang="en-US" dirty="0"/>
              <a:t>최근 들어서야 경영진 전면 교체라는 강력한 </a:t>
            </a:r>
            <a:r>
              <a:rPr lang="en-US" altLang="ko-KR" dirty="0"/>
              <a:t>'</a:t>
            </a:r>
            <a:r>
              <a:rPr lang="ko-KR" altLang="en-US" dirty="0"/>
              <a:t>시정 조치</a:t>
            </a:r>
            <a:r>
              <a:rPr lang="en-US" altLang="ko-KR" dirty="0"/>
              <a:t>'</a:t>
            </a:r>
            <a:r>
              <a:rPr lang="ko-KR" altLang="en-US" dirty="0"/>
              <a:t>를 단행하여 </a:t>
            </a:r>
            <a:r>
              <a:rPr lang="en-US" altLang="ko-KR" dirty="0"/>
              <a:t>6</a:t>
            </a:r>
            <a:r>
              <a:rPr lang="ko-KR" altLang="en-US" dirty="0"/>
              <a:t>년 만에 적자에서 벗어나는 등</a:t>
            </a:r>
            <a:r>
              <a:rPr lang="en-US" altLang="ko-KR" dirty="0"/>
              <a:t>(</a:t>
            </a:r>
            <a:r>
              <a:rPr lang="ko-KR" altLang="en-US" dirty="0" err="1"/>
              <a:t>골렘</a:t>
            </a:r>
            <a:r>
              <a:rPr lang="ko-KR" altLang="en-US" dirty="0"/>
              <a:t> 효과 탈피</a:t>
            </a:r>
            <a:r>
              <a:rPr lang="en-US" altLang="ko-KR" dirty="0"/>
              <a:t>) </a:t>
            </a:r>
            <a:r>
              <a:rPr lang="ko-KR" altLang="en-US" dirty="0"/>
              <a:t>이미지와 실적 회복에 나서고 있음</a:t>
            </a:r>
            <a:r>
              <a:rPr lang="en-US" altLang="ko-KR" dirty="0"/>
              <a:t>. </a:t>
            </a:r>
            <a:r>
              <a:rPr lang="ko-KR" altLang="en-US" dirty="0"/>
              <a:t>위기 발생 후 시정 조치까지 너무 오랜 시간이 걸려 </a:t>
            </a:r>
            <a:r>
              <a:rPr lang="en-US" altLang="ko-KR" dirty="0"/>
              <a:t>"</a:t>
            </a:r>
            <a:r>
              <a:rPr lang="ko-KR" altLang="en-US" dirty="0"/>
              <a:t>부정적 이미지의 긴 연속성</a:t>
            </a:r>
            <a:r>
              <a:rPr lang="en-US" altLang="ko-KR" dirty="0"/>
              <a:t>"</a:t>
            </a:r>
            <a:r>
              <a:rPr lang="ko-KR" altLang="en-US" dirty="0"/>
              <a:t>을 겪은 사례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917F5-5EF6-3AFA-314F-DCB596F8D09D}"/>
              </a:ext>
            </a:extLst>
          </p:cNvPr>
          <p:cNvSpPr txBox="1"/>
          <p:nvPr/>
        </p:nvSpPr>
        <p:spPr>
          <a:xfrm>
            <a:off x="571499" y="6359297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Benoit. (1997). Image Repair Discourse and Crisis Communication, </a:t>
            </a:r>
            <a:r>
              <a:rPr lang="en-US" altLang="ko-KR" sz="1400" i="1" dirty="0"/>
              <a:t>Public Relations Review, 23</a:t>
            </a:r>
            <a:r>
              <a:rPr lang="en-US" altLang="ko-KR" sz="1400" dirty="0"/>
              <a:t>(2), 177-186.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44551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DA624-6AF8-F231-C6BF-C71B0B3F3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447BC-8E8E-AB43-5135-06C5887C7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Suggestions for Crisis Communication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794482-0523-F8D5-BA5C-BA448D3DC76D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Preparation</a:t>
            </a:r>
          </a:p>
          <a:p>
            <a:pPr lvl="1"/>
            <a:r>
              <a:rPr lang="ko-KR" altLang="en-US" dirty="0"/>
              <a:t>사전 비상 계획</a:t>
            </a:r>
            <a:r>
              <a:rPr lang="en-US" altLang="ko-KR" dirty="0"/>
              <a:t>(Contingency plans) </a:t>
            </a:r>
            <a:r>
              <a:rPr lang="ko-KR" altLang="en-US" dirty="0"/>
              <a:t>수립 및 주기적 업데이트</a:t>
            </a:r>
            <a:endParaRPr lang="en-US" altLang="ko-KR" dirty="0"/>
          </a:p>
          <a:p>
            <a:pPr lvl="1"/>
            <a:r>
              <a:rPr lang="ko-KR" altLang="en-US" dirty="0"/>
              <a:t>위기 발생 시 즉각 대처할 수 있는 신속 대응 책임자 지정</a:t>
            </a:r>
            <a:endParaRPr lang="en-US" altLang="ko-KR" dirty="0"/>
          </a:p>
          <a:p>
            <a:pPr marL="228600" lvl="1" indent="0">
              <a:buNone/>
            </a:pPr>
            <a:endParaRPr lang="en-US" altLang="ko-KR" dirty="0"/>
          </a:p>
          <a:p>
            <a:r>
              <a:rPr lang="en-US" altLang="ko-KR" dirty="0"/>
              <a:t>Analysis</a:t>
            </a:r>
          </a:p>
          <a:p>
            <a:pPr lvl="1"/>
            <a:r>
              <a:rPr lang="ko-KR" altLang="en-US" dirty="0"/>
              <a:t>비난의 본질과 대중이 체감하는 심각성 파악</a:t>
            </a:r>
            <a:endParaRPr lang="en-US" altLang="ko-KR" dirty="0"/>
          </a:p>
          <a:p>
            <a:pPr marL="228600" lvl="1" indent="0">
              <a:buNone/>
            </a:pPr>
            <a:endParaRPr lang="en-US" altLang="ko-KR" dirty="0"/>
          </a:p>
          <a:p>
            <a:r>
              <a:rPr lang="en-US" altLang="ko-KR" dirty="0"/>
              <a:t>Identify Audiences</a:t>
            </a:r>
          </a:p>
          <a:p>
            <a:pPr lvl="1"/>
            <a:r>
              <a:rPr lang="ko-KR" altLang="en-US" dirty="0"/>
              <a:t>주주</a:t>
            </a:r>
            <a:r>
              <a:rPr lang="en-US" altLang="ko-KR" dirty="0"/>
              <a:t>, </a:t>
            </a:r>
            <a:r>
              <a:rPr lang="ko-KR" altLang="en-US" dirty="0"/>
              <a:t>소비자</a:t>
            </a:r>
            <a:r>
              <a:rPr lang="en-US" altLang="ko-KR" dirty="0"/>
              <a:t>, </a:t>
            </a:r>
            <a:r>
              <a:rPr lang="ko-KR" altLang="en-US" dirty="0"/>
              <a:t>규제기관</a:t>
            </a:r>
            <a:r>
              <a:rPr lang="en-US" altLang="ko-KR" dirty="0"/>
              <a:t>, </a:t>
            </a:r>
            <a:r>
              <a:rPr lang="ko-KR" altLang="en-US" dirty="0"/>
              <a:t>환경단체 등 타깃별 우선순위 설정</a:t>
            </a:r>
            <a:endParaRPr lang="en-US" altLang="ko-KR" dirty="0"/>
          </a:p>
          <a:p>
            <a:pPr lvl="1"/>
            <a:r>
              <a:rPr lang="ko-KR" altLang="en-US" dirty="0" err="1"/>
              <a:t>청중별</a:t>
            </a:r>
            <a:r>
              <a:rPr lang="ko-KR" altLang="en-US" dirty="0"/>
              <a:t> 맞춤 메시지 제공 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서로 모순되는 메시지는 절대 금물</a:t>
            </a:r>
            <a:r>
              <a:rPr lang="en-US" altLang="ko-KR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2139BE-9329-FD5C-BDFC-CF829202DA62}"/>
              </a:ext>
            </a:extLst>
          </p:cNvPr>
          <p:cNvSpPr txBox="1"/>
          <p:nvPr/>
        </p:nvSpPr>
        <p:spPr>
          <a:xfrm>
            <a:off x="571499" y="6359297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Benoit. (1997). Image Repair Discourse and Crisis Communication, </a:t>
            </a:r>
            <a:r>
              <a:rPr lang="en-US" altLang="ko-KR" sz="1400" i="1" dirty="0"/>
              <a:t>Public Relations Review, 23</a:t>
            </a:r>
            <a:r>
              <a:rPr lang="en-US" altLang="ko-KR" sz="1400" dirty="0"/>
              <a:t>(2), 177-186.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25585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91076-F3E3-F720-E9B1-75DFD8617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867E0-719F-6DDF-AEB4-EA95FA146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Pre-Crisis &amp; Analysis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7513D6-D94E-0E97-8863-98F49B7AB8CC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Preparation</a:t>
            </a:r>
          </a:p>
          <a:p>
            <a:pPr lvl="1"/>
            <a:r>
              <a:rPr lang="ko-KR" altLang="en-US" dirty="0"/>
              <a:t>사전 비상 계획</a:t>
            </a:r>
            <a:r>
              <a:rPr lang="en-US" altLang="ko-KR" dirty="0"/>
              <a:t>(Contingency plans) </a:t>
            </a:r>
            <a:r>
              <a:rPr lang="ko-KR" altLang="en-US" dirty="0"/>
              <a:t>수립 및 주기적 업데이트</a:t>
            </a:r>
            <a:endParaRPr lang="en-US" altLang="ko-KR" dirty="0"/>
          </a:p>
          <a:p>
            <a:pPr lvl="1"/>
            <a:r>
              <a:rPr lang="ko-KR" altLang="en-US" dirty="0"/>
              <a:t>위기 발생 시 즉각 대처할 수 있는 신속 대응 책임자 지정</a:t>
            </a:r>
            <a:endParaRPr lang="en-US" altLang="ko-KR" dirty="0"/>
          </a:p>
          <a:p>
            <a:pPr marL="228600" lvl="1" indent="0">
              <a:buNone/>
            </a:pPr>
            <a:endParaRPr lang="en-US" altLang="ko-KR" dirty="0"/>
          </a:p>
          <a:p>
            <a:r>
              <a:rPr lang="en-US" altLang="ko-KR" dirty="0"/>
              <a:t>Analysis</a:t>
            </a:r>
          </a:p>
          <a:p>
            <a:pPr lvl="1"/>
            <a:r>
              <a:rPr lang="ko-KR" altLang="en-US" dirty="0"/>
              <a:t>비난의 본질과 대중이 체감하는 심각성 파악</a:t>
            </a:r>
            <a:endParaRPr lang="en-US" altLang="ko-KR" dirty="0"/>
          </a:p>
          <a:p>
            <a:pPr marL="228600" lvl="1" indent="0">
              <a:buNone/>
            </a:pPr>
            <a:endParaRPr lang="en-US" altLang="ko-KR" dirty="0"/>
          </a:p>
          <a:p>
            <a:r>
              <a:rPr lang="en-US" altLang="ko-KR" dirty="0"/>
              <a:t>Identify Audiences</a:t>
            </a:r>
          </a:p>
          <a:p>
            <a:pPr lvl="1"/>
            <a:r>
              <a:rPr lang="ko-KR" altLang="en-US" dirty="0"/>
              <a:t>주주</a:t>
            </a:r>
            <a:r>
              <a:rPr lang="en-US" altLang="ko-KR" dirty="0"/>
              <a:t>, </a:t>
            </a:r>
            <a:r>
              <a:rPr lang="ko-KR" altLang="en-US" dirty="0"/>
              <a:t>소비자</a:t>
            </a:r>
            <a:r>
              <a:rPr lang="en-US" altLang="ko-KR" dirty="0"/>
              <a:t>, </a:t>
            </a:r>
            <a:r>
              <a:rPr lang="ko-KR" altLang="en-US" dirty="0"/>
              <a:t>규제기관</a:t>
            </a:r>
            <a:r>
              <a:rPr lang="en-US" altLang="ko-KR" dirty="0"/>
              <a:t>, </a:t>
            </a:r>
            <a:r>
              <a:rPr lang="ko-KR" altLang="en-US" dirty="0"/>
              <a:t>환경단체 등 타깃별 우선순위 설정</a:t>
            </a:r>
            <a:endParaRPr lang="en-US" altLang="ko-KR" dirty="0"/>
          </a:p>
          <a:p>
            <a:pPr lvl="1"/>
            <a:r>
              <a:rPr lang="ko-KR" altLang="en-US" dirty="0" err="1"/>
              <a:t>청중별</a:t>
            </a:r>
            <a:r>
              <a:rPr lang="ko-KR" altLang="en-US" dirty="0"/>
              <a:t> 맞춤 메시지 제공 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서로 모순되는 메시지는 절대 금물</a:t>
            </a:r>
            <a:r>
              <a:rPr lang="en-US" altLang="ko-KR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64901-6966-12C8-CA81-A632F7443AF6}"/>
              </a:ext>
            </a:extLst>
          </p:cNvPr>
          <p:cNvSpPr txBox="1"/>
          <p:nvPr/>
        </p:nvSpPr>
        <p:spPr>
          <a:xfrm>
            <a:off x="571499" y="6359297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Benoit. (1997). Image Repair Discourse and Crisis Communication, </a:t>
            </a:r>
            <a:r>
              <a:rPr lang="en-US" altLang="ko-KR" sz="1400" i="1" dirty="0"/>
              <a:t>Public Relations Review, 23</a:t>
            </a:r>
            <a:r>
              <a:rPr lang="en-US" altLang="ko-KR" sz="1400" dirty="0"/>
              <a:t>(2), 177-186.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54484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CF1E-26EF-FBE8-E974-85C0E358A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79187-6B51-3D7C-E93F-F9489BA4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Execution &amp; Message Strategy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0F267A-7ED9-48F4-401D-E7D5942790AB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Suggestions for Effective Image Repair Discourse</a:t>
            </a:r>
          </a:p>
          <a:p>
            <a:pPr lvl="1"/>
            <a:r>
              <a:rPr lang="ko-KR" altLang="en-US" b="1" dirty="0"/>
              <a:t>진실성</a:t>
            </a:r>
            <a:r>
              <a:rPr lang="ko-KR" altLang="en-US" dirty="0"/>
              <a:t> </a:t>
            </a:r>
            <a:r>
              <a:rPr lang="ko-KR" altLang="en-US" b="1" dirty="0"/>
              <a:t>우선</a:t>
            </a:r>
            <a:r>
              <a:rPr lang="en-US" altLang="ko-KR" dirty="0"/>
              <a:t>: </a:t>
            </a:r>
            <a:r>
              <a:rPr lang="ko-KR" altLang="en-US" dirty="0"/>
              <a:t>거짓 부정은 훗날 치명적인 신뢰 붕괴를 초래함 </a:t>
            </a:r>
            <a:r>
              <a:rPr lang="en-US" altLang="ko-KR" dirty="0"/>
              <a:t>(</a:t>
            </a:r>
            <a:r>
              <a:rPr lang="ko-KR" altLang="en-US" dirty="0"/>
              <a:t>소송 회피보다 이미지 회복이 장기적으로 유리할 수 있음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/>
              <a:t>시정</a:t>
            </a:r>
            <a:r>
              <a:rPr lang="ko-KR" altLang="en-US" dirty="0"/>
              <a:t> </a:t>
            </a:r>
            <a:r>
              <a:rPr lang="ko-KR" altLang="en-US" b="1" dirty="0"/>
              <a:t>조치</a:t>
            </a:r>
            <a:r>
              <a:rPr lang="en-US" altLang="ko-KR" dirty="0"/>
              <a:t>(Corrective Action)</a:t>
            </a:r>
            <a:r>
              <a:rPr lang="ko-KR" altLang="en-US" b="1" dirty="0"/>
              <a:t>의</a:t>
            </a:r>
            <a:r>
              <a:rPr lang="ko-KR" altLang="en-US" dirty="0"/>
              <a:t> </a:t>
            </a:r>
            <a:r>
              <a:rPr lang="ko-KR" altLang="en-US" b="1" dirty="0" err="1"/>
              <a:t>필수성</a:t>
            </a:r>
            <a:r>
              <a:rPr lang="en-US" altLang="ko-KR" dirty="0"/>
              <a:t>: </a:t>
            </a:r>
            <a:r>
              <a:rPr lang="ko-KR" altLang="en-US" dirty="0"/>
              <a:t>기업의 유무죄를 떠나</a:t>
            </a:r>
            <a:r>
              <a:rPr lang="en-US" altLang="ko-KR" dirty="0"/>
              <a:t>, </a:t>
            </a:r>
            <a:r>
              <a:rPr lang="ko-KR" altLang="en-US" dirty="0"/>
              <a:t>재발 방지와 문제 해결 의지를 보여주는 것이 가장 중요</a:t>
            </a:r>
            <a:endParaRPr lang="en-US" altLang="ko-KR" dirty="0"/>
          </a:p>
          <a:p>
            <a:pPr lvl="1"/>
            <a:r>
              <a:rPr lang="ko-KR" altLang="en-US" b="1" dirty="0"/>
              <a:t>전략의</a:t>
            </a:r>
            <a:r>
              <a:rPr lang="ko-KR" altLang="en-US" dirty="0"/>
              <a:t> </a:t>
            </a:r>
            <a:r>
              <a:rPr lang="ko-KR" altLang="en-US" b="1" dirty="0"/>
              <a:t>믹스</a:t>
            </a:r>
            <a:r>
              <a:rPr lang="ko-KR" altLang="en-US" dirty="0"/>
              <a:t> </a:t>
            </a:r>
            <a:r>
              <a:rPr lang="ko-KR" altLang="en-US" b="1" dirty="0"/>
              <a:t>앤 매치</a:t>
            </a:r>
            <a:r>
              <a:rPr lang="en-US" altLang="ko-KR" dirty="0"/>
              <a:t>: </a:t>
            </a:r>
            <a:r>
              <a:rPr lang="ko-KR" altLang="en-US" dirty="0"/>
              <a:t>한 가지 전략보다 여러 전략을 일관성 있게 혼합할 때 시너지 발생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불가항력 호소 </a:t>
            </a:r>
            <a:r>
              <a:rPr lang="en-US" altLang="ko-KR" dirty="0"/>
              <a:t>+ </a:t>
            </a:r>
            <a:r>
              <a:rPr lang="ko-KR" altLang="en-US" dirty="0"/>
              <a:t>시정 조치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/>
              <a:t>축소</a:t>
            </a:r>
            <a:r>
              <a:rPr lang="en-US" altLang="ko-KR" dirty="0"/>
              <a:t>(Minimization) </a:t>
            </a:r>
            <a:r>
              <a:rPr lang="ko-KR" altLang="en-US" b="1" dirty="0"/>
              <a:t>전략의</a:t>
            </a:r>
            <a:r>
              <a:rPr lang="ko-KR" altLang="en-US" dirty="0"/>
              <a:t> </a:t>
            </a:r>
            <a:r>
              <a:rPr lang="ko-KR" altLang="en-US" b="1" dirty="0"/>
              <a:t>경계</a:t>
            </a:r>
            <a:r>
              <a:rPr lang="en-US" altLang="ko-KR" dirty="0"/>
              <a:t>: </a:t>
            </a:r>
            <a:r>
              <a:rPr lang="ko-KR" altLang="en-US" dirty="0"/>
              <a:t>사안을 가볍게 취급하려는 태도는 대중의 심각한 역풍</a:t>
            </a:r>
            <a:r>
              <a:rPr lang="en-US" altLang="ko-KR" dirty="0"/>
              <a:t>(Backlash)</a:t>
            </a:r>
            <a:r>
              <a:rPr lang="ko-KR" altLang="en-US" dirty="0"/>
              <a:t>을 유발할 수 있음</a:t>
            </a:r>
            <a:endParaRPr lang="en-US" altLang="ko-KR" dirty="0"/>
          </a:p>
          <a:p>
            <a:pPr lvl="1"/>
            <a:r>
              <a:rPr lang="ko-KR" altLang="en-US" b="1" dirty="0"/>
              <a:t>설득의</a:t>
            </a:r>
            <a:r>
              <a:rPr lang="ko-KR" altLang="en-US" dirty="0"/>
              <a:t> </a:t>
            </a:r>
            <a:r>
              <a:rPr lang="ko-KR" altLang="en-US" b="1" dirty="0"/>
              <a:t>한계</a:t>
            </a:r>
            <a:r>
              <a:rPr lang="ko-KR" altLang="en-US" dirty="0"/>
              <a:t> </a:t>
            </a:r>
            <a:r>
              <a:rPr lang="ko-KR" altLang="en-US" b="1" dirty="0"/>
              <a:t>인정</a:t>
            </a:r>
            <a:r>
              <a:rPr lang="en-US" altLang="ko-KR" dirty="0"/>
              <a:t>: </a:t>
            </a:r>
            <a:r>
              <a:rPr lang="ko-KR" altLang="en-US" dirty="0"/>
              <a:t>때로는 대중의 기억이 희미해질 때까지 시간이 유일한 약일 수도 있음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076B6-ADB3-2EA6-1AFF-76FAD94BC572}"/>
              </a:ext>
            </a:extLst>
          </p:cNvPr>
          <p:cNvSpPr txBox="1"/>
          <p:nvPr/>
        </p:nvSpPr>
        <p:spPr>
          <a:xfrm>
            <a:off x="571499" y="6359297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Benoit. (1997). Image Repair Discourse and Crisis Communication, </a:t>
            </a:r>
            <a:r>
              <a:rPr lang="en-US" altLang="ko-KR" sz="1400" i="1" dirty="0"/>
              <a:t>Public Relations Review, 23</a:t>
            </a:r>
            <a:r>
              <a:rPr lang="en-US" altLang="ko-KR" sz="1400" dirty="0"/>
              <a:t>(2), 177-186.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50082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EB80F-7A40-F556-C385-A82B858C4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60B32-5B11-D0B2-57AF-8646EFF7B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4FEBE4-B4A8-EAA8-A350-F94D8F449333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IRT</a:t>
            </a:r>
            <a:r>
              <a:rPr lang="ko-KR" altLang="en-US" dirty="0"/>
              <a:t>는 수사학과 </a:t>
            </a:r>
            <a:r>
              <a:rPr lang="en-US" altLang="ko-KR" dirty="0"/>
              <a:t>PR</a:t>
            </a:r>
            <a:r>
              <a:rPr lang="ko-KR" altLang="en-US" dirty="0"/>
              <a:t>을 결합하여</a:t>
            </a:r>
            <a:r>
              <a:rPr lang="en-US" altLang="ko-KR" dirty="0"/>
              <a:t>, </a:t>
            </a:r>
            <a:r>
              <a:rPr lang="ko-KR" altLang="en-US" dirty="0"/>
              <a:t>기업이 위기에 직면했을 때 </a:t>
            </a:r>
            <a:r>
              <a:rPr lang="en-US" altLang="ko-KR" dirty="0"/>
              <a:t>'</a:t>
            </a:r>
            <a:r>
              <a:rPr lang="ko-KR" altLang="en-US" dirty="0"/>
              <a:t>무엇을 어떻게 말해야 하는가</a:t>
            </a:r>
            <a:r>
              <a:rPr lang="en-US" altLang="ko-KR" dirty="0"/>
              <a:t>'</a:t>
            </a:r>
            <a:r>
              <a:rPr lang="ko-KR" altLang="en-US" dirty="0"/>
              <a:t>에 대한 가장 실용적인 해답을 제공함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성공적인 위기 대처는 철저한 사전 준비</a:t>
            </a:r>
            <a:r>
              <a:rPr lang="en-US" altLang="ko-KR" dirty="0"/>
              <a:t>, </a:t>
            </a:r>
            <a:r>
              <a:rPr lang="ko-KR" altLang="en-US" dirty="0"/>
              <a:t>상황과 청중에 대한 정확한 분석</a:t>
            </a:r>
            <a:r>
              <a:rPr lang="en-US" altLang="ko-KR" dirty="0"/>
              <a:t>, </a:t>
            </a:r>
            <a:r>
              <a:rPr lang="ko-KR" altLang="en-US" dirty="0"/>
              <a:t>그리고 진정성 있는 시정 조치에 달려 있음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2664A-FAEB-9210-A560-1F63126685E2}"/>
              </a:ext>
            </a:extLst>
          </p:cNvPr>
          <p:cNvSpPr txBox="1"/>
          <p:nvPr/>
        </p:nvSpPr>
        <p:spPr>
          <a:xfrm>
            <a:off x="571499" y="6359297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Benoit. (1997). Image Repair Discourse and Crisis Communication, </a:t>
            </a:r>
            <a:r>
              <a:rPr lang="en-US" altLang="ko-KR" sz="1400" i="1" dirty="0"/>
              <a:t>Public Relations Review, 23</a:t>
            </a:r>
            <a:r>
              <a:rPr lang="en-US" altLang="ko-KR" sz="1400" dirty="0"/>
              <a:t>(2), 177-186.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99897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72A47-D215-D6D5-161F-1C267EEF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848082"/>
            <a:ext cx="11049000" cy="1161836"/>
          </a:xfrm>
        </p:spPr>
        <p:txBody>
          <a:bodyPr>
            <a:noAutofit/>
          </a:bodyPr>
          <a:lstStyle/>
          <a:p>
            <a:pPr algn="ctr"/>
            <a:r>
              <a:rPr lang="en-US" altLang="ko-KR" sz="9600" dirty="0"/>
              <a:t>Thank you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57891815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1398</Words>
  <Application>Microsoft Office PowerPoint</Application>
  <PresentationFormat>와이드스크린</PresentationFormat>
  <Paragraphs>126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Batang</vt:lpstr>
      <vt:lpstr>Arial</vt:lpstr>
      <vt:lpstr>Avenir Next LT Pro Light</vt:lpstr>
      <vt:lpstr>AlignmentVTI</vt:lpstr>
      <vt:lpstr>Image Repair Discourse and Crisis Communication</vt:lpstr>
      <vt:lpstr>Research Background &amp; Significance</vt:lpstr>
      <vt:lpstr>Nature of Crisis &amp; Attack</vt:lpstr>
      <vt:lpstr>Overview of Image Restoration Theory (IRT)</vt:lpstr>
      <vt:lpstr>Denial &amp; Evasion of Responsibility</vt:lpstr>
      <vt:lpstr>[CASE] Denial &amp; Evasion of Responsibility</vt:lpstr>
      <vt:lpstr>Reducing Offensiveness of Event</vt:lpstr>
      <vt:lpstr>[CASE] Reducing Offensiveness of Event</vt:lpstr>
      <vt:lpstr>Corrective Action &amp; Mortification</vt:lpstr>
      <vt:lpstr>[CASE] Corrective Action &amp; Mortification</vt:lpstr>
      <vt:lpstr>Suggestions for Crisis Communication</vt:lpstr>
      <vt:lpstr>Pre-Crisis &amp; Analysis</vt:lpstr>
      <vt:lpstr>Execution &amp; Message Strategy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Jongbeen Song</dc:creator>
  <cp:lastModifiedBy>Jongbeen Song</cp:lastModifiedBy>
  <cp:revision>2</cp:revision>
  <dcterms:created xsi:type="dcterms:W3CDTF">2026-02-13T15:35:19Z</dcterms:created>
  <dcterms:modified xsi:type="dcterms:W3CDTF">2026-05-05T08:30:22Z</dcterms:modified>
</cp:coreProperties>
</file>