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22"/>
  </p:notesMasterIdLst>
  <p:sldIdLst>
    <p:sldId id="256" r:id="rId2"/>
    <p:sldId id="257" r:id="rId3"/>
    <p:sldId id="266" r:id="rId4"/>
    <p:sldId id="267" r:id="rId5"/>
    <p:sldId id="282" r:id="rId6"/>
    <p:sldId id="283" r:id="rId7"/>
    <p:sldId id="284" r:id="rId8"/>
    <p:sldId id="269" r:id="rId9"/>
    <p:sldId id="270" r:id="rId10"/>
    <p:sldId id="271" r:id="rId11"/>
    <p:sldId id="273" r:id="rId12"/>
    <p:sldId id="274" r:id="rId13"/>
    <p:sldId id="275" r:id="rId14"/>
    <p:sldId id="281" r:id="rId15"/>
    <p:sldId id="276" r:id="rId16"/>
    <p:sldId id="277" r:id="rId17"/>
    <p:sldId id="278" r:id="rId18"/>
    <p:sldId id="279" r:id="rId19"/>
    <p:sldId id="280" r:id="rId20"/>
    <p:sldId id="26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333" autoAdjust="0"/>
  </p:normalViewPr>
  <p:slideViewPr>
    <p:cSldViewPr snapToGrid="0">
      <p:cViewPr varScale="1">
        <p:scale>
          <a:sx n="90" d="100"/>
          <a:sy n="90" d="100"/>
        </p:scale>
        <p:origin x="13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B8D08-34DA-4F78-8F9A-57C08BEFE083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D9D0D-256A-4334-8FBF-FD40B2DA7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58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들어가기에 앞서</a:t>
            </a:r>
            <a:r>
              <a:rPr lang="en-US" altLang="ko-KR" dirty="0"/>
              <a:t>, </a:t>
            </a:r>
            <a:r>
              <a:rPr lang="ko-KR" altLang="en-US" dirty="0"/>
              <a:t>여러분은 </a:t>
            </a:r>
            <a:r>
              <a:rPr lang="en-US" altLang="ko-KR" dirty="0"/>
              <a:t>‘</a:t>
            </a:r>
            <a:r>
              <a:rPr lang="ko-KR" altLang="en-US" dirty="0"/>
              <a:t>객관적 과학</a:t>
            </a:r>
            <a:r>
              <a:rPr lang="en-US" altLang="ko-KR" dirty="0"/>
              <a:t>‘ </a:t>
            </a:r>
            <a:r>
              <a:rPr lang="ko-KR" altLang="en-US" dirty="0"/>
              <a:t>그리고 </a:t>
            </a:r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‘</a:t>
            </a:r>
            <a:r>
              <a:rPr lang="ko-KR" altLang="en-US" dirty="0"/>
              <a:t>이라는 것에 대해 어떻게 생각하시나요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과학적 사실</a:t>
            </a:r>
            <a:r>
              <a:rPr lang="en-US" altLang="ko-KR" dirty="0"/>
              <a:t>＇</a:t>
            </a:r>
            <a:r>
              <a:rPr lang="ko-KR" altLang="en-US" dirty="0"/>
              <a:t>이라는 것이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과연 자연에 존재하는 진리를 있는 그대로 발견한 것인지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아니면 특정한 사회적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물질적 장치를 통해 만들어지고 때로는 정치적 목적에 의해 해체되는 것인지를 두 문헌을 통해 바라보고자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브루노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실험실 내부에서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쥐의 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어떻게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단단한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되는지 들여다보고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글을 통해 이렇게 만들어진 과학적 사실이 국가의 환경 및 보건 정책이라는 무대 위에 올라왔을 때 어떻게 갈기갈기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(deconstruct)'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되고 정치적으로 조작되는지 살펴보도록 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400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E2C7-328C-4B70-4185-F23A72AA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7D9D37-8939-9F3E-AABA-884D3A836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A7FD18-C096-C4D7-9150-66B98080A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독특하게도 자신을 과학에 무지한 가상의 인류학자로 설정합니다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(For a total newcomer to the laboratory, …)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원시 부족을 관찰하듯 실험실에 들어간 이방인의 눈에는 모든 것이 기괴합니다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동물들이 죽어 나가고 막대한 비용이 소모되는데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모든 노동의 최종 결과물은 놀랍게도 공장 제품이 아니라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종이 쪼가리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사무실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섹션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박사들은 흰 가운도 입지 않은 채 쏟아져 들어오는 종이들을 오려 붙이고 타자를 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실험실은 물질을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변환하는 거대한 공장이라는 것을 관찰자는 깨닫습니다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 total newcomer to the laboratory, we can imagine that his first encounter with his subjects would severely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jeopardise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such faith... What are these people doing? ... Why is everybody whispering?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Whereas in section B individuals work with apparatus... individuals in section A work with written materials: either reading, writing, or typing.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...far from being reports of what has been produced in the factory, members take these papers to be the product of their unusual factory.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C5A81-FE0D-59E0-A5AF-60EBDBC43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159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47F4-BBE9-7907-FAD6-91E0E3A5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D0B909-1EDD-F698-FCC8-EB790E292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CC457C-1C67-4924-4E14-6C89D7E60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기술자들은 며칠 밤낮을 새며 쥐에서 샘플을 뽑아 기계에 넣습니다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기계에서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숫자가 적힌 종이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출력되는 순간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수백 달러가 들었던 튜브들은 가차 없이 쓰레기통에 버려집니다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과학자들의 관심은 오직 컴퓨터가 그려낸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우아한 곡선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에만 쏠립니다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기계들을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기입 장치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부릅니다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자연 물질을 논쟁 가능한 문헌적 표상으로 바꾸는 것이죠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바슐라르의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현상기술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개념을 빌려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과학적 현상은 자연에 널려 있는 게 아니라 이 거대한 기입 장치들이 만들어낸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인공적 현실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주장합니다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기계가 없으면 팩트도 없습니다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...an inscription device is any item of apparatus or particular configuration of such items which can transform a material substance into a figure or diagram...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...the phenomena are thoroughly constituted by the material setting of the laboratory. The artificial reality... has in fact been constructed by the use of inscription devices.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815194-B700-A2C3-BD49-A0B45B7EF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295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00BD1-552D-7F71-A64F-F4B086588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E33EAA-2877-7D81-2ADE-42B56DD6A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61A0A0-15D6-78EF-6E37-45BE1E64E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기술자들은 며칠 밤낮을 새며 쥐에서 샘플을 뽑아 기계에 넣습니다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기계에서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숫자가 적힌 종이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출력되는 순간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수백 달러가 들었던 튜브들은 가차 없이 쓰레기통에 버려집니다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과학자들의 관심은 오직 컴퓨터가 그려낸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우아한 곡선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에만 쏠립니다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기계들을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기입 장치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부릅니다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자연 물질을 논쟁 가능한 문헌적 표상으로 바꾸는 것이죠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바슐라르의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현상기술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개념을 빌려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과학적 현상은 자연에 널려 있는 게 아니라 이 거대한 기입 장치들이 만들어낸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인공적 현실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주장합니다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기계가 없으면 팩트도 없습니다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...an inscription device is any item of apparatus or particular configuration of such items which can transform a material substance into a figure or diagram...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...the phenomena are thoroughly constituted by the material setting of the laboratory. The artificial reality... has in fact been constructed by the use of inscription devices.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6B51BE-9288-A44E-A14B-9BA404382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221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7FAF8-42D4-CF87-2FA2-8B8E7A90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0F5591-0BD2-190C-BC55-70A1BF95E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19E6AC-3036-DBE3-2DDA-638362C54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기술자들은 며칠 밤낮을 새며 쥐에서 샘플을 뽑아 기계에 넣습니다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기계에서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숫자가 적힌 종이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출력되는 순간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수백 달러가 들었던 튜브들은 가차 없이 쓰레기통에 버려집니다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과학자들의 관심은 오직 컴퓨터가 그려낸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우아한 곡선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에만 쏠립니다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기계들을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기입 장치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부릅니다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자연 물질을 논쟁 가능한 문헌적 표상으로 바꾸는 것이죠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바슐라르의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현상기술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개념을 빌려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과학적 현상은 자연에 널려 있는 게 아니라 이 거대한 기입 장치들이 만들어낸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인공적 현실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주장합니다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기계가 없으면 팩트도 없습니다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...an inscription device is any item of apparatus or particular configuration of such items which can transform a material substance into a figure or diagram...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...the phenomena are thoroughly constituted by the material setting of the laboratory. The artificial reality... has in fact been constructed by the use of inscription devices.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307F49-C076-E5D4-CDDD-3763A675E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425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3AA22-DC10-E802-9C9D-29323AEB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61E1F1-C4B7-039B-493E-D5BECA086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0F7E5-0E2C-3239-3364-3FFFD152D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기술자들은 며칠 밤낮을 새며 쥐에서 샘플을 뽑아 기계에 넣습니다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기계에서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숫자가 적힌 종이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출력되는 순간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수백 달러가 들었던 튜브들은 가차 없이 쓰레기통에 버려집니다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과학자들의 관심은 오직 컴퓨터가 그려낸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우아한 곡선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에만 쏠립니다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기계들을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기입 장치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부릅니다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자연 물질을 논쟁 가능한 문헌적 표상으로 바꾸는 것이죠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바슐라르의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현상기술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개념을 빌려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과학적 현상은 자연에 널려 있는 게 아니라 이 거대한 기입 장치들이 만들어낸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인공적 현실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 주장합니다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기계가 없으면 팩트도 없습니다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...an inscription device is any item of apparatus or particular configuration of such items which can transform a material substance into a figure or diagram...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...the phenomena are thoroughly constituted by the material setting of the laboratory. The artificial reality... has in fact been constructed by the use of inscription devices.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AFE7F3-B050-E167-DD87-0A8155187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100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9128C-2D02-281F-B921-81107C6E6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3FCBFB-F7AE-2C6E-2F5F-B68C927B7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609EBD-6330-6AFA-3726-97A538404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과학자들의 궁극적 목표는 자신들의 주장을 의심의 여지가 없는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(fact)'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만드는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논문과 대화 속 진술들을 그 강도에 따라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단계로 나눕니다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단계는 뜬구름 잡는 가설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단계는 다른 논문을 빌려온 주장입니다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27470-1653-9DB8-FF01-56F729B5B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062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763F-A9FE-6573-00F6-A643F2B5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BA0346-F22A-ECA2-AB88-FF871F41C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F06838-0844-38CE-DD76-18F52C086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단계는 논쟁이 끝난 교과서적 지식입니다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강력한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단계는 과학자들이 굳이 입 밖으로 내지 않아도 모두가 동의하는 공기와 같은 암묵적 사실입니다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실험실의 게임 규칙은 자신들의 주장을 유형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유형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4, 5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끌어올리는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DA7B2-502A-7ACA-7388-1EA8872ED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07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1AF23-146F-355D-CDB5-96F13BF56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3DF1B2-50CD-6FE1-25F4-509F795E2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45EDF6-58A6-861D-C893-C73A73E1A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팩트를 만드는 무기가 바로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모달리티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(modality)'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말합니다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누군가 어떤 주장을 할 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 생각에는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혹은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확신할 순 없지만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양태가 붙으면 그 주장의 힘은 약해집니다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양태들이 하나씩 떨어져 나가 결국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도에서 끓는다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그 어떤 수식어도 붙지 않을 때 완벽한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반대로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동료의 강력한 전제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유형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공격할 때 과학자들은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근데 그거 확신할 수 있어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라며 양태를 강제로 갖다 붙입니다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그 단단했던 팩트는 순식간에 불확실한 가설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유형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박살납니다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melatonin inhibits LH we cannot be sure that you are not simply measuring melatonin. (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이부분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꼭 언급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!)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...the original type 5 statement is transformed into a highly conjectural type 2 statement.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fact is nothing but a statement with no modality—M—and no trace of authorship.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211F0-7C47-4753-D878-BFEBFE95A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089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48828-5553-2C92-FBA7-AB592BB5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5D62CA-D5BA-82E1-A4CB-5FB9B423B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11EB62-5C41-25C9-3D9F-8BD54B73B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실험실은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년에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달러를 씁니다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여기서 과학의 엄청난 역설을 꼬집습니다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엄청난 장비와 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쥐의 희생과 기술자들의 피땀 어린 노동이 있었기에 그 우아한 그래프가 탄생했지만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정작 이 그래프가 강력한 과학적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팩트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인정받기 위해서는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모든 과정이 사람들의 머릿속에서 철저히 잊혀져야 한다는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기계가 만들어냈다는 흔적이 지워지고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자연의 진리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만이 남은 것처럼 보여야만 다른 사람들을 설득할 수 있기 때문입니다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function of literary inscription is the successful persuasion of readers... when all sources of persuasion seem to have disappeared.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material setting both makes possible the phenomena and is required to be easily forgotten.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ED4F98-5D30-A11E-2103-4FB32E8A5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946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48828-5553-2C92-FBA7-AB592BB5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5D62CA-D5BA-82E1-A4CB-5FB9B423B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11EB62-5C41-25C9-3D9F-8BD54B73B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실험실에서 겹겹이 팩트로 포장된 지식이 실험실 밖을 나와 정부의 규제 정책이라는 무대로 올라옵니다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여기서 과학이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된다고 말합니다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미국의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법정식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규제 시스템에서는 변호사들과 이해관계자들이 서로를 공격합니다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말했던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은폐되었던 물질적 조건과 불확실성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다시 캐내어 양태를 잔뜩 갖다 붙이는 겁니다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데이터 정말 확실합니까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편향이 없습니까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과학자들의 주장을 발가벗겨 인지적 권위를 약화시킵니다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 administrative proceedings tend to 'deconstruct' the views held by scientific experts.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...simultaneously casts doubt on the disinterestedness and the certainty of science. These revealed weaknesses provide grounds for political decision-makers to assert that they have a right to engage in interpreting science...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ED4F98-5D30-A11E-2103-4FB32E8A5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005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1EF03-10D6-C663-5B18-32F172E0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71DDF4-B8EC-26E8-DC31-A691E629D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DED518-DEB0-EFB7-7085-3A100A422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경계 투쟁은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언어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둘러싼 싸움입니다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불확실성이 큰 문제를 두고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과학자 와인버그는 이를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트랜스 사이언스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부릅니다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애매한 영역을 과학 밖으로 밀어내어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순수 과학의 권위가 훼손되는 것을 막으려는 전략이었습니다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반대로 행정법학자들은 이 영역을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과학 정책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 부릅니다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과학이 못 푸는 문제니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행정가들이 법적 절차대로 결정하겠다는 뜻이죠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포름알데히드 규제 논쟁에서 환경청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부청장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토드헌터가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규제를 자의적으로 풀자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애쉬포드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같은 학자들은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과학 정책의 영역인데 네가 왜 행정 절차를 어기느냐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며 맹비난했습니다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불확실성을 두고 누구에게 권력을 줄 것인가를 두고 단어 싸움이 벌어지는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Weinberg: "...questions which 'can be asked of science and yet which cannot be answered by science’.”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Ashford: "The term 'science policy' denotes issues that are grounded in scientific analysis but for which technical data are insufficient... The ultimate resolution... depends on determinations of social policy."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A1FA35-DEAC-80B2-9753-AED220DB3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658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D8B57-1E71-E357-E472-A9F477D2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8C2796-B460-579E-BD85-2BC618EFA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559F85-C33B-0F13-327A-58A5B8C0B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1DD1E1-CA7A-B016-22C1-66860D561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630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A03D4-659E-E2E2-D401-D0A350CE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65C7FD-D9E4-2776-522E-DE20A2480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432EEB-8E6B-4915-F0CD-01EBE8B27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쟁점은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위해성 평가와 관리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분리입니다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산업계는 환경청 관료들의 규제가 싫었습니다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평가는 객관적인 순수 과학자에게 맡기고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관료는 관리만 해라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로비했습니다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겉보기엔 그럴듯하죠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미국의학한림원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(NAS)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연구해본 결과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애초에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과정 안에도 보수적으로 접근할지 말지 같은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정책적 가치 판단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깊게 개입되기 때문에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둘을 깔끔하게 무 자르듯 나눌 수 없다는 결론이 났습니다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과학과 정책을 완전히 분리할 수 있다는 것은 환상이었던 것이죠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thrust of the proposal [by AIHC] was to remove all marginally scientific issues involved in carcinogen regulation to the jurisdiction of an expert panel...“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"Conceding that policy choices are involved in risk assessment, the committee concluded that it was unrealistic to separate this process institutionally..."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BD1C80-14ED-A114-ABC8-1971E68D7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9138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A29D3-8A36-FF59-D8E6-AAF22235B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307E1B-F918-5D28-D0DC-491725D24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F21062-5721-1F9D-B315-AECE31B78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쟁점은 우리가 학계에서 흔히 쓰는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동료 평가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(Peer Review)'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좋은 단어조차 규제 정치에서는 권력 투쟁의 도구가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고어 의원과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애쉬포드는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환경청 부청장을 비판할 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환경청 내부 과학자들의 동료 평가를 안 거쳤냐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 공격했습니다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이들에게 동료는 기관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산업계와 엘리트 과학자들은 정부 관료들을 믿지 못하니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정부 바깥에 있는 국립과학아카데미 같은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기관의 동료 평가를 거쳐야 한다고 맞섰습니다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단어는 하나인데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누구 손에 통제권을 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것이냐에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따라 의미가 정반대로 쪼개지는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"Gore and Ashford, by contrast, included within their definition of peer review the internal review of administrative decisions by the agency's own technical staff.“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Nelson (Advocating external review): "...I do not believe that the credibility required... can be achieved by cancer policy formulated within a purely administrative framework...“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formaldehyde case, then, illustrates the fluidity of the concept of peer review, showing how such a concept can be redefined to suit varying objectives..."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3C8630-55B5-2747-399B-46C2D9546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724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5EB4-E320-DC15-AF2F-926B98843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FD076C-6EA0-818D-BF93-0A7F1E5E7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6B8CD0-486C-41C2-62F3-6E4FE57BE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논문의 최종 결론입니다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트랜스 사이언스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위해성 평가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동료 평가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모든 용어들은 언뜻 보면 과학과 정책의 경계를 명확히 해줄 도구 같지만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실상은 그 경계를 어떻게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그리느냐에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따라 각 집단의 권력과 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통제권이 달라지기 때문에 끊임없이 싸울 수밖에 없는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본질적으로 논쟁적인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언어입니다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과학자들은 불확실성이 드러나 밥그릇과 권위를 잃을까 두려워 경계를 쳐서 자신들을 방어하고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정치인과 산업계는 그 경계를 허물거나 입맛대로 재조립합니다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lines between science, policy... are difficult to draw not merely because science is indeterminate, but because the effort to make such distinctions is politically charged.“</a:t>
            </a:r>
          </a:p>
          <a:p>
            <a:pPr marL="171450" indent="-171450">
              <a:buFontTx/>
              <a:buChar char="-"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"...the vocabulary used by all of these parties remains subject to manipulation or 'essentially contested’.”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90242F-5D55-99E0-D33A-BDEA9B7F2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133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DB21-6C0C-8A78-D6E7-EC2A4764A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8AE9F3-537C-D5A7-872E-FFDEF250B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DEB5E9-5F7E-47E1-E181-F6CE0BB08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지금까지의 내용을 하나의 흐름도로 묶어보았습니다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과학적 사실은 고정불변의 진리가 아닙니다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미시적인 실험실 내부에서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보여주었듯 온갖 노동과 기계적 조작을 통해 수식어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지워지며 굳건한 팩트로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이 팩트가 환경 오염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발암 물질 규제 같은 현실의 정책 무대로 넘어오면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보여주었듯 이해관계가 얽힌 법적 투쟁 속에서 철저히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결국 과학적 지식이란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실험실의 물질적 조건부터 정책 결정자들의 정치적 수사학까지 끊임없이 얽히고설켜 협상되는 매우 역동적인 생명체와 같다고 볼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466A86-9A72-6DA0-9BBB-906A8149C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535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13C58-3850-F218-2223-FEBFA20B0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000515-230E-73E9-7503-ECD7122E4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401B3A-588B-0311-FD8E-36B0F892A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지금까지의 내용을 하나의 흐름도로 묶어보았습니다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과학적 사실은 고정불변의 진리가 아닙니다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미시적인 실험실 내부에서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라투르가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보여주었듯 온갖 노동과 기계적 조작을 통해 수식어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지워지며 굳건한 팩트로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이 팩트가 환경 오염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발암 물질 규제 같은 현실의 정책 무대로 넘어오면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재서노프가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보여주었듯 이해관계가 얽힌 법적 투쟁 속에서 철저히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결국 과학적 지식이란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실험실의 물질적 조건부터 정책 결정자들의 정치적 수사학까지 끊임없이 얽히고설켜 협상되는 매우 역동적인 생명체와 같다고 볼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54C332-0044-50E2-DC2C-6ABBEE957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D9D0D-256A-4334-8FBF-FD40B2DA71A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210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835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2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25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05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369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56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0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04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3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44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335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27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24" r:id="rId4"/>
    <p:sldLayoutId id="2147483725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1m7u0n7E_10?feature=oembed" TargetMode="Externa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3AB9E1-499E-41EB-A74E-905920CCD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782" y="0"/>
            <a:ext cx="1219878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0CE4A5-073E-20DF-3204-2E8843F88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601" y="4840264"/>
            <a:ext cx="8044280" cy="1215547"/>
          </a:xfrm>
        </p:spPr>
        <p:txBody>
          <a:bodyPr anchor="ctr">
            <a:normAutofit fontScale="90000"/>
          </a:bodyPr>
          <a:lstStyle/>
          <a:p>
            <a:pPr algn="ctr">
              <a:lnSpc>
                <a:spcPts val="4000"/>
              </a:lnSpc>
            </a:pPr>
            <a:r>
              <a:rPr lang="ko-KR" altLang="en-US" sz="4400" dirty="0"/>
              <a:t>과학적 사실은 어떻게 다뤄지는가</a:t>
            </a:r>
            <a:r>
              <a:rPr lang="en-US" altLang="ko-KR" sz="4400" dirty="0"/>
              <a:t>?</a:t>
            </a:r>
            <a:br>
              <a:rPr lang="en-US" altLang="ko-KR" dirty="0"/>
            </a:br>
            <a:r>
              <a:rPr lang="ko-KR" altLang="en-US" sz="2200" dirty="0"/>
              <a:t>실험실의 구성</a:t>
            </a:r>
            <a:r>
              <a:rPr lang="en-US" altLang="ko-KR" sz="2200" dirty="0"/>
              <a:t>(Construction)</a:t>
            </a:r>
            <a:r>
              <a:rPr lang="ko-KR" altLang="en-US" sz="2200" dirty="0"/>
              <a:t>에서 규제 정책의 해체</a:t>
            </a:r>
            <a:r>
              <a:rPr lang="en-US" altLang="ko-KR" sz="2200" dirty="0"/>
              <a:t>(Deconstruction)</a:t>
            </a:r>
            <a:r>
              <a:rPr lang="ko-KR" altLang="en-US" sz="2200" dirty="0"/>
              <a:t>까지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0225EA-8675-E5A8-8C22-621C1FF1B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89720" y="4753342"/>
            <a:ext cx="2519973" cy="1389390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KU STS</a:t>
            </a:r>
          </a:p>
          <a:p>
            <a:r>
              <a:rPr lang="en-US" altLang="ko-KR" dirty="0"/>
              <a:t>SONG JONGBEEN</a:t>
            </a:r>
            <a:endParaRPr lang="ko-KR" alt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EA40C4-6B9E-4B9E-8CDF-A0C572462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869" y="4610607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54810C-5CC0-45D3-BD8F-C4407F92F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7300" y="4610607"/>
            <a:ext cx="0" cy="16748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458AAC-F667-498F-A263-A8C7AB4FC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1819" y="6289514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875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4846A-86BB-E33F-8B50-56D961591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객관적 과학</a:t>
            </a:r>
            <a:r>
              <a:rPr lang="en-US" altLang="ko-KR" dirty="0"/>
              <a:t>? </a:t>
            </a:r>
            <a:r>
              <a:rPr lang="ko-KR" altLang="en-US" dirty="0"/>
              <a:t>과학적 사실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B8A756-57B3-37FA-6E0F-83C974C807C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59811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ko-KR" altLang="en-US" dirty="0" err="1"/>
              <a:t>라투르</a:t>
            </a:r>
            <a:endParaRPr lang="en-US" altLang="ko-KR" dirty="0"/>
          </a:p>
          <a:p>
            <a:pPr lvl="1"/>
            <a:r>
              <a:rPr lang="ko-KR" altLang="en-US" dirty="0"/>
              <a:t>실험실 내부에서 물질이 문서로 변환되고</a:t>
            </a:r>
            <a:r>
              <a:rPr lang="en-US" altLang="ko-KR" dirty="0"/>
              <a:t>, </a:t>
            </a:r>
            <a:r>
              <a:rPr lang="ko-KR" altLang="en-US" dirty="0" err="1"/>
              <a:t>모달리티</a:t>
            </a:r>
            <a:r>
              <a:rPr lang="en-US" altLang="ko-KR" dirty="0"/>
              <a:t>(modality)</a:t>
            </a:r>
            <a:r>
              <a:rPr lang="ko-KR" altLang="en-US" dirty="0"/>
              <a:t>가 제거되며 사실이 조립</a:t>
            </a:r>
            <a:r>
              <a:rPr lang="en-US" altLang="ko-KR" dirty="0"/>
              <a:t>(constructed)</a:t>
            </a:r>
            <a:r>
              <a:rPr lang="ko-KR" altLang="en-US" dirty="0"/>
              <a:t>되는 과정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/>
              <a:t>재서노프</a:t>
            </a:r>
            <a:endParaRPr lang="en-US" altLang="ko-KR" dirty="0"/>
          </a:p>
          <a:p>
            <a:pPr lvl="1"/>
            <a:r>
              <a:rPr lang="ko-KR" altLang="en-US" dirty="0"/>
              <a:t>조립된 과학적 사실이 사회의 규제</a:t>
            </a:r>
            <a:r>
              <a:rPr lang="en-US" altLang="ko-KR" dirty="0"/>
              <a:t>·</a:t>
            </a:r>
            <a:r>
              <a:rPr lang="ko-KR" altLang="en-US" dirty="0"/>
              <a:t>정책 영역에 들어오면</a:t>
            </a:r>
            <a:r>
              <a:rPr lang="en-US" altLang="ko-KR" dirty="0"/>
              <a:t>, </a:t>
            </a:r>
            <a:r>
              <a:rPr lang="ko-KR" altLang="en-US" dirty="0"/>
              <a:t>법적 절차와 이해관계에 의해 다시 해체</a:t>
            </a:r>
            <a:r>
              <a:rPr lang="en-US" altLang="ko-KR" dirty="0"/>
              <a:t>(deconstructed)</a:t>
            </a:r>
            <a:r>
              <a:rPr lang="ko-KR" altLang="en-US" dirty="0"/>
              <a:t>되고 경계가 조작되는 과정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15D63-7DAB-5A7E-196C-17878E51DFA7}"/>
              </a:ext>
            </a:extLst>
          </p:cNvPr>
          <p:cNvSpPr txBox="1"/>
          <p:nvPr/>
        </p:nvSpPr>
        <p:spPr>
          <a:xfrm>
            <a:off x="571499" y="6327213"/>
            <a:ext cx="11059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Jasanoff, S. S. (1987). Contested Boundaries in Policy-Relevant Science, </a:t>
            </a:r>
            <a:r>
              <a:rPr lang="en-US" altLang="ko-KR" sz="1400" i="1" dirty="0"/>
              <a:t>Social Studies of Science, 17 </a:t>
            </a:r>
            <a:r>
              <a:rPr lang="en-US" altLang="ko-KR" sz="1400" dirty="0"/>
              <a:t>(2), 195-230.</a:t>
            </a:r>
          </a:p>
          <a:p>
            <a:r>
              <a:rPr lang="en-US" altLang="ko-KR" sz="1400" dirty="0"/>
              <a:t>Latour, B., &amp; </a:t>
            </a:r>
            <a:r>
              <a:rPr lang="en-US" altLang="ko-KR" sz="1400" dirty="0" err="1"/>
              <a:t>WooIgar</a:t>
            </a:r>
            <a:r>
              <a:rPr lang="en-US" altLang="ko-KR" sz="1400" dirty="0"/>
              <a:t>, S. (1986). </a:t>
            </a:r>
            <a:r>
              <a:rPr lang="en-US" altLang="ko-KR" sz="1400" i="1" dirty="0"/>
              <a:t>Laboratory</a:t>
            </a:r>
            <a:r>
              <a:rPr lang="en-US" altLang="ko-KR" sz="1400" dirty="0"/>
              <a:t> </a:t>
            </a:r>
            <a:r>
              <a:rPr lang="en-US" altLang="ko-KR" sz="1400" i="1" dirty="0"/>
              <a:t>Life: The Construction of Scientific Facts</a:t>
            </a:r>
            <a:r>
              <a:rPr lang="en-US" altLang="ko-KR" sz="1400" dirty="0"/>
              <a:t> (2nd ed.). Princeton University Press.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25530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4DC20-3B6A-DAE3-1E3C-5E4AEEFF7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73361-5A8D-541C-B670-DD148175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낯선 부족을 관찰하는 </a:t>
            </a:r>
            <a:r>
              <a:rPr lang="en-US" altLang="ko-KR" dirty="0"/>
              <a:t>‘</a:t>
            </a:r>
            <a:r>
              <a:rPr lang="ko-KR" altLang="en-US" dirty="0"/>
              <a:t>인류학자</a:t>
            </a:r>
            <a:r>
              <a:rPr lang="en-US" altLang="ko-KR" dirty="0"/>
              <a:t>’</a:t>
            </a:r>
            <a:r>
              <a:rPr lang="ko-KR" altLang="en-US" dirty="0"/>
              <a:t>의 시선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2C4664-0341-523E-06F3-8872AA5ADE91}"/>
              </a:ext>
            </a:extLst>
          </p:cNvPr>
          <p:cNvSpPr txBox="1">
            <a:spLocks/>
          </p:cNvSpPr>
          <p:nvPr/>
        </p:nvSpPr>
        <p:spPr>
          <a:xfrm>
            <a:off x="571500" y="1579418"/>
            <a:ext cx="7606012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ko-KR" altLang="en-US" dirty="0"/>
              <a:t>인류학자의 시선으로 </a:t>
            </a:r>
            <a:r>
              <a:rPr lang="en-US" altLang="ko-KR" dirty="0"/>
              <a:t>‘</a:t>
            </a:r>
            <a:r>
              <a:rPr lang="ko-KR" altLang="en-US" dirty="0"/>
              <a:t>실험실</a:t>
            </a:r>
            <a:r>
              <a:rPr lang="en-US" altLang="ko-KR" dirty="0"/>
              <a:t>’ </a:t>
            </a:r>
            <a:r>
              <a:rPr lang="ko-KR" altLang="en-US" dirty="0"/>
              <a:t>관찰하기</a:t>
            </a:r>
            <a:endParaRPr lang="en-US" altLang="ko-KR" dirty="0"/>
          </a:p>
          <a:p>
            <a:pPr lvl="1"/>
            <a:r>
              <a:rPr lang="ko-KR" altLang="en-US" dirty="0"/>
              <a:t>과학에 대한 사전 지식을 괄호</a:t>
            </a:r>
            <a:r>
              <a:rPr lang="en-US" altLang="ko-KR" dirty="0"/>
              <a:t>(bracketing)</a:t>
            </a:r>
            <a:r>
              <a:rPr lang="ko-KR" altLang="en-US" dirty="0"/>
              <a:t>치기</a:t>
            </a:r>
            <a:endParaRPr lang="en-US" altLang="ko-KR" dirty="0"/>
          </a:p>
          <a:p>
            <a:pPr lvl="1"/>
            <a:r>
              <a:rPr lang="ko-KR" altLang="en-US" dirty="0"/>
              <a:t>인류학적 관찰자</a:t>
            </a:r>
            <a:r>
              <a:rPr lang="en-US" altLang="ko-KR" dirty="0"/>
              <a:t>(Anthropological observer)</a:t>
            </a:r>
            <a:r>
              <a:rPr lang="ko-KR" altLang="en-US" dirty="0"/>
              <a:t>의 시선 도입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공간의 분할</a:t>
            </a:r>
            <a:r>
              <a:rPr lang="en-US" altLang="ko-KR" dirty="0"/>
              <a:t>:</a:t>
            </a:r>
          </a:p>
          <a:p>
            <a:pPr lvl="2"/>
            <a:r>
              <a:rPr lang="ko-KR" altLang="en-US" dirty="0"/>
              <a:t>물질적 공간 </a:t>
            </a:r>
            <a:r>
              <a:rPr lang="en-US" altLang="ko-KR" dirty="0"/>
              <a:t>(</a:t>
            </a:r>
            <a:r>
              <a:rPr lang="ko-KR" altLang="en-US" dirty="0"/>
              <a:t>섹션 </a:t>
            </a:r>
            <a:r>
              <a:rPr lang="en-US" altLang="ko-KR" dirty="0"/>
              <a:t>B: </a:t>
            </a:r>
            <a:r>
              <a:rPr lang="ko-KR" altLang="en-US" dirty="0"/>
              <a:t>작업대</a:t>
            </a:r>
            <a:r>
              <a:rPr lang="en-US" altLang="ko-KR" dirty="0"/>
              <a:t>, </a:t>
            </a:r>
            <a:r>
              <a:rPr lang="ko-KR" altLang="en-US" dirty="0"/>
              <a:t>쥐</a:t>
            </a:r>
            <a:r>
              <a:rPr lang="en-US" altLang="ko-KR" dirty="0"/>
              <a:t>, </a:t>
            </a:r>
            <a:r>
              <a:rPr lang="ko-KR" altLang="en-US" dirty="0"/>
              <a:t>기계</a:t>
            </a:r>
            <a:r>
              <a:rPr lang="en-US" altLang="ko-KR" dirty="0"/>
              <a:t>, </a:t>
            </a:r>
            <a:r>
              <a:rPr lang="ko-KR" altLang="en-US" dirty="0"/>
              <a:t>기술자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문헌적 공간 </a:t>
            </a:r>
            <a:r>
              <a:rPr lang="en-US" altLang="ko-KR" dirty="0"/>
              <a:t>(</a:t>
            </a:r>
            <a:r>
              <a:rPr lang="ko-KR" altLang="en-US" dirty="0"/>
              <a:t>섹션 </a:t>
            </a:r>
            <a:r>
              <a:rPr lang="en-US" altLang="ko-KR" dirty="0"/>
              <a:t>A: </a:t>
            </a:r>
            <a:r>
              <a:rPr lang="ko-KR" altLang="en-US" dirty="0"/>
              <a:t>사무실</a:t>
            </a:r>
            <a:r>
              <a:rPr lang="en-US" altLang="ko-KR" dirty="0"/>
              <a:t>, </a:t>
            </a:r>
            <a:r>
              <a:rPr lang="ko-KR" altLang="en-US" dirty="0"/>
              <a:t>서류</a:t>
            </a:r>
            <a:r>
              <a:rPr lang="en-US" altLang="ko-KR" dirty="0"/>
              <a:t>, </a:t>
            </a:r>
            <a:r>
              <a:rPr lang="ko-KR" altLang="en-US" dirty="0"/>
              <a:t>타자기</a:t>
            </a:r>
            <a:r>
              <a:rPr lang="en-US" altLang="ko-KR" dirty="0"/>
              <a:t>, </a:t>
            </a:r>
            <a:r>
              <a:rPr lang="ko-KR" altLang="en-US" dirty="0"/>
              <a:t>박사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실험실의 본질</a:t>
            </a:r>
            <a:r>
              <a:rPr lang="en-US" altLang="ko-KR" dirty="0"/>
              <a:t>:</a:t>
            </a:r>
          </a:p>
          <a:p>
            <a:pPr marL="228600" lvl="1" indent="0">
              <a:buNone/>
            </a:pP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“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동물을 소비하여 문서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(Articles)</a:t>
            </a:r>
            <a:r>
              <a:rPr lang="ko-KR" altLang="en-US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를 생산하는 기이한 공간</a:t>
            </a:r>
            <a:r>
              <a:rPr lang="en-US" altLang="ko-KR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4BFD4-FAB2-1969-3CBB-6909D7F83547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Latour, B., &amp; </a:t>
            </a:r>
            <a:r>
              <a:rPr lang="en-US" altLang="ko-KR" sz="1400" dirty="0" err="1"/>
              <a:t>WooIgar</a:t>
            </a:r>
            <a:r>
              <a:rPr lang="en-US" altLang="ko-KR" sz="1400" dirty="0"/>
              <a:t>, S. (1986). </a:t>
            </a:r>
            <a:r>
              <a:rPr lang="en-US" altLang="ko-KR" sz="1400" i="1" dirty="0"/>
              <a:t>Laboratory</a:t>
            </a:r>
            <a:r>
              <a:rPr lang="en-US" altLang="ko-KR" sz="1400" dirty="0"/>
              <a:t> </a:t>
            </a:r>
            <a:r>
              <a:rPr lang="en-US" altLang="ko-KR" sz="1400" i="1" dirty="0"/>
              <a:t>Life: The Construction of Scientific Facts</a:t>
            </a:r>
            <a:r>
              <a:rPr lang="en-US" altLang="ko-KR" sz="1400" dirty="0"/>
              <a:t> (2nd ed.). Princeton University Press.</a:t>
            </a:r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61318E-89F9-2D46-1DD9-B466BA96F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375" y="1332473"/>
            <a:ext cx="3309262" cy="24302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9488FA-CCA5-DEE5-35CB-C520CF3B63B1}"/>
              </a:ext>
            </a:extLst>
          </p:cNvPr>
          <p:cNvSpPr txBox="1"/>
          <p:nvPr/>
        </p:nvSpPr>
        <p:spPr>
          <a:xfrm>
            <a:off x="8177512" y="3762712"/>
            <a:ext cx="34429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Anthropologist Margaret Mead in Bali, Indonesia, in 1957. (AP Photo)</a:t>
            </a:r>
            <a:endParaRPr lang="ko-KR" altLang="en-US" sz="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F4B3866-AAFB-D4B5-93E6-1499202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732" y="3978156"/>
            <a:ext cx="3038548" cy="21846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4892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F57E6-5679-0065-B2E8-B3DEAD59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E9B935-8470-E5B8-6A97-9FA9FB373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기입 장치와 현상기술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80F1A3-C120-4984-9608-1C4CE7866B66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ko-KR" altLang="en-US" dirty="0"/>
              <a:t>기입 장치 </a:t>
            </a:r>
            <a:r>
              <a:rPr lang="en-US" altLang="ko-KR" dirty="0"/>
              <a:t>(Inscription Devices)</a:t>
            </a:r>
          </a:p>
          <a:p>
            <a:pPr lvl="1"/>
            <a:r>
              <a:rPr lang="ko-KR" altLang="en-US" dirty="0"/>
              <a:t>물질적 실체를 시각적 표상</a:t>
            </a:r>
            <a:r>
              <a:rPr lang="en-US" altLang="ko-KR" dirty="0"/>
              <a:t>(</a:t>
            </a:r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수치</a:t>
            </a:r>
            <a:r>
              <a:rPr lang="en-US" altLang="ko-KR" dirty="0"/>
              <a:t>)</a:t>
            </a:r>
            <a:r>
              <a:rPr lang="ko-KR" altLang="en-US" dirty="0"/>
              <a:t>으로 변환하는 장비</a:t>
            </a:r>
            <a:endParaRPr lang="en-US" altLang="ko-KR" dirty="0"/>
          </a:p>
          <a:p>
            <a:pPr lvl="1"/>
            <a:r>
              <a:rPr lang="en-US" altLang="ko-KR" dirty="0"/>
              <a:t>Ex. </a:t>
            </a:r>
            <a:r>
              <a:rPr lang="ko-KR" altLang="en-US" dirty="0" err="1"/>
              <a:t>바이오어세이</a:t>
            </a:r>
            <a:r>
              <a:rPr lang="en-US" altLang="ko-KR" dirty="0"/>
              <a:t>, </a:t>
            </a:r>
            <a:r>
              <a:rPr lang="ko-KR" altLang="en-US" dirty="0"/>
              <a:t>질량 분석기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문헌적 기입 </a:t>
            </a:r>
            <a:r>
              <a:rPr lang="en-US" altLang="ko-KR" dirty="0"/>
              <a:t>(Literary Inscription)</a:t>
            </a:r>
          </a:p>
          <a:p>
            <a:pPr lvl="1"/>
            <a:r>
              <a:rPr lang="ko-KR" altLang="en-US" dirty="0"/>
              <a:t>물질을 설득력 있는 텍스트의 재료로 바꾸는 과정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현상 기술 </a:t>
            </a:r>
            <a:r>
              <a:rPr lang="en-US" altLang="ko-KR" dirty="0"/>
              <a:t>(</a:t>
            </a:r>
            <a:r>
              <a:rPr lang="en-US" altLang="ko-KR" dirty="0" err="1"/>
              <a:t>Phenomenotechnique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현상은 독립적으로 존재하는 것이 아니라</a:t>
            </a:r>
            <a:r>
              <a:rPr lang="en-US" altLang="ko-KR" dirty="0"/>
              <a:t>, </a:t>
            </a:r>
            <a:r>
              <a:rPr lang="ko-KR" altLang="en-US" dirty="0"/>
              <a:t>실험실의 물질적 장치에 의해 철저히 인공적으로 구성됨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490C83-CE11-CC55-1F3C-96F033ECEB31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Latour, B., &amp; </a:t>
            </a:r>
            <a:r>
              <a:rPr lang="en-US" altLang="ko-KR" sz="1400" dirty="0" err="1"/>
              <a:t>WooIgar</a:t>
            </a:r>
            <a:r>
              <a:rPr lang="en-US" altLang="ko-KR" sz="1400" dirty="0"/>
              <a:t>, S. (1986). </a:t>
            </a:r>
            <a:r>
              <a:rPr lang="en-US" altLang="ko-KR" sz="1400" i="1" dirty="0"/>
              <a:t>Laboratory</a:t>
            </a:r>
            <a:r>
              <a:rPr lang="en-US" altLang="ko-KR" sz="1400" dirty="0"/>
              <a:t> </a:t>
            </a:r>
            <a:r>
              <a:rPr lang="en-US" altLang="ko-KR" sz="1400" i="1" dirty="0"/>
              <a:t>Life: The Construction of Scientific Facts</a:t>
            </a:r>
            <a:r>
              <a:rPr lang="en-US" altLang="ko-KR" sz="1400" dirty="0"/>
              <a:t> (2nd ed.). Princeton University Press.</a:t>
            </a:r>
            <a:endParaRPr lang="ko-KR" altLang="en-US" sz="1400" dirty="0"/>
          </a:p>
        </p:txBody>
      </p:sp>
      <p:pic>
        <p:nvPicPr>
          <p:cNvPr id="2050" name="Picture 2" descr="Cell Based Assay">
            <a:extLst>
              <a:ext uri="{FF2B5EF4-FFF2-40B4-BE49-F238E27FC236}">
                <a16:creationId xmlns:a16="http://schemas.microsoft.com/office/drawing/2014/main" id="{097254A0-927F-D281-B8D1-DD51F29C9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786" y="747996"/>
            <a:ext cx="2774712" cy="208103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158807-581D-6052-CC95-BC1609AD3E20}"/>
              </a:ext>
            </a:extLst>
          </p:cNvPr>
          <p:cNvSpPr txBox="1"/>
          <p:nvPr/>
        </p:nvSpPr>
        <p:spPr>
          <a:xfrm>
            <a:off x="8511648" y="2824363"/>
            <a:ext cx="34429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Bioassay and cGMP Potency Testing (Eurofins)</a:t>
            </a:r>
            <a:endParaRPr lang="ko-KR" altLang="en-US" sz="800" dirty="0"/>
          </a:p>
        </p:txBody>
      </p:sp>
      <p:pic>
        <p:nvPicPr>
          <p:cNvPr id="2052" name="Picture 4" descr="upload_image">
            <a:extLst>
              <a:ext uri="{FF2B5EF4-FFF2-40B4-BE49-F238E27FC236}">
                <a16:creationId xmlns:a16="http://schemas.microsoft.com/office/drawing/2014/main" id="{A12C772D-2C77-82A7-9DDC-BBCF6A966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391" y="3035140"/>
            <a:ext cx="2875502" cy="189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FF4A38-6B77-2B41-230A-4F868C705D77}"/>
              </a:ext>
            </a:extLst>
          </p:cNvPr>
          <p:cNvSpPr txBox="1"/>
          <p:nvPr/>
        </p:nvSpPr>
        <p:spPr>
          <a:xfrm>
            <a:off x="8511648" y="4934623"/>
            <a:ext cx="34429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Tesla FT-ICR Mass spectrometer</a:t>
            </a:r>
          </a:p>
          <a:p>
            <a:pPr algn="ctr"/>
            <a:r>
              <a:rPr lang="en-US" altLang="ko-KR" sz="800" dirty="0"/>
              <a:t>(BRIC [</a:t>
            </a:r>
            <a:r>
              <a:rPr lang="ko-KR" altLang="en-US" sz="800" dirty="0"/>
              <a:t>분석장비 이야기</a:t>
            </a:r>
            <a:r>
              <a:rPr lang="en-US" altLang="ko-KR" sz="800" dirty="0"/>
              <a:t>] </a:t>
            </a:r>
            <a:r>
              <a:rPr lang="ko-KR" altLang="en-US" sz="800" dirty="0"/>
              <a:t>질량분석기의 태동과 변천사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561236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46E24-8A2E-6B35-5B14-2CAFAC08B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7E7A9-DA5C-8D2F-99BB-6E451318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연구의 분업화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DEBB05-4BD7-0E04-D755-384D76DFAF4D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7689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ko-KR" altLang="en-US" dirty="0"/>
              <a:t>첫번째 프로그램</a:t>
            </a:r>
            <a:endParaRPr lang="en-US" altLang="ko-KR" dirty="0"/>
          </a:p>
          <a:p>
            <a:pPr lvl="1"/>
            <a:r>
              <a:rPr lang="ko-KR" altLang="en-US" dirty="0"/>
              <a:t>새로운 천연 물질의 분리</a:t>
            </a:r>
            <a:endParaRPr lang="en-US" altLang="ko-KR" dirty="0"/>
          </a:p>
          <a:p>
            <a:pPr lvl="1"/>
            <a:r>
              <a:rPr lang="ko-KR" altLang="en-US" dirty="0"/>
              <a:t>생리학의 </a:t>
            </a:r>
            <a:r>
              <a:rPr lang="en-US" altLang="ko-KR" dirty="0"/>
              <a:t>Assay(</a:t>
            </a:r>
            <a:r>
              <a:rPr lang="ko-KR" altLang="en-US" dirty="0"/>
              <a:t>검정</a:t>
            </a:r>
            <a:r>
              <a:rPr lang="en-US" altLang="ko-KR" dirty="0"/>
              <a:t>)</a:t>
            </a:r>
            <a:r>
              <a:rPr lang="ko-KR" altLang="en-US" dirty="0"/>
              <a:t>와 화학의 </a:t>
            </a:r>
            <a:r>
              <a:rPr lang="en-US" altLang="ko-KR" dirty="0"/>
              <a:t>Purification cycle(</a:t>
            </a:r>
            <a:r>
              <a:rPr lang="ko-KR" altLang="en-US" dirty="0"/>
              <a:t>정제 주기</a:t>
            </a:r>
            <a:r>
              <a:rPr lang="en-US" altLang="ko-KR" dirty="0"/>
              <a:t>)</a:t>
            </a:r>
            <a:r>
              <a:rPr lang="ko-KR" altLang="en-US" dirty="0"/>
              <a:t>라는 두 장치를 왕복함</a:t>
            </a:r>
            <a:endParaRPr lang="en-US" altLang="ko-KR" dirty="0"/>
          </a:p>
          <a:p>
            <a:pPr lvl="1"/>
            <a:r>
              <a:rPr lang="ko-KR" altLang="en-US" dirty="0"/>
              <a:t>어세이와 정제를 </a:t>
            </a:r>
            <a:r>
              <a:rPr lang="ko-KR" altLang="en-US" dirty="0" err="1"/>
              <a:t>반복하다보면</a:t>
            </a:r>
            <a:r>
              <a:rPr lang="ko-KR" altLang="en-US" dirty="0"/>
              <a:t> 활성이 사라져버리는 현상</a:t>
            </a:r>
            <a:r>
              <a:rPr lang="en-US" altLang="ko-KR" dirty="0"/>
              <a:t>(artifact)</a:t>
            </a:r>
            <a:r>
              <a:rPr lang="ko-KR" altLang="en-US" dirty="0"/>
              <a:t>이 흔하게 발생함</a:t>
            </a:r>
            <a:endParaRPr lang="en-US" altLang="ko-KR" dirty="0"/>
          </a:p>
          <a:p>
            <a:pPr lvl="1"/>
            <a:r>
              <a:rPr lang="ko-KR" altLang="en-US" dirty="0"/>
              <a:t>이 유령 물질을 제거하고 끝까지 살아남은 물질을 분리해내는 것이 목표</a:t>
            </a:r>
            <a:endParaRPr lang="en-US" altLang="ko-KR" dirty="0"/>
          </a:p>
          <a:p>
            <a:pPr lvl="1"/>
            <a:r>
              <a:rPr lang="ko-KR" altLang="en-US" dirty="0"/>
              <a:t>물질이 분리되면</a:t>
            </a:r>
            <a:r>
              <a:rPr lang="en-US" altLang="ko-KR" dirty="0"/>
              <a:t>, AAA, Mass spectrometer, </a:t>
            </a:r>
            <a:r>
              <a:rPr lang="ko-KR" altLang="en-US" dirty="0"/>
              <a:t>에드만 </a:t>
            </a:r>
            <a:r>
              <a:rPr lang="ko-KR" altLang="en-US" dirty="0" err="1"/>
              <a:t>분해법</a:t>
            </a:r>
            <a:r>
              <a:rPr lang="ko-KR" altLang="en-US" dirty="0"/>
              <a:t> 등의 거대한 기입 장치를 통해 물질의 알파벳 </a:t>
            </a:r>
            <a:r>
              <a:rPr lang="en-US" altLang="ko-KR" dirty="0"/>
              <a:t>(ex. Glu, Pyro, His) </a:t>
            </a:r>
            <a:r>
              <a:rPr lang="ko-KR" altLang="en-US" dirty="0"/>
              <a:t>서열을 </a:t>
            </a:r>
            <a:r>
              <a:rPr lang="ko-KR" altLang="en-US" dirty="0" err="1"/>
              <a:t>해독해냄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6EBE0-085E-0A10-3489-8E38DCEC220C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Latour, B., &amp; </a:t>
            </a:r>
            <a:r>
              <a:rPr lang="en-US" altLang="ko-KR" sz="1400" dirty="0" err="1"/>
              <a:t>WooIgar</a:t>
            </a:r>
            <a:r>
              <a:rPr lang="en-US" altLang="ko-KR" sz="1400" dirty="0"/>
              <a:t>, S. (1986). </a:t>
            </a:r>
            <a:r>
              <a:rPr lang="en-US" altLang="ko-KR" sz="1400" i="1" dirty="0"/>
              <a:t>Laboratory</a:t>
            </a:r>
            <a:r>
              <a:rPr lang="en-US" altLang="ko-KR" sz="1400" dirty="0"/>
              <a:t> </a:t>
            </a:r>
            <a:r>
              <a:rPr lang="en-US" altLang="ko-KR" sz="1400" i="1" dirty="0"/>
              <a:t>Life: The Construction of Scientific Facts</a:t>
            </a:r>
            <a:r>
              <a:rPr lang="en-US" altLang="ko-KR" sz="1400" dirty="0"/>
              <a:t> (2nd ed.). Princeton University Press.</a:t>
            </a:r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1DF868-8CFD-28A5-9CE8-7A0D40F07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430" y="2167722"/>
            <a:ext cx="3516070" cy="38189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46683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487CB-67CA-0D8B-FE94-6C824AD2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74B07-9CC9-04EF-3D80-99AC95963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연구의 분업화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F43833-DD2F-D71F-4568-0639F081BEDF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7689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ko-KR" altLang="en-US" dirty="0"/>
              <a:t>두번째 프로그램</a:t>
            </a:r>
            <a:endParaRPr lang="en-US" altLang="ko-KR" dirty="0"/>
          </a:p>
          <a:p>
            <a:pPr lvl="1"/>
            <a:r>
              <a:rPr lang="ko-KR" altLang="en-US" dirty="0"/>
              <a:t>아날로그의 인공 합성 및 기능 연구</a:t>
            </a:r>
            <a:endParaRPr lang="en-US" altLang="ko-KR" dirty="0"/>
          </a:p>
          <a:p>
            <a:pPr lvl="1"/>
            <a:r>
              <a:rPr lang="ko-KR" altLang="en-US" dirty="0"/>
              <a:t>구조가 밝혀진 물질을 화학산업에서 사온 아미노산을 이용해 변형</a:t>
            </a:r>
            <a:r>
              <a:rPr lang="en-US" altLang="ko-KR" dirty="0"/>
              <a:t>, </a:t>
            </a:r>
            <a:r>
              <a:rPr lang="ko-KR" altLang="en-US" dirty="0"/>
              <a:t>조립하여 인공 물질</a:t>
            </a:r>
            <a:r>
              <a:rPr lang="en-US" altLang="ko-KR" dirty="0"/>
              <a:t>(</a:t>
            </a:r>
            <a:r>
              <a:rPr lang="ko-KR" altLang="en-US" dirty="0"/>
              <a:t>아날로그</a:t>
            </a:r>
            <a:r>
              <a:rPr lang="en-US" altLang="ko-KR" dirty="0"/>
              <a:t>)</a:t>
            </a:r>
            <a:r>
              <a:rPr lang="ko-KR" altLang="en-US" dirty="0"/>
              <a:t>을 만드는 작업</a:t>
            </a:r>
            <a:endParaRPr lang="en-US" altLang="ko-KR" dirty="0"/>
          </a:p>
          <a:p>
            <a:pPr lvl="2"/>
            <a:r>
              <a:rPr lang="en-US" altLang="ko-KR" dirty="0"/>
              <a:t>Task 1: </a:t>
            </a:r>
            <a:r>
              <a:rPr lang="ko-KR" altLang="en-US" dirty="0"/>
              <a:t>펩타이드 자동 합성기를 이용해 물질을 만듦</a:t>
            </a:r>
            <a:endParaRPr lang="en-US" altLang="ko-KR" dirty="0"/>
          </a:p>
          <a:p>
            <a:pPr lvl="2"/>
            <a:r>
              <a:rPr lang="en-US" altLang="ko-KR" dirty="0"/>
              <a:t>Task 2,3: </a:t>
            </a:r>
            <a:r>
              <a:rPr lang="ko-KR" altLang="en-US" dirty="0"/>
              <a:t>구조를 약간 변형했을 때</a:t>
            </a:r>
            <a:r>
              <a:rPr lang="en-US" altLang="ko-KR" dirty="0"/>
              <a:t>, </a:t>
            </a:r>
            <a:r>
              <a:rPr lang="ko-KR" altLang="en-US" dirty="0"/>
              <a:t>효능이 어떻게 달라지는지 테스트</a:t>
            </a:r>
            <a:endParaRPr lang="en-US" altLang="ko-KR" dirty="0"/>
          </a:p>
          <a:p>
            <a:pPr lvl="2"/>
            <a:r>
              <a:rPr lang="en-US" altLang="ko-KR" dirty="0"/>
              <a:t>Task 4: </a:t>
            </a:r>
            <a:r>
              <a:rPr lang="ko-KR" altLang="en-US" dirty="0"/>
              <a:t>분자 구조 자체를 화학적으로 연구</a:t>
            </a:r>
            <a:endParaRPr lang="en-US" altLang="ko-KR" dirty="0"/>
          </a:p>
          <a:p>
            <a:pPr lvl="1"/>
            <a:r>
              <a:rPr lang="ko-KR" altLang="en-US" dirty="0"/>
              <a:t>자금 조달과 임상</a:t>
            </a:r>
            <a:r>
              <a:rPr lang="en-US" altLang="ko-KR" dirty="0"/>
              <a:t>(</a:t>
            </a:r>
            <a:r>
              <a:rPr lang="ko-KR" altLang="en-US" dirty="0"/>
              <a:t>의학</a:t>
            </a:r>
            <a:r>
              <a:rPr lang="en-US" altLang="ko-KR" dirty="0"/>
              <a:t>) </a:t>
            </a:r>
            <a:r>
              <a:rPr lang="ko-KR" altLang="en-US" dirty="0"/>
              <a:t>적용에 매우 중요한 프로그램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1276C-6C2F-1B38-2384-9EE0265B8715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Latour, B., &amp; </a:t>
            </a:r>
            <a:r>
              <a:rPr lang="en-US" altLang="ko-KR" sz="1400" dirty="0" err="1"/>
              <a:t>WooIgar</a:t>
            </a:r>
            <a:r>
              <a:rPr lang="en-US" altLang="ko-KR" sz="1400" dirty="0"/>
              <a:t>, S. (1986). </a:t>
            </a:r>
            <a:r>
              <a:rPr lang="en-US" altLang="ko-KR" sz="1400" i="1" dirty="0"/>
              <a:t>Laboratory</a:t>
            </a:r>
            <a:r>
              <a:rPr lang="en-US" altLang="ko-KR" sz="1400" dirty="0"/>
              <a:t> </a:t>
            </a:r>
            <a:r>
              <a:rPr lang="en-US" altLang="ko-KR" sz="1400" i="1" dirty="0"/>
              <a:t>Life: The Construction of Scientific Facts</a:t>
            </a:r>
            <a:r>
              <a:rPr lang="en-US" altLang="ko-KR" sz="1400" dirty="0"/>
              <a:t> (2nd ed.). Princeton University Press.</a:t>
            </a:r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19171B-9B36-EC6A-6261-C71EA397C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430" y="2167722"/>
            <a:ext cx="3516070" cy="38189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7680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907B6-889C-9BA3-00D3-71C64795D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C7F68-8234-3DB5-045A-BBF9CC83D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연구의 분업화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5E4CD7-84AC-FBEC-0C70-F6228D4F46F6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7689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ko-KR" altLang="en-US" dirty="0"/>
              <a:t>세번째 프로그램</a:t>
            </a:r>
            <a:endParaRPr lang="en-US" altLang="ko-KR" dirty="0"/>
          </a:p>
          <a:p>
            <a:pPr lvl="1"/>
            <a:r>
              <a:rPr lang="ko-KR" altLang="en-US" dirty="0"/>
              <a:t>작용 기전</a:t>
            </a:r>
            <a:r>
              <a:rPr lang="en-US" altLang="ko-KR" dirty="0"/>
              <a:t>(Mode of actions) </a:t>
            </a:r>
            <a:r>
              <a:rPr lang="ko-KR" altLang="en-US" dirty="0"/>
              <a:t>연구</a:t>
            </a:r>
            <a:endParaRPr lang="en-US" altLang="ko-KR" dirty="0"/>
          </a:p>
          <a:p>
            <a:pPr lvl="1"/>
            <a:r>
              <a:rPr lang="ko-KR" altLang="en-US" dirty="0"/>
              <a:t>물질들이 서로 어떻게 상호작용하는지</a:t>
            </a:r>
            <a:r>
              <a:rPr lang="en-US" altLang="ko-KR" dirty="0"/>
              <a:t>, </a:t>
            </a:r>
            <a:r>
              <a:rPr lang="ko-KR" altLang="en-US" dirty="0"/>
              <a:t>세포 내에서 어떤 반응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DNA </a:t>
            </a:r>
            <a:r>
              <a:rPr lang="ko-KR" altLang="en-US" dirty="0"/>
              <a:t>합성 속도</a:t>
            </a:r>
            <a:r>
              <a:rPr lang="en-US" altLang="ko-KR" dirty="0"/>
              <a:t>)</a:t>
            </a:r>
            <a:r>
              <a:rPr lang="ko-KR" altLang="en-US" dirty="0"/>
              <a:t>을 일으키는지를 생리학적 기입 장치를 통해 연구</a:t>
            </a:r>
            <a:endParaRPr lang="en-US" altLang="ko-KR" dirty="0"/>
          </a:p>
          <a:p>
            <a:pPr marL="228600" lvl="1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2AD07-2EA1-2893-3E12-09221F6E40B2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Latour, B., &amp; </a:t>
            </a:r>
            <a:r>
              <a:rPr lang="en-US" altLang="ko-KR" sz="1400" dirty="0" err="1"/>
              <a:t>WooIgar</a:t>
            </a:r>
            <a:r>
              <a:rPr lang="en-US" altLang="ko-KR" sz="1400" dirty="0"/>
              <a:t>, S. (1986). </a:t>
            </a:r>
            <a:r>
              <a:rPr lang="en-US" altLang="ko-KR" sz="1400" i="1" dirty="0"/>
              <a:t>Laboratory</a:t>
            </a:r>
            <a:r>
              <a:rPr lang="en-US" altLang="ko-KR" sz="1400" dirty="0"/>
              <a:t> </a:t>
            </a:r>
            <a:r>
              <a:rPr lang="en-US" altLang="ko-KR" sz="1400" i="1" dirty="0"/>
              <a:t>Life: The Construction of Scientific Facts</a:t>
            </a:r>
            <a:r>
              <a:rPr lang="en-US" altLang="ko-KR" sz="1400" dirty="0"/>
              <a:t> (2nd ed.). Princeton University Press.</a:t>
            </a:r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B27556-2EFB-6A9E-6463-4D8953289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430" y="2167722"/>
            <a:ext cx="3516070" cy="38189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111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461F-4BA1-AA07-4E84-E2E01752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5EBD5-77F9-E30E-1443-DE7C7C5A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문서와 사실 </a:t>
            </a:r>
            <a:r>
              <a:rPr lang="en-US" altLang="ko-KR" dirty="0"/>
              <a:t>– 5 Statement Types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7F9785-BE71-596D-882C-F733F1E56E20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en-US" altLang="ko-KR" dirty="0"/>
              <a:t>Type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</a:p>
          <a:p>
            <a:pPr lvl="1"/>
            <a:r>
              <a:rPr lang="ko-KR" altLang="en-US" dirty="0"/>
              <a:t>가장 </a:t>
            </a:r>
            <a:r>
              <a:rPr lang="ko-KR" altLang="en-US" dirty="0" err="1"/>
              <a:t>추측성</a:t>
            </a:r>
            <a:r>
              <a:rPr lang="ko-KR" altLang="en-US" dirty="0"/>
              <a:t> 짙은 주장</a:t>
            </a:r>
            <a:endParaRPr lang="en-US" altLang="ko-KR" dirty="0"/>
          </a:p>
          <a:p>
            <a:pPr lvl="1"/>
            <a:r>
              <a:rPr lang="en-US" altLang="ko-KR" dirty="0"/>
              <a:t>Ex. “~</a:t>
            </a:r>
            <a:r>
              <a:rPr lang="ko-KR" altLang="en-US" dirty="0"/>
              <a:t>라는 주장이 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Type 2</a:t>
            </a:r>
          </a:p>
          <a:p>
            <a:pPr lvl="1"/>
            <a:r>
              <a:rPr lang="ko-KR" altLang="en-US" dirty="0"/>
              <a:t>조건이나 증거 부족이 명시된 진술</a:t>
            </a:r>
            <a:endParaRPr lang="en-US" altLang="ko-KR" dirty="0"/>
          </a:p>
          <a:p>
            <a:pPr lvl="1"/>
            <a:r>
              <a:rPr lang="en-US" altLang="ko-KR" dirty="0"/>
              <a:t>Ex. “~</a:t>
            </a:r>
            <a:r>
              <a:rPr lang="ko-KR" altLang="en-US" dirty="0"/>
              <a:t>인 것 같으나 불확실하다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Type 3</a:t>
            </a:r>
          </a:p>
          <a:p>
            <a:pPr lvl="1"/>
            <a:r>
              <a:rPr lang="ko-KR" altLang="en-US" dirty="0"/>
              <a:t>다른 문헌을 인용하는 진술</a:t>
            </a:r>
            <a:endParaRPr lang="en-US" altLang="ko-KR" dirty="0"/>
          </a:p>
          <a:p>
            <a:pPr lvl="1"/>
            <a:r>
              <a:rPr lang="en-US" altLang="ko-KR" dirty="0"/>
              <a:t>Ex. “A </a:t>
            </a:r>
            <a:r>
              <a:rPr lang="ko-KR" altLang="en-US" dirty="0"/>
              <a:t>논문에 따르면 </a:t>
            </a:r>
            <a:r>
              <a:rPr lang="en-US" altLang="ko-KR" dirty="0"/>
              <a:t>~</a:t>
            </a:r>
            <a:r>
              <a:rPr lang="ko-KR" altLang="en-US" dirty="0"/>
              <a:t>이다</a:t>
            </a:r>
            <a:r>
              <a:rPr lang="en-US" altLang="ko-KR" dirty="0"/>
              <a:t>.”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2547D-8E86-08A8-B01A-09C87182A705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Latour, B., &amp; </a:t>
            </a:r>
            <a:r>
              <a:rPr lang="en-US" altLang="ko-KR" sz="1400" dirty="0" err="1"/>
              <a:t>WooIgar</a:t>
            </a:r>
            <a:r>
              <a:rPr lang="en-US" altLang="ko-KR" sz="1400" dirty="0"/>
              <a:t>, S. (1986). </a:t>
            </a:r>
            <a:r>
              <a:rPr lang="en-US" altLang="ko-KR" sz="1400" i="1" dirty="0"/>
              <a:t>Laboratory</a:t>
            </a:r>
            <a:r>
              <a:rPr lang="en-US" altLang="ko-KR" sz="1400" dirty="0"/>
              <a:t> </a:t>
            </a:r>
            <a:r>
              <a:rPr lang="en-US" altLang="ko-KR" sz="1400" i="1" dirty="0"/>
              <a:t>Life: The Construction of Scientific Facts</a:t>
            </a:r>
            <a:r>
              <a:rPr lang="en-US" altLang="ko-KR" sz="1400" dirty="0"/>
              <a:t> (2nd ed.). Princeton University Press.</a:t>
            </a:r>
            <a:endParaRPr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E00718-8043-647D-FC07-DC6D89B71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933" y="1670917"/>
            <a:ext cx="3336696" cy="42242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19161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EF5D-8C65-F181-99C5-F60BFD92B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A5713-2716-EFCB-0828-C85B85AFB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문서와 사실 </a:t>
            </a:r>
            <a:r>
              <a:rPr lang="en-US" altLang="ko-KR" dirty="0"/>
              <a:t>– 5 Statement Types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096FC-4133-6C22-093C-5EF202DE47A5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en-US" altLang="ko-KR" dirty="0"/>
              <a:t>Type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</a:p>
          <a:p>
            <a:pPr lvl="1"/>
            <a:r>
              <a:rPr lang="ko-KR" altLang="en-US" dirty="0"/>
              <a:t>교과서에 나오는 명시적 지식</a:t>
            </a:r>
            <a:endParaRPr lang="en-US" altLang="ko-KR" dirty="0"/>
          </a:p>
          <a:p>
            <a:pPr lvl="1"/>
            <a:r>
              <a:rPr lang="en-US" altLang="ko-KR" dirty="0"/>
              <a:t>Ex. “A</a:t>
            </a:r>
            <a:r>
              <a:rPr lang="ko-KR" altLang="en-US" dirty="0"/>
              <a:t>는 </a:t>
            </a:r>
            <a:r>
              <a:rPr lang="en-US" altLang="ko-KR" dirty="0"/>
              <a:t>B</a:t>
            </a:r>
            <a:r>
              <a:rPr lang="ko-KR" altLang="en-US" dirty="0"/>
              <a:t>이다</a:t>
            </a:r>
            <a:r>
              <a:rPr lang="en-US" altLang="ko-KR" dirty="0"/>
              <a:t>.”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Type 5</a:t>
            </a:r>
          </a:p>
          <a:p>
            <a:pPr lvl="1"/>
            <a:r>
              <a:rPr lang="ko-KR" altLang="en-US" dirty="0"/>
              <a:t>너무나 당연시되어 암묵적 전제가 된 지식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92F8C-7146-26CA-2B9E-A4E589F71E4E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Latour, B., &amp; </a:t>
            </a:r>
            <a:r>
              <a:rPr lang="en-US" altLang="ko-KR" sz="1400" dirty="0" err="1"/>
              <a:t>WooIgar</a:t>
            </a:r>
            <a:r>
              <a:rPr lang="en-US" altLang="ko-KR" sz="1400" dirty="0"/>
              <a:t>, S. (1986). </a:t>
            </a:r>
            <a:r>
              <a:rPr lang="en-US" altLang="ko-KR" sz="1400" i="1" dirty="0"/>
              <a:t>Laboratory</a:t>
            </a:r>
            <a:r>
              <a:rPr lang="en-US" altLang="ko-KR" sz="1400" dirty="0"/>
              <a:t> </a:t>
            </a:r>
            <a:r>
              <a:rPr lang="en-US" altLang="ko-KR" sz="1400" i="1" dirty="0"/>
              <a:t>Life: The Construction of Scientific Facts</a:t>
            </a:r>
            <a:r>
              <a:rPr lang="en-US" altLang="ko-KR" sz="1400" dirty="0"/>
              <a:t> (2nd ed.). Princeton University Press.</a:t>
            </a:r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5C1D27-75C9-0737-4EAC-AD7A57DF8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933" y="1670917"/>
            <a:ext cx="3336696" cy="42242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679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BE2C-135F-7FB6-C880-3BC785C20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81ADF-2EAC-08B8-E3B0-12178754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모달리티</a:t>
            </a:r>
            <a:r>
              <a:rPr lang="en-US" altLang="ko-KR" dirty="0"/>
              <a:t>(Modality)</a:t>
            </a:r>
            <a:r>
              <a:rPr lang="ko-KR" altLang="en-US" dirty="0"/>
              <a:t>의 조작과 사실의 탄생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322E14-E56B-29A3-81D7-00F18B302B3F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모달리티란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진술에 부속된 수식어</a:t>
            </a:r>
            <a:r>
              <a:rPr lang="en-US" altLang="ko-KR" dirty="0"/>
              <a:t>, </a:t>
            </a:r>
            <a:r>
              <a:rPr lang="ko-KR" altLang="en-US" dirty="0"/>
              <a:t>조건</a:t>
            </a:r>
            <a:r>
              <a:rPr lang="en-US" altLang="ko-KR" dirty="0"/>
              <a:t>, </a:t>
            </a:r>
            <a:r>
              <a:rPr lang="ko-KR" altLang="en-US" dirty="0"/>
              <a:t>출처</a:t>
            </a:r>
            <a:endParaRPr lang="en-US" altLang="ko-KR" dirty="0"/>
          </a:p>
          <a:p>
            <a:pPr lvl="1"/>
            <a:r>
              <a:rPr lang="en-US" altLang="ko-KR" dirty="0"/>
              <a:t>Ex. </a:t>
            </a:r>
            <a:r>
              <a:rPr lang="ko-KR" altLang="en-US" dirty="0"/>
              <a:t>우리는 확신할 수 없다</a:t>
            </a:r>
            <a:endParaRPr lang="en-US" altLang="ko-KR" dirty="0"/>
          </a:p>
          <a:p>
            <a:pPr lvl="1"/>
            <a:r>
              <a:rPr lang="en-US" altLang="ko-KR" dirty="0"/>
              <a:t>Ex. ~</a:t>
            </a:r>
            <a:r>
              <a:rPr lang="ko-KR" altLang="en-US" dirty="0"/>
              <a:t>의 논문에 따르면</a:t>
            </a:r>
            <a:r>
              <a:rPr lang="en-US" altLang="ko-KR" dirty="0"/>
              <a:t>,</a:t>
            </a:r>
          </a:p>
          <a:p>
            <a:pPr lvl="1"/>
            <a:endParaRPr lang="en-US" altLang="ko-KR" dirty="0"/>
          </a:p>
          <a:p>
            <a:r>
              <a:rPr lang="ko-KR" altLang="en-US" dirty="0" err="1"/>
              <a:t>모달리티의</a:t>
            </a:r>
            <a:r>
              <a:rPr lang="ko-KR" altLang="en-US" dirty="0"/>
              <a:t> 제거</a:t>
            </a:r>
            <a:endParaRPr lang="en-US" altLang="ko-KR" dirty="0"/>
          </a:p>
          <a:p>
            <a:pPr lvl="1"/>
            <a:r>
              <a:rPr lang="en-US" altLang="ko-KR" dirty="0"/>
              <a:t>Fact</a:t>
            </a:r>
            <a:r>
              <a:rPr lang="ko-KR" altLang="en-US" dirty="0"/>
              <a:t>는 모든 수식어와 논쟁의 흔적이 지워질 때 탄생함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모달리티의</a:t>
            </a:r>
            <a:r>
              <a:rPr lang="ko-KR" altLang="en-US" dirty="0"/>
              <a:t> 추가 </a:t>
            </a:r>
            <a:r>
              <a:rPr lang="en-US" altLang="ko-KR" dirty="0"/>
              <a:t>(</a:t>
            </a:r>
            <a:r>
              <a:rPr lang="ko-KR" altLang="en-US" dirty="0"/>
              <a:t>해체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당연한 전제</a:t>
            </a:r>
            <a:r>
              <a:rPr lang="en-US" altLang="ko-KR" dirty="0"/>
              <a:t>(Type</a:t>
            </a:r>
            <a:r>
              <a:rPr lang="ko-KR" altLang="en-US" dirty="0"/>
              <a:t> </a:t>
            </a:r>
            <a:r>
              <a:rPr lang="en-US" altLang="ko-KR" dirty="0"/>
              <a:t>5)</a:t>
            </a:r>
            <a:r>
              <a:rPr lang="ko-KR" altLang="en-US" dirty="0"/>
              <a:t>에 조건을 붙이면</a:t>
            </a:r>
            <a:r>
              <a:rPr lang="en-US" altLang="ko-KR" dirty="0"/>
              <a:t>, </a:t>
            </a:r>
            <a:r>
              <a:rPr lang="ko-KR" altLang="en-US" dirty="0"/>
              <a:t>한낱 가설</a:t>
            </a:r>
            <a:r>
              <a:rPr lang="en-US" altLang="ko-KR" dirty="0"/>
              <a:t>(Type</a:t>
            </a:r>
            <a:r>
              <a:rPr lang="ko-KR" altLang="en-US" dirty="0"/>
              <a:t> </a:t>
            </a:r>
            <a:r>
              <a:rPr lang="en-US" altLang="ko-KR" dirty="0"/>
              <a:t>2)</a:t>
            </a:r>
            <a:r>
              <a:rPr lang="ko-KR" altLang="en-US" dirty="0"/>
              <a:t>로 추락함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1209D-907E-CB08-52B5-21C6CE9DF4E4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Latour, B., &amp; </a:t>
            </a:r>
            <a:r>
              <a:rPr lang="en-US" altLang="ko-KR" sz="1400" dirty="0" err="1"/>
              <a:t>WooIgar</a:t>
            </a:r>
            <a:r>
              <a:rPr lang="en-US" altLang="ko-KR" sz="1400" dirty="0"/>
              <a:t>, S. (1986). </a:t>
            </a:r>
            <a:r>
              <a:rPr lang="en-US" altLang="ko-KR" sz="1400" i="1" dirty="0"/>
              <a:t>Laboratory</a:t>
            </a:r>
            <a:r>
              <a:rPr lang="en-US" altLang="ko-KR" sz="1400" dirty="0"/>
              <a:t> </a:t>
            </a:r>
            <a:r>
              <a:rPr lang="en-US" altLang="ko-KR" sz="1400" i="1" dirty="0"/>
              <a:t>Life: The Construction of Scientific Facts</a:t>
            </a:r>
            <a:r>
              <a:rPr lang="en-US" altLang="ko-KR" sz="1400" dirty="0"/>
              <a:t> (2nd ed.). Princeton University Press.</a:t>
            </a: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3EEB69-3695-1678-969B-2AC6DE6FF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555" y="1915885"/>
            <a:ext cx="6144482" cy="18671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79BAE9C-BA2C-0520-B642-FC18BB1A9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678" y="3947160"/>
            <a:ext cx="1481359" cy="1875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0696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6C0A2-6142-4A34-9B8E-718DCE14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262CF-3E5F-0379-6DAB-15119CF2C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물질적 조건의 은폐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A9A33E-9CC9-E069-385C-B3E6B7F53478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과학의 역설</a:t>
            </a:r>
            <a:endParaRPr lang="en-US" altLang="ko-KR" dirty="0"/>
          </a:p>
          <a:p>
            <a:pPr lvl="1"/>
            <a:r>
              <a:rPr lang="ko-KR" altLang="en-US" dirty="0"/>
              <a:t>과학적 사실을 조립해내기 위해서는 막대한 비용 </a:t>
            </a:r>
            <a:r>
              <a:rPr lang="en-US" altLang="ko-KR" dirty="0"/>
              <a:t>($1.5M/year)</a:t>
            </a:r>
            <a:r>
              <a:rPr lang="ko-KR" altLang="en-US" dirty="0"/>
              <a:t>과 노동의 집약이 필요함</a:t>
            </a:r>
            <a:endParaRPr lang="en-US" altLang="ko-KR" dirty="0"/>
          </a:p>
          <a:p>
            <a:pPr lvl="1"/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성공적인 사실이 되기 위해서는</a:t>
            </a:r>
            <a:r>
              <a:rPr lang="en-US" altLang="ko-KR" dirty="0"/>
              <a:t>, </a:t>
            </a:r>
            <a:r>
              <a:rPr lang="ko-KR" altLang="en-US" dirty="0"/>
              <a:t>그 사실을 만들어낸 </a:t>
            </a:r>
            <a:r>
              <a:rPr lang="en-US" altLang="ko-KR" dirty="0"/>
              <a:t>‘</a:t>
            </a:r>
            <a:r>
              <a:rPr lang="ko-KR" altLang="en-US" dirty="0"/>
              <a:t>물질적 조건</a:t>
            </a:r>
            <a:r>
              <a:rPr lang="en-US" altLang="ko-KR" dirty="0"/>
              <a:t>(</a:t>
            </a:r>
            <a:r>
              <a:rPr lang="ko-KR" altLang="en-US" dirty="0"/>
              <a:t>쥐</a:t>
            </a:r>
            <a:r>
              <a:rPr lang="en-US" altLang="ko-KR" dirty="0"/>
              <a:t>, </a:t>
            </a:r>
            <a:r>
              <a:rPr lang="ko-KR" altLang="en-US" dirty="0"/>
              <a:t>기계</a:t>
            </a:r>
            <a:r>
              <a:rPr lang="en-US" altLang="ko-KR" dirty="0"/>
              <a:t>, </a:t>
            </a:r>
            <a:r>
              <a:rPr lang="ko-KR" altLang="en-US" dirty="0"/>
              <a:t>노동</a:t>
            </a:r>
            <a:r>
              <a:rPr lang="en-US" altLang="ko-KR" dirty="0"/>
              <a:t>)‘</a:t>
            </a:r>
            <a:r>
              <a:rPr lang="ko-KR" altLang="en-US" dirty="0"/>
              <a:t>이 철저히 잊혀져야 함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FDE39-24DD-6C4B-1619-F8D8770C54F6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Latour, B., &amp; </a:t>
            </a:r>
            <a:r>
              <a:rPr lang="en-US" altLang="ko-KR" sz="1400" dirty="0" err="1"/>
              <a:t>WooIgar</a:t>
            </a:r>
            <a:r>
              <a:rPr lang="en-US" altLang="ko-KR" sz="1400" dirty="0"/>
              <a:t>, S. (1986). </a:t>
            </a:r>
            <a:r>
              <a:rPr lang="en-US" altLang="ko-KR" sz="1400" i="1" dirty="0"/>
              <a:t>Laboratory</a:t>
            </a:r>
            <a:r>
              <a:rPr lang="en-US" altLang="ko-KR" sz="1400" dirty="0"/>
              <a:t> </a:t>
            </a:r>
            <a:r>
              <a:rPr lang="en-US" altLang="ko-KR" sz="1400" i="1" dirty="0"/>
              <a:t>Life: The Construction of Scientific Facts</a:t>
            </a:r>
            <a:r>
              <a:rPr lang="en-US" altLang="ko-KR" sz="1400" dirty="0"/>
              <a:t> (2nd ed.). Princeton University Press.</a:t>
            </a:r>
            <a:endParaRPr lang="ko-KR" altLang="en-US" sz="1400" dirty="0"/>
          </a:p>
        </p:txBody>
      </p:sp>
      <p:pic>
        <p:nvPicPr>
          <p:cNvPr id="4" name="온라인 미디어 3" title="이 영상 댓글에 석박사들 난리남 ㅋㅋㅋ">
            <a:hlinkClick r:id="" action="ppaction://media"/>
            <a:extLst>
              <a:ext uri="{FF2B5EF4-FFF2-40B4-BE49-F238E27FC236}">
                <a16:creationId xmlns:a16="http://schemas.microsoft.com/office/drawing/2014/main" id="{70172D09-578A-D4F7-9876-F975D1A9A9A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559449" y="2982146"/>
            <a:ext cx="5073097" cy="286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2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6C0A2-6142-4A34-9B8E-718DCE14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262CF-3E5F-0379-6DAB-15119CF2C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 정책의 링</a:t>
            </a:r>
            <a:r>
              <a:rPr lang="en-US" altLang="ko-KR" dirty="0"/>
              <a:t>, </a:t>
            </a:r>
            <a:r>
              <a:rPr lang="ko-KR" altLang="en-US" dirty="0"/>
              <a:t>그리고 과학의 해체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A9A33E-9CC9-E069-385C-B3E6B7F53478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ko-KR" altLang="en-US" dirty="0"/>
              <a:t>과학과 정책의 만남</a:t>
            </a:r>
            <a:endParaRPr lang="en-US" altLang="ko-KR" dirty="0"/>
          </a:p>
          <a:p>
            <a:pPr lvl="1"/>
            <a:r>
              <a:rPr lang="ko-KR" altLang="en-US" dirty="0"/>
              <a:t>현대 사회는 환경</a:t>
            </a:r>
            <a:r>
              <a:rPr lang="en-US" altLang="ko-KR" dirty="0"/>
              <a:t>, </a:t>
            </a:r>
            <a:r>
              <a:rPr lang="ko-KR" altLang="en-US" dirty="0"/>
              <a:t>보건 등 불확실성이 큰 영역에서 과학적 결정을 요구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/>
              <a:t>법정식</a:t>
            </a:r>
            <a:r>
              <a:rPr lang="ko-KR" altLang="en-US" dirty="0"/>
              <a:t> 규제 절차 </a:t>
            </a:r>
            <a:r>
              <a:rPr lang="en-US" altLang="ko-KR" dirty="0"/>
              <a:t>(Adversarial Process)</a:t>
            </a:r>
          </a:p>
          <a:p>
            <a:pPr lvl="1"/>
            <a:r>
              <a:rPr lang="ko-KR" altLang="en-US" dirty="0"/>
              <a:t>진리가 </a:t>
            </a:r>
            <a:r>
              <a:rPr lang="en-US" altLang="ko-KR" dirty="0"/>
              <a:t>‘</a:t>
            </a:r>
            <a:r>
              <a:rPr lang="ko-KR" altLang="en-US" dirty="0" err="1"/>
              <a:t>오픈된</a:t>
            </a:r>
            <a:r>
              <a:rPr lang="ko-KR" altLang="en-US" dirty="0"/>
              <a:t> 충돌</a:t>
            </a:r>
            <a:r>
              <a:rPr lang="en-US" altLang="ko-KR" dirty="0"/>
              <a:t>’</a:t>
            </a:r>
            <a:r>
              <a:rPr lang="ko-KR" altLang="en-US" dirty="0"/>
              <a:t>에서 나온다는 믿음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극단적 해체 </a:t>
            </a:r>
            <a:r>
              <a:rPr lang="en-US" altLang="ko-KR" dirty="0"/>
              <a:t>(Extreme Deconstruction)</a:t>
            </a:r>
          </a:p>
          <a:p>
            <a:pPr lvl="1"/>
            <a:r>
              <a:rPr lang="ko-KR" altLang="en-US" dirty="0"/>
              <a:t>정책 입안자와 법률가들은 규제를 정당화하거나 피하기 위해 전문가의 주장을 낱낱이 파헤쳐 불확실성</a:t>
            </a:r>
            <a:r>
              <a:rPr lang="en-US" altLang="ko-KR" dirty="0"/>
              <a:t>(</a:t>
            </a:r>
            <a:r>
              <a:rPr lang="ko-KR" altLang="en-US" dirty="0"/>
              <a:t>양태</a:t>
            </a:r>
            <a:r>
              <a:rPr lang="en-US" altLang="ko-KR" dirty="0"/>
              <a:t>)</a:t>
            </a:r>
            <a:r>
              <a:rPr lang="ko-KR" altLang="en-US" dirty="0"/>
              <a:t>을 다시 폭로함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FDE39-24DD-6C4B-1619-F8D8770C54F6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Jasanoff, S. S. (1987). Contested Boundaries in Policy-Relevant Science, </a:t>
            </a:r>
            <a:r>
              <a:rPr lang="en-US" altLang="ko-KR" sz="1400" i="1" dirty="0"/>
              <a:t>Social Studies of Science, 17 </a:t>
            </a:r>
            <a:r>
              <a:rPr lang="en-US" altLang="ko-KR" sz="1400" dirty="0"/>
              <a:t>(2), 195-230.</a:t>
            </a:r>
          </a:p>
        </p:txBody>
      </p:sp>
    </p:spTree>
    <p:extLst>
      <p:ext uri="{BB962C8B-B14F-4D97-AF65-F5344CB8AC3E}">
        <p14:creationId xmlns:p14="http://schemas.microsoft.com/office/powerpoint/2010/main" val="4006248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0CE07-16BA-1206-0F80-86D2E199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50B1E-33BB-0665-CB78-B8461B7A9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트랜스</a:t>
            </a:r>
            <a:r>
              <a:rPr lang="en-US" altLang="ko-KR" dirty="0"/>
              <a:t>-</a:t>
            </a:r>
            <a:r>
              <a:rPr lang="ko-KR" altLang="en-US" dirty="0"/>
              <a:t>과학 </a:t>
            </a:r>
            <a:r>
              <a:rPr lang="en-US" altLang="ko-KR" dirty="0"/>
              <a:t>vs </a:t>
            </a:r>
            <a:r>
              <a:rPr lang="ko-KR" altLang="en-US" dirty="0"/>
              <a:t>과학 정책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5FDD37-C348-5D52-89AC-5330E016AB1A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ko-KR" altLang="en-US" dirty="0"/>
              <a:t>트랜스 사이언스 </a:t>
            </a:r>
            <a:r>
              <a:rPr lang="en-US" altLang="ko-KR" dirty="0"/>
              <a:t>(Trans-Science; Weinberg)</a:t>
            </a:r>
          </a:p>
          <a:p>
            <a:pPr lvl="1"/>
            <a:r>
              <a:rPr lang="ko-KR" altLang="en-US" dirty="0"/>
              <a:t>과학에 질문할 수는 있지만</a:t>
            </a:r>
            <a:r>
              <a:rPr lang="en-US" altLang="ko-KR" dirty="0"/>
              <a:t>, </a:t>
            </a:r>
            <a:r>
              <a:rPr lang="ko-KR" altLang="en-US" dirty="0"/>
              <a:t>과학이 답할 수 없는 영역</a:t>
            </a:r>
            <a:endParaRPr lang="en-US" altLang="ko-KR" dirty="0"/>
          </a:p>
          <a:p>
            <a:pPr lvl="1"/>
            <a:r>
              <a:rPr lang="ko-KR" altLang="en-US" dirty="0"/>
              <a:t>과학의 순수성을 보존하기 위함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과학 정책 </a:t>
            </a:r>
            <a:r>
              <a:rPr lang="en-US" altLang="ko-KR" dirty="0"/>
              <a:t>(Science Policy; Ashford)</a:t>
            </a:r>
          </a:p>
          <a:p>
            <a:pPr lvl="1"/>
            <a:r>
              <a:rPr lang="ko-KR" altLang="en-US" dirty="0"/>
              <a:t>불확실한 문제는 과학이 아니라 행정적</a:t>
            </a:r>
            <a:r>
              <a:rPr lang="en-US" altLang="ko-KR" dirty="0"/>
              <a:t>, </a:t>
            </a:r>
            <a:r>
              <a:rPr lang="ko-KR" altLang="en-US" dirty="0"/>
              <a:t>법적 절차에 따라 정책 입안자가 </a:t>
            </a:r>
            <a:r>
              <a:rPr lang="ko-KR" altLang="en-US" dirty="0" err="1"/>
              <a:t>판단해야함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포름알데히드 발암성 논쟁</a:t>
            </a:r>
            <a:endParaRPr lang="en-US" altLang="ko-KR" dirty="0"/>
          </a:p>
          <a:p>
            <a:pPr lvl="1"/>
            <a:r>
              <a:rPr lang="en-US" altLang="ko-KR" dirty="0"/>
              <a:t>Todhunter</a:t>
            </a:r>
            <a:r>
              <a:rPr lang="ko-KR" altLang="en-US" dirty="0"/>
              <a:t>의 자의적 규제 완화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C8E24-496F-603B-B1E8-1034FB76055D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Jasanoff, S. S. (1987). Contested Boundaries in Policy-Relevant Science, </a:t>
            </a:r>
            <a:r>
              <a:rPr lang="en-US" altLang="ko-KR" sz="1400" i="1" dirty="0"/>
              <a:t>Social Studies of Science, 17 </a:t>
            </a:r>
            <a:r>
              <a:rPr lang="en-US" altLang="ko-KR" sz="1400" dirty="0"/>
              <a:t>(2), 195-230.</a:t>
            </a:r>
          </a:p>
        </p:txBody>
      </p:sp>
    </p:spTree>
    <p:extLst>
      <p:ext uri="{BB962C8B-B14F-4D97-AF65-F5344CB8AC3E}">
        <p14:creationId xmlns:p14="http://schemas.microsoft.com/office/powerpoint/2010/main" val="3590937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538BE-4AEB-1035-117F-A684150E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9B773-D1A0-E338-21B3-0BFD23F59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포름알데히드 발암성 논쟁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F4CE79-8F3D-4EBA-D0B4-1FF40C271AD5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en-US" altLang="ko-KR" dirty="0"/>
              <a:t>Todhunter </a:t>
            </a:r>
            <a:r>
              <a:rPr lang="ko-KR" altLang="en-US" dirty="0"/>
              <a:t>미국 환경청 부청장이 동물 실험에서 발암성이 입증된 포름알데히드를 인간에게는 큰 위험이 없다고 자의적으로 판단하여 규제를 완화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Ashford: </a:t>
            </a:r>
            <a:r>
              <a:rPr lang="ko-KR" altLang="en-US" dirty="0"/>
              <a:t>이를 </a:t>
            </a:r>
            <a:r>
              <a:rPr lang="en-US" altLang="ko-KR" dirty="0"/>
              <a:t>'</a:t>
            </a:r>
            <a:r>
              <a:rPr lang="ko-KR" altLang="en-US" dirty="0"/>
              <a:t>과학 정책</a:t>
            </a:r>
            <a:r>
              <a:rPr lang="en-US" altLang="ko-KR" dirty="0"/>
              <a:t>'</a:t>
            </a:r>
            <a:r>
              <a:rPr lang="ko-KR" altLang="en-US" dirty="0"/>
              <a:t>의 관점에서 비판하며</a:t>
            </a:r>
            <a:r>
              <a:rPr lang="en-US" altLang="ko-KR" dirty="0"/>
              <a:t>, </a:t>
            </a:r>
            <a:r>
              <a:rPr lang="ko-KR" altLang="en-US" dirty="0" err="1"/>
              <a:t>토드헌터가</a:t>
            </a:r>
            <a:r>
              <a:rPr lang="ko-KR" altLang="en-US" dirty="0"/>
              <a:t> 행정적 절차와 대중 참여를 무시했다고 지적</a:t>
            </a:r>
            <a:endParaRPr lang="en-US" altLang="ko-KR" dirty="0"/>
          </a:p>
          <a:p>
            <a:r>
              <a:rPr lang="en-US" altLang="ko-KR" dirty="0"/>
              <a:t>AIHC: </a:t>
            </a:r>
            <a:r>
              <a:rPr lang="ko-KR" altLang="en-US" dirty="0"/>
              <a:t>이 문제를 </a:t>
            </a:r>
            <a:r>
              <a:rPr lang="en-US" altLang="ko-KR" dirty="0"/>
              <a:t>'</a:t>
            </a:r>
            <a:r>
              <a:rPr lang="ko-KR" altLang="en-US" dirty="0"/>
              <a:t>과학 정책</a:t>
            </a:r>
            <a:r>
              <a:rPr lang="en-US" altLang="ko-KR" dirty="0"/>
              <a:t>'</a:t>
            </a:r>
            <a:r>
              <a:rPr lang="ko-KR" altLang="en-US" dirty="0"/>
              <a:t>이 아닌 </a:t>
            </a:r>
            <a:r>
              <a:rPr lang="en-US" altLang="ko-KR" dirty="0"/>
              <a:t>'</a:t>
            </a:r>
            <a:r>
              <a:rPr lang="ko-KR" altLang="en-US" dirty="0"/>
              <a:t>순수 과학</a:t>
            </a:r>
            <a:r>
              <a:rPr lang="en-US" altLang="ko-KR" dirty="0"/>
              <a:t>'</a:t>
            </a:r>
            <a:r>
              <a:rPr lang="ko-KR" altLang="en-US" dirty="0"/>
              <a:t>의 문제로 보아야 한다며</a:t>
            </a:r>
            <a:r>
              <a:rPr lang="en-US" altLang="ko-KR" dirty="0"/>
              <a:t>, </a:t>
            </a:r>
            <a:r>
              <a:rPr lang="ko-KR" altLang="en-US" dirty="0"/>
              <a:t>행정 기관이 자의적인 정책적 기준으로 과학을 오염시키지 말아야 한다고 주장</a:t>
            </a:r>
            <a:endParaRPr lang="en-US" altLang="ko-KR" dirty="0"/>
          </a:p>
          <a:p>
            <a:r>
              <a:rPr lang="en-US" altLang="ko-KR" dirty="0"/>
              <a:t>Weinstein, Nelson: </a:t>
            </a:r>
            <a:r>
              <a:rPr lang="ko-KR" altLang="en-US" dirty="0"/>
              <a:t>그의 결정이 </a:t>
            </a:r>
            <a:r>
              <a:rPr lang="en-US" altLang="ko-KR" dirty="0"/>
              <a:t>'</a:t>
            </a:r>
            <a:r>
              <a:rPr lang="ko-KR" altLang="en-US" dirty="0"/>
              <a:t>과학적 합의</a:t>
            </a:r>
            <a:r>
              <a:rPr lang="en-US" altLang="ko-KR" dirty="0"/>
              <a:t>'</a:t>
            </a:r>
            <a:r>
              <a:rPr lang="ko-KR" altLang="en-US" dirty="0"/>
              <a:t>를 벗어났다고 비판하며</a:t>
            </a:r>
            <a:r>
              <a:rPr lang="en-US" altLang="ko-KR" dirty="0"/>
              <a:t>, </a:t>
            </a:r>
            <a:r>
              <a:rPr lang="ko-KR" altLang="en-US" dirty="0"/>
              <a:t>이 문제를 다시 독립적인 과학 기관</a:t>
            </a:r>
            <a:r>
              <a:rPr lang="en-US" altLang="ko-KR" dirty="0"/>
              <a:t>(NAS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의 과학적 문제로 가져와 자신들의 권위를 </a:t>
            </a:r>
            <a:r>
              <a:rPr lang="ko-KR" altLang="en-US" dirty="0" err="1"/>
              <a:t>지키려함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E97187-14BA-E469-71C7-84AFB5AA84C9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Jasanoff, S. S. (1987). Contested Boundaries in Policy-Relevant Science, </a:t>
            </a:r>
            <a:r>
              <a:rPr lang="en-US" altLang="ko-KR" sz="1400" i="1" dirty="0"/>
              <a:t>Social Studies of Science, 17 </a:t>
            </a:r>
            <a:r>
              <a:rPr lang="en-US" altLang="ko-KR" sz="1400" dirty="0"/>
              <a:t>(2), 195-230.</a:t>
            </a:r>
          </a:p>
        </p:txBody>
      </p:sp>
    </p:spTree>
    <p:extLst>
      <p:ext uri="{BB962C8B-B14F-4D97-AF65-F5344CB8AC3E}">
        <p14:creationId xmlns:p14="http://schemas.microsoft.com/office/powerpoint/2010/main" val="3017839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E5E7C-CB9A-78D0-532B-29FC3AB3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15B7F-9134-60EA-3B5A-BC578961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위해성 평가와 위해성 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A89319-0F94-AE69-D43A-D85F211235B8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ko-KR" altLang="en-US" dirty="0"/>
              <a:t>위해성 평가</a:t>
            </a:r>
            <a:r>
              <a:rPr lang="en-US" altLang="ko-KR" dirty="0"/>
              <a:t>(Risk Assessment; </a:t>
            </a:r>
            <a:r>
              <a:rPr lang="ko-KR" altLang="en-US" dirty="0"/>
              <a:t>과학</a:t>
            </a:r>
            <a:r>
              <a:rPr lang="en-US" altLang="ko-KR" dirty="0"/>
              <a:t>)</a:t>
            </a:r>
            <a:r>
              <a:rPr lang="ko-KR" altLang="en-US" dirty="0"/>
              <a:t>와 위해성 관리</a:t>
            </a:r>
            <a:r>
              <a:rPr lang="en-US" altLang="ko-KR" dirty="0"/>
              <a:t>(Risk Management; </a:t>
            </a:r>
            <a:r>
              <a:rPr lang="ko-KR" altLang="en-US" dirty="0"/>
              <a:t>정책</a:t>
            </a:r>
            <a:r>
              <a:rPr lang="en-US" altLang="ko-KR" dirty="0"/>
              <a:t>)</a:t>
            </a:r>
            <a:r>
              <a:rPr lang="ko-KR" altLang="en-US" dirty="0"/>
              <a:t>를 분리하려는 시도</a:t>
            </a:r>
            <a:endParaRPr lang="en-US" altLang="ko-KR" dirty="0"/>
          </a:p>
          <a:p>
            <a:pPr lvl="1"/>
            <a:r>
              <a:rPr lang="ko-KR" altLang="en-US" dirty="0"/>
              <a:t>산업계 </a:t>
            </a:r>
            <a:r>
              <a:rPr lang="en-US" altLang="ko-KR" dirty="0"/>
              <a:t>(AIHC)</a:t>
            </a:r>
            <a:r>
              <a:rPr lang="ko-KR" altLang="en-US" dirty="0"/>
              <a:t>의 로비</a:t>
            </a:r>
            <a:r>
              <a:rPr lang="en-US" altLang="ko-KR" dirty="0"/>
              <a:t>: </a:t>
            </a:r>
            <a:r>
              <a:rPr lang="ko-KR" altLang="en-US" dirty="0"/>
              <a:t>벤젠 규제 사건 이후</a:t>
            </a:r>
            <a:r>
              <a:rPr lang="en-US" altLang="ko-KR" dirty="0"/>
              <a:t>, </a:t>
            </a:r>
            <a:r>
              <a:rPr lang="ko-KR" altLang="en-US" dirty="0"/>
              <a:t>규제를 피하기 위해 행정부의 입김을 배제하고 </a:t>
            </a:r>
            <a:r>
              <a:rPr lang="en-US" altLang="ko-KR" dirty="0"/>
              <a:t>'</a:t>
            </a:r>
            <a:r>
              <a:rPr lang="ko-KR" altLang="en-US" dirty="0"/>
              <a:t>독립적 과학자</a:t>
            </a:r>
            <a:r>
              <a:rPr lang="en-US" altLang="ko-KR" dirty="0"/>
              <a:t>'</a:t>
            </a:r>
            <a:r>
              <a:rPr lang="ko-KR" altLang="en-US" dirty="0"/>
              <a:t>에게 위해성 평가를 맡기려 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NAS(</a:t>
            </a:r>
            <a:r>
              <a:rPr lang="ko-KR" altLang="en-US" dirty="0" err="1"/>
              <a:t>미국의학한림원</a:t>
            </a:r>
            <a:r>
              <a:rPr lang="en-US" altLang="ko-KR" dirty="0"/>
              <a:t>)</a:t>
            </a:r>
            <a:r>
              <a:rPr lang="ko-KR" altLang="en-US" dirty="0"/>
              <a:t>조차 위해성 평가 내에 이미 정책적 가치 판단이 수없이 섞여 있어 두 영역의 완전한 분리는 불가능함을 인정함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EEB0F-3732-97FC-4B49-A0A85AEAAD5E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Jasanoff, S. S. (1987). Contested Boundaries in Policy-Relevant Science, </a:t>
            </a:r>
            <a:r>
              <a:rPr lang="en-US" altLang="ko-KR" sz="1400" i="1" dirty="0"/>
              <a:t>Social Studies of Science, 17 </a:t>
            </a:r>
            <a:r>
              <a:rPr lang="en-US" altLang="ko-KR" sz="1400" dirty="0"/>
              <a:t>(2), 195-230.</a:t>
            </a:r>
          </a:p>
        </p:txBody>
      </p:sp>
    </p:spTree>
    <p:extLst>
      <p:ext uri="{BB962C8B-B14F-4D97-AF65-F5344CB8AC3E}">
        <p14:creationId xmlns:p14="http://schemas.microsoft.com/office/powerpoint/2010/main" val="2217601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7E6F5-FC3B-A1C1-B0C8-1751A31DC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508B96-47A2-E951-5D8E-55ECE417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동료 평가</a:t>
            </a:r>
            <a:r>
              <a:rPr lang="en-US" altLang="ko-KR" dirty="0"/>
              <a:t>(Peer Review)</a:t>
            </a:r>
            <a:r>
              <a:rPr lang="ko-KR" altLang="en-US" dirty="0"/>
              <a:t>의 동상이몽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54C316-1640-574C-EA97-B67BEEFBB4C9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ko-KR" altLang="en-US" dirty="0"/>
              <a:t>정치인</a:t>
            </a:r>
            <a:r>
              <a:rPr lang="en-US" altLang="ko-KR" dirty="0"/>
              <a:t>/</a:t>
            </a:r>
            <a:r>
              <a:rPr lang="ko-KR" altLang="en-US" dirty="0"/>
              <a:t>환경론자 </a:t>
            </a:r>
            <a:r>
              <a:rPr lang="en-US" altLang="ko-KR" dirty="0"/>
              <a:t>(Gore, Ashford): </a:t>
            </a:r>
            <a:r>
              <a:rPr lang="en-US" altLang="ko-KR" dirty="0" err="1"/>
              <a:t>TodHunter</a:t>
            </a:r>
            <a:r>
              <a:rPr lang="ko-KR" altLang="en-US" dirty="0"/>
              <a:t>를 비판하며</a:t>
            </a:r>
            <a:r>
              <a:rPr lang="en-US" altLang="ko-KR" dirty="0"/>
              <a:t>, </a:t>
            </a:r>
            <a:r>
              <a:rPr lang="ko-KR" altLang="en-US" dirty="0"/>
              <a:t>규제기관 </a:t>
            </a:r>
            <a:r>
              <a:rPr lang="ko-KR" altLang="en-US" b="1" dirty="0"/>
              <a:t>내부</a:t>
            </a:r>
            <a:r>
              <a:rPr lang="ko-KR" altLang="en-US" dirty="0"/>
              <a:t> 스태프 과학자들의 검토를 </a:t>
            </a:r>
            <a:r>
              <a:rPr lang="en-US" altLang="ko-KR" dirty="0"/>
              <a:t>‘Peer Review’</a:t>
            </a:r>
            <a:r>
              <a:rPr lang="ko-KR" altLang="en-US" dirty="0"/>
              <a:t>로 정의함</a:t>
            </a:r>
            <a:endParaRPr lang="en-US" altLang="ko-KR" dirty="0"/>
          </a:p>
          <a:p>
            <a:r>
              <a:rPr lang="ko-KR" altLang="en-US" dirty="0"/>
              <a:t>산업계 </a:t>
            </a:r>
            <a:r>
              <a:rPr lang="en-US" altLang="ko-KR" dirty="0"/>
              <a:t>(AIHC, Nelson): </a:t>
            </a:r>
            <a:r>
              <a:rPr lang="ko-KR" altLang="en-US" dirty="0"/>
              <a:t>행정부의 편향을 피하기 위해 기관 </a:t>
            </a:r>
            <a:r>
              <a:rPr lang="ko-KR" altLang="en-US" b="1" dirty="0"/>
              <a:t>외부</a:t>
            </a:r>
            <a:r>
              <a:rPr lang="ko-KR" altLang="en-US" dirty="0"/>
              <a:t>의 독립적 엘리트 과학자 집단 </a:t>
            </a:r>
            <a:r>
              <a:rPr lang="en-US" altLang="ko-KR" dirty="0"/>
              <a:t>(NAS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의 검토를 </a:t>
            </a:r>
            <a:r>
              <a:rPr lang="en-US" altLang="ko-KR" dirty="0"/>
              <a:t>‘Peer Review’</a:t>
            </a:r>
            <a:r>
              <a:rPr lang="ko-KR" altLang="en-US" dirty="0"/>
              <a:t>로 정의함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동일한 </a:t>
            </a:r>
            <a:r>
              <a:rPr lang="en-US" altLang="ko-KR" dirty="0"/>
              <a:t>‘</a:t>
            </a:r>
            <a:r>
              <a:rPr lang="ko-KR" altLang="en-US" dirty="0"/>
              <a:t>동료 평가</a:t>
            </a:r>
            <a:r>
              <a:rPr lang="en-US" altLang="ko-KR" dirty="0"/>
              <a:t>‘</a:t>
            </a:r>
            <a:r>
              <a:rPr lang="ko-KR" altLang="en-US" dirty="0"/>
              <a:t>를 두고</a:t>
            </a:r>
            <a:r>
              <a:rPr lang="en-US" altLang="ko-KR" dirty="0"/>
              <a:t>, </a:t>
            </a:r>
            <a:r>
              <a:rPr lang="ko-KR" altLang="en-US" dirty="0"/>
              <a:t>각 집단이 자신들의 이익에 맞게 용어를 재정의하는 정치적 수사화가 </a:t>
            </a:r>
            <a:r>
              <a:rPr lang="ko-KR" altLang="en-US" dirty="0" err="1"/>
              <a:t>일어남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03016-08E1-DFC1-903B-C6C380E87A15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Jasanoff, S. S. (1987). Contested Boundaries in Policy-Relevant Science, </a:t>
            </a:r>
            <a:r>
              <a:rPr lang="en-US" altLang="ko-KR" sz="1400" i="1" dirty="0"/>
              <a:t>Social Studies of Science, 17 </a:t>
            </a:r>
            <a:r>
              <a:rPr lang="en-US" altLang="ko-KR" sz="1400" dirty="0"/>
              <a:t>(2), 195-230.</a:t>
            </a:r>
          </a:p>
        </p:txBody>
      </p:sp>
    </p:spTree>
    <p:extLst>
      <p:ext uri="{BB962C8B-B14F-4D97-AF65-F5344CB8AC3E}">
        <p14:creationId xmlns:p14="http://schemas.microsoft.com/office/powerpoint/2010/main" val="4056214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F933F-1C11-EF0E-3DC2-73FF2D9D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F9332A-6C75-0BE8-CFD9-42417CC01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본질적으로 논쟁적인 </a:t>
            </a:r>
            <a:r>
              <a:rPr lang="en-US" altLang="ko-KR" dirty="0"/>
              <a:t>(Essentially Contested) </a:t>
            </a:r>
            <a:r>
              <a:rPr lang="ko-KR" altLang="en-US" dirty="0"/>
              <a:t>언어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F02E9C-7FBB-B43A-7BFC-154842E8B67C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ko-KR" altLang="en-US" dirty="0"/>
              <a:t>경계 긋기의 본질</a:t>
            </a:r>
            <a:endParaRPr lang="en-US" altLang="ko-KR" dirty="0"/>
          </a:p>
          <a:p>
            <a:pPr lvl="1"/>
            <a:r>
              <a:rPr lang="ko-KR" altLang="en-US" dirty="0"/>
              <a:t>과학과 정책을 구분하는 선 긋기는 근본적으로 권력과 이익을 배분하는 </a:t>
            </a:r>
            <a:r>
              <a:rPr lang="en-US" altLang="ko-KR" dirty="0"/>
              <a:t>"</a:t>
            </a:r>
            <a:r>
              <a:rPr lang="ko-KR" altLang="en-US" dirty="0"/>
              <a:t>본질적으로 논쟁적인 </a:t>
            </a:r>
            <a:r>
              <a:rPr lang="en-US" altLang="ko-KR" dirty="0"/>
              <a:t>(Essentially contested)" </a:t>
            </a:r>
            <a:r>
              <a:rPr lang="ko-KR" altLang="en-US" dirty="0"/>
              <a:t>정치적 행위임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과학자들의 전략</a:t>
            </a:r>
            <a:endParaRPr lang="en-US" altLang="ko-KR" dirty="0"/>
          </a:p>
          <a:p>
            <a:pPr lvl="1"/>
            <a:r>
              <a:rPr lang="ko-KR" altLang="en-US" dirty="0"/>
              <a:t>불확실성을 축소하거나 특정 영역으로 고립시켜 자신들의 인지적 권위</a:t>
            </a:r>
            <a:r>
              <a:rPr lang="en-US" altLang="ko-KR" dirty="0"/>
              <a:t>(cognitive authority)</a:t>
            </a:r>
            <a:r>
              <a:rPr lang="ko-KR" altLang="en-US" dirty="0"/>
              <a:t>를 지키려 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정책 관련 과학에서 사용하는 어휘들은 진리를 찾기 위함이 아니라</a:t>
            </a:r>
            <a:r>
              <a:rPr lang="en-US" altLang="ko-KR" dirty="0"/>
              <a:t>, </a:t>
            </a:r>
            <a:r>
              <a:rPr lang="ko-KR" altLang="en-US" dirty="0"/>
              <a:t>통제권을 쥐기 위한 수사학적 도구임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8DBFA8-8859-E22F-CB9F-0A74F5720E8B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Jasanoff, S. S. (1987). Contested Boundaries in Policy-Relevant Science, </a:t>
            </a:r>
            <a:r>
              <a:rPr lang="en-US" altLang="ko-KR" sz="1400" i="1" dirty="0"/>
              <a:t>Social Studies of Science, 17 </a:t>
            </a:r>
            <a:r>
              <a:rPr lang="en-US" altLang="ko-KR" sz="1400" dirty="0"/>
              <a:t>(2), 195-230.</a:t>
            </a:r>
          </a:p>
        </p:txBody>
      </p:sp>
    </p:spTree>
    <p:extLst>
      <p:ext uri="{BB962C8B-B14F-4D97-AF65-F5344CB8AC3E}">
        <p14:creationId xmlns:p14="http://schemas.microsoft.com/office/powerpoint/2010/main" val="2424576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3AD06-2F9B-AC91-9DBE-0FA462CB2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84FE5-B6E3-0016-2E9C-EF2362EE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결론</a:t>
            </a:r>
            <a:r>
              <a:rPr lang="en-US" altLang="ko-KR" dirty="0"/>
              <a:t>: Lifecycle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“(Scientific) Fact”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6B64A7-1C7D-7205-E50F-020C112D4471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en-US" altLang="ko-KR" dirty="0"/>
              <a:t>Phase 1: Construction</a:t>
            </a:r>
          </a:p>
          <a:p>
            <a:pPr lvl="1"/>
            <a:r>
              <a:rPr lang="ko-KR" altLang="en-US" dirty="0"/>
              <a:t>실험실 내부 </a:t>
            </a:r>
            <a:r>
              <a:rPr lang="en-US" altLang="ko-KR" dirty="0"/>
              <a:t>(</a:t>
            </a:r>
            <a:r>
              <a:rPr lang="ko-KR" altLang="en-US" dirty="0"/>
              <a:t>자본</a:t>
            </a:r>
            <a:r>
              <a:rPr lang="en-US" altLang="ko-KR" dirty="0"/>
              <a:t>+</a:t>
            </a:r>
            <a:r>
              <a:rPr lang="ko-KR" altLang="en-US" dirty="0"/>
              <a:t>장비 투입 → </a:t>
            </a:r>
            <a:r>
              <a:rPr lang="ko-KR" altLang="en-US" dirty="0" err="1"/>
              <a:t>모달리티의</a:t>
            </a:r>
            <a:r>
              <a:rPr lang="ko-KR" altLang="en-US" dirty="0"/>
              <a:t> 삭제 → 불확실성의 은폐 → 단단한 </a:t>
            </a:r>
            <a:r>
              <a:rPr lang="en-US" altLang="ko-KR" dirty="0"/>
              <a:t>‘</a:t>
            </a:r>
            <a:r>
              <a:rPr lang="ko-KR" altLang="en-US" dirty="0"/>
              <a:t>사실</a:t>
            </a:r>
            <a:r>
              <a:rPr lang="en-US" altLang="ko-KR" dirty="0"/>
              <a:t>‘ </a:t>
            </a:r>
            <a:r>
              <a:rPr lang="ko-KR" altLang="en-US" dirty="0"/>
              <a:t>탄생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Phase 2: Collision</a:t>
            </a:r>
          </a:p>
          <a:p>
            <a:pPr lvl="1"/>
            <a:r>
              <a:rPr lang="en-US" altLang="ko-KR" dirty="0"/>
              <a:t>Phase 1</a:t>
            </a:r>
            <a:r>
              <a:rPr lang="ko-KR" altLang="en-US" dirty="0"/>
              <a:t>에서 구성된 사실이 사회</a:t>
            </a:r>
            <a:r>
              <a:rPr lang="en-US" altLang="ko-KR" dirty="0"/>
              <a:t>/</a:t>
            </a:r>
            <a:r>
              <a:rPr lang="ko-KR" altLang="en-US" dirty="0"/>
              <a:t>정책의 영역으로 진입 → 규제 및 법적 공방이 발생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Phase 3: Deconstruction &amp; Renegotiation</a:t>
            </a:r>
          </a:p>
          <a:p>
            <a:pPr lvl="1"/>
            <a:r>
              <a:rPr lang="ko-KR" altLang="en-US" dirty="0" err="1"/>
              <a:t>모달리티의</a:t>
            </a:r>
            <a:r>
              <a:rPr lang="ko-KR" altLang="en-US" dirty="0"/>
              <a:t> 부활 및 불확실성에 대한 폭로</a:t>
            </a:r>
            <a:endParaRPr lang="en-US" altLang="ko-KR" dirty="0"/>
          </a:p>
          <a:p>
            <a:pPr lvl="1"/>
            <a:r>
              <a:rPr lang="ko-KR" altLang="en-US" dirty="0"/>
              <a:t>이해관계자들의 경계 긋기</a:t>
            </a:r>
            <a:r>
              <a:rPr lang="en-US" altLang="ko-KR" dirty="0"/>
              <a:t>(</a:t>
            </a:r>
            <a:r>
              <a:rPr lang="ko-KR" altLang="en-US" dirty="0"/>
              <a:t>언어의 정치학</a:t>
            </a:r>
            <a:r>
              <a:rPr lang="en-US" altLang="ko-KR" dirty="0"/>
              <a:t>)</a:t>
            </a:r>
            <a:r>
              <a:rPr lang="ko-KR" altLang="en-US" dirty="0"/>
              <a:t>를 통해 사실의 재해석 및 권력 분배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2C555-A169-F992-53B8-2FEE8ABD2640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Jasanoff, S. S. (1987). Contested Boundaries in Policy-Relevant Science, </a:t>
            </a:r>
            <a:r>
              <a:rPr lang="en-US" altLang="ko-KR" sz="1400" i="1" dirty="0"/>
              <a:t>Social Studies of Science, 17 </a:t>
            </a:r>
            <a:r>
              <a:rPr lang="en-US" altLang="ko-KR" sz="1400" dirty="0"/>
              <a:t>(2), 195-230.</a:t>
            </a:r>
          </a:p>
        </p:txBody>
      </p:sp>
    </p:spTree>
    <p:extLst>
      <p:ext uri="{BB962C8B-B14F-4D97-AF65-F5344CB8AC3E}">
        <p14:creationId xmlns:p14="http://schemas.microsoft.com/office/powerpoint/2010/main" val="2856631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C9694-1BD6-8DB5-AB9B-C928EA94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C6E99-1FA3-B79A-1DA3-4BD8D411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Discussion Questions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0E1D9E-1B47-D724-DE88-41AFEF2CAB34}"/>
              </a:ext>
            </a:extLst>
          </p:cNvPr>
          <p:cNvSpPr txBox="1">
            <a:spLocks/>
          </p:cNvSpPr>
          <p:nvPr/>
        </p:nvSpPr>
        <p:spPr>
          <a:xfrm>
            <a:off x="571499" y="1579418"/>
            <a:ext cx="11048999" cy="44072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venir Next LT Pro Light" panose="020B03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r>
              <a:rPr lang="ko-KR" altLang="en-US" dirty="0" err="1"/>
              <a:t>모달리티의</a:t>
            </a:r>
            <a:r>
              <a:rPr lang="ko-KR" altLang="en-US" dirty="0"/>
              <a:t> 제거와 추가</a:t>
            </a:r>
            <a:endParaRPr lang="en-US" altLang="ko-KR" dirty="0"/>
          </a:p>
          <a:p>
            <a:pPr lvl="1"/>
            <a:r>
              <a:rPr lang="ko-KR" altLang="en-US" dirty="0" err="1"/>
              <a:t>모달리티의</a:t>
            </a:r>
            <a:r>
              <a:rPr lang="ko-KR" altLang="en-US" dirty="0"/>
              <a:t> 제거와 추가가</a:t>
            </a:r>
            <a:r>
              <a:rPr lang="en-US" altLang="ko-KR" dirty="0"/>
              <a:t>, </a:t>
            </a:r>
            <a:r>
              <a:rPr lang="ko-KR" altLang="en-US" dirty="0"/>
              <a:t>과학자 집단 내부에서만 일어나는 것은 아니다</a:t>
            </a:r>
            <a:r>
              <a:rPr lang="en-US" altLang="ko-KR" dirty="0"/>
              <a:t>. </a:t>
            </a:r>
            <a:r>
              <a:rPr lang="ko-KR" altLang="en-US" dirty="0"/>
              <a:t>현대의 소셜 미디어 지형에서 특정한 </a:t>
            </a:r>
            <a:r>
              <a:rPr lang="en-US" altLang="ko-KR" dirty="0"/>
              <a:t>‘</a:t>
            </a:r>
            <a:r>
              <a:rPr lang="ko-KR" altLang="en-US" dirty="0"/>
              <a:t>주장</a:t>
            </a:r>
            <a:r>
              <a:rPr lang="en-US" altLang="ko-KR" dirty="0"/>
              <a:t>’</a:t>
            </a:r>
            <a:r>
              <a:rPr lang="ko-KR" altLang="en-US" dirty="0"/>
              <a:t>의 </a:t>
            </a:r>
            <a:r>
              <a:rPr lang="en-US" altLang="ko-KR" dirty="0"/>
              <a:t>Type</a:t>
            </a:r>
            <a:r>
              <a:rPr lang="ko-KR" altLang="en-US" dirty="0"/>
              <a:t>이 어떻게 오르내리고</a:t>
            </a:r>
            <a:r>
              <a:rPr lang="en-US" altLang="ko-KR" dirty="0"/>
              <a:t>, </a:t>
            </a:r>
            <a:r>
              <a:rPr lang="ko-KR" altLang="en-US" dirty="0" err="1"/>
              <a:t>모달리티가</a:t>
            </a:r>
            <a:r>
              <a:rPr lang="ko-KR" altLang="en-US" dirty="0"/>
              <a:t> 어떻게 제거되거나 추가되며</a:t>
            </a:r>
            <a:r>
              <a:rPr lang="en-US" altLang="ko-KR" dirty="0"/>
              <a:t>, </a:t>
            </a:r>
            <a:r>
              <a:rPr lang="ko-KR" altLang="en-US" dirty="0"/>
              <a:t>어떻게 </a:t>
            </a:r>
            <a:r>
              <a:rPr lang="en-US" altLang="ko-KR" dirty="0"/>
              <a:t>‘</a:t>
            </a:r>
            <a:r>
              <a:rPr lang="ko-KR" altLang="en-US" dirty="0"/>
              <a:t>사실</a:t>
            </a:r>
            <a:r>
              <a:rPr lang="en-US" altLang="ko-KR" dirty="0"/>
              <a:t>‘</a:t>
            </a:r>
            <a:r>
              <a:rPr lang="ko-KR" altLang="en-US" dirty="0"/>
              <a:t>로 둔갑하는가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후쿠시마 </a:t>
            </a:r>
            <a:r>
              <a:rPr lang="ko-KR" altLang="en-US" dirty="0" err="1"/>
              <a:t>오염수</a:t>
            </a:r>
            <a:r>
              <a:rPr lang="ko-KR" altLang="en-US" dirty="0"/>
              <a:t> 방류</a:t>
            </a:r>
            <a:endParaRPr lang="en-US" altLang="ko-KR" dirty="0"/>
          </a:p>
          <a:p>
            <a:pPr lvl="1"/>
            <a:r>
              <a:rPr lang="ko-KR" altLang="en-US" dirty="0"/>
              <a:t>후쿠시마 </a:t>
            </a:r>
            <a:r>
              <a:rPr lang="ko-KR" altLang="en-US" dirty="0" err="1"/>
              <a:t>오염수</a:t>
            </a:r>
            <a:r>
              <a:rPr lang="ko-KR" altLang="en-US" dirty="0"/>
              <a:t> 방류에서 </a:t>
            </a:r>
            <a:r>
              <a:rPr lang="en-US" altLang="ko-KR" dirty="0"/>
              <a:t>‘</a:t>
            </a:r>
            <a:r>
              <a:rPr lang="ko-KR" altLang="en-US" dirty="0"/>
              <a:t>위해성 평가</a:t>
            </a:r>
            <a:r>
              <a:rPr lang="en-US" altLang="ko-KR" dirty="0"/>
              <a:t>‘</a:t>
            </a:r>
            <a:r>
              <a:rPr lang="ko-KR" altLang="en-US" dirty="0"/>
              <a:t>와 </a:t>
            </a:r>
            <a:r>
              <a:rPr lang="en-US" altLang="ko-KR" dirty="0"/>
              <a:t>‘</a:t>
            </a:r>
            <a:r>
              <a:rPr lang="ko-KR" altLang="en-US" dirty="0"/>
              <a:t>위해성 관리</a:t>
            </a:r>
            <a:r>
              <a:rPr lang="en-US" altLang="ko-KR" dirty="0"/>
              <a:t>‘</a:t>
            </a:r>
            <a:r>
              <a:rPr lang="ko-KR" altLang="en-US" dirty="0"/>
              <a:t>가 어떻게 다른 양상으로 전개되었는가</a:t>
            </a:r>
            <a:r>
              <a:rPr lang="en-US" altLang="ko-KR" dirty="0"/>
              <a:t>? </a:t>
            </a:r>
            <a:r>
              <a:rPr lang="ko-KR" altLang="en-US" dirty="0"/>
              <a:t>또한</a:t>
            </a:r>
            <a:r>
              <a:rPr lang="en-US" altLang="ko-KR" dirty="0"/>
              <a:t>, ‘</a:t>
            </a:r>
            <a:r>
              <a:rPr lang="ko-KR" altLang="en-US" dirty="0"/>
              <a:t>동료평가</a:t>
            </a:r>
            <a:r>
              <a:rPr lang="en-US" altLang="ko-KR" dirty="0"/>
              <a:t>‘</a:t>
            </a:r>
            <a:r>
              <a:rPr lang="ko-KR" altLang="en-US" dirty="0"/>
              <a:t>는 어떠한 방식으로 정치적으로 재정의되고 </a:t>
            </a:r>
            <a:r>
              <a:rPr lang="ko-KR" altLang="en-US" dirty="0" err="1"/>
              <a:t>수사화되었는가</a:t>
            </a:r>
            <a:r>
              <a:rPr lang="en-US" altLang="ko-KR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2779-2959-37DC-CB81-EE1B4FF751BF}"/>
              </a:ext>
            </a:extLst>
          </p:cNvPr>
          <p:cNvSpPr txBox="1"/>
          <p:nvPr/>
        </p:nvSpPr>
        <p:spPr>
          <a:xfrm>
            <a:off x="571499" y="6327213"/>
            <a:ext cx="11059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Jasanoff, S. S. (1987). Contested Boundaries in Policy-Relevant Science, </a:t>
            </a:r>
            <a:r>
              <a:rPr lang="en-US" altLang="ko-KR" sz="1400" i="1" dirty="0"/>
              <a:t>Social Studies of Science, 17 </a:t>
            </a:r>
            <a:r>
              <a:rPr lang="en-US" altLang="ko-KR" sz="1400" dirty="0"/>
              <a:t>(2), 195-230.</a:t>
            </a:r>
          </a:p>
        </p:txBody>
      </p:sp>
    </p:spTree>
    <p:extLst>
      <p:ext uri="{BB962C8B-B14F-4D97-AF65-F5344CB8AC3E}">
        <p14:creationId xmlns:p14="http://schemas.microsoft.com/office/powerpoint/2010/main" val="3229456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72A47-D215-D6D5-161F-1C267EEF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848082"/>
            <a:ext cx="11049000" cy="1161836"/>
          </a:xfrm>
        </p:spPr>
        <p:txBody>
          <a:bodyPr>
            <a:noAutofit/>
          </a:bodyPr>
          <a:lstStyle/>
          <a:p>
            <a:pPr algn="ctr"/>
            <a:r>
              <a:rPr lang="en-US" altLang="ko-KR" sz="9600" dirty="0"/>
              <a:t>Thank you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57891815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3864</Words>
  <Application>Microsoft Office PowerPoint</Application>
  <PresentationFormat>와이드스크린</PresentationFormat>
  <Paragraphs>305</Paragraphs>
  <Slides>20</Slides>
  <Notes>18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Noto Serif KR Black</vt:lpstr>
      <vt:lpstr>맑은 고딕</vt:lpstr>
      <vt:lpstr>Batang</vt:lpstr>
      <vt:lpstr>Arial</vt:lpstr>
      <vt:lpstr>Avenir Next LT Pro Light</vt:lpstr>
      <vt:lpstr>AlignmentVTI</vt:lpstr>
      <vt:lpstr>과학적 사실은 어떻게 다뤄지는가? 실험실의 구성(Construction)에서 규제 정책의 해체(Deconstruction)까지</vt:lpstr>
      <vt:lpstr>객관적 과학? 과학적 사실?</vt:lpstr>
      <vt:lpstr>낯선 부족을 관찰하는 ‘인류학자’의 시선</vt:lpstr>
      <vt:lpstr>기입 장치와 현상기술</vt:lpstr>
      <vt:lpstr>연구의 분업화</vt:lpstr>
      <vt:lpstr>연구의 분업화</vt:lpstr>
      <vt:lpstr>연구의 분업화</vt:lpstr>
      <vt:lpstr>문서와 사실 – 5 Statement Types</vt:lpstr>
      <vt:lpstr>문서와 사실 – 5 Statement Types</vt:lpstr>
      <vt:lpstr>모달리티(Modality)의 조작과 사실의 탄생</vt:lpstr>
      <vt:lpstr>물질적 조건의 은폐</vt:lpstr>
      <vt:lpstr>규제 정책의 링, 그리고 과학의 해체</vt:lpstr>
      <vt:lpstr>트랜스-과학 vs 과학 정책</vt:lpstr>
      <vt:lpstr>포름알데히드 발암성 논쟁</vt:lpstr>
      <vt:lpstr>위해성 평가와 위해성 관리</vt:lpstr>
      <vt:lpstr>동료 평가(Peer Review)의 동상이몽</vt:lpstr>
      <vt:lpstr>본질적으로 논쟁적인 (Essentially Contested) 언어</vt:lpstr>
      <vt:lpstr>결론: Lifecycle of a “(Scientific) Fact”</vt:lpstr>
      <vt:lpstr>Discussion 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Jongbeen Song</dc:creator>
  <cp:lastModifiedBy>Jongbeen Song</cp:lastModifiedBy>
  <cp:revision>5</cp:revision>
  <dcterms:created xsi:type="dcterms:W3CDTF">2026-02-13T15:35:19Z</dcterms:created>
  <dcterms:modified xsi:type="dcterms:W3CDTF">2026-05-13T22:56:11Z</dcterms:modified>
</cp:coreProperties>
</file>