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14.xml" ContentType="application/vnd.openxmlformats-officedocument.presentationml.notesSl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notesSlides/notesSlide17.xml" ContentType="application/vnd.openxmlformats-officedocument.presentationml.notesSlid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notesSlides/notesSlide18.xml" ContentType="application/vnd.openxmlformats-officedocument.presentationml.notesSlid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5" r:id="rId1"/>
  </p:sldMasterIdLst>
  <p:notesMasterIdLst>
    <p:notesMasterId r:id="rId35"/>
  </p:notesMasterIdLst>
  <p:sldIdLst>
    <p:sldId id="288" r:id="rId2"/>
    <p:sldId id="257" r:id="rId3"/>
    <p:sldId id="353" r:id="rId4"/>
    <p:sldId id="354" r:id="rId5"/>
    <p:sldId id="355" r:id="rId6"/>
    <p:sldId id="356" r:id="rId7"/>
    <p:sldId id="357" r:id="rId8"/>
    <p:sldId id="348" r:id="rId9"/>
    <p:sldId id="349" r:id="rId10"/>
    <p:sldId id="350" r:id="rId11"/>
    <p:sldId id="351" r:id="rId12"/>
    <p:sldId id="352" r:id="rId13"/>
    <p:sldId id="360" r:id="rId14"/>
    <p:sldId id="361" r:id="rId15"/>
    <p:sldId id="362" r:id="rId16"/>
    <p:sldId id="363" r:id="rId17"/>
    <p:sldId id="364" r:id="rId18"/>
    <p:sldId id="365" r:id="rId19"/>
    <p:sldId id="366" r:id="rId20"/>
    <p:sldId id="367" r:id="rId21"/>
    <p:sldId id="368" r:id="rId22"/>
    <p:sldId id="370" r:id="rId23"/>
    <p:sldId id="372" r:id="rId24"/>
    <p:sldId id="371" r:id="rId25"/>
    <p:sldId id="373" r:id="rId26"/>
    <p:sldId id="374" r:id="rId27"/>
    <p:sldId id="375" r:id="rId28"/>
    <p:sldId id="376" r:id="rId29"/>
    <p:sldId id="377" r:id="rId30"/>
    <p:sldId id="358" r:id="rId31"/>
    <p:sldId id="359" r:id="rId32"/>
    <p:sldId id="378" r:id="rId33"/>
    <p:sldId id="265" r:id="rId3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9E5ECE"/>
    <a:srgbClr val="E2E5E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6242" autoAdjust="0"/>
  </p:normalViewPr>
  <p:slideViewPr>
    <p:cSldViewPr snapToGrid="0">
      <p:cViewPr>
        <p:scale>
          <a:sx n="50" d="100"/>
          <a:sy n="50" d="100"/>
        </p:scale>
        <p:origin x="2910" y="13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.xlsx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dirty="0" err="1"/>
              <a:t>회사수</a:t>
            </a:r>
            <a:r>
              <a:rPr lang="ko-KR" altLang="en-US" dirty="0"/>
              <a:t> 및 수익비중</a:t>
            </a:r>
            <a:r>
              <a:rPr lang="ko-KR" altLang="en-US" baseline="0" dirty="0"/>
              <a:t> 변화 그래프</a:t>
            </a:r>
            <a:endParaRPr lang="ko-KR" altLang="en-US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 alt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총회사수</c:v>
                </c:pt>
              </c:strCache>
            </c:strRef>
          </c:tx>
          <c:spPr>
            <a:solidFill>
              <a:schemeClr val="bg2">
                <a:lumMod val="90000"/>
              </a:schemeClr>
            </a:solidFill>
            <a:ln>
              <a:noFill/>
            </a:ln>
            <a:effectLst/>
          </c:spPr>
          <c:invertIfNegative val="0"/>
          <c:cat>
            <c:numRef>
              <c:f>Sheet1!$A$2:$A$6</c:f>
              <c:numCache>
                <c:formatCode>General</c:formatCode>
                <c:ptCount val="5"/>
                <c:pt idx="0">
                  <c:v>2020</c:v>
                </c:pt>
                <c:pt idx="1">
                  <c:v>2021</c:v>
                </c:pt>
                <c:pt idx="2">
                  <c:v>2022</c:v>
                </c:pt>
                <c:pt idx="3">
                  <c:v>2023</c:v>
                </c:pt>
                <c:pt idx="4">
                  <c:v>2024</c:v>
                </c:pt>
              </c:numCache>
            </c:numRef>
          </c:cat>
          <c:val>
            <c:numRef>
              <c:f>Sheet1!$B$2:$B$6</c:f>
              <c:numCache>
                <c:formatCode>#,##0</c:formatCode>
                <c:ptCount val="5"/>
                <c:pt idx="0">
                  <c:v>73</c:v>
                </c:pt>
                <c:pt idx="1">
                  <c:v>77</c:v>
                </c:pt>
                <c:pt idx="2">
                  <c:v>78</c:v>
                </c:pt>
                <c:pt idx="3">
                  <c:v>82</c:v>
                </c:pt>
                <c:pt idx="4">
                  <c:v>84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953-4338-883D-8652010B0B4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755126943"/>
        <c:axId val="1755116863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정책수익비중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numRef>
              <c:f>Sheet1!$A$2:$A$6</c:f>
              <c:numCache>
                <c:formatCode>General</c:formatCode>
                <c:ptCount val="5"/>
                <c:pt idx="0">
                  <c:v>2020</c:v>
                </c:pt>
                <c:pt idx="1">
                  <c:v>2021</c:v>
                </c:pt>
                <c:pt idx="2">
                  <c:v>2022</c:v>
                </c:pt>
                <c:pt idx="3">
                  <c:v>2023</c:v>
                </c:pt>
                <c:pt idx="4">
                  <c:v>2024</c:v>
                </c:pt>
              </c:numCache>
            </c:numRef>
          </c:cat>
          <c:val>
            <c:numRef>
              <c:f>Sheet1!$C$2:$C$6</c:f>
              <c:numCache>
                <c:formatCode>#,##0.00</c:formatCode>
                <c:ptCount val="5"/>
                <c:pt idx="0">
                  <c:v>0.64383561643835618</c:v>
                </c:pt>
                <c:pt idx="1">
                  <c:v>0.70129870129870131</c:v>
                </c:pt>
                <c:pt idx="2">
                  <c:v>0.73750000000000004</c:v>
                </c:pt>
                <c:pt idx="3">
                  <c:v>0.69512195121951215</c:v>
                </c:pt>
                <c:pt idx="4">
                  <c:v>0.58333333333333337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5953-4338-883D-8652010B0B4E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사업화수익비중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cat>
            <c:numRef>
              <c:f>Sheet1!$A$2:$A$6</c:f>
              <c:numCache>
                <c:formatCode>General</c:formatCode>
                <c:ptCount val="5"/>
                <c:pt idx="0">
                  <c:v>2020</c:v>
                </c:pt>
                <c:pt idx="1">
                  <c:v>2021</c:v>
                </c:pt>
                <c:pt idx="2">
                  <c:v>2022</c:v>
                </c:pt>
                <c:pt idx="3">
                  <c:v>2023</c:v>
                </c:pt>
                <c:pt idx="4">
                  <c:v>2024</c:v>
                </c:pt>
              </c:numCache>
            </c:numRef>
          </c:cat>
          <c:val>
            <c:numRef>
              <c:f>Sheet1!$D$2:$D$6</c:f>
              <c:numCache>
                <c:formatCode>#,##0.00</c:formatCode>
                <c:ptCount val="5"/>
                <c:pt idx="0">
                  <c:v>0.36986301369863012</c:v>
                </c:pt>
                <c:pt idx="1">
                  <c:v>0.48051948051948051</c:v>
                </c:pt>
                <c:pt idx="2">
                  <c:v>0.52500000000000002</c:v>
                </c:pt>
                <c:pt idx="3">
                  <c:v>0.56097560975609762</c:v>
                </c:pt>
                <c:pt idx="4">
                  <c:v>0.59523809523809523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5953-4338-883D-8652010B0B4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755128383"/>
        <c:axId val="1755123103"/>
      </c:lineChart>
      <c:catAx>
        <c:axId val="175512694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755116863"/>
        <c:crosses val="autoZero"/>
        <c:auto val="1"/>
        <c:lblAlgn val="ctr"/>
        <c:lblOffset val="100"/>
        <c:noMultiLvlLbl val="0"/>
      </c:catAx>
      <c:valAx>
        <c:axId val="175511686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755126943"/>
        <c:crosses val="autoZero"/>
        <c:crossBetween val="between"/>
      </c:valAx>
      <c:valAx>
        <c:axId val="1755123103"/>
        <c:scaling>
          <c:orientation val="minMax"/>
        </c:scaling>
        <c:delete val="0"/>
        <c:axPos val="r"/>
        <c:numFmt formatCode="#,##0.00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755128383"/>
        <c:crosses val="max"/>
        <c:crossBetween val="between"/>
      </c:valAx>
      <c:catAx>
        <c:axId val="1755128383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1755123103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dirty="0" err="1"/>
              <a:t>회사수</a:t>
            </a:r>
            <a:r>
              <a:rPr lang="ko-KR" altLang="en-US" dirty="0"/>
              <a:t> 및 수익비중</a:t>
            </a:r>
            <a:r>
              <a:rPr lang="ko-KR" altLang="en-US" baseline="0" dirty="0"/>
              <a:t> 변화 그래프</a:t>
            </a:r>
            <a:endParaRPr lang="ko-KR" altLang="en-US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 alt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총회사수</c:v>
                </c:pt>
              </c:strCache>
            </c:strRef>
          </c:tx>
          <c:spPr>
            <a:solidFill>
              <a:schemeClr val="bg2">
                <a:lumMod val="90000"/>
              </a:schemeClr>
            </a:solidFill>
            <a:ln>
              <a:noFill/>
            </a:ln>
            <a:effectLst/>
          </c:spPr>
          <c:invertIfNegative val="0"/>
          <c:cat>
            <c:numRef>
              <c:f>Sheet1!$A$2:$A$6</c:f>
              <c:numCache>
                <c:formatCode>General</c:formatCode>
                <c:ptCount val="5"/>
                <c:pt idx="0">
                  <c:v>2020</c:v>
                </c:pt>
                <c:pt idx="1">
                  <c:v>2021</c:v>
                </c:pt>
                <c:pt idx="2">
                  <c:v>2022</c:v>
                </c:pt>
                <c:pt idx="3">
                  <c:v>2023</c:v>
                </c:pt>
                <c:pt idx="4">
                  <c:v>2024</c:v>
                </c:pt>
              </c:numCache>
            </c:numRef>
          </c:cat>
          <c:val>
            <c:numRef>
              <c:f>Sheet1!$B$2:$B$6</c:f>
              <c:numCache>
                <c:formatCode>#,##0</c:formatCode>
                <c:ptCount val="5"/>
                <c:pt idx="0">
                  <c:v>73</c:v>
                </c:pt>
                <c:pt idx="1">
                  <c:v>77</c:v>
                </c:pt>
                <c:pt idx="2">
                  <c:v>78</c:v>
                </c:pt>
                <c:pt idx="3">
                  <c:v>82</c:v>
                </c:pt>
                <c:pt idx="4">
                  <c:v>84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953-4338-883D-8652010B0B4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755126943"/>
        <c:axId val="1755116863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이중형비중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numRef>
              <c:f>Sheet1!$A$2:$A$6</c:f>
              <c:numCache>
                <c:formatCode>General</c:formatCode>
                <c:ptCount val="5"/>
                <c:pt idx="0">
                  <c:v>2020</c:v>
                </c:pt>
                <c:pt idx="1">
                  <c:v>2021</c:v>
                </c:pt>
                <c:pt idx="2">
                  <c:v>2022</c:v>
                </c:pt>
                <c:pt idx="3">
                  <c:v>2023</c:v>
                </c:pt>
                <c:pt idx="4">
                  <c:v>2024</c:v>
                </c:pt>
              </c:numCache>
            </c:numRef>
          </c:cat>
          <c:val>
            <c:numRef>
              <c:f>Sheet1!$C$2:$C$6</c:f>
              <c:numCache>
                <c:formatCode>#,##0.00</c:formatCode>
                <c:ptCount val="5"/>
                <c:pt idx="0">
                  <c:v>0.25</c:v>
                </c:pt>
                <c:pt idx="1">
                  <c:v>0.43</c:v>
                </c:pt>
                <c:pt idx="2">
                  <c:v>0.48</c:v>
                </c:pt>
                <c:pt idx="3">
                  <c:v>0.5</c:v>
                </c:pt>
                <c:pt idx="4">
                  <c:v>0.4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5953-4338-883D-8652010B0B4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755128383"/>
        <c:axId val="1755123103"/>
      </c:lineChart>
      <c:catAx>
        <c:axId val="175512694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755116863"/>
        <c:crosses val="autoZero"/>
        <c:auto val="1"/>
        <c:lblAlgn val="ctr"/>
        <c:lblOffset val="100"/>
        <c:noMultiLvlLbl val="0"/>
      </c:catAx>
      <c:valAx>
        <c:axId val="175511686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755126943"/>
        <c:crosses val="autoZero"/>
        <c:crossBetween val="between"/>
      </c:valAx>
      <c:valAx>
        <c:axId val="1755123103"/>
        <c:scaling>
          <c:orientation val="minMax"/>
        </c:scaling>
        <c:delete val="0"/>
        <c:axPos val="r"/>
        <c:numFmt formatCode="#,##0.00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755128383"/>
        <c:crosses val="max"/>
        <c:crossBetween val="between"/>
      </c:valAx>
      <c:catAx>
        <c:axId val="1755128383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1755123103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이중형</c:v>
                </c:pt>
              </c:strCache>
            </c:strRef>
          </c:tx>
          <c:spPr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초기 (0~3년)</c:v>
                </c:pt>
                <c:pt idx="1">
                  <c:v>중기 (4~7년)</c:v>
                </c:pt>
                <c:pt idx="2">
                  <c:v>성숙기 (8년 이상)</c:v>
                </c:pt>
              </c:strCache>
            </c:strRef>
          </c:cat>
          <c:val>
            <c:numRef>
              <c:f>Sheet1!$B$2:$B$4</c:f>
              <c:numCache>
                <c:formatCode>#,##0.00</c:formatCode>
                <c:ptCount val="3"/>
                <c:pt idx="0">
                  <c:v>7.2289156626506021E-2</c:v>
                </c:pt>
                <c:pt idx="1">
                  <c:v>0.45833333333333331</c:v>
                </c:pt>
                <c:pt idx="2">
                  <c:v>0.54166666666666663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9F0-4DB7-BE9F-585862CB894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사업형</c:v>
                </c:pt>
              </c:strCache>
            </c:strRef>
          </c:tx>
          <c:spPr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초기 (0~3년)</c:v>
                </c:pt>
                <c:pt idx="1">
                  <c:v>중기 (4~7년)</c:v>
                </c:pt>
                <c:pt idx="2">
                  <c:v>성숙기 (8년 이상)</c:v>
                </c:pt>
              </c:strCache>
            </c:strRef>
          </c:cat>
          <c:val>
            <c:numRef>
              <c:f>Sheet1!$C$2:$C$4</c:f>
              <c:numCache>
                <c:formatCode>#,##0.00</c:formatCode>
                <c:ptCount val="3"/>
                <c:pt idx="0">
                  <c:v>0.108433734939759</c:v>
                </c:pt>
                <c:pt idx="1">
                  <c:v>9.7222222222222224E-2</c:v>
                </c:pt>
                <c:pt idx="2">
                  <c:v>8.9285714285714288E-2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9F0-4DB7-BE9F-585862CB894F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무수익형</c:v>
                </c:pt>
              </c:strCache>
            </c:strRef>
          </c:tx>
          <c:spPr>
            <a:solidFill>
              <a:schemeClr val="accent4">
                <a:lumMod val="40000"/>
                <a:lumOff val="60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초기 (0~3년)</c:v>
                </c:pt>
                <c:pt idx="1">
                  <c:v>중기 (4~7년)</c:v>
                </c:pt>
                <c:pt idx="2">
                  <c:v>성숙기 (8년 이상)</c:v>
                </c:pt>
              </c:strCache>
            </c:strRef>
          </c:cat>
          <c:val>
            <c:numRef>
              <c:f>Sheet1!$D$2:$D$4</c:f>
              <c:numCache>
                <c:formatCode>#,##0.00</c:formatCode>
                <c:ptCount val="3"/>
                <c:pt idx="0">
                  <c:v>0.38554216867469882</c:v>
                </c:pt>
                <c:pt idx="1">
                  <c:v>0.20833333333333329</c:v>
                </c:pt>
                <c:pt idx="2">
                  <c:v>0.1785714285714286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59F0-4DB7-BE9F-585862CB894F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정책형</c:v>
                </c:pt>
              </c:strCache>
            </c:strRef>
          </c:tx>
          <c:spPr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초기 (0~3년)</c:v>
                </c:pt>
                <c:pt idx="1">
                  <c:v>중기 (4~7년)</c:v>
                </c:pt>
                <c:pt idx="2">
                  <c:v>성숙기 (8년 이상)</c:v>
                </c:pt>
              </c:strCache>
            </c:strRef>
          </c:cat>
          <c:val>
            <c:numRef>
              <c:f>Sheet1!$E$2:$E$4</c:f>
              <c:numCache>
                <c:formatCode>#,##0.00</c:formatCode>
                <c:ptCount val="3"/>
                <c:pt idx="0">
                  <c:v>0.43373493975903621</c:v>
                </c:pt>
                <c:pt idx="1">
                  <c:v>0.2361111111111111</c:v>
                </c:pt>
                <c:pt idx="2">
                  <c:v>0.19047619047619049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59F0-4DB7-BE9F-585862CB894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1975990576"/>
        <c:axId val="1975986256"/>
      </c:barChart>
      <c:catAx>
        <c:axId val="197599057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975986256"/>
        <c:crosses val="autoZero"/>
        <c:auto val="1"/>
        <c:lblAlgn val="ctr"/>
        <c:lblOffset val="100"/>
        <c:noMultiLvlLbl val="0"/>
      </c:catAx>
      <c:valAx>
        <c:axId val="197598625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.0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97599057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이중형</c:v>
                </c:pt>
              </c:strCache>
            </c:strRef>
          </c:tx>
          <c:spPr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공동형</c:v>
                </c:pt>
                <c:pt idx="1">
                  <c:v>단독형</c:v>
                </c:pt>
              </c:strCache>
            </c:strRef>
          </c:cat>
          <c:val>
            <c:numRef>
              <c:f>Sheet1!$B$2:$B$3</c:f>
              <c:numCache>
                <c:formatCode>#,##0.00</c:formatCode>
                <c:ptCount val="2"/>
                <c:pt idx="0">
                  <c:v>0.7</c:v>
                </c:pt>
                <c:pt idx="1">
                  <c:v>0.38202247191011229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9F0-4DB7-BE9F-585862CB894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사업형</c:v>
                </c:pt>
              </c:strCache>
            </c:strRef>
          </c:tx>
          <c:spPr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공동형</c:v>
                </c:pt>
                <c:pt idx="1">
                  <c:v>단독형</c:v>
                </c:pt>
              </c:strCache>
            </c:strRef>
          </c:cat>
          <c:val>
            <c:numRef>
              <c:f>Sheet1!$C$2:$C$3</c:f>
              <c:numCache>
                <c:formatCode>#,##0.00</c:formatCode>
                <c:ptCount val="2"/>
                <c:pt idx="0">
                  <c:v>2.5000000000000001E-2</c:v>
                </c:pt>
                <c:pt idx="1">
                  <c:v>0.1039325842696629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9F0-4DB7-BE9F-585862CB894F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무수익형</c:v>
                </c:pt>
              </c:strCache>
            </c:strRef>
          </c:tx>
          <c:spPr>
            <a:solidFill>
              <a:schemeClr val="accent4">
                <a:lumMod val="40000"/>
                <a:lumOff val="60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공동형</c:v>
                </c:pt>
                <c:pt idx="1">
                  <c:v>단독형</c:v>
                </c:pt>
              </c:strCache>
            </c:strRef>
          </c:cat>
          <c:val>
            <c:numRef>
              <c:f>Sheet1!$D$2:$D$3</c:f>
              <c:numCache>
                <c:formatCode>#,##0.00</c:formatCode>
                <c:ptCount val="2"/>
                <c:pt idx="0">
                  <c:v>0.1</c:v>
                </c:pt>
                <c:pt idx="1">
                  <c:v>0.24719101123595499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59F0-4DB7-BE9F-585862CB894F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정책형</c:v>
                </c:pt>
              </c:strCache>
            </c:strRef>
          </c:tx>
          <c:spPr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공동형</c:v>
                </c:pt>
                <c:pt idx="1">
                  <c:v>단독형</c:v>
                </c:pt>
              </c:strCache>
            </c:strRef>
          </c:cat>
          <c:val>
            <c:numRef>
              <c:f>Sheet1!$E$2:$E$3</c:f>
              <c:numCache>
                <c:formatCode>#,##0.00</c:formatCode>
                <c:ptCount val="2"/>
                <c:pt idx="0">
                  <c:v>0.17499999999999999</c:v>
                </c:pt>
                <c:pt idx="1">
                  <c:v>0.26685393258426959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59F0-4DB7-BE9F-585862CB894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1975990576"/>
        <c:axId val="1975986256"/>
      </c:barChart>
      <c:catAx>
        <c:axId val="197599057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975986256"/>
        <c:crosses val="autoZero"/>
        <c:auto val="1"/>
        <c:lblAlgn val="ctr"/>
        <c:lblOffset val="100"/>
        <c:noMultiLvlLbl val="0"/>
      </c:catAx>
      <c:valAx>
        <c:axId val="197598625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.0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97599057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정책수익비중</c:v>
                </c:pt>
              </c:strCache>
            </c:strRef>
          </c:tx>
          <c:spPr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비수도권</c:v>
                </c:pt>
                <c:pt idx="1">
                  <c:v>수도권</c:v>
                </c:pt>
              </c:strCache>
            </c:strRef>
          </c:cat>
          <c:val>
            <c:numRef>
              <c:f>Sheet1!$B$2:$B$3</c:f>
              <c:numCache>
                <c:formatCode>#,##0.00</c:formatCode>
                <c:ptCount val="2"/>
                <c:pt idx="0">
                  <c:v>0.69327731092436973</c:v>
                </c:pt>
                <c:pt idx="1">
                  <c:v>0.63924050632911389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765-4D9B-B087-85FA9AC374B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사업화수익비중</c:v>
                </c:pt>
              </c:strCache>
            </c:strRef>
          </c:tx>
          <c:spPr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비수도권</c:v>
                </c:pt>
                <c:pt idx="1">
                  <c:v>수도권</c:v>
                </c:pt>
              </c:strCache>
            </c:strRef>
          </c:cat>
          <c:val>
            <c:numRef>
              <c:f>Sheet1!$C$2:$C$3</c:f>
              <c:numCache>
                <c:formatCode>#,##0.00</c:formatCode>
                <c:ptCount val="2"/>
                <c:pt idx="0">
                  <c:v>0.50420168067226889</c:v>
                </c:pt>
                <c:pt idx="1">
                  <c:v>0.51898734177215189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F765-4D9B-B087-85FA9AC374B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976047696"/>
        <c:axId val="1976054896"/>
      </c:barChart>
      <c:catAx>
        <c:axId val="197604769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976054896"/>
        <c:crosses val="autoZero"/>
        <c:auto val="1"/>
        <c:lblAlgn val="ctr"/>
        <c:lblOffset val="100"/>
        <c:noMultiLvlLbl val="0"/>
      </c:catAx>
      <c:valAx>
        <c:axId val="197605489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.0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97604769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9CB8D08-34DA-4F78-8F9A-57C08BEFE083}" type="datetimeFigureOut">
              <a:rPr lang="ko-KR" altLang="en-US" smtClean="0"/>
              <a:t>2026-06-10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E8D9D0D-256A-4334-8FBF-FD40B2DA71A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415829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8D9D0D-256A-4334-8FBF-FD40B2DA71AA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9440009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9B54E4-A373-96BD-EFDC-3223438C4C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00CE58B-F42E-737A-4EDB-F898520431E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C7B96DB-162A-967A-606E-E7B1BA47D8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C2C25E1-BE6D-C691-6B3D-045A503069E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8D9D0D-256A-4334-8FBF-FD40B2DA71AA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3084877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9840CE-F255-3AA9-198B-20748745E6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659C8D8-4D12-0E1C-8E8D-CDF8AD9292A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B8B3B59-43BC-8F9C-0E17-3F882ED4875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0E55DA5-9242-A589-7806-DD20F42ED2D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8D9D0D-256A-4334-8FBF-FD40B2DA71AA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2280951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02EF1A-E943-BB39-0F39-456945A3E5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3673395-42E3-5E0A-5F6F-0932E09C7F2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7451D41-B2F9-5DD2-68AF-08FFBD7E8D9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825E918-3699-AA30-C0BC-F6E37822786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8D9D0D-256A-4334-8FBF-FD40B2DA71AA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863806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2F3880-0389-5E81-71DE-3753B6E56C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AA7112E-BCC9-6583-B62B-3E88C337428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80AEAB2-9F25-9A3A-4D65-102C80C2D8B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07513C5-5064-D210-8741-7ED11AFD706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8D9D0D-256A-4334-8FBF-FD40B2DA71AA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7860323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246FE8-2068-5129-9EBD-98D84A9330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998043A-8821-A560-0D8C-F55428EFBAD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3701EEE-6E34-3058-B880-92A93A85BFB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CD627F8-3D44-96FE-563D-0C8474C7A9C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8D9D0D-256A-4334-8FBF-FD40B2DA71AA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0583398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BD8E1B-9EF4-321E-0A3F-5003884021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D3E9D83-ACDD-07AA-C8C1-531294748AC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C8630E0-69C2-8251-E072-9B10879798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D8E9B79-02F0-4DD6-F5D6-BB9E865F0DB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8D9D0D-256A-4334-8FBF-FD40B2DA71AA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6549191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82B9E6-123C-A172-6BF2-00DF0947A3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3D7DDC8-3B20-1638-797A-2D7F99305FC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5540213-57A2-E893-F3B8-C1693C1A11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4405982-8B8D-6C26-2057-77304C9CB95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8D9D0D-256A-4334-8FBF-FD40B2DA71AA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8588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A12D84-858A-C0F5-4A1E-6B29D6D094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707134D-0241-1F4E-2696-4A6AFC5946F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98E9F92-DF40-1675-5278-E049A1B502A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90FA9A4-F04B-7AE8-6ACF-7922ABD5B15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8D9D0D-256A-4334-8FBF-FD40B2DA71AA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3208147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B578E6-8ADE-41CB-91A4-E0E3655C10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1B25433-C60F-F4FE-6B50-C3F86BBE1D6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E7C5F94-F329-1964-DDD2-D4E910C9D89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BAE75BA-CD2D-16C6-757E-6A243A090E1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8D9D0D-256A-4334-8FBF-FD40B2DA71AA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471310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1D4BC7-B808-8461-85FE-433A4ACF28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4BC7FEB-94CD-3FA0-249C-27778AC266A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C404468-06D3-643F-0865-E2B91F8031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530FC8B-9344-396F-1AC8-918CAF40FEB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8D9D0D-256A-4334-8FBF-FD40B2DA71AA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3505277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816AC2-AF27-EF58-3403-ACDAE4775A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5A20A97-F55D-5708-612D-F2055CA425B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53A9F77-E8F4-5776-DA37-986B10AAFD2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D1CAECD-4773-D5BE-BF8A-45A610B5AE1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8D9D0D-256A-4334-8FBF-FD40B2DA71AA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4413409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FB0DEF-A814-1CE5-96C7-D00E678CE7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77A17C8-89E0-EACF-4F69-BEC0783D775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29430BB-A75E-6DAA-5957-CC7938B766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09015C6-C844-E576-E84F-380016B562C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8D9D0D-256A-4334-8FBF-FD40B2DA71AA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9294734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339D6E-F3ED-B8FB-F6F2-5236EEC28D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B16E950-A762-59DE-F878-A7425B7325E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D93C512-C78B-4D07-113E-86D2FA0ADE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87F99CE-2731-0B86-BD04-3E892BD2EA9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8D9D0D-256A-4334-8FBF-FD40B2DA71AA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9751821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4734E5-B1E7-BCF9-4939-875973700F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E827817-DE7D-044A-417D-DF8EC9E74F6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EDC14C4-6DCF-7A76-0DF3-6A21C89A4E6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8FB3728-3F55-7723-A651-983AB3940C7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8D9D0D-256A-4334-8FBF-FD40B2DA71AA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9729240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EE633A-465C-58E0-93E3-3B4AEBDDC5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F0E23DB-D3F6-CC30-B6E3-2E88B8D2B41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E517421-3937-67A5-E4A0-E6A87039CF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F22633C-F5EA-0926-ECB8-A9999CB4945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8D9D0D-256A-4334-8FBF-FD40B2DA71AA}" type="slidenum">
              <a:rPr lang="ko-KR" altLang="en-US" smtClean="0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6953937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A4823E-58F1-1269-D502-754EDD21BE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C8F283B-59D8-09DC-6607-957A3E3376D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E51D800-16CA-E26B-8C84-846A6BC2CDB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87299F2-4D98-6599-2617-A26EC96F67D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8D9D0D-256A-4334-8FBF-FD40B2DA71AA}" type="slidenum">
              <a:rPr lang="ko-KR" altLang="en-US" smtClean="0"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3563162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3A3F75-11F4-F264-0EA9-902E17A0FB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501972A-F33C-1CDD-DD08-E329C8F6AD0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3B7BCC3-9926-ECEC-65EF-1D1C7BE2EBA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5002F10-45B4-8709-4B5A-8344942A90E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8D9D0D-256A-4334-8FBF-FD40B2DA71AA}" type="slidenum">
              <a:rPr lang="ko-KR" altLang="en-US" smtClean="0"/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0026557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FA1AC3-C0FD-A3B8-D3F6-3C6292928E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11AAB9D-72A2-B3A6-37EC-4D608DFFF84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53BEEA9-526E-A718-12B6-0D83433623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1D19E65-E5C8-0FB1-4CE4-497C757A3E9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8D9D0D-256A-4334-8FBF-FD40B2DA71AA}" type="slidenum">
              <a:rPr lang="ko-KR" altLang="en-US" smtClean="0"/>
              <a:t>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6240424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92626E-CC1A-86C0-A7AC-3BD7A694F7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A19F387-3A64-4304-9EC0-5308A6FBD47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B0AB8AE-17F0-9101-4C51-A81EB1DD4E7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9C7BD8A-F8B8-F605-76B3-C1D7B255F24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8D9D0D-256A-4334-8FBF-FD40B2DA71AA}" type="slidenum">
              <a:rPr lang="ko-KR" altLang="en-US" smtClean="0"/>
              <a:t>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7973826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058EAE-7132-6F29-81A9-89A4715618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4FEFFC2-9092-F491-47DC-E9ED521C6B9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C286CB6-88CA-67C8-91C6-AA964EF4D1E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31D8B9E-6A63-C59A-F5D7-A558D1B6B85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8D9D0D-256A-4334-8FBF-FD40B2DA71AA}" type="slidenum">
              <a:rPr lang="ko-KR" altLang="en-US" smtClean="0"/>
              <a:t>22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6505271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77FBF4-D84B-451D-2C44-D111F24FC8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4F9405A-9404-696A-B763-D6B34A2DF25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EE7D52C-FF57-5416-1AB0-F06E7B1605A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1727BBC-C423-0B2B-08B8-716AF379806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8D9D0D-256A-4334-8FBF-FD40B2DA71AA}" type="slidenum">
              <a:rPr lang="ko-KR" altLang="en-US" smtClean="0"/>
              <a:t>23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9477387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B77CAF-41B9-310E-B178-1BD5DF7911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A9DFB8A-F1F0-1DD4-A480-9C22CADC592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D68ED28-3E06-FA2B-E4FE-1EBAE33417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932E85F-230A-B044-C0D8-1F4C02572C5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8D9D0D-256A-4334-8FBF-FD40B2DA71AA}" type="slidenum">
              <a:rPr lang="ko-KR" altLang="en-US" smtClean="0"/>
              <a:t>24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8683886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26744D-AC26-FAB9-1C44-488F8DAB2E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E429D23-BEE8-D2E1-A6F5-4E854FB93F8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AC5C654-100B-8DD0-BD23-785045F61A7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FC701B7-F2E8-FAE2-DF1D-0F3263E85D6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8D9D0D-256A-4334-8FBF-FD40B2DA71AA}" type="slidenum">
              <a:rPr lang="ko-KR" altLang="en-US" smtClean="0"/>
              <a:t>25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876382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395B08-C7D9-0437-79CC-1DE4EB56ED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2B66F85-BB08-D77B-5ABC-DA569374E0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976698D-B37A-6A08-2313-49346B8742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0135E1D-D0E0-1C4A-F714-82C0BAC7892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8D9D0D-256A-4334-8FBF-FD40B2DA71AA}" type="slidenum">
              <a:rPr lang="ko-KR" altLang="en-US" smtClean="0"/>
              <a:t>26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2389898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86EA82-72EA-081D-3413-E257FAAA3D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883235C-C10F-D7BB-8211-8BAAD7ED7E4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D70A150-A896-72F7-8338-A803397BFCA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ACF6699-7E75-091D-A79B-3762255CCB7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8D9D0D-256A-4334-8FBF-FD40B2DA71AA}" type="slidenum">
              <a:rPr lang="ko-KR" altLang="en-US" smtClean="0"/>
              <a:t>27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74680209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8468DB-A4DB-F77D-5DE7-6900CFF34F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A4DE037-3343-0EE4-FA78-7057ECE3AB9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8DACEFB-2D83-8A70-0D47-06D5542607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F7B596C-9F94-D99B-0DB1-856AA7CD807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8D9D0D-256A-4334-8FBF-FD40B2DA71AA}" type="slidenum">
              <a:rPr lang="ko-KR" altLang="en-US" smtClean="0"/>
              <a:t>28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33884054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974E92-70AF-D9A2-3337-6564475588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E84F571-9F41-508C-1A6B-304CE9CDDE4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C2FCCAC-AF2A-3BA1-58FE-EA72F7631A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8148EE8-B597-9980-FA2E-37C9B3C50D5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8D9D0D-256A-4334-8FBF-FD40B2DA71AA}" type="slidenum">
              <a:rPr lang="ko-KR" altLang="en-US" smtClean="0"/>
              <a:t>29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37855859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FF6F1E-6F16-095F-6069-CCA275D51F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CC4746D-75DD-18BD-5575-7ED771B30A7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D0D62D8-50AC-F443-2779-B2B4CF4CE0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A128400-9923-1D3F-A6DB-0F73D62318C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8D9D0D-256A-4334-8FBF-FD40B2DA71AA}" type="slidenum">
              <a:rPr lang="ko-KR" altLang="en-US" smtClean="0"/>
              <a:t>30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12378958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0ACC4F-D6D4-6910-040C-631A2A0369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4A17966-86FF-F0FB-56C9-65AA37571E7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1014984-C9FE-86E0-AB5A-58E0DFD394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09F2869-CC98-7971-60E9-1C12DE93B55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8D9D0D-256A-4334-8FBF-FD40B2DA71AA}" type="slidenum">
              <a:rPr lang="ko-KR" altLang="en-US" smtClean="0"/>
              <a:t>31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46293989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DC6FBA-72A0-A1BC-75CA-2354550152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C25791E-A0C1-8CE6-1175-DC6271D67EA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1BE2E75-C73F-2190-644B-BC93F783229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7A10F0E-D7DE-44CA-6D1B-A1257945063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8D9D0D-256A-4334-8FBF-FD40B2DA71AA}" type="slidenum">
              <a:rPr lang="ko-KR" altLang="en-US" smtClean="0"/>
              <a:t>32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129841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3D8E5E-745C-407D-B425-C78EBF08DF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1501" y="822960"/>
            <a:ext cx="6057899" cy="5015169"/>
          </a:xfrm>
        </p:spPr>
        <p:txBody>
          <a:bodyPr anchor="t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D07A4D5-56F4-4287-B174-56C55B18FD6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109113" y="3003642"/>
            <a:ext cx="3522199" cy="2900274"/>
          </a:xfrm>
        </p:spPr>
        <p:txBody>
          <a:bodyPr anchor="b">
            <a:normAutofit/>
          </a:bodyPr>
          <a:lstStyle>
            <a:lvl1pPr marL="0" indent="0" algn="l">
              <a:lnSpc>
                <a:spcPct val="130000"/>
              </a:lnSpc>
              <a:buNone/>
              <a:defRPr sz="1400" cap="all" spc="3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EB9C19-FEE0-4852-B181-14A0DD77F4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8322F6-1C60-46CF-968C-BC20E470F443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127DDF-01B7-463C-82BC-BBF4296182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B2056A-C3EE-4809-B1F3-1CEEEA266F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B83C2-341F-4C28-A243-1C56DDDA54D3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A240FCEE-B6E2-46D0-9BB0-F45F79545E9D}"/>
              </a:ext>
            </a:extLst>
          </p:cNvPr>
          <p:cNvCxnSpPr>
            <a:cxnSpLocks/>
          </p:cNvCxnSpPr>
          <p:nvPr/>
        </p:nvCxnSpPr>
        <p:spPr>
          <a:xfrm flipH="1">
            <a:off x="571501" y="571500"/>
            <a:ext cx="110598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BD2FB83-3783-4477-80B5-DA5BF10BAF57}"/>
              </a:ext>
            </a:extLst>
          </p:cNvPr>
          <p:cNvCxnSpPr>
            <a:cxnSpLocks/>
          </p:cNvCxnSpPr>
          <p:nvPr/>
        </p:nvCxnSpPr>
        <p:spPr>
          <a:xfrm>
            <a:off x="7742482" y="571500"/>
            <a:ext cx="0" cy="5715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E83EA203-71D5-49C0-9626-FFA8E46787B0}"/>
              </a:ext>
            </a:extLst>
          </p:cNvPr>
          <p:cNvCxnSpPr>
            <a:cxnSpLocks/>
          </p:cNvCxnSpPr>
          <p:nvPr/>
        </p:nvCxnSpPr>
        <p:spPr>
          <a:xfrm flipH="1">
            <a:off x="577485" y="6283518"/>
            <a:ext cx="110598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438354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0B2ED8-7F53-4C03-A740-493E507984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611087-99A9-4100-B5F7-520880DE32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1499" y="2075688"/>
            <a:ext cx="11059811" cy="39109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7B4B20-1A65-4A26-B11E-6095083A16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8322F6-1C60-46CF-968C-BC20E470F443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0D52D3-E985-4FEB-89B9-57C754711C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EA751A-C72D-47C1-A7A6-E8510A40CE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B83C2-341F-4C28-A243-1C56DDDA54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18202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581F78-07BF-45A9-92D4-E4E0A1E88D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1500" y="914255"/>
            <a:ext cx="6867115" cy="5009471"/>
          </a:xfrm>
        </p:spPr>
        <p:txBody>
          <a:bodyPr anchor="b">
            <a:normAutofit/>
          </a:bodyPr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CC2A83-A380-4828-BC68-C065C8BC5A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239817" y="914399"/>
            <a:ext cx="2370268" cy="2670273"/>
          </a:xfrm>
        </p:spPr>
        <p:txBody>
          <a:bodyPr anchor="t">
            <a:normAutofit/>
          </a:bodyPr>
          <a:lstStyle>
            <a:lvl1pPr marL="0" indent="0">
              <a:lnSpc>
                <a:spcPct val="130000"/>
              </a:lnSpc>
              <a:buNone/>
              <a:defRPr sz="1400" cap="all" spc="300" baseline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F92B2F-8804-4195-A779-F5C67C25CB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8322F6-1C60-46CF-968C-BC20E470F443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099C26-4411-4833-A917-A45E62D56A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68C7C7-F862-434D-A87A-DECE9FD2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B83C2-341F-4C28-A243-1C56DDDA54D3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40BAA4B-C4C0-40C1-8DC8-B4E2F8A68E12}"/>
              </a:ext>
            </a:extLst>
          </p:cNvPr>
          <p:cNvCxnSpPr>
            <a:cxnSpLocks/>
          </p:cNvCxnSpPr>
          <p:nvPr/>
        </p:nvCxnSpPr>
        <p:spPr>
          <a:xfrm>
            <a:off x="8872625" y="571500"/>
            <a:ext cx="0" cy="5715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C0A2259-2540-4B32-A999-2B46A6790E3D}"/>
              </a:ext>
            </a:extLst>
          </p:cNvPr>
          <p:cNvCxnSpPr>
            <a:cxnSpLocks/>
          </p:cNvCxnSpPr>
          <p:nvPr/>
        </p:nvCxnSpPr>
        <p:spPr>
          <a:xfrm flipH="1">
            <a:off x="566094" y="571500"/>
            <a:ext cx="110598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CEFB0ED-3F76-4403-AD0B-E738DD9D8CB6}"/>
              </a:ext>
            </a:extLst>
          </p:cNvPr>
          <p:cNvCxnSpPr>
            <a:cxnSpLocks/>
          </p:cNvCxnSpPr>
          <p:nvPr/>
        </p:nvCxnSpPr>
        <p:spPr>
          <a:xfrm flipH="1">
            <a:off x="577485" y="6283518"/>
            <a:ext cx="110598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952554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66BD5F-CF53-4DD5-B8C5-27BBA2BB88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1500" y="709684"/>
            <a:ext cx="11049000" cy="1057160"/>
          </a:xfrm>
        </p:spPr>
        <p:txBody>
          <a:bodyPr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76C2E1-5D5E-409F-BEE8-F48CE86F55C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79447" y="2074990"/>
            <a:ext cx="5181600" cy="41019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FBBF823-1BFB-4CF0-BAF4-D660C8F1AF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47082" y="2074990"/>
            <a:ext cx="5181600" cy="41019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6FF816E-EE02-44A4-8B81-B324ECFD74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8322F6-1C60-46CF-968C-BC20E470F443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34D9E4-A693-44D2-A3E8-E3AABC9052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54F669F-4B8E-415D-A9BF-AD451F452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B83C2-341F-4C28-A243-1C56DDDA54D3}" type="slidenum">
              <a:rPr lang="en-US" smtClean="0"/>
              <a:t>‹#›</a:t>
            </a:fld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20AF959-FCDC-4B92-9324-06A06C0D56F2}"/>
              </a:ext>
            </a:extLst>
          </p:cNvPr>
          <p:cNvCxnSpPr>
            <a:cxnSpLocks/>
          </p:cNvCxnSpPr>
          <p:nvPr/>
        </p:nvCxnSpPr>
        <p:spPr>
          <a:xfrm flipV="1">
            <a:off x="6101405" y="1883336"/>
            <a:ext cx="0" cy="439965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68059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FF85E5-82C4-4BAE-B2B0-A078ABD6C6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3469" y="699118"/>
            <a:ext cx="11025062" cy="1063601"/>
          </a:xfrm>
        </p:spPr>
        <p:txBody>
          <a:bodyPr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12D15C7-F445-40F7-88F6-FD6526269C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83468" y="2022883"/>
            <a:ext cx="5230469" cy="564079"/>
          </a:xfrm>
        </p:spPr>
        <p:txBody>
          <a:bodyPr anchor="ctr">
            <a:normAutofit/>
          </a:bodyPr>
          <a:lstStyle>
            <a:lvl1pPr marL="0" indent="0">
              <a:buNone/>
              <a:defRPr sz="16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B652C35-AA8E-4154-8A78-7DE9590E1F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83469" y="2866031"/>
            <a:ext cx="5157787" cy="32276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557EAC6-567C-4A4A-BB10-57EC14B97DD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441470" y="2022883"/>
            <a:ext cx="5183188" cy="564080"/>
          </a:xfrm>
        </p:spPr>
        <p:txBody>
          <a:bodyPr anchor="ctr">
            <a:normAutofit/>
          </a:bodyPr>
          <a:lstStyle>
            <a:lvl1pPr marL="0" indent="0">
              <a:buNone/>
              <a:defRPr sz="16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19A083F-AD60-4437-B32A-44035D78AF6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441470" y="2866031"/>
            <a:ext cx="5183188" cy="32276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9DBF86F-3266-4551-B680-06F401FFE6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8322F6-1C60-46CF-968C-BC20E470F443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55B38FE-80F9-4582-B2E1-B067C288DE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47BEF32-F637-47A1-9ED3-AFC4F79F37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B83C2-341F-4C28-A243-1C56DDDA54D3}" type="slidenum">
              <a:rPr lang="en-US" smtClean="0"/>
              <a:t>‹#›</a:t>
            </a:fld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0C508D4-7C99-4B8D-BCDE-F0001BD345D9}"/>
              </a:ext>
            </a:extLst>
          </p:cNvPr>
          <p:cNvCxnSpPr>
            <a:cxnSpLocks/>
          </p:cNvCxnSpPr>
          <p:nvPr/>
        </p:nvCxnSpPr>
        <p:spPr>
          <a:xfrm flipV="1">
            <a:off x="6101405" y="1883336"/>
            <a:ext cx="0" cy="439966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49BF61B-7951-48F4-982B-9401A483FFBF}"/>
              </a:ext>
            </a:extLst>
          </p:cNvPr>
          <p:cNvCxnSpPr>
            <a:cxnSpLocks/>
          </p:cNvCxnSpPr>
          <p:nvPr/>
        </p:nvCxnSpPr>
        <p:spPr>
          <a:xfrm flipH="1">
            <a:off x="577485" y="2738598"/>
            <a:ext cx="110598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433699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BA94CB-6BE5-4B9E-B0A6-54F83B201A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1500" y="717452"/>
            <a:ext cx="11049000" cy="1161836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5E8643C-1A5D-4F23-B0D7-5B46F5E456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8322F6-1C60-46CF-968C-BC20E470F443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C1A3394-78CC-43B0-9762-5E826F8BBF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C347F0A-1980-4E13-AB22-AE3B8AA440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B83C2-341F-4C28-A243-1C56DDDA54D3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E9D858B-8A9C-4235-B151-81C99A3D20D2}"/>
              </a:ext>
            </a:extLst>
          </p:cNvPr>
          <p:cNvCxnSpPr>
            <a:cxnSpLocks/>
          </p:cNvCxnSpPr>
          <p:nvPr/>
        </p:nvCxnSpPr>
        <p:spPr>
          <a:xfrm flipH="1">
            <a:off x="577485" y="571500"/>
            <a:ext cx="110598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6C7798B-3ECB-4076-8955-A82116BB0D25}"/>
              </a:ext>
            </a:extLst>
          </p:cNvPr>
          <p:cNvCxnSpPr>
            <a:cxnSpLocks/>
          </p:cNvCxnSpPr>
          <p:nvPr/>
        </p:nvCxnSpPr>
        <p:spPr>
          <a:xfrm flipH="1">
            <a:off x="577485" y="6283518"/>
            <a:ext cx="110598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975668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5C61D85-3E72-406F-AB26-B4ED949184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8322F6-1C60-46CF-968C-BC20E470F443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99C831E-4321-467E-9090-C89C48CF2F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8A9556-B3D8-4403-835F-11AE2D4098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B83C2-341F-4C28-A243-1C56DDDA54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20089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A0AA48-D521-423D-B185-6490EF57B9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2201" y="810344"/>
            <a:ext cx="3478084" cy="1408062"/>
          </a:xfrm>
        </p:spPr>
        <p:txBody>
          <a:bodyPr anchor="t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64E6DD-DDD2-4ED6-B8A9-A8B6D76565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19809" y="931232"/>
            <a:ext cx="6700679" cy="5079369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3F08F5E-AD33-4ACF-84C9-78B0FF6BE3A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71500" y="2578608"/>
            <a:ext cx="3478783" cy="341724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8D7604E-7DD4-4497-B325-74F899E8AC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8322F6-1C60-46CF-968C-BC20E470F443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F02BEED-A8F6-4256-9539-4434694AA1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EA1AA6-EE0B-48FD-A7DE-6CEE6A8C7D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B83C2-341F-4C28-A243-1C56DDDA54D3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3F35B32-9A23-4805-94A6-96826D202139}"/>
              </a:ext>
            </a:extLst>
          </p:cNvPr>
          <p:cNvCxnSpPr>
            <a:cxnSpLocks/>
          </p:cNvCxnSpPr>
          <p:nvPr/>
        </p:nvCxnSpPr>
        <p:spPr>
          <a:xfrm flipH="1">
            <a:off x="571500" y="571500"/>
            <a:ext cx="110598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62BA7DA-3944-40D4-91CD-40CA24DBB79B}"/>
              </a:ext>
            </a:extLst>
          </p:cNvPr>
          <p:cNvCxnSpPr>
            <a:cxnSpLocks/>
          </p:cNvCxnSpPr>
          <p:nvPr/>
        </p:nvCxnSpPr>
        <p:spPr>
          <a:xfrm flipV="1">
            <a:off x="4419601" y="571500"/>
            <a:ext cx="0" cy="5715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8BEA0B78-39E7-4039-B8BE-4F425688C6DF}"/>
              </a:ext>
            </a:extLst>
          </p:cNvPr>
          <p:cNvCxnSpPr>
            <a:cxnSpLocks/>
          </p:cNvCxnSpPr>
          <p:nvPr/>
        </p:nvCxnSpPr>
        <p:spPr>
          <a:xfrm flipH="1">
            <a:off x="571501" y="2406845"/>
            <a:ext cx="38481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D68B99C-0744-42EE-9713-AB0CEC3F5D85}"/>
              </a:ext>
            </a:extLst>
          </p:cNvPr>
          <p:cNvCxnSpPr>
            <a:cxnSpLocks/>
          </p:cNvCxnSpPr>
          <p:nvPr/>
        </p:nvCxnSpPr>
        <p:spPr>
          <a:xfrm flipH="1">
            <a:off x="577485" y="6283518"/>
            <a:ext cx="110598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700470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912732-5D39-4B30-A499-D51BABC882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1499" y="802204"/>
            <a:ext cx="3478787" cy="1408062"/>
          </a:xfrm>
        </p:spPr>
        <p:txBody>
          <a:bodyPr anchor="t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3AF5AEC-77BC-4A52-8A56-C6479CA6A29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723467" y="847384"/>
            <a:ext cx="6907844" cy="5216813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60A9240-8762-4C7D-AF22-A844CB2EC8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71498" y="2574906"/>
            <a:ext cx="3478787" cy="343571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9995685-E45D-4E74-8B78-D3B8E85C43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8322F6-1C60-46CF-968C-BC20E470F443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21FCBA3-0FF5-47C2-901A-645F6185D2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030381-5320-46AD-A0B9-7C04B3E5A2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B83C2-341F-4C28-A243-1C56DDDA54D3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357A432-D933-402A-8657-216EE20450EE}"/>
              </a:ext>
            </a:extLst>
          </p:cNvPr>
          <p:cNvCxnSpPr>
            <a:cxnSpLocks/>
          </p:cNvCxnSpPr>
          <p:nvPr/>
        </p:nvCxnSpPr>
        <p:spPr>
          <a:xfrm flipH="1">
            <a:off x="571500" y="571500"/>
            <a:ext cx="110598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1B1E0F3-D71B-436F-A10B-B6EA7125F684}"/>
              </a:ext>
            </a:extLst>
          </p:cNvPr>
          <p:cNvCxnSpPr>
            <a:cxnSpLocks/>
          </p:cNvCxnSpPr>
          <p:nvPr/>
        </p:nvCxnSpPr>
        <p:spPr>
          <a:xfrm flipV="1">
            <a:off x="4419601" y="571500"/>
            <a:ext cx="0" cy="5715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BDEE64F5-2B48-4A2E-BA5E-1D37F1A7C9A3}"/>
              </a:ext>
            </a:extLst>
          </p:cNvPr>
          <p:cNvCxnSpPr>
            <a:cxnSpLocks/>
          </p:cNvCxnSpPr>
          <p:nvPr/>
        </p:nvCxnSpPr>
        <p:spPr>
          <a:xfrm flipH="1">
            <a:off x="571501" y="2406845"/>
            <a:ext cx="38481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99BF9AA-A2C8-4233-B597-EB11C6D6A0E0}"/>
              </a:ext>
            </a:extLst>
          </p:cNvPr>
          <p:cNvCxnSpPr>
            <a:cxnSpLocks/>
          </p:cNvCxnSpPr>
          <p:nvPr/>
        </p:nvCxnSpPr>
        <p:spPr>
          <a:xfrm flipH="1">
            <a:off x="577485" y="6283518"/>
            <a:ext cx="110598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973220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799A0A-70FC-426A-8B3B-60FAF9806E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EF47EC6-9753-4ABC-BB66-64CCC8BA080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71499" y="2036363"/>
            <a:ext cx="11059811" cy="387077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884D9F-DC99-4B4C-98CF-178BBBB766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8322F6-1C60-46CF-968C-BC20E470F443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7A6840-AC0B-4260-8368-08E0A22D22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A5DAB8-EC07-4CCF-96EA-5D8ACDAE6E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B83C2-341F-4C28-A243-1C56DDDA54D3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0438F1AC-9961-4786-A189-20863DD97F68}"/>
              </a:ext>
            </a:extLst>
          </p:cNvPr>
          <p:cNvCxnSpPr>
            <a:cxnSpLocks/>
          </p:cNvCxnSpPr>
          <p:nvPr/>
        </p:nvCxnSpPr>
        <p:spPr>
          <a:xfrm flipH="1">
            <a:off x="571500" y="1780979"/>
            <a:ext cx="110598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494494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C75F678-EC03-4845-A51B-C90FA6A154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177953" y="797251"/>
            <a:ext cx="2483929" cy="528378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74A8B4D-A39F-4528-975A-9C84BEE778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66094" y="797251"/>
            <a:ext cx="8101072" cy="528378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5E4A23-6984-4AD1-A51D-600EDC2635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8322F6-1C60-46CF-968C-BC20E470F443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273E28-C341-49CC-BAAB-0C0D198212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26D54A-8E86-4026-8DD0-5B0979BB8C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B83C2-341F-4C28-A243-1C56DDDA54D3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CB05DA4-DF32-4D7A-9E4D-36309C90C5BB}"/>
              </a:ext>
            </a:extLst>
          </p:cNvPr>
          <p:cNvCxnSpPr>
            <a:cxnSpLocks/>
          </p:cNvCxnSpPr>
          <p:nvPr/>
        </p:nvCxnSpPr>
        <p:spPr>
          <a:xfrm flipH="1">
            <a:off x="566094" y="577110"/>
            <a:ext cx="110598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7CC7262-4997-41E4-976D-BA82E148280F}"/>
              </a:ext>
            </a:extLst>
          </p:cNvPr>
          <p:cNvCxnSpPr>
            <a:cxnSpLocks/>
          </p:cNvCxnSpPr>
          <p:nvPr/>
        </p:nvCxnSpPr>
        <p:spPr>
          <a:xfrm flipV="1">
            <a:off x="8875226" y="571500"/>
            <a:ext cx="0" cy="571149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F5063B5-E478-4C41-AD40-49A39AE07429}"/>
              </a:ext>
            </a:extLst>
          </p:cNvPr>
          <p:cNvCxnSpPr>
            <a:cxnSpLocks/>
          </p:cNvCxnSpPr>
          <p:nvPr/>
        </p:nvCxnSpPr>
        <p:spPr>
          <a:xfrm flipH="1">
            <a:off x="577485" y="6283518"/>
            <a:ext cx="110598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053358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9E1467D-9ED1-4211-A71E-41C91C755C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1500" y="689289"/>
            <a:ext cx="11049000" cy="10841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F8A6A1-C9C7-4FDF-B4DA-1E86B6A355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71499" y="2075688"/>
            <a:ext cx="11059811" cy="381808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ACC44A-C635-4CD0-90E9-D9503AF4CCF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036732" y="6397103"/>
            <a:ext cx="30919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 cap="all" spc="200" baseline="0">
                <a:solidFill>
                  <a:schemeClr val="tx1"/>
                </a:solidFill>
              </a:defRPr>
            </a:lvl1pPr>
          </a:lstStyle>
          <a:p>
            <a:fld id="{1C8322F6-1C60-46CF-968C-BC20E470F443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ABF682-1A47-492C-81E3-9DB0A50ECB1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75782" y="6397103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cap="all" spc="200" baseline="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CC814B-9105-44ED-98A9-D326B2E2605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24553" y="6397103"/>
            <a:ext cx="7007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5EEB83C2-341F-4C28-A243-1C56DDDA54D3}" type="slidenum">
              <a:rPr lang="en-US" smtClean="0"/>
              <a:t>‹#›</a:t>
            </a:fld>
            <a:endParaRPr lang="en-US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A6814345-41DE-42C5-8657-66C1417DF81A}"/>
              </a:ext>
            </a:extLst>
          </p:cNvPr>
          <p:cNvCxnSpPr>
            <a:cxnSpLocks/>
          </p:cNvCxnSpPr>
          <p:nvPr/>
        </p:nvCxnSpPr>
        <p:spPr>
          <a:xfrm flipH="1">
            <a:off x="566094" y="6286347"/>
            <a:ext cx="110598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E68E419-3727-4F5E-8840-AF149B33B0B7}"/>
              </a:ext>
            </a:extLst>
          </p:cNvPr>
          <p:cNvCxnSpPr>
            <a:cxnSpLocks/>
          </p:cNvCxnSpPr>
          <p:nvPr/>
        </p:nvCxnSpPr>
        <p:spPr>
          <a:xfrm flipH="1">
            <a:off x="577485" y="1883336"/>
            <a:ext cx="110598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519B6EC-D7AE-452F-8D0C-D11BD3377F3E}"/>
              </a:ext>
            </a:extLst>
          </p:cNvPr>
          <p:cNvCxnSpPr>
            <a:cxnSpLocks/>
          </p:cNvCxnSpPr>
          <p:nvPr/>
        </p:nvCxnSpPr>
        <p:spPr>
          <a:xfrm flipH="1">
            <a:off x="577485" y="571500"/>
            <a:ext cx="110598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562780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2" r:id="rId1"/>
    <p:sldLayoutId id="2147483733" r:id="rId2"/>
    <p:sldLayoutId id="2147483734" r:id="rId3"/>
    <p:sldLayoutId id="2147483724" r:id="rId4"/>
    <p:sldLayoutId id="2147483725" r:id="rId5"/>
    <p:sldLayoutId id="2147483730" r:id="rId6"/>
    <p:sldLayoutId id="2147483726" r:id="rId7"/>
    <p:sldLayoutId id="2147483727" r:id="rId8"/>
    <p:sldLayoutId id="2147483728" r:id="rId9"/>
    <p:sldLayoutId id="2147483729" r:id="rId10"/>
    <p:sldLayoutId id="214748373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 spc="-100" baseline="0">
          <a:solidFill>
            <a:schemeClr val="tx1"/>
          </a:solidFill>
          <a:latin typeface="Batang" panose="02030600000101010101" pitchFamily="18" charset="-127"/>
          <a:ea typeface="Batang" panose="02030600000101010101" pitchFamily="18" charset="-127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80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SzPct val="80000"/>
        <a:buFont typeface="Avenir Next LT Pro Light" panose="020B0304020202020204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28600" algn="l" defTabSz="914400" rtl="0" eaLnBrk="1" latinLnBrk="0" hangingPunct="1">
        <a:lnSpc>
          <a:spcPct val="120000"/>
        </a:lnSpc>
        <a:spcBef>
          <a:spcPts val="500"/>
        </a:spcBef>
        <a:buSzPct val="80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228600" algn="l" defTabSz="914400" rtl="0" eaLnBrk="1" latinLnBrk="0" hangingPunct="1">
        <a:lnSpc>
          <a:spcPct val="120000"/>
        </a:lnSpc>
        <a:spcBef>
          <a:spcPts val="500"/>
        </a:spcBef>
        <a:buSzPct val="80000"/>
        <a:buFont typeface="Avenir Next LT Pro Light" panose="020B0304020202020204" pitchFamily="34" charset="0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228600" algn="l" defTabSz="914400" rtl="0" eaLnBrk="1" latinLnBrk="0" hangingPunct="1">
        <a:lnSpc>
          <a:spcPct val="120000"/>
        </a:lnSpc>
        <a:spcBef>
          <a:spcPts val="500"/>
        </a:spcBef>
        <a:buSzPct val="80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1.jpe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4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1">
            <a:extLst>
              <a:ext uri="{FF2B5EF4-FFF2-40B4-BE49-F238E27FC236}">
                <a16:creationId xmlns:a16="http://schemas.microsoft.com/office/drawing/2014/main" id="{52EFEA85-236C-2B7C-8801-CA0257D68594}"/>
              </a:ext>
            </a:extLst>
          </p:cNvPr>
          <p:cNvSpPr txBox="1">
            <a:spLocks/>
          </p:cNvSpPr>
          <p:nvPr/>
        </p:nvSpPr>
        <p:spPr>
          <a:xfrm>
            <a:off x="433178" y="1031846"/>
            <a:ext cx="11325645" cy="1215547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 spc="-100" baseline="0">
                <a:solidFill>
                  <a:schemeClr val="tx1"/>
                </a:solidFill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ctr">
              <a:lnSpc>
                <a:spcPts val="6000"/>
              </a:lnSpc>
            </a:pPr>
            <a:r>
              <a:rPr lang="ko-KR" altLang="en-US" dirty="0"/>
              <a:t>산학연협력기술지주회사의 운영모델 변화 분석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B6D4EFC-803D-F5E1-188D-37AFC2FBCE04}"/>
              </a:ext>
            </a:extLst>
          </p:cNvPr>
          <p:cNvSpPr txBox="1"/>
          <p:nvPr/>
        </p:nvSpPr>
        <p:spPr>
          <a:xfrm>
            <a:off x="504280" y="2247393"/>
            <a:ext cx="111834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dirty="0"/>
              <a:t>Analysis of Changes in Business</a:t>
            </a:r>
            <a:r>
              <a:rPr lang="ko-KR" altLang="en-US" dirty="0"/>
              <a:t> </a:t>
            </a:r>
            <a:r>
              <a:rPr lang="en-US" altLang="ko-KR" dirty="0"/>
              <a:t>Model</a:t>
            </a:r>
            <a:r>
              <a:rPr lang="ko-KR" altLang="en-US" dirty="0"/>
              <a:t> </a:t>
            </a:r>
            <a:r>
              <a:rPr lang="en-US" altLang="ko-KR" dirty="0"/>
              <a:t>of</a:t>
            </a:r>
            <a:r>
              <a:rPr lang="ko-KR" altLang="en-US" dirty="0"/>
              <a:t> </a:t>
            </a:r>
            <a:r>
              <a:rPr lang="en-US" altLang="ko-KR" dirty="0"/>
              <a:t>Industry-Academia-Research Technology Holding Companies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84626AA-195B-7251-627D-9A08E2A5A3F2}"/>
              </a:ext>
            </a:extLst>
          </p:cNvPr>
          <p:cNvSpPr txBox="1"/>
          <p:nvPr/>
        </p:nvSpPr>
        <p:spPr>
          <a:xfrm>
            <a:off x="7134245" y="3706983"/>
            <a:ext cx="4624578" cy="89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ko-KR" altLang="en-US" sz="2400" dirty="0">
                <a:latin typeface="+mj-lt"/>
              </a:rPr>
              <a:t>손희영</a:t>
            </a:r>
            <a:r>
              <a:rPr lang="en-US" altLang="ko-KR" sz="2400" dirty="0">
                <a:latin typeface="+mj-lt"/>
              </a:rPr>
              <a:t>, </a:t>
            </a:r>
            <a:r>
              <a:rPr lang="ko-KR" altLang="en-US" sz="2400" dirty="0" err="1">
                <a:latin typeface="+mj-lt"/>
              </a:rPr>
              <a:t>송종빈</a:t>
            </a:r>
            <a:endParaRPr lang="en-US" altLang="ko-KR" sz="2400" dirty="0">
              <a:latin typeface="+mj-lt"/>
            </a:endParaRPr>
          </a:p>
          <a:p>
            <a:pPr algn="r"/>
            <a:endParaRPr lang="en-US" altLang="ko-KR" sz="1400" dirty="0"/>
          </a:p>
          <a:p>
            <a:pPr algn="r"/>
            <a:r>
              <a:rPr lang="ko-KR" altLang="en-US" sz="1400" dirty="0"/>
              <a:t>고려대학교 </a:t>
            </a:r>
            <a:r>
              <a:rPr lang="ko-KR" altLang="en-US" sz="1400" dirty="0" err="1"/>
              <a:t>과학기술학협동과정</a:t>
            </a:r>
            <a:endParaRPr lang="ko-KR" altLang="en-US" sz="14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463DDD5-0DBB-3592-A256-7777D0E6CC1F}"/>
              </a:ext>
            </a:extLst>
          </p:cNvPr>
          <p:cNvSpPr txBox="1"/>
          <p:nvPr/>
        </p:nvSpPr>
        <p:spPr>
          <a:xfrm>
            <a:off x="10347888" y="6336125"/>
            <a:ext cx="126873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altLang="ko-KR" sz="1400" dirty="0"/>
              <a:t>2026. 06. 10.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8829891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AF4846A-86BB-E33F-8B50-56D9615913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연구 배경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DB8A756-57B3-37FA-6E0F-83C974C807C1}"/>
              </a:ext>
            </a:extLst>
          </p:cNvPr>
          <p:cNvSpPr txBox="1">
            <a:spLocks/>
          </p:cNvSpPr>
          <p:nvPr/>
        </p:nvSpPr>
        <p:spPr>
          <a:xfrm>
            <a:off x="571499" y="1579418"/>
            <a:ext cx="11059811" cy="440725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8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0000"/>
              <a:buFont typeface="Avenir Next LT Pro Light" panose="020B0304020202020204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0000"/>
              <a:buFont typeface="Avenir Next LT Pro Light" panose="020B03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ko-KR" altLang="en-US" b="1" dirty="0"/>
              <a:t>산학연협력기술지주회사의 현재</a:t>
            </a:r>
            <a:endParaRPr lang="en-US" altLang="ko-KR" b="1" dirty="0"/>
          </a:p>
          <a:p>
            <a:r>
              <a:rPr lang="ko-KR" altLang="en-US" dirty="0"/>
              <a:t>산학연협력기술지주회사는 </a:t>
            </a:r>
            <a:r>
              <a:rPr lang="en-US" altLang="ko-KR" dirty="0"/>
              <a:t>2024</a:t>
            </a:r>
            <a:r>
              <a:rPr lang="ko-KR" altLang="en-US" dirty="0"/>
              <a:t>년 기준 </a:t>
            </a:r>
            <a:r>
              <a:rPr lang="en-US" altLang="ko-KR" dirty="0"/>
              <a:t>84</a:t>
            </a:r>
            <a:r>
              <a:rPr lang="ko-KR" altLang="en-US" dirty="0"/>
              <a:t>개사로 양적 성장을 이루었음</a:t>
            </a:r>
            <a:endParaRPr lang="en-US" altLang="ko-KR" dirty="0"/>
          </a:p>
          <a:p>
            <a:r>
              <a:rPr lang="ko-KR" altLang="en-US" dirty="0"/>
              <a:t>그러나</a:t>
            </a:r>
            <a:r>
              <a:rPr lang="en-US" altLang="ko-KR" dirty="0"/>
              <a:t>, </a:t>
            </a:r>
            <a:r>
              <a:rPr lang="ko-KR" altLang="en-US" dirty="0"/>
              <a:t>이러한 제도의 확산이 실제 자립적 사업화 역량의 강화로 직결되었는지는 검토가 필요</a:t>
            </a:r>
            <a:endParaRPr lang="en-US" altLang="ko-KR" dirty="0"/>
          </a:p>
          <a:p>
            <a:r>
              <a:rPr lang="ko-KR" altLang="en-US" dirty="0"/>
              <a:t>한국 기술지주회사는 사업화 조직으로 설계되었음에도 불구하고</a:t>
            </a:r>
            <a:r>
              <a:rPr lang="en-US" altLang="ko-KR" dirty="0"/>
              <a:t>, </a:t>
            </a:r>
            <a:r>
              <a:rPr lang="ko-KR" altLang="en-US" dirty="0"/>
              <a:t>초기 </a:t>
            </a:r>
            <a:r>
              <a:rPr lang="en-US" altLang="ko-KR" dirty="0"/>
              <a:t>‘</a:t>
            </a:r>
            <a:r>
              <a:rPr lang="ko-KR" altLang="en-US" dirty="0"/>
              <a:t>죽음의 계곡</a:t>
            </a:r>
            <a:r>
              <a:rPr lang="en-US" altLang="ko-KR" dirty="0"/>
              <a:t>‘</a:t>
            </a:r>
            <a:r>
              <a:rPr lang="ko-KR" altLang="en-US" dirty="0"/>
              <a:t>을 버티기 위한 현금흐름 창출을 목적으로 정부사업에 크게 의존함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최근 </a:t>
            </a:r>
            <a:r>
              <a:rPr lang="en-US" altLang="ko-KR" dirty="0"/>
              <a:t>5</a:t>
            </a:r>
            <a:r>
              <a:rPr lang="ko-KR" altLang="en-US" dirty="0" err="1"/>
              <a:t>년간의</a:t>
            </a:r>
            <a:r>
              <a:rPr lang="ko-KR" altLang="en-US" dirty="0"/>
              <a:t> 흐름을 보면</a:t>
            </a:r>
            <a:r>
              <a:rPr lang="en-US" altLang="ko-KR" dirty="0"/>
              <a:t>, </a:t>
            </a:r>
            <a:r>
              <a:rPr lang="ko-KR" altLang="en-US" dirty="0"/>
              <a:t>동일한 정책 환경 속에서도 일부 선도 기관을 중심으로 투자</a:t>
            </a:r>
            <a:r>
              <a:rPr lang="en-US" altLang="ko-KR" dirty="0"/>
              <a:t>·</a:t>
            </a:r>
            <a:r>
              <a:rPr lang="ko-KR" altLang="en-US" dirty="0"/>
              <a:t>회수 기능이 확대되는 조짐이 보임</a:t>
            </a:r>
            <a:endParaRPr lang="en-US" altLang="ko-KR" dirty="0"/>
          </a:p>
          <a:p>
            <a:r>
              <a:rPr lang="ko-KR" altLang="en-US" dirty="0"/>
              <a:t>이는 기술지주회사들이 단순 </a:t>
            </a:r>
            <a:r>
              <a:rPr lang="en-US" altLang="ko-KR" dirty="0"/>
              <a:t>‘</a:t>
            </a:r>
            <a:r>
              <a:rPr lang="ko-KR" altLang="en-US" dirty="0"/>
              <a:t>정책사업 수행조직</a:t>
            </a:r>
            <a:r>
              <a:rPr lang="en-US" altLang="ko-KR" dirty="0"/>
              <a:t>’</a:t>
            </a:r>
            <a:r>
              <a:rPr lang="ko-KR" altLang="en-US" dirty="0"/>
              <a:t>에 머무는 그룹과 </a:t>
            </a:r>
            <a:r>
              <a:rPr lang="en-US" altLang="ko-KR" dirty="0"/>
              <a:t>‘</a:t>
            </a:r>
            <a:r>
              <a:rPr lang="ko-KR" altLang="en-US" dirty="0"/>
              <a:t>투자 강화형 조직</a:t>
            </a:r>
            <a:r>
              <a:rPr lang="en-US" altLang="ko-KR" dirty="0"/>
              <a:t>‘</a:t>
            </a:r>
            <a:r>
              <a:rPr lang="ko-KR" altLang="en-US" dirty="0"/>
              <a:t>으로 이동하는 그룹으로 분화됨을 시사함</a:t>
            </a:r>
            <a:endParaRPr lang="en-US" altLang="ko-KR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F315D63-7DAB-5A7E-196C-17878E51DFA7}"/>
              </a:ext>
            </a:extLst>
          </p:cNvPr>
          <p:cNvSpPr txBox="1"/>
          <p:nvPr/>
        </p:nvSpPr>
        <p:spPr>
          <a:xfrm>
            <a:off x="571499" y="6400365"/>
            <a:ext cx="1105981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400" dirty="0"/>
              <a:t>Analysis of Changes in Business Model of Industry-Academia-Research Technology Holding Companies</a:t>
            </a:r>
          </a:p>
        </p:txBody>
      </p:sp>
    </p:spTree>
    <p:extLst>
      <p:ext uri="{BB962C8B-B14F-4D97-AF65-F5344CB8AC3E}">
        <p14:creationId xmlns:p14="http://schemas.microsoft.com/office/powerpoint/2010/main" val="5255308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5CA412-EF18-E03D-3484-87CF0BFB19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56FF7DF-B17F-AD84-33A4-B9B7286814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연구 배경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72D6498-6092-5523-BB1D-B0AA21FB0A34}"/>
              </a:ext>
            </a:extLst>
          </p:cNvPr>
          <p:cNvSpPr txBox="1">
            <a:spLocks/>
          </p:cNvSpPr>
          <p:nvPr/>
        </p:nvSpPr>
        <p:spPr>
          <a:xfrm>
            <a:off x="571499" y="1579418"/>
            <a:ext cx="11059811" cy="440725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8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0000"/>
              <a:buFont typeface="Avenir Next LT Pro Light" panose="020B0304020202020204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0000"/>
              <a:buFont typeface="Avenir Next LT Pro Light" panose="020B03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ko-KR" altLang="en-US" b="1" dirty="0"/>
              <a:t>하이브리드 조직과 경로의존성</a:t>
            </a:r>
            <a:endParaRPr lang="en-US" altLang="ko-KR" b="1" dirty="0"/>
          </a:p>
          <a:p>
            <a:r>
              <a:rPr lang="ko-KR" altLang="en-US" dirty="0"/>
              <a:t>공공성과 시장성을 동시에 달성해야 하는 하이브리드 조직의 특성상</a:t>
            </a:r>
            <a:r>
              <a:rPr lang="en-US" altLang="ko-KR" dirty="0"/>
              <a:t>, </a:t>
            </a:r>
            <a:r>
              <a:rPr lang="ko-KR" altLang="en-US" dirty="0"/>
              <a:t>초기 정책사업 의존은 필연적 경로 의존성을 형성함</a:t>
            </a:r>
            <a:endParaRPr lang="en-US" altLang="ko-KR" dirty="0"/>
          </a:p>
          <a:p>
            <a:r>
              <a:rPr lang="ko-KR" altLang="en-US" dirty="0"/>
              <a:t>기존 개별 사례 중심 연구를 넘어</a:t>
            </a:r>
            <a:r>
              <a:rPr lang="en-US" altLang="ko-KR" dirty="0"/>
              <a:t>, </a:t>
            </a:r>
            <a:r>
              <a:rPr lang="ko-KR" altLang="en-US" dirty="0"/>
              <a:t>전국 단위 </a:t>
            </a:r>
            <a:r>
              <a:rPr lang="en-US" altLang="ko-KR" dirty="0"/>
              <a:t>5</a:t>
            </a:r>
            <a:r>
              <a:rPr lang="ko-KR" altLang="en-US" dirty="0"/>
              <a:t>개년 종단 데이터를 기반으로 생태계 전체의 </a:t>
            </a:r>
            <a:r>
              <a:rPr lang="en-US" altLang="ko-KR" dirty="0"/>
              <a:t>‘</a:t>
            </a:r>
            <a:r>
              <a:rPr lang="ko-KR" altLang="en-US" dirty="0"/>
              <a:t>진화적 이행 경로</a:t>
            </a:r>
            <a:r>
              <a:rPr lang="en-US" altLang="ko-KR" dirty="0"/>
              <a:t>’</a:t>
            </a:r>
            <a:r>
              <a:rPr lang="ko-KR" altLang="en-US" dirty="0"/>
              <a:t>와 </a:t>
            </a:r>
            <a:r>
              <a:rPr lang="en-US" altLang="ko-KR" dirty="0"/>
              <a:t>‘</a:t>
            </a:r>
            <a:r>
              <a:rPr lang="ko-KR" altLang="en-US" dirty="0"/>
              <a:t>그룹별 분화 양상</a:t>
            </a:r>
            <a:r>
              <a:rPr lang="en-US" altLang="ko-KR" dirty="0"/>
              <a:t>‘</a:t>
            </a:r>
            <a:r>
              <a:rPr lang="ko-KR" altLang="en-US" dirty="0"/>
              <a:t>을 규명함</a:t>
            </a:r>
            <a:endParaRPr lang="en-US" altLang="ko-KR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1ED162D-60D3-E13D-674A-7104A8AC8A65}"/>
              </a:ext>
            </a:extLst>
          </p:cNvPr>
          <p:cNvSpPr txBox="1"/>
          <p:nvPr/>
        </p:nvSpPr>
        <p:spPr>
          <a:xfrm>
            <a:off x="571499" y="6400365"/>
            <a:ext cx="1105981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400" dirty="0"/>
              <a:t>Analysis of Changes in Business Model of Industry-Academia-Research Technology Holding Companies</a:t>
            </a:r>
          </a:p>
        </p:txBody>
      </p:sp>
    </p:spTree>
    <p:extLst>
      <p:ext uri="{BB962C8B-B14F-4D97-AF65-F5344CB8AC3E}">
        <p14:creationId xmlns:p14="http://schemas.microsoft.com/office/powerpoint/2010/main" val="3224117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D010E2-7465-6326-C103-5F93772EEE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B447361-A6FB-3DDF-DE0A-A12F2A0962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선행연구 검토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FD68350-9C14-EDD1-2C59-95E6D5C899B2}"/>
              </a:ext>
            </a:extLst>
          </p:cNvPr>
          <p:cNvSpPr txBox="1">
            <a:spLocks/>
          </p:cNvSpPr>
          <p:nvPr/>
        </p:nvSpPr>
        <p:spPr>
          <a:xfrm>
            <a:off x="571499" y="1579418"/>
            <a:ext cx="11059811" cy="440725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8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0000"/>
              <a:buFont typeface="Avenir Next LT Pro Light" panose="020B0304020202020204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0000"/>
              <a:buFont typeface="Avenir Next LT Pro Light" panose="020B03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ko-KR" altLang="en-US" b="1" dirty="0"/>
              <a:t>대학의 </a:t>
            </a:r>
            <a:r>
              <a:rPr lang="en-US" altLang="ko-KR" b="1" dirty="0"/>
              <a:t>‘</a:t>
            </a:r>
            <a:r>
              <a:rPr lang="ko-KR" altLang="en-US" b="1" dirty="0"/>
              <a:t>제</a:t>
            </a:r>
            <a:r>
              <a:rPr lang="en-US" altLang="ko-KR" b="1" dirty="0"/>
              <a:t>3</a:t>
            </a:r>
            <a:r>
              <a:rPr lang="ko-KR" altLang="en-US" b="1" dirty="0"/>
              <a:t>의 임무</a:t>
            </a:r>
            <a:r>
              <a:rPr lang="en-US" altLang="ko-KR" b="1" dirty="0"/>
              <a:t>’ </a:t>
            </a:r>
            <a:r>
              <a:rPr lang="ko-KR" altLang="en-US" b="1" dirty="0"/>
              <a:t>대두</a:t>
            </a:r>
            <a:endParaRPr lang="en-US" altLang="ko-KR" b="1" dirty="0"/>
          </a:p>
          <a:p>
            <a:r>
              <a:rPr lang="ko-KR" altLang="en-US" dirty="0"/>
              <a:t>전통적 교육</a:t>
            </a:r>
            <a:r>
              <a:rPr lang="en-US" altLang="ko-KR" dirty="0"/>
              <a:t>·</a:t>
            </a:r>
            <a:r>
              <a:rPr lang="ko-KR" altLang="en-US" dirty="0"/>
              <a:t>연구를</a:t>
            </a:r>
            <a:r>
              <a:rPr lang="en-US" altLang="ko-KR" dirty="0"/>
              <a:t> </a:t>
            </a:r>
            <a:r>
              <a:rPr lang="ko-KR" altLang="en-US" dirty="0"/>
              <a:t>넘어 사회</a:t>
            </a:r>
            <a:r>
              <a:rPr lang="en-US" altLang="ko-KR" dirty="0"/>
              <a:t>·</a:t>
            </a:r>
            <a:r>
              <a:rPr lang="ko-KR" altLang="en-US" dirty="0"/>
              <a:t>경제적 가치 창출이 강조됨 </a:t>
            </a:r>
            <a:r>
              <a:rPr lang="en-US" altLang="ko-KR" dirty="0"/>
              <a:t>(Marjanovic et al., 2026)</a:t>
            </a:r>
          </a:p>
          <a:p>
            <a:r>
              <a:rPr lang="ko-KR" altLang="en-US" dirty="0"/>
              <a:t>공공연구 성과 활용을 위해 기술이전전담조직</a:t>
            </a:r>
            <a:r>
              <a:rPr lang="en-US" altLang="ko-KR" dirty="0"/>
              <a:t>(TTO), </a:t>
            </a:r>
            <a:r>
              <a:rPr lang="ko-KR" altLang="en-US" dirty="0"/>
              <a:t>기술지주회사 등 중개조직 제도화 추진</a:t>
            </a:r>
            <a:endParaRPr lang="en-US" altLang="ko-KR" dirty="0"/>
          </a:p>
          <a:p>
            <a:pPr marL="0" indent="0">
              <a:buNone/>
            </a:pPr>
            <a:r>
              <a:rPr lang="ko-KR" altLang="en-US" b="1" dirty="0"/>
              <a:t>기존 선형적 성과 모델의 한계와 </a:t>
            </a:r>
            <a:r>
              <a:rPr lang="ko-KR" altLang="en-US" b="1" dirty="0" err="1"/>
              <a:t>재지향</a:t>
            </a:r>
            <a:endParaRPr lang="en-US" altLang="ko-KR" dirty="0"/>
          </a:p>
          <a:p>
            <a:r>
              <a:rPr lang="ko-KR" altLang="en-US" dirty="0"/>
              <a:t>특허 중심의 선형 모델은 대학 본연의 사회적 책무를 저해하고 단기 수익에 매몰될 우려 존재 </a:t>
            </a:r>
            <a:r>
              <a:rPr lang="en-US" altLang="ko-KR" dirty="0"/>
              <a:t>(Hayter, 2016)</a:t>
            </a:r>
          </a:p>
          <a:p>
            <a:r>
              <a:rPr lang="ko-KR" altLang="en-US" dirty="0"/>
              <a:t>단순 경제적 상업화를 넘어 사회적 문제 해결로의 임무 </a:t>
            </a:r>
            <a:r>
              <a:rPr lang="ko-KR" altLang="en-US" dirty="0" err="1"/>
              <a:t>재지향</a:t>
            </a:r>
            <a:r>
              <a:rPr lang="en-US" altLang="ko-KR" dirty="0"/>
              <a:t>(Mission-reorientation) </a:t>
            </a:r>
            <a:r>
              <a:rPr lang="ko-KR" altLang="en-US" dirty="0"/>
              <a:t>필요 </a:t>
            </a:r>
            <a:r>
              <a:rPr lang="en-US" altLang="ko-KR" dirty="0"/>
              <a:t>(Menter, 2024)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6673202-3F36-6CED-CF02-1F8199D444A8}"/>
              </a:ext>
            </a:extLst>
          </p:cNvPr>
          <p:cNvSpPr txBox="1"/>
          <p:nvPr/>
        </p:nvSpPr>
        <p:spPr>
          <a:xfrm>
            <a:off x="571499" y="6400365"/>
            <a:ext cx="1105981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400" dirty="0"/>
              <a:t>Analysis of Changes in Business Model of Industry-Academia-Research Technology Holding Companies</a:t>
            </a:r>
          </a:p>
        </p:txBody>
      </p:sp>
    </p:spTree>
    <p:extLst>
      <p:ext uri="{BB962C8B-B14F-4D97-AF65-F5344CB8AC3E}">
        <p14:creationId xmlns:p14="http://schemas.microsoft.com/office/powerpoint/2010/main" val="7406718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013902-08F8-BB5B-E1BF-4470A4C45D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14EE634-54E0-D23A-2016-BFB154749E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선행연구 검토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77E398F-6491-526B-A4D6-F8CBAE573B3E}"/>
              </a:ext>
            </a:extLst>
          </p:cNvPr>
          <p:cNvSpPr txBox="1">
            <a:spLocks/>
          </p:cNvSpPr>
          <p:nvPr/>
        </p:nvSpPr>
        <p:spPr>
          <a:xfrm>
            <a:off x="571499" y="1579418"/>
            <a:ext cx="11059811" cy="440725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8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0000"/>
              <a:buFont typeface="Avenir Next LT Pro Light" panose="020B0304020202020204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0000"/>
              <a:buFont typeface="Avenir Next LT Pro Light" panose="020B03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ko-KR" altLang="en-US" b="1" dirty="0"/>
              <a:t>하이브리드 </a:t>
            </a:r>
            <a:r>
              <a:rPr lang="ko-KR" altLang="en-US" b="1" dirty="0" err="1"/>
              <a:t>조직으로서의</a:t>
            </a:r>
            <a:r>
              <a:rPr lang="ko-KR" altLang="en-US" b="1" dirty="0"/>
              <a:t> 진화</a:t>
            </a:r>
            <a:r>
              <a:rPr lang="en-US" altLang="ko-KR" b="1" dirty="0"/>
              <a:t>(Divergence)</a:t>
            </a:r>
          </a:p>
          <a:p>
            <a:r>
              <a:rPr lang="ko-KR" altLang="ko-KR" dirty="0"/>
              <a:t>해외 기술지주회사는 기술이전과 초기 투자를 동시 수행하는 하이브리드 조직으로, 제한된 역량 내에서 다양한 경로로 진화함 (</a:t>
            </a:r>
            <a:r>
              <a:rPr lang="ko-KR" altLang="ko-KR" dirty="0" err="1"/>
              <a:t>Lindelöf</a:t>
            </a:r>
            <a:r>
              <a:rPr lang="ko-KR" altLang="ko-KR" dirty="0"/>
              <a:t> and </a:t>
            </a:r>
            <a:r>
              <a:rPr lang="ko-KR" altLang="ko-KR" dirty="0" err="1"/>
              <a:t>Hellberg</a:t>
            </a:r>
            <a:r>
              <a:rPr lang="ko-KR" altLang="ko-KR" dirty="0"/>
              <a:t>)</a:t>
            </a:r>
            <a:endParaRPr lang="en-US" altLang="ko-KR" dirty="0"/>
          </a:p>
          <a:p>
            <a:r>
              <a:rPr lang="ko-KR" altLang="en-US" dirty="0"/>
              <a:t>국내 정책 환경과 자원 조건에 따른 국내 고유 운영 모델의 다원화 가능성 시사</a:t>
            </a:r>
            <a:endParaRPr lang="en-US" altLang="ko-KR" dirty="0"/>
          </a:p>
          <a:p>
            <a:pPr marL="0" indent="0">
              <a:buNone/>
            </a:pPr>
            <a:r>
              <a:rPr lang="ko-KR" altLang="en-US" b="1" dirty="0"/>
              <a:t>국내 기술지주회사의 차별적 역할</a:t>
            </a:r>
            <a:endParaRPr lang="en-US" altLang="ko-KR" dirty="0"/>
          </a:p>
          <a:p>
            <a:r>
              <a:rPr lang="ko-KR" altLang="ko-KR" dirty="0"/>
              <a:t>일반 행정지원 조직(산학협력단 등)과 달리, 직접 사업화 및 투자 회수(</a:t>
            </a:r>
            <a:r>
              <a:rPr lang="ko-KR" altLang="ko-KR" dirty="0" err="1"/>
              <a:t>Exit</a:t>
            </a:r>
            <a:r>
              <a:rPr lang="ko-KR" altLang="ko-KR" dirty="0"/>
              <a:t>)를 수행하는 ‘</a:t>
            </a:r>
            <a:r>
              <a:rPr lang="ko-KR" altLang="ko-KR" dirty="0" err="1"/>
              <a:t>전문조직’으로</a:t>
            </a:r>
            <a:r>
              <a:rPr lang="ko-KR" altLang="ko-KR" dirty="0"/>
              <a:t> 기능</a:t>
            </a:r>
            <a:endParaRPr lang="en-US" altLang="ko-KR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659B51B-DD0F-01FD-8533-B461B77B2A87}"/>
              </a:ext>
            </a:extLst>
          </p:cNvPr>
          <p:cNvSpPr txBox="1"/>
          <p:nvPr/>
        </p:nvSpPr>
        <p:spPr>
          <a:xfrm>
            <a:off x="571499" y="6400365"/>
            <a:ext cx="1105981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400" dirty="0"/>
              <a:t>Analysis of Changes in Business Model of Industry-Academia-Research Technology Holding Companies</a:t>
            </a:r>
          </a:p>
        </p:txBody>
      </p:sp>
    </p:spTree>
    <p:extLst>
      <p:ext uri="{BB962C8B-B14F-4D97-AF65-F5344CB8AC3E}">
        <p14:creationId xmlns:p14="http://schemas.microsoft.com/office/powerpoint/2010/main" val="36595979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130825-D7DF-8058-5CC2-D7330E987A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D40D20F-F082-214B-CEA5-2E12FAC525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선행연구 검토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198B1DA-3135-E517-FE21-9541EC4F859A}"/>
              </a:ext>
            </a:extLst>
          </p:cNvPr>
          <p:cNvSpPr txBox="1">
            <a:spLocks/>
          </p:cNvSpPr>
          <p:nvPr/>
        </p:nvSpPr>
        <p:spPr>
          <a:xfrm>
            <a:off x="571499" y="1579418"/>
            <a:ext cx="11059811" cy="440725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8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0000"/>
              <a:buFont typeface="Avenir Next LT Pro Light" panose="020B0304020202020204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0000"/>
              <a:buFont typeface="Avenir Next LT Pro Light" panose="020B03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ko-KR" altLang="en-US" b="1" dirty="0"/>
              <a:t>독자적 사업모델의 필요성</a:t>
            </a:r>
            <a:endParaRPr lang="en-US" altLang="ko-KR" b="1" dirty="0"/>
          </a:p>
          <a:p>
            <a:r>
              <a:rPr lang="ko-KR" altLang="ko-KR" dirty="0"/>
              <a:t>순수지주회사 모델을 넘어 </a:t>
            </a:r>
            <a:r>
              <a:rPr lang="ko-KR" altLang="ko-KR" dirty="0" err="1"/>
              <a:t>인큐베이팅</a:t>
            </a:r>
            <a:r>
              <a:rPr lang="ko-KR" altLang="ko-KR" dirty="0"/>
              <a:t>, 경영자문, 펀드 운용 등을 수행하는 사업지주회사로의 진화 필요성 제기 (</a:t>
            </a:r>
            <a:r>
              <a:rPr lang="ko-KR" altLang="ko-KR" dirty="0" err="1"/>
              <a:t>이현근·장재혁·한관희</a:t>
            </a:r>
            <a:r>
              <a:rPr lang="ko-KR" altLang="ko-KR" dirty="0"/>
              <a:t>, 2016)</a:t>
            </a:r>
            <a:endParaRPr lang="en-US" altLang="ko-KR" dirty="0"/>
          </a:p>
          <a:p>
            <a:pPr marL="0" indent="0">
              <a:buNone/>
            </a:pPr>
            <a:r>
              <a:rPr lang="ko-KR" altLang="en-US" b="1" dirty="0"/>
              <a:t>기존 선행연구의 한계</a:t>
            </a:r>
            <a:endParaRPr lang="en-US" altLang="ko-KR" b="1" dirty="0"/>
          </a:p>
          <a:p>
            <a:r>
              <a:rPr lang="ko-KR" altLang="ko-KR" dirty="0"/>
              <a:t>특정 시점의 규제 분석이나 일부 기관 대상의 정성적 사례연구에 편중됨</a:t>
            </a:r>
            <a:endParaRPr lang="en-US" altLang="ko-KR" dirty="0"/>
          </a:p>
          <a:p>
            <a:r>
              <a:rPr lang="ko-KR" altLang="ko-KR" dirty="0"/>
              <a:t>전국 단위 기술지주회사의 실제 수익구조 변화 및 정책 의존성 탈피 과정에 대한 종단적 실증분석 부족</a:t>
            </a:r>
            <a:endParaRPr lang="en-US" altLang="ko-KR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88BA160-CE69-7B43-489C-A13F9E47E59A}"/>
              </a:ext>
            </a:extLst>
          </p:cNvPr>
          <p:cNvSpPr txBox="1"/>
          <p:nvPr/>
        </p:nvSpPr>
        <p:spPr>
          <a:xfrm>
            <a:off x="571499" y="6400365"/>
            <a:ext cx="1105981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400" dirty="0"/>
              <a:t>Analysis of Changes in Business Model of Industry-Academia-Research Technology Holding Companies</a:t>
            </a:r>
          </a:p>
        </p:txBody>
      </p:sp>
    </p:spTree>
    <p:extLst>
      <p:ext uri="{BB962C8B-B14F-4D97-AF65-F5344CB8AC3E}">
        <p14:creationId xmlns:p14="http://schemas.microsoft.com/office/powerpoint/2010/main" val="7678542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E6B52A-C84C-CADD-B68F-371A3F653D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5CB6A34-630B-1198-E5E0-04A9F7AB22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선행연구 검토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12F9D29-C748-B248-8668-B070EA577CF4}"/>
              </a:ext>
            </a:extLst>
          </p:cNvPr>
          <p:cNvSpPr txBox="1">
            <a:spLocks/>
          </p:cNvSpPr>
          <p:nvPr/>
        </p:nvSpPr>
        <p:spPr>
          <a:xfrm>
            <a:off x="571499" y="1579418"/>
            <a:ext cx="11059811" cy="440725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8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0000"/>
              <a:buFont typeface="Avenir Next LT Pro Light" panose="020B0304020202020204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0000"/>
              <a:buFont typeface="Avenir Next LT Pro Light" panose="020B03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ko-KR" altLang="en-US" b="1" dirty="0"/>
              <a:t>전형적인 </a:t>
            </a:r>
            <a:r>
              <a:rPr lang="en-US" altLang="ko-KR" b="1" dirty="0"/>
              <a:t>‘</a:t>
            </a:r>
            <a:r>
              <a:rPr lang="ko-KR" altLang="en-US" b="1" dirty="0"/>
              <a:t>하이브리드 조직</a:t>
            </a:r>
            <a:r>
              <a:rPr lang="en-US" altLang="ko-KR" b="1" dirty="0"/>
              <a:t>’</a:t>
            </a:r>
            <a:r>
              <a:rPr lang="ko-KR" altLang="en-US" b="1" dirty="0"/>
              <a:t>의 속성</a:t>
            </a:r>
            <a:endParaRPr lang="en-US" altLang="ko-KR" b="1" dirty="0"/>
          </a:p>
          <a:p>
            <a:r>
              <a:rPr lang="ko-KR" altLang="ko-KR" dirty="0"/>
              <a:t>공적 임무(공공성 논리/정책 수행)와 시장 지향적 역할(시장성 논리/자립적 사업성)의 동시 추구</a:t>
            </a:r>
            <a:endParaRPr lang="en-US" altLang="ko-KR" dirty="0"/>
          </a:p>
          <a:p>
            <a:pPr marL="0" indent="0">
              <a:buNone/>
            </a:pPr>
            <a:r>
              <a:rPr lang="ko-KR" altLang="en-US" b="1" dirty="0"/>
              <a:t>조직 내 제도논리의 충돌과 조정</a:t>
            </a:r>
            <a:endParaRPr lang="en-US" altLang="ko-KR" b="1" dirty="0"/>
          </a:p>
          <a:p>
            <a:r>
              <a:rPr lang="ko-KR" altLang="ko-KR" dirty="0"/>
              <a:t>단일 제도의 이식이 아닌, 상충하는 제도논리를 </a:t>
            </a:r>
            <a:r>
              <a:rPr lang="ko-KR" altLang="ko-KR" dirty="0" err="1"/>
              <a:t>해석·조정</a:t>
            </a:r>
            <a:r>
              <a:rPr lang="ko-KR" altLang="ko-KR" dirty="0"/>
              <a:t>(</a:t>
            </a:r>
            <a:r>
              <a:rPr lang="ko-KR" altLang="ko-KR" dirty="0" err="1"/>
              <a:t>Interpretation</a:t>
            </a:r>
            <a:r>
              <a:rPr lang="ko-KR" altLang="ko-KR" dirty="0"/>
              <a:t>)해 나가는 축적의 과정임 (</a:t>
            </a:r>
            <a:r>
              <a:rPr lang="ko-KR" altLang="ko-KR" dirty="0" err="1"/>
              <a:t>Donegan</a:t>
            </a:r>
            <a:r>
              <a:rPr lang="ko-KR" altLang="ko-KR" dirty="0"/>
              <a:t> and </a:t>
            </a:r>
            <a:r>
              <a:rPr lang="ko-KR" altLang="ko-KR" dirty="0" err="1"/>
              <a:t>Feldman</a:t>
            </a:r>
            <a:r>
              <a:rPr lang="ko-KR" altLang="ko-KR" dirty="0"/>
              <a:t>, 2020)</a:t>
            </a:r>
            <a:endParaRPr lang="en-US" altLang="ko-KR" dirty="0"/>
          </a:p>
          <a:p>
            <a:pPr marL="0" indent="0">
              <a:buNone/>
            </a:pPr>
            <a:r>
              <a:rPr lang="ko-KR" altLang="en-US" b="1" dirty="0"/>
              <a:t>국내 생태계의 주요 쟁점</a:t>
            </a:r>
            <a:endParaRPr lang="en-US" altLang="ko-KR" dirty="0"/>
          </a:p>
          <a:p>
            <a:r>
              <a:rPr lang="ko-KR" altLang="en-US" dirty="0"/>
              <a:t>초기 </a:t>
            </a:r>
            <a:r>
              <a:rPr lang="ko-KR" altLang="ko-KR" dirty="0"/>
              <a:t>생존을 위한 ‘정책사업 논리(안정적 현금흐름)’ </a:t>
            </a:r>
            <a:r>
              <a:rPr lang="ko-KR" altLang="ko-KR" dirty="0" err="1"/>
              <a:t>vs</a:t>
            </a:r>
            <a:r>
              <a:rPr lang="ko-KR" altLang="ko-KR" dirty="0"/>
              <a:t> 자립을 위한 ‘</a:t>
            </a:r>
            <a:r>
              <a:rPr lang="ko-KR" altLang="ko-KR" dirty="0" err="1"/>
              <a:t>사업화·투자</a:t>
            </a:r>
            <a:r>
              <a:rPr lang="ko-KR" altLang="ko-KR" dirty="0"/>
              <a:t> 논리(고위험 수익 극대화)’의 경합</a:t>
            </a:r>
            <a:endParaRPr lang="en-US" altLang="ko-KR" dirty="0"/>
          </a:p>
          <a:p>
            <a:r>
              <a:rPr lang="ko-KR" altLang="ko-KR" dirty="0"/>
              <a:t>정부 재정 지원이 단순한 </a:t>
            </a:r>
            <a:r>
              <a:rPr lang="en-US" altLang="ko-KR" dirty="0"/>
              <a:t>‘</a:t>
            </a:r>
            <a:r>
              <a:rPr lang="ko-KR" altLang="ko-KR" dirty="0"/>
              <a:t>의존성 트랩</a:t>
            </a:r>
            <a:r>
              <a:rPr lang="en-US" altLang="ko-KR" dirty="0"/>
              <a:t>’</a:t>
            </a:r>
            <a:r>
              <a:rPr lang="ko-KR" altLang="ko-KR" dirty="0"/>
              <a:t>인지, 장기 역량 내재화를 위한 </a:t>
            </a:r>
            <a:r>
              <a:rPr lang="en-US" altLang="ko-KR" dirty="0"/>
              <a:t>‘</a:t>
            </a:r>
            <a:r>
              <a:rPr lang="ko-KR" altLang="ko-KR" dirty="0"/>
              <a:t>자원 축적의 마중물</a:t>
            </a:r>
            <a:r>
              <a:rPr lang="en-US" altLang="ko-KR" dirty="0"/>
              <a:t>’</a:t>
            </a:r>
            <a:r>
              <a:rPr lang="ko-KR" altLang="ko-KR" dirty="0"/>
              <a:t>인지 실증 검증 필요</a:t>
            </a:r>
          </a:p>
          <a:p>
            <a:endParaRPr lang="en-US" altLang="ko-KR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60084E6-4909-587E-8B4D-FE1A79CB60C8}"/>
              </a:ext>
            </a:extLst>
          </p:cNvPr>
          <p:cNvSpPr txBox="1"/>
          <p:nvPr/>
        </p:nvSpPr>
        <p:spPr>
          <a:xfrm>
            <a:off x="571499" y="6400365"/>
            <a:ext cx="1105981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400" dirty="0"/>
              <a:t>Analysis of Changes in Business Model of Industry-Academia-Research Technology Holding Companies</a:t>
            </a:r>
          </a:p>
        </p:txBody>
      </p:sp>
    </p:spTree>
    <p:extLst>
      <p:ext uri="{BB962C8B-B14F-4D97-AF65-F5344CB8AC3E}">
        <p14:creationId xmlns:p14="http://schemas.microsoft.com/office/powerpoint/2010/main" val="21296269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343379-C0D6-8A12-2AD2-A9EE8FDA68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6466F79-B2A9-34F8-7FB3-D61A45CBC5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데이터 확보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067B2A2-4191-2D22-F809-746AB6E3D47D}"/>
              </a:ext>
            </a:extLst>
          </p:cNvPr>
          <p:cNvSpPr txBox="1">
            <a:spLocks/>
          </p:cNvSpPr>
          <p:nvPr/>
        </p:nvSpPr>
        <p:spPr>
          <a:xfrm>
            <a:off x="571499" y="1579418"/>
            <a:ext cx="11059811" cy="440725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8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0000"/>
              <a:buFont typeface="Avenir Next LT Pro Light" panose="020B0304020202020204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0000"/>
              <a:buFont typeface="Avenir Next LT Pro Light" panose="020B03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ko-KR" altLang="en-US" b="1" dirty="0"/>
              <a:t>데이터 확보 과정</a:t>
            </a:r>
            <a:endParaRPr lang="en-US" altLang="ko-KR" dirty="0"/>
          </a:p>
          <a:p>
            <a:r>
              <a:rPr lang="ko-KR" altLang="en-US" dirty="0"/>
              <a:t>고려대학교 기술지주주식회사 투자관리 </a:t>
            </a:r>
            <a:r>
              <a:rPr lang="en-US" altLang="ko-KR" dirty="0"/>
              <a:t>2</a:t>
            </a:r>
            <a:r>
              <a:rPr lang="ko-KR" altLang="en-US" dirty="0"/>
              <a:t>본부 </a:t>
            </a:r>
            <a:r>
              <a:rPr lang="ko-KR" altLang="en-US" b="1" dirty="0"/>
              <a:t>손희영</a:t>
            </a:r>
            <a:r>
              <a:rPr lang="en-US" altLang="ko-KR" dirty="0"/>
              <a:t> </a:t>
            </a:r>
            <a:r>
              <a:rPr lang="ko-KR" altLang="en-US" dirty="0"/>
              <a:t>본부장을 통해</a:t>
            </a:r>
            <a:endParaRPr lang="en-US" altLang="ko-KR" dirty="0"/>
          </a:p>
          <a:p>
            <a:r>
              <a:rPr lang="ko-KR" altLang="en-US" dirty="0"/>
              <a:t>한국기술지주회사협회</a:t>
            </a:r>
            <a:r>
              <a:rPr lang="en-US" altLang="ko-KR" dirty="0"/>
              <a:t>(KATH)</a:t>
            </a:r>
            <a:r>
              <a:rPr lang="ko-KR" altLang="en-US" dirty="0"/>
              <a:t>의 아래 자료를 활용하였음</a:t>
            </a:r>
            <a:endParaRPr lang="en-US" altLang="ko-KR" dirty="0"/>
          </a:p>
          <a:p>
            <a:pPr lvl="1"/>
            <a:r>
              <a:rPr lang="en-US" altLang="ko-KR" dirty="0"/>
              <a:t>(</a:t>
            </a:r>
            <a:r>
              <a:rPr lang="ko-KR" altLang="en-US" dirty="0"/>
              <a:t>공개데이터</a:t>
            </a:r>
            <a:r>
              <a:rPr lang="en-US" altLang="ko-KR" dirty="0"/>
              <a:t>)</a:t>
            </a:r>
            <a:r>
              <a:rPr lang="ko-KR" altLang="en-US" dirty="0"/>
              <a:t> </a:t>
            </a:r>
            <a:r>
              <a:rPr lang="en-US" altLang="ko-KR" dirty="0"/>
              <a:t>2020</a:t>
            </a:r>
            <a:r>
              <a:rPr lang="ko-KR" altLang="en-US" dirty="0"/>
              <a:t>년</a:t>
            </a:r>
            <a:r>
              <a:rPr lang="en-US" altLang="ko-KR" dirty="0"/>
              <a:t>~2024</a:t>
            </a:r>
            <a:r>
              <a:rPr lang="ko-KR" altLang="en-US" dirty="0"/>
              <a:t>년 조사보고서</a:t>
            </a:r>
            <a:endParaRPr lang="en-US" altLang="ko-KR" dirty="0"/>
          </a:p>
          <a:p>
            <a:pPr lvl="1"/>
            <a:r>
              <a:rPr lang="en-US" altLang="ko-KR" dirty="0"/>
              <a:t>(</a:t>
            </a:r>
            <a:r>
              <a:rPr lang="ko-KR" altLang="en-US" dirty="0"/>
              <a:t>추가 요청자료</a:t>
            </a:r>
            <a:r>
              <a:rPr lang="en-US" altLang="ko-KR" dirty="0"/>
              <a:t>) 2020</a:t>
            </a:r>
            <a:r>
              <a:rPr lang="ko-KR" altLang="en-US" dirty="0"/>
              <a:t>년</a:t>
            </a:r>
            <a:r>
              <a:rPr lang="en-US" altLang="ko-KR" dirty="0"/>
              <a:t>~2024</a:t>
            </a:r>
            <a:r>
              <a:rPr lang="ko-KR" altLang="en-US" dirty="0"/>
              <a:t>년 각 기관의 패널데이터</a:t>
            </a:r>
            <a:endParaRPr lang="en-US" altLang="ko-KR" dirty="0"/>
          </a:p>
          <a:p>
            <a:pPr lvl="2"/>
            <a:r>
              <a:rPr lang="ko-KR" altLang="en-US" dirty="0"/>
              <a:t>대학</a:t>
            </a:r>
            <a:r>
              <a:rPr lang="en-US" altLang="ko-KR" dirty="0"/>
              <a:t>/</a:t>
            </a:r>
            <a:r>
              <a:rPr lang="ko-KR" altLang="en-US" dirty="0"/>
              <a:t>기관</a:t>
            </a:r>
            <a:r>
              <a:rPr lang="en-US" altLang="ko-KR" dirty="0"/>
              <a:t>/</a:t>
            </a:r>
            <a:r>
              <a:rPr lang="ko-KR" altLang="en-US" dirty="0"/>
              <a:t>기업의 일반적인 특성</a:t>
            </a:r>
            <a:endParaRPr lang="en-US" altLang="ko-KR" dirty="0"/>
          </a:p>
          <a:p>
            <a:pPr lvl="2"/>
            <a:r>
              <a:rPr lang="ko-KR" altLang="en-US" dirty="0"/>
              <a:t>조직 및 규모 데이터</a:t>
            </a:r>
            <a:endParaRPr lang="en-US" altLang="ko-KR" dirty="0"/>
          </a:p>
          <a:p>
            <a:pPr lvl="2"/>
            <a:r>
              <a:rPr lang="ko-KR" altLang="en-US" dirty="0"/>
              <a:t>사업화 성과 데이터</a:t>
            </a:r>
            <a:endParaRPr lang="en-US" altLang="ko-KR" dirty="0"/>
          </a:p>
          <a:p>
            <a:pPr lvl="2"/>
            <a:r>
              <a:rPr lang="ko-KR" altLang="en-US" dirty="0"/>
              <a:t>자원동원 역량 데이터</a:t>
            </a:r>
            <a:endParaRPr lang="en-US" altLang="ko-KR" dirty="0"/>
          </a:p>
          <a:p>
            <a:pPr lvl="2"/>
            <a:r>
              <a:rPr lang="ko-KR" altLang="en-US" dirty="0"/>
              <a:t>수익구조 데이터</a:t>
            </a:r>
            <a:endParaRPr lang="en-US" altLang="ko-KR" dirty="0"/>
          </a:p>
          <a:p>
            <a:endParaRPr lang="en-US" altLang="ko-KR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81CF32A-2EF7-3571-5091-3C9B75649C97}"/>
              </a:ext>
            </a:extLst>
          </p:cNvPr>
          <p:cNvSpPr txBox="1"/>
          <p:nvPr/>
        </p:nvSpPr>
        <p:spPr>
          <a:xfrm>
            <a:off x="571499" y="6400365"/>
            <a:ext cx="1105981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400" dirty="0"/>
              <a:t>Analysis of Changes in Business Model of Industry-Academia-Research Technology Holding Companies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755BB661-A35B-D524-0DCB-B169609C6E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91355" y="1714500"/>
            <a:ext cx="2439955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71252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7E139E-A178-7AB7-F4F8-91A074C687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A3B9905-66ED-E0A5-C117-7AA8777644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데이터 훑어보기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B0782DD-80AC-4ED8-DECC-81CDB68C52B8}"/>
              </a:ext>
            </a:extLst>
          </p:cNvPr>
          <p:cNvSpPr txBox="1"/>
          <p:nvPr/>
        </p:nvSpPr>
        <p:spPr>
          <a:xfrm>
            <a:off x="571499" y="6400365"/>
            <a:ext cx="1105981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400" dirty="0"/>
              <a:t>Analysis of Changes in Business Model of Industry-Academia-Research Technology Holding Companies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51BAF7C1-11A2-4D0F-3233-2ED0ADDA5F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39500" y="1604723"/>
            <a:ext cx="10544269" cy="4324301"/>
          </a:xfrm>
          <a:prstGeom prst="rect">
            <a:avLst/>
          </a:prstGeom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C6ACBCC1-FED4-7E9B-3442-4D44AC034C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8231" y="2923185"/>
            <a:ext cx="1813538" cy="1687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796490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FDE499-BD8C-E489-1E6D-B9211B8AB1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E6FD665-8D3F-074F-909B-A31CC17C11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가설 설정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9B5ED1A-8801-C330-24B8-49AAAFB3F231}"/>
              </a:ext>
            </a:extLst>
          </p:cNvPr>
          <p:cNvSpPr txBox="1"/>
          <p:nvPr/>
        </p:nvSpPr>
        <p:spPr>
          <a:xfrm>
            <a:off x="571499" y="6400365"/>
            <a:ext cx="1105981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400" dirty="0"/>
              <a:t>Analysis of Changes in Business Model of Industry-Academia-Research Technology Holding Companies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98B9478-ED16-DD24-9EF3-3A92BD506ED6}"/>
              </a:ext>
            </a:extLst>
          </p:cNvPr>
          <p:cNvSpPr txBox="1">
            <a:spLocks/>
          </p:cNvSpPr>
          <p:nvPr/>
        </p:nvSpPr>
        <p:spPr>
          <a:xfrm>
            <a:off x="571499" y="1579418"/>
            <a:ext cx="11059811" cy="440725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8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0000"/>
              <a:buFont typeface="Avenir Next LT Pro Light" panose="020B0304020202020204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0000"/>
              <a:buFont typeface="Avenir Next LT Pro Light" panose="020B03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ko-KR" b="1" dirty="0"/>
              <a:t>RQ1. 2020~2024</a:t>
            </a:r>
            <a:r>
              <a:rPr lang="ko-KR" altLang="en-US" b="1" dirty="0"/>
              <a:t>년 동안 산학연 협력 기술지주회사 생태계에서 정책사업 수익과 사업화</a:t>
            </a:r>
            <a:r>
              <a:rPr lang="en-US" altLang="ko-KR" b="1" dirty="0"/>
              <a:t>-</a:t>
            </a:r>
            <a:r>
              <a:rPr lang="ko-KR" altLang="en-US" b="1" dirty="0"/>
              <a:t>투자수익의 결합 구조는 어떻게 변화하였는가</a:t>
            </a:r>
            <a:r>
              <a:rPr lang="en-US" altLang="ko-KR" b="1" dirty="0"/>
              <a:t>?</a:t>
            </a:r>
            <a:endParaRPr lang="en-US" altLang="ko-KR" dirty="0"/>
          </a:p>
          <a:p>
            <a:r>
              <a:rPr lang="ko-KR" altLang="en-US" dirty="0"/>
              <a:t>국책사업비 수익을 보유한 회사의 비중은 연도별로 어떻게 변화하였는가</a:t>
            </a:r>
            <a:r>
              <a:rPr lang="en-US" altLang="ko-KR" dirty="0"/>
              <a:t>?</a:t>
            </a:r>
          </a:p>
          <a:p>
            <a:r>
              <a:rPr lang="ko-KR" altLang="en-US" dirty="0"/>
              <a:t>자회사배당</a:t>
            </a:r>
            <a:r>
              <a:rPr lang="en-US" altLang="ko-KR" dirty="0"/>
              <a:t>, </a:t>
            </a:r>
            <a:r>
              <a:rPr lang="ko-KR" altLang="en-US" dirty="0"/>
              <a:t>지분매각</a:t>
            </a:r>
            <a:r>
              <a:rPr lang="en-US" altLang="ko-KR" dirty="0"/>
              <a:t>, </a:t>
            </a:r>
            <a:r>
              <a:rPr lang="ko-KR" altLang="en-US" dirty="0"/>
              <a:t>투자조합 배당 등 사업화</a:t>
            </a:r>
            <a:r>
              <a:rPr lang="en-US" altLang="ko-KR" dirty="0"/>
              <a:t>·</a:t>
            </a:r>
            <a:r>
              <a:rPr lang="ko-KR" altLang="en-US" dirty="0"/>
              <a:t>투자수익을 동시에 보유한 이중형 조직의 비중은 증가하고 있는가</a:t>
            </a:r>
            <a:r>
              <a:rPr lang="en-US" altLang="ko-KR" dirty="0"/>
              <a:t>?</a:t>
            </a:r>
          </a:p>
          <a:p>
            <a:r>
              <a:rPr lang="ko-KR" altLang="en-US" dirty="0"/>
              <a:t>정책형</a:t>
            </a:r>
            <a:r>
              <a:rPr lang="en-US" altLang="ko-KR" dirty="0"/>
              <a:t>, </a:t>
            </a:r>
            <a:r>
              <a:rPr lang="ko-KR" altLang="en-US" dirty="0"/>
              <a:t>사업형</a:t>
            </a:r>
            <a:r>
              <a:rPr lang="en-US" altLang="ko-KR" dirty="0"/>
              <a:t>, </a:t>
            </a:r>
            <a:r>
              <a:rPr lang="ko-KR" altLang="en-US" dirty="0"/>
              <a:t>이중형</a:t>
            </a:r>
            <a:r>
              <a:rPr lang="en-US" altLang="ko-KR" dirty="0"/>
              <a:t>, </a:t>
            </a:r>
            <a:r>
              <a:rPr lang="ko-KR" altLang="en-US" dirty="0"/>
              <a:t>무수익형 간 전환은 어떠한 방향으로 나타나는가</a:t>
            </a:r>
            <a:r>
              <a:rPr lang="en-US" altLang="ko-KR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1371206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1F7B02-CC84-F56A-53E5-60CC9BF94A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94BA73C-6887-4CC4-7B1D-6104689253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가설 설정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385A414-EC65-294C-B1EE-E9240B7F6200}"/>
              </a:ext>
            </a:extLst>
          </p:cNvPr>
          <p:cNvSpPr txBox="1"/>
          <p:nvPr/>
        </p:nvSpPr>
        <p:spPr>
          <a:xfrm>
            <a:off x="571499" y="6400365"/>
            <a:ext cx="1105981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400" dirty="0"/>
              <a:t>Analysis of Changes in Business Model of Industry-Academia-Research Technology Holding Companies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1A14287-AAAB-2E17-0F0F-75A206AFA267}"/>
              </a:ext>
            </a:extLst>
          </p:cNvPr>
          <p:cNvSpPr txBox="1">
            <a:spLocks/>
          </p:cNvSpPr>
          <p:nvPr/>
        </p:nvSpPr>
        <p:spPr>
          <a:xfrm>
            <a:off x="571499" y="1579418"/>
            <a:ext cx="11059811" cy="440725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8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0000"/>
              <a:buFont typeface="Avenir Next LT Pro Light" panose="020B0304020202020204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0000"/>
              <a:buFont typeface="Avenir Next LT Pro Light" panose="020B03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ko-KR" b="1" dirty="0"/>
              <a:t>RQ2. </a:t>
            </a:r>
            <a:r>
              <a:rPr lang="ko-KR" altLang="en-US" b="1" dirty="0"/>
              <a:t>업력</a:t>
            </a:r>
            <a:r>
              <a:rPr lang="en-US" altLang="ko-KR" b="1" dirty="0"/>
              <a:t>, </a:t>
            </a:r>
            <a:r>
              <a:rPr lang="ko-KR" altLang="en-US" b="1" dirty="0"/>
              <a:t>설립유형</a:t>
            </a:r>
            <a:r>
              <a:rPr lang="en-US" altLang="ko-KR" b="1" dirty="0"/>
              <a:t>, </a:t>
            </a:r>
            <a:r>
              <a:rPr lang="ko-KR" altLang="en-US" b="1" dirty="0"/>
              <a:t>지역에 따라 정책형</a:t>
            </a:r>
            <a:r>
              <a:rPr lang="en-US" altLang="ko-KR" b="1" dirty="0"/>
              <a:t>, </a:t>
            </a:r>
            <a:r>
              <a:rPr lang="ko-KR" altLang="en-US" b="1" dirty="0"/>
              <a:t>사업형</a:t>
            </a:r>
            <a:r>
              <a:rPr lang="en-US" altLang="ko-KR" b="1" dirty="0"/>
              <a:t>, </a:t>
            </a:r>
            <a:r>
              <a:rPr lang="ko-KR" altLang="en-US" b="1" dirty="0"/>
              <a:t>이중형 수익구조의 분화가 어떻게 나타나는가</a:t>
            </a:r>
            <a:r>
              <a:rPr lang="en-US" altLang="ko-KR" b="1" dirty="0"/>
              <a:t>?</a:t>
            </a:r>
          </a:p>
          <a:p>
            <a:r>
              <a:rPr lang="ko-KR" altLang="en-US" dirty="0"/>
              <a:t>업력이 높은 기술지주회사일수록 정책형에서 이중형 또는 사업형으로 이동하는가</a:t>
            </a:r>
            <a:r>
              <a:rPr lang="en-US" altLang="ko-KR" dirty="0"/>
              <a:t>?</a:t>
            </a:r>
          </a:p>
          <a:p>
            <a:r>
              <a:rPr lang="ko-KR" altLang="en-US" dirty="0"/>
              <a:t>공동형 기술지주회사는 단독형보다 이중형 수익구조를 가질 가능성이 높은가</a:t>
            </a:r>
            <a:r>
              <a:rPr lang="en-US" altLang="ko-KR" dirty="0"/>
              <a:t>?</a:t>
            </a:r>
          </a:p>
          <a:p>
            <a:r>
              <a:rPr lang="ko-KR" altLang="en-US" dirty="0"/>
              <a:t>수도권과 비수도권</a:t>
            </a:r>
            <a:r>
              <a:rPr lang="en-US" altLang="ko-KR" dirty="0"/>
              <a:t>, </a:t>
            </a:r>
            <a:r>
              <a:rPr lang="ko-KR" altLang="en-US" dirty="0"/>
              <a:t>권역별 기술지주회사 간에 정책의존도와 </a:t>
            </a:r>
            <a:r>
              <a:rPr lang="ko-KR" altLang="en-US" dirty="0" err="1"/>
              <a:t>사업화수익</a:t>
            </a:r>
            <a:r>
              <a:rPr lang="ko-KR" altLang="en-US" dirty="0"/>
              <a:t> 발생 가능성에 차이가 있는가</a:t>
            </a:r>
            <a:r>
              <a:rPr lang="en-US" altLang="ko-KR" dirty="0"/>
              <a:t>?</a:t>
            </a:r>
          </a:p>
          <a:p>
            <a:r>
              <a:rPr lang="ko-KR" altLang="en-US" dirty="0"/>
              <a:t>지역 차이는 자본금</a:t>
            </a:r>
            <a:r>
              <a:rPr lang="en-US" altLang="ko-KR" dirty="0"/>
              <a:t>, </a:t>
            </a:r>
            <a:r>
              <a:rPr lang="ko-KR" altLang="en-US" dirty="0"/>
              <a:t>전담인력</a:t>
            </a:r>
            <a:r>
              <a:rPr lang="en-US" altLang="ko-KR" dirty="0"/>
              <a:t>, </a:t>
            </a:r>
            <a:r>
              <a:rPr lang="ko-KR" altLang="en-US" dirty="0"/>
              <a:t>자회사 규모의 차이를 통해 설명되는가</a:t>
            </a:r>
            <a:r>
              <a:rPr lang="en-US" altLang="ko-KR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30308785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F5E523-46E5-C26A-CF20-C8F8A86D13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78E2646-1464-5153-9347-77EC042B8A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가설 설정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0FF8DCE-B2BB-85F2-92EE-FFA9C443E31A}"/>
              </a:ext>
            </a:extLst>
          </p:cNvPr>
          <p:cNvSpPr txBox="1"/>
          <p:nvPr/>
        </p:nvSpPr>
        <p:spPr>
          <a:xfrm>
            <a:off x="571499" y="6400365"/>
            <a:ext cx="1105981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400" dirty="0"/>
              <a:t>Analysis of Changes in Business Model of Industry-Academia-Research Technology Holding Companies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1FEAFA1-961B-6F05-73CA-68C2643D8787}"/>
              </a:ext>
            </a:extLst>
          </p:cNvPr>
          <p:cNvSpPr txBox="1">
            <a:spLocks/>
          </p:cNvSpPr>
          <p:nvPr/>
        </p:nvSpPr>
        <p:spPr>
          <a:xfrm>
            <a:off x="571499" y="1579418"/>
            <a:ext cx="11059811" cy="440725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8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0000"/>
              <a:buFont typeface="Avenir Next LT Pro Light" panose="020B0304020202020204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0000"/>
              <a:buFont typeface="Avenir Next LT Pro Light" panose="020B03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ko-KR" b="1" dirty="0"/>
              <a:t>RQ3. </a:t>
            </a:r>
            <a:r>
              <a:rPr lang="ko-KR" altLang="en-US" b="1" dirty="0"/>
              <a:t>정책사업 수익은 기술지주회사의 인력</a:t>
            </a:r>
            <a:r>
              <a:rPr lang="en-US" altLang="ko-KR" b="1" dirty="0"/>
              <a:t>, </a:t>
            </a:r>
            <a:r>
              <a:rPr lang="ko-KR" altLang="en-US" b="1" dirty="0"/>
              <a:t>자회사 포트폴리오 및 후속 사업화 투자수익의 형성에 어떠한 관련성을 가지는가</a:t>
            </a:r>
            <a:r>
              <a:rPr lang="en-US" altLang="ko-KR" b="1" dirty="0"/>
              <a:t>?</a:t>
            </a:r>
          </a:p>
          <a:p>
            <a:r>
              <a:rPr lang="ko-KR" altLang="en-US" dirty="0"/>
              <a:t>국책사업비 수익이 존재하는 회사는 다음해 전담인력이 증가하는가</a:t>
            </a:r>
            <a:r>
              <a:rPr lang="en-US" altLang="ko-KR" dirty="0"/>
              <a:t>?</a:t>
            </a:r>
          </a:p>
          <a:p>
            <a:r>
              <a:rPr lang="ko-KR" altLang="en-US" dirty="0"/>
              <a:t>국책사업비 수익이 존재하는 회사는 다음해 신규 자회사 설립 수가 증가하는가</a:t>
            </a:r>
            <a:r>
              <a:rPr lang="en-US" altLang="ko-KR" dirty="0"/>
              <a:t>?</a:t>
            </a:r>
          </a:p>
          <a:p>
            <a:r>
              <a:rPr lang="ko-KR" altLang="en-US" dirty="0"/>
              <a:t>국책사업비 수익은 다음해 또는 </a:t>
            </a:r>
            <a:r>
              <a:rPr lang="en-US" altLang="ko-KR" dirty="0"/>
              <a:t>2</a:t>
            </a:r>
            <a:r>
              <a:rPr lang="ko-KR" altLang="en-US" dirty="0"/>
              <a:t>년 후 사업화</a:t>
            </a:r>
            <a:r>
              <a:rPr lang="en-US" altLang="ko-KR" dirty="0"/>
              <a:t>·</a:t>
            </a:r>
            <a:r>
              <a:rPr lang="ko-KR" altLang="en-US" dirty="0"/>
              <a:t>투자수익 발생 가능성을 높이는가</a:t>
            </a:r>
            <a:r>
              <a:rPr lang="en-US" altLang="ko-KR" dirty="0"/>
              <a:t>?</a:t>
            </a:r>
          </a:p>
          <a:p>
            <a:r>
              <a:rPr lang="ko-KR" altLang="en-US" dirty="0"/>
              <a:t>이러한 관계는 초기 조직과 성숙 조직에서 다르게 나타나는가</a:t>
            </a:r>
            <a:r>
              <a:rPr lang="en-US" altLang="ko-KR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290971697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9DDD46-2AA5-7139-FE76-7E35E5F2B2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EB8D871-5D57-E5D2-2295-D3B5AD4E60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가설 설정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FE0818A-83CA-DC68-5179-2C74BA4A0E8E}"/>
              </a:ext>
            </a:extLst>
          </p:cNvPr>
          <p:cNvSpPr txBox="1"/>
          <p:nvPr/>
        </p:nvSpPr>
        <p:spPr>
          <a:xfrm>
            <a:off x="571499" y="6400365"/>
            <a:ext cx="1105981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400" dirty="0"/>
              <a:t>Analysis of Changes in Business Model of Industry-Academia-Research Technology Holding Companies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77DDEDD-6B6F-B8D0-492A-0CBE807CE7F0}"/>
              </a:ext>
            </a:extLst>
          </p:cNvPr>
          <p:cNvSpPr txBox="1">
            <a:spLocks/>
          </p:cNvSpPr>
          <p:nvPr/>
        </p:nvSpPr>
        <p:spPr>
          <a:xfrm>
            <a:off x="571499" y="1579418"/>
            <a:ext cx="11059811" cy="440725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8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0000"/>
              <a:buFont typeface="Avenir Next LT Pro Light" panose="020B0304020202020204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0000"/>
              <a:buFont typeface="Avenir Next LT Pro Light" panose="020B03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ko-KR" b="1" dirty="0"/>
              <a:t>RQ3. </a:t>
            </a:r>
            <a:r>
              <a:rPr lang="ko-KR" altLang="en-US" b="1" dirty="0"/>
              <a:t>정책사업 수익은 기술지주회사의 인력</a:t>
            </a:r>
            <a:r>
              <a:rPr lang="en-US" altLang="ko-KR" b="1" dirty="0"/>
              <a:t>, </a:t>
            </a:r>
            <a:r>
              <a:rPr lang="ko-KR" altLang="en-US" b="1" dirty="0"/>
              <a:t>자회사 포트폴리오 및 후속 사업화 투자수익의 형성에 어떠한 관련성을 가지는가</a:t>
            </a:r>
            <a:r>
              <a:rPr lang="en-US" altLang="ko-KR" b="1" dirty="0"/>
              <a:t>?</a:t>
            </a:r>
          </a:p>
          <a:p>
            <a:r>
              <a:rPr lang="ko-KR" altLang="en-US" dirty="0"/>
              <a:t>국책사업비 수익이 존재하는 회사는 다음해 전담인력이 증가하는가</a:t>
            </a:r>
            <a:r>
              <a:rPr lang="en-US" altLang="ko-KR" dirty="0"/>
              <a:t>?</a:t>
            </a:r>
          </a:p>
          <a:p>
            <a:r>
              <a:rPr lang="ko-KR" altLang="en-US" dirty="0"/>
              <a:t>국책사업비 수익이 존재하는 회사는 다음해 신규 자회사 설립 수가 증가하는가</a:t>
            </a:r>
            <a:r>
              <a:rPr lang="en-US" altLang="ko-KR" dirty="0"/>
              <a:t>?</a:t>
            </a:r>
          </a:p>
          <a:p>
            <a:r>
              <a:rPr lang="ko-KR" altLang="en-US" dirty="0"/>
              <a:t>국책사업비 수익은 다음해 또는 </a:t>
            </a:r>
            <a:r>
              <a:rPr lang="en-US" altLang="ko-KR" dirty="0"/>
              <a:t>2</a:t>
            </a:r>
            <a:r>
              <a:rPr lang="ko-KR" altLang="en-US" dirty="0"/>
              <a:t>년 후 사업화</a:t>
            </a:r>
            <a:r>
              <a:rPr lang="en-US" altLang="ko-KR" dirty="0"/>
              <a:t>·</a:t>
            </a:r>
            <a:r>
              <a:rPr lang="ko-KR" altLang="en-US" dirty="0"/>
              <a:t>투자수익 발생 가능성을 높이는가</a:t>
            </a:r>
            <a:r>
              <a:rPr lang="en-US" altLang="ko-KR" dirty="0"/>
              <a:t>?</a:t>
            </a:r>
          </a:p>
          <a:p>
            <a:r>
              <a:rPr lang="ko-KR" altLang="en-US" dirty="0"/>
              <a:t>이러한 관계는 초기 조직과 성숙 조직에서 다르게 나타나는가</a:t>
            </a:r>
            <a:r>
              <a:rPr lang="en-US" altLang="ko-KR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348202786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A252AD-8D78-C6B0-DEE0-57C58F48B4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E494D73-F1DB-D0A0-703A-880E2D08CB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데이터 분석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2A65870-535B-8250-5E1D-0A4DC7F6617D}"/>
              </a:ext>
            </a:extLst>
          </p:cNvPr>
          <p:cNvSpPr txBox="1"/>
          <p:nvPr/>
        </p:nvSpPr>
        <p:spPr>
          <a:xfrm>
            <a:off x="571499" y="6400365"/>
            <a:ext cx="1105981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400" dirty="0"/>
              <a:t>Analysis of Changes in Business Model of Industry-Academia-Research Technology Holding Companies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4483D4C-AE29-7F90-1B2D-6E60AABA8EA0}"/>
              </a:ext>
            </a:extLst>
          </p:cNvPr>
          <p:cNvSpPr txBox="1">
            <a:spLocks/>
          </p:cNvSpPr>
          <p:nvPr/>
        </p:nvSpPr>
        <p:spPr>
          <a:xfrm>
            <a:off x="571499" y="1579418"/>
            <a:ext cx="11059811" cy="440725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8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0000"/>
              <a:buFont typeface="Avenir Next LT Pro Light" panose="020B0304020202020204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0000"/>
              <a:buFont typeface="Avenir Next LT Pro Light" panose="020B03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dirty="0"/>
              <a:t>국책사업비 수익을 보유한 회사의 비중은 연도별로 어떻게 변화하였는가</a:t>
            </a:r>
            <a:r>
              <a:rPr lang="en-US" altLang="ko-KR" dirty="0"/>
              <a:t>?</a:t>
            </a:r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</p:txBody>
      </p:sp>
      <p:graphicFrame>
        <p:nvGraphicFramePr>
          <p:cNvPr id="11" name="차트 10">
            <a:extLst>
              <a:ext uri="{FF2B5EF4-FFF2-40B4-BE49-F238E27FC236}">
                <a16:creationId xmlns:a16="http://schemas.microsoft.com/office/drawing/2014/main" id="{7F5BD334-54AC-5E9D-EF59-AB572C7A577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73196682"/>
              </p:ext>
            </p:extLst>
          </p:nvPr>
        </p:nvGraphicFramePr>
        <p:xfrm>
          <a:off x="3155635" y="2139090"/>
          <a:ext cx="5880729" cy="392048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398938904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6FFB12-73C9-D795-D552-397C55586D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4B0EBC2-D0D7-124D-5AF4-122FD25B6C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데이터 분석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1F8BC3B-C63C-569A-6612-35DCFE0C5C65}"/>
              </a:ext>
            </a:extLst>
          </p:cNvPr>
          <p:cNvSpPr txBox="1"/>
          <p:nvPr/>
        </p:nvSpPr>
        <p:spPr>
          <a:xfrm>
            <a:off x="571499" y="6400365"/>
            <a:ext cx="1105981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400" dirty="0"/>
              <a:t>Analysis of Changes in Business Model of Industry-Academia-Research Technology Holding Companies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92B3B2E-9D3B-85F3-A42B-EE6280827A9F}"/>
              </a:ext>
            </a:extLst>
          </p:cNvPr>
          <p:cNvSpPr txBox="1">
            <a:spLocks/>
          </p:cNvSpPr>
          <p:nvPr/>
        </p:nvSpPr>
        <p:spPr>
          <a:xfrm>
            <a:off x="571499" y="1579418"/>
            <a:ext cx="11059811" cy="440725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8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0000"/>
              <a:buFont typeface="Avenir Next LT Pro Light" panose="020B0304020202020204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0000"/>
              <a:buFont typeface="Avenir Next LT Pro Light" panose="020B03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dirty="0"/>
              <a:t>자회사배당</a:t>
            </a:r>
            <a:r>
              <a:rPr lang="en-US" altLang="ko-KR" dirty="0"/>
              <a:t>, </a:t>
            </a:r>
            <a:r>
              <a:rPr lang="ko-KR" altLang="en-US" dirty="0"/>
              <a:t>지분매각</a:t>
            </a:r>
            <a:r>
              <a:rPr lang="en-US" altLang="ko-KR" dirty="0"/>
              <a:t>, </a:t>
            </a:r>
            <a:r>
              <a:rPr lang="ko-KR" altLang="en-US" dirty="0"/>
              <a:t>투자조합 배당 등 사업화</a:t>
            </a:r>
            <a:r>
              <a:rPr lang="en-US" altLang="ko-KR" dirty="0"/>
              <a:t>·</a:t>
            </a:r>
            <a:r>
              <a:rPr lang="ko-KR" altLang="en-US" dirty="0"/>
              <a:t>투자수익을 동시에 보유한 이중형 조직의 비중은 증가하고 있는가</a:t>
            </a:r>
            <a:r>
              <a:rPr lang="en-US" altLang="ko-KR" dirty="0"/>
              <a:t>?</a:t>
            </a:r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</p:txBody>
      </p:sp>
      <p:graphicFrame>
        <p:nvGraphicFramePr>
          <p:cNvPr id="11" name="차트 10">
            <a:extLst>
              <a:ext uri="{FF2B5EF4-FFF2-40B4-BE49-F238E27FC236}">
                <a16:creationId xmlns:a16="http://schemas.microsoft.com/office/drawing/2014/main" id="{44984D14-D621-E1CC-16C8-D52649F224E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68006313"/>
              </p:ext>
            </p:extLst>
          </p:nvPr>
        </p:nvGraphicFramePr>
        <p:xfrm>
          <a:off x="3155635" y="2139090"/>
          <a:ext cx="5880729" cy="392048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215364676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65773E-6AF6-8793-1A82-90A7DCC67E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717B2FF-3F25-BB2A-0A81-1F9D5C5489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데이터 분석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F653BF5-06BB-B45A-DEDD-071CC599EB61}"/>
              </a:ext>
            </a:extLst>
          </p:cNvPr>
          <p:cNvSpPr txBox="1"/>
          <p:nvPr/>
        </p:nvSpPr>
        <p:spPr>
          <a:xfrm>
            <a:off x="571499" y="6400365"/>
            <a:ext cx="1105981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400" dirty="0"/>
              <a:t>Analysis of Changes in Business Model of Industry-Academia-Research Technology Holding Companies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A2AA3AD-3044-AFCE-AE6C-D9776D291E24}"/>
              </a:ext>
            </a:extLst>
          </p:cNvPr>
          <p:cNvSpPr txBox="1">
            <a:spLocks/>
          </p:cNvSpPr>
          <p:nvPr/>
        </p:nvSpPr>
        <p:spPr>
          <a:xfrm>
            <a:off x="571499" y="1579418"/>
            <a:ext cx="11059811" cy="440725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8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0000"/>
              <a:buFont typeface="Avenir Next LT Pro Light" panose="020B0304020202020204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0000"/>
              <a:buFont typeface="Avenir Next LT Pro Light" panose="020B03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dirty="0"/>
              <a:t>정책형</a:t>
            </a:r>
            <a:r>
              <a:rPr lang="en-US" altLang="ko-KR" dirty="0"/>
              <a:t>, </a:t>
            </a:r>
            <a:r>
              <a:rPr lang="ko-KR" altLang="en-US" dirty="0"/>
              <a:t>사업형</a:t>
            </a:r>
            <a:r>
              <a:rPr lang="en-US" altLang="ko-KR" dirty="0"/>
              <a:t>, </a:t>
            </a:r>
            <a:r>
              <a:rPr lang="ko-KR" altLang="en-US" dirty="0"/>
              <a:t>이중형</a:t>
            </a:r>
            <a:r>
              <a:rPr lang="en-US" altLang="ko-KR" dirty="0"/>
              <a:t>, </a:t>
            </a:r>
            <a:r>
              <a:rPr lang="ko-KR" altLang="en-US" dirty="0"/>
              <a:t>무수익형 간 전환은 어떠한 방향으로 나타나는가</a:t>
            </a:r>
            <a:r>
              <a:rPr lang="en-US" altLang="ko-KR" dirty="0"/>
              <a:t>?</a:t>
            </a:r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78FF71C3-F135-EDFF-AAD0-8D936BB58E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4415" y="2020988"/>
            <a:ext cx="8383170" cy="41725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197726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3577B2-ABF7-A2F0-4333-CF99CCBB04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7E8E9D4-A2DC-888F-6310-EACE8D776F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데이터 분석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1A1C492-3421-F93A-BA71-5AFF7D627C3C}"/>
              </a:ext>
            </a:extLst>
          </p:cNvPr>
          <p:cNvSpPr txBox="1"/>
          <p:nvPr/>
        </p:nvSpPr>
        <p:spPr>
          <a:xfrm>
            <a:off x="571499" y="6400365"/>
            <a:ext cx="1105981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400" dirty="0"/>
              <a:t>Analysis of Changes in Business Model of Industry-Academia-Research Technology Holding Companies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DF58884-A18E-00A9-FB69-014C80D75244}"/>
              </a:ext>
            </a:extLst>
          </p:cNvPr>
          <p:cNvSpPr txBox="1">
            <a:spLocks/>
          </p:cNvSpPr>
          <p:nvPr/>
        </p:nvSpPr>
        <p:spPr>
          <a:xfrm>
            <a:off x="571499" y="1579418"/>
            <a:ext cx="11059811" cy="440725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8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0000"/>
              <a:buFont typeface="Avenir Next LT Pro Light" panose="020B0304020202020204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0000"/>
              <a:buFont typeface="Avenir Next LT Pro Light" panose="020B03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dirty="0"/>
              <a:t>업력이 높은 기술지주회사일수록 정책형에서 이중형 또는 사업형으로 이동하는가</a:t>
            </a:r>
            <a:r>
              <a:rPr lang="en-US" altLang="ko-KR" dirty="0"/>
              <a:t>?</a:t>
            </a:r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</p:txBody>
      </p:sp>
      <p:graphicFrame>
        <p:nvGraphicFramePr>
          <p:cNvPr id="8" name="차트 7">
            <a:extLst>
              <a:ext uri="{FF2B5EF4-FFF2-40B4-BE49-F238E27FC236}">
                <a16:creationId xmlns:a16="http://schemas.microsoft.com/office/drawing/2014/main" id="{4670FA55-142A-4E9C-1D45-7E1871E1F38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83743950"/>
              </p:ext>
            </p:extLst>
          </p:nvPr>
        </p:nvGraphicFramePr>
        <p:xfrm>
          <a:off x="3347770" y="2442362"/>
          <a:ext cx="5496460" cy="366430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270112546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9B8C13-2506-01EC-0360-56449035F7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695CD80-BD77-4BBF-2EB7-90AEBBA876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데이터 분석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5D969E8-35F0-543F-6182-160D6A72D6AD}"/>
              </a:ext>
            </a:extLst>
          </p:cNvPr>
          <p:cNvSpPr txBox="1"/>
          <p:nvPr/>
        </p:nvSpPr>
        <p:spPr>
          <a:xfrm>
            <a:off x="571499" y="6400365"/>
            <a:ext cx="1105981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400" dirty="0"/>
              <a:t>Analysis of Changes in Business Model of Industry-Academia-Research Technology Holding Companies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5D6F5DB-CF60-E00C-57FC-731826A26B1D}"/>
              </a:ext>
            </a:extLst>
          </p:cNvPr>
          <p:cNvSpPr txBox="1">
            <a:spLocks/>
          </p:cNvSpPr>
          <p:nvPr/>
        </p:nvSpPr>
        <p:spPr>
          <a:xfrm>
            <a:off x="571499" y="1579418"/>
            <a:ext cx="11059811" cy="440725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8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0000"/>
              <a:buFont typeface="Avenir Next LT Pro Light" panose="020B0304020202020204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0000"/>
              <a:buFont typeface="Avenir Next LT Pro Light" panose="020B03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dirty="0"/>
              <a:t>공동형 기술지주회사는 단독형보다 이중형 수익구조를 가질 가능성이 높은가</a:t>
            </a:r>
            <a:r>
              <a:rPr lang="en-US" altLang="ko-KR" dirty="0"/>
              <a:t>?</a:t>
            </a:r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</p:txBody>
      </p:sp>
      <p:graphicFrame>
        <p:nvGraphicFramePr>
          <p:cNvPr id="8" name="차트 7">
            <a:extLst>
              <a:ext uri="{FF2B5EF4-FFF2-40B4-BE49-F238E27FC236}">
                <a16:creationId xmlns:a16="http://schemas.microsoft.com/office/drawing/2014/main" id="{D92399FC-A50C-5691-5972-5F886DFA003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84756197"/>
              </p:ext>
            </p:extLst>
          </p:nvPr>
        </p:nvGraphicFramePr>
        <p:xfrm>
          <a:off x="3347770" y="2442362"/>
          <a:ext cx="5496460" cy="366430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132203654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4A0FB9-10C5-0635-30F3-AE08B159DE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E19ECD7-C99F-E85C-1FE1-D79CBC99C1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데이터 분석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8359BFE-2F4D-CBB5-C385-2D01C0AE902C}"/>
              </a:ext>
            </a:extLst>
          </p:cNvPr>
          <p:cNvSpPr txBox="1"/>
          <p:nvPr/>
        </p:nvSpPr>
        <p:spPr>
          <a:xfrm>
            <a:off x="571499" y="6400365"/>
            <a:ext cx="1105981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400" dirty="0"/>
              <a:t>Analysis of Changes in Business Model of Industry-Academia-Research Technology Holding Companies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73E0A35-D67A-67C6-21D9-52F7B811302E}"/>
              </a:ext>
            </a:extLst>
          </p:cNvPr>
          <p:cNvSpPr txBox="1">
            <a:spLocks/>
          </p:cNvSpPr>
          <p:nvPr/>
        </p:nvSpPr>
        <p:spPr>
          <a:xfrm>
            <a:off x="571499" y="1579418"/>
            <a:ext cx="11059811" cy="440725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8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0000"/>
              <a:buFont typeface="Avenir Next LT Pro Light" panose="020B0304020202020204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0000"/>
              <a:buFont typeface="Avenir Next LT Pro Light" panose="020B03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dirty="0">
                <a:solidFill>
                  <a:srgbClr val="FF0000"/>
                </a:solidFill>
              </a:rPr>
              <a:t>수도권과 비수도권</a:t>
            </a:r>
            <a:r>
              <a:rPr lang="en-US" altLang="ko-KR" dirty="0">
                <a:solidFill>
                  <a:srgbClr val="FF0000"/>
                </a:solidFill>
              </a:rPr>
              <a:t>, </a:t>
            </a:r>
            <a:r>
              <a:rPr lang="ko-KR" altLang="en-US" dirty="0">
                <a:solidFill>
                  <a:srgbClr val="FF0000"/>
                </a:solidFill>
              </a:rPr>
              <a:t>권역별 기술지주회사 간에 정책의존도와 </a:t>
            </a:r>
            <a:r>
              <a:rPr lang="ko-KR" altLang="en-US" dirty="0" err="1">
                <a:solidFill>
                  <a:srgbClr val="FF0000"/>
                </a:solidFill>
              </a:rPr>
              <a:t>사업화수익</a:t>
            </a:r>
            <a:r>
              <a:rPr lang="ko-KR" altLang="en-US" dirty="0">
                <a:solidFill>
                  <a:srgbClr val="FF0000"/>
                </a:solidFill>
              </a:rPr>
              <a:t> 발생 가능성에 차이가 있는가</a:t>
            </a:r>
            <a:r>
              <a:rPr lang="en-US" altLang="ko-KR" dirty="0">
                <a:solidFill>
                  <a:srgbClr val="FF0000"/>
                </a:solidFill>
              </a:rPr>
              <a:t>?</a:t>
            </a:r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</p:txBody>
      </p:sp>
      <p:graphicFrame>
        <p:nvGraphicFramePr>
          <p:cNvPr id="9" name="차트 8">
            <a:extLst>
              <a:ext uri="{FF2B5EF4-FFF2-40B4-BE49-F238E27FC236}">
                <a16:creationId xmlns:a16="http://schemas.microsoft.com/office/drawing/2014/main" id="{3A8BE972-39BE-4443-37D6-72B0D71A73D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00688681"/>
              </p:ext>
            </p:extLst>
          </p:nvPr>
        </p:nvGraphicFramePr>
        <p:xfrm>
          <a:off x="3306618" y="2292978"/>
          <a:ext cx="5578764" cy="371917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355293517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13BE51-241E-319E-4472-E51B13FF4A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53A3245-803E-C06E-BAB7-DC59A52B92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데이터 분석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ECC890E-DC3A-2FC2-C04F-586C3A722E93}"/>
              </a:ext>
            </a:extLst>
          </p:cNvPr>
          <p:cNvSpPr txBox="1"/>
          <p:nvPr/>
        </p:nvSpPr>
        <p:spPr>
          <a:xfrm>
            <a:off x="571499" y="6400365"/>
            <a:ext cx="1105981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400" dirty="0"/>
              <a:t>Analysis of Changes in Business Model of Industry-Academia-Research Technology Holding Companies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FBF0FDC-C573-77E6-641F-344C011C3031}"/>
              </a:ext>
            </a:extLst>
          </p:cNvPr>
          <p:cNvSpPr txBox="1">
            <a:spLocks/>
          </p:cNvSpPr>
          <p:nvPr/>
        </p:nvSpPr>
        <p:spPr>
          <a:xfrm>
            <a:off x="571499" y="1579418"/>
            <a:ext cx="11059811" cy="440725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8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0000"/>
              <a:buFont typeface="Avenir Next LT Pro Light" panose="020B0304020202020204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0000"/>
              <a:buFont typeface="Avenir Next LT Pro Light" panose="020B03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dirty="0">
                <a:solidFill>
                  <a:srgbClr val="FF0000"/>
                </a:solidFill>
              </a:rPr>
              <a:t>수도권과 비수도권</a:t>
            </a:r>
            <a:r>
              <a:rPr lang="en-US" altLang="ko-KR" dirty="0">
                <a:solidFill>
                  <a:srgbClr val="FF0000"/>
                </a:solidFill>
              </a:rPr>
              <a:t>, </a:t>
            </a:r>
            <a:r>
              <a:rPr lang="ko-KR" altLang="en-US" dirty="0">
                <a:solidFill>
                  <a:srgbClr val="FF0000"/>
                </a:solidFill>
              </a:rPr>
              <a:t>권역별 기술지주회사 간에 정책의존도와 </a:t>
            </a:r>
            <a:r>
              <a:rPr lang="ko-KR" altLang="en-US" dirty="0" err="1">
                <a:solidFill>
                  <a:srgbClr val="FF0000"/>
                </a:solidFill>
              </a:rPr>
              <a:t>사업화수익</a:t>
            </a:r>
            <a:r>
              <a:rPr lang="ko-KR" altLang="en-US" dirty="0">
                <a:solidFill>
                  <a:srgbClr val="FF0000"/>
                </a:solidFill>
              </a:rPr>
              <a:t> 발생 가능성에 차이가 있는가</a:t>
            </a:r>
            <a:r>
              <a:rPr lang="en-US" altLang="ko-KR" dirty="0">
                <a:solidFill>
                  <a:srgbClr val="FF0000"/>
                </a:solidFill>
              </a:rPr>
              <a:t>?</a:t>
            </a:r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CBBC8728-26F8-E9C5-9445-0B37DB2F28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1888" y="2741254"/>
            <a:ext cx="9488224" cy="26578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401103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848761-6ED2-32EB-2582-437A692D04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A68E4A9-C129-4FA5-1A31-FB99E6071B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데이터 분석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1CDEF02-D88B-EF6B-6F02-F9A096644E59}"/>
              </a:ext>
            </a:extLst>
          </p:cNvPr>
          <p:cNvSpPr txBox="1"/>
          <p:nvPr/>
        </p:nvSpPr>
        <p:spPr>
          <a:xfrm>
            <a:off x="571499" y="6400365"/>
            <a:ext cx="1105981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400" dirty="0"/>
              <a:t>Analysis of Changes in Business Model of Industry-Academia-Research Technology Holding Companies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108E010-A21F-533D-63E3-A0ECFCEF40B4}"/>
              </a:ext>
            </a:extLst>
          </p:cNvPr>
          <p:cNvSpPr txBox="1">
            <a:spLocks/>
          </p:cNvSpPr>
          <p:nvPr/>
        </p:nvSpPr>
        <p:spPr>
          <a:xfrm>
            <a:off x="571499" y="1579418"/>
            <a:ext cx="11059811" cy="440725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8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0000"/>
              <a:buFont typeface="Avenir Next LT Pro Light" panose="020B0304020202020204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0000"/>
              <a:buFont typeface="Avenir Next LT Pro Light" panose="020B03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800" dirty="0"/>
              <a:t>비수도권 기술지주회사는 수도권보다 </a:t>
            </a:r>
            <a:r>
              <a:rPr lang="en-US" altLang="ko-KR" sz="1800" dirty="0"/>
              <a:t>(</a:t>
            </a:r>
            <a:r>
              <a:rPr lang="ko-KR" altLang="en-US" sz="1800" dirty="0"/>
              <a:t>미세하지만</a:t>
            </a:r>
            <a:r>
              <a:rPr lang="en-US" altLang="ko-KR" sz="1800" dirty="0"/>
              <a:t>) </a:t>
            </a:r>
            <a:r>
              <a:rPr lang="ko-KR" altLang="en-US" sz="1800" dirty="0"/>
              <a:t>정부 정책 지원금에 더 의존하고 있고</a:t>
            </a:r>
            <a:r>
              <a:rPr lang="en-US" altLang="ko-KR" sz="1800" dirty="0"/>
              <a:t>, </a:t>
            </a:r>
            <a:r>
              <a:rPr lang="ko-KR" altLang="en-US" sz="1800" dirty="0"/>
              <a:t>자체적인 사업화 창출 능력도 상대적으로 떨어지는 것으로 보임</a:t>
            </a:r>
            <a:r>
              <a:rPr lang="en-US" altLang="ko-KR" sz="1800" dirty="0"/>
              <a:t>.</a:t>
            </a:r>
          </a:p>
          <a:p>
            <a:r>
              <a:rPr lang="ko-KR" altLang="en-US" sz="1800" dirty="0"/>
              <a:t>하지만</a:t>
            </a:r>
            <a:r>
              <a:rPr lang="en-US" altLang="ko-KR" sz="1800" dirty="0"/>
              <a:t>, </a:t>
            </a:r>
            <a:r>
              <a:rPr lang="ko-KR" altLang="en-US" sz="1800" dirty="0"/>
              <a:t>로지스틱 회귀분석을 통해 </a:t>
            </a:r>
            <a:r>
              <a:rPr lang="en-US" altLang="ko-KR" sz="1800" dirty="0"/>
              <a:t>‘</a:t>
            </a:r>
            <a:r>
              <a:rPr lang="ko-KR" altLang="en-US" sz="1800" dirty="0"/>
              <a:t>자본금</a:t>
            </a:r>
            <a:r>
              <a:rPr lang="en-US" altLang="ko-KR" sz="1800" dirty="0"/>
              <a:t>‘, ‘</a:t>
            </a:r>
            <a:r>
              <a:rPr lang="ko-KR" altLang="en-US" sz="1800" dirty="0"/>
              <a:t>전담인력</a:t>
            </a:r>
            <a:r>
              <a:rPr lang="en-US" altLang="ko-KR" sz="1800" dirty="0"/>
              <a:t>’, ‘</a:t>
            </a:r>
            <a:r>
              <a:rPr lang="ko-KR" altLang="en-US" sz="1800" dirty="0"/>
              <a:t>자회사 규모</a:t>
            </a:r>
            <a:r>
              <a:rPr lang="en-US" altLang="ko-KR" sz="1800" dirty="0"/>
              <a:t>‘</a:t>
            </a:r>
            <a:r>
              <a:rPr lang="ko-KR" altLang="en-US" sz="1800" dirty="0"/>
              <a:t>라는 조건을 똑같이 맞추고 진짜 원인을 파악해본 결과</a:t>
            </a:r>
            <a:r>
              <a:rPr lang="en-US" altLang="ko-KR" sz="1800" dirty="0"/>
              <a:t>,</a:t>
            </a:r>
          </a:p>
          <a:p>
            <a:pPr lvl="1"/>
            <a:r>
              <a:rPr lang="en-US" altLang="ko-KR" sz="1600" dirty="0"/>
              <a:t>[1] ‘</a:t>
            </a:r>
            <a:r>
              <a:rPr lang="ko-KR" altLang="en-US" sz="1600" dirty="0"/>
              <a:t>수도권에 위치한다</a:t>
            </a:r>
            <a:r>
              <a:rPr lang="en-US" altLang="ko-KR" sz="1600" dirty="0"/>
              <a:t>’ </a:t>
            </a:r>
            <a:r>
              <a:rPr lang="ko-KR" altLang="en-US" sz="1600" dirty="0"/>
              <a:t>자체는 수익 창출에 영향을 미치지 않음</a:t>
            </a:r>
            <a:endParaRPr lang="en-US" altLang="ko-KR" sz="1600" dirty="0"/>
          </a:p>
          <a:p>
            <a:pPr lvl="1"/>
            <a:r>
              <a:rPr lang="en-US" altLang="ko-KR" sz="1600" dirty="0"/>
              <a:t>[2] ‘</a:t>
            </a:r>
            <a:r>
              <a:rPr lang="ko-KR" altLang="en-US" sz="1600" dirty="0"/>
              <a:t>자회사 규모</a:t>
            </a:r>
            <a:r>
              <a:rPr lang="en-US" altLang="ko-KR" sz="1600" dirty="0"/>
              <a:t>(</a:t>
            </a:r>
            <a:r>
              <a:rPr lang="ko-KR" altLang="en-US" sz="1600" dirty="0"/>
              <a:t>매우 </a:t>
            </a:r>
            <a:r>
              <a:rPr lang="ko-KR" altLang="en-US" sz="1600" dirty="0" err="1"/>
              <a:t>유의미</a:t>
            </a:r>
            <a:r>
              <a:rPr lang="en-US" altLang="ko-KR" sz="1600" dirty="0"/>
              <a:t>)‘</a:t>
            </a:r>
            <a:r>
              <a:rPr lang="ko-KR" altLang="en-US" sz="1600" dirty="0"/>
              <a:t>와</a:t>
            </a:r>
            <a:r>
              <a:rPr lang="en-US" altLang="ko-KR" sz="1600" dirty="0"/>
              <a:t>, ‘</a:t>
            </a:r>
            <a:r>
              <a:rPr lang="ko-KR" altLang="en-US" sz="1600" dirty="0"/>
              <a:t>자본금</a:t>
            </a:r>
            <a:r>
              <a:rPr lang="en-US" altLang="ko-KR" sz="1600" dirty="0"/>
              <a:t>‘, ‘</a:t>
            </a:r>
            <a:r>
              <a:rPr lang="ko-KR" altLang="en-US" sz="1600" dirty="0"/>
              <a:t>전담인력</a:t>
            </a:r>
            <a:r>
              <a:rPr lang="en-US" altLang="ko-KR" sz="1600" dirty="0"/>
              <a:t>’</a:t>
            </a:r>
            <a:r>
              <a:rPr lang="ko-KR" altLang="en-US" sz="1600" dirty="0"/>
              <a:t>이 실질적 원인임을 규명함</a:t>
            </a:r>
            <a:endParaRPr lang="en-US" altLang="ko-KR" sz="1600" dirty="0"/>
          </a:p>
          <a:p>
            <a:r>
              <a:rPr lang="ko-KR" altLang="en-US" sz="1800" dirty="0"/>
              <a:t>따라서</a:t>
            </a:r>
            <a:r>
              <a:rPr lang="en-US" altLang="ko-KR" sz="1800" dirty="0"/>
              <a:t>, </a:t>
            </a:r>
            <a:r>
              <a:rPr lang="ko-KR" altLang="ko-KR" sz="1800" dirty="0"/>
              <a:t>비수도권 기술지주회사들이 자생적인 사업화 수익을 내지 못하고 정책에 의존하는 진짜 이유는 </a:t>
            </a:r>
            <a:r>
              <a:rPr lang="en-US" altLang="ko-KR" sz="1800" dirty="0"/>
              <a:t>‘</a:t>
            </a:r>
            <a:r>
              <a:rPr lang="ko-KR" altLang="ko-KR" sz="1800" dirty="0"/>
              <a:t>지방에 위치해서</a:t>
            </a:r>
            <a:r>
              <a:rPr lang="en-US" altLang="ko-KR" sz="1800" dirty="0"/>
              <a:t>’</a:t>
            </a:r>
            <a:r>
              <a:rPr lang="ko-KR" altLang="ko-KR" sz="1800" dirty="0"/>
              <a:t>가 </a:t>
            </a:r>
            <a:r>
              <a:rPr lang="ko-KR" altLang="en-US" sz="1800" dirty="0"/>
              <a:t>아니며</a:t>
            </a:r>
            <a:r>
              <a:rPr lang="en-US" altLang="ko-KR" sz="1800" dirty="0"/>
              <a:t>,</a:t>
            </a:r>
            <a:r>
              <a:rPr lang="ko-KR" altLang="ko-KR" sz="1800" dirty="0"/>
              <a:t> 수익 구조를 전환할 수 있는 절대적인 총알 즉, </a:t>
            </a:r>
            <a:r>
              <a:rPr lang="en-US" altLang="ko-KR" sz="1800" dirty="0"/>
              <a:t>‘</a:t>
            </a:r>
            <a:r>
              <a:rPr lang="ko-KR" altLang="ko-KR" sz="1800" dirty="0"/>
              <a:t>자본금, 전담 인력, 규모</a:t>
            </a:r>
            <a:r>
              <a:rPr lang="en-US" altLang="ko-KR" sz="1800" dirty="0"/>
              <a:t>’</a:t>
            </a:r>
            <a:r>
              <a:rPr lang="ko-KR" altLang="ko-KR" sz="1800" dirty="0"/>
              <a:t>가 수도권 회사들에 비해 턱없이 부족하기 때문</a:t>
            </a:r>
            <a:r>
              <a:rPr lang="ko-KR" altLang="en-US" sz="1800" dirty="0"/>
              <a:t>임</a:t>
            </a:r>
            <a:endParaRPr lang="en-US" altLang="ko-KR" sz="1800" dirty="0"/>
          </a:p>
          <a:p>
            <a:r>
              <a:rPr lang="ko-KR" altLang="ko-KR" sz="1800" dirty="0"/>
              <a:t>비수도권 기술지주회사를 살리기 위해 단순히 '지방 배려 차원의 지원금(정책 수익)'을 늘리는 것보다는, 비수도권 회사들이 자본금을 확충하고, 우수한 전문 인력을 유치하며, 덩치를 키울 수 있도록(자원 격차 해소) 돕는 지원이 결국 핵심임</a:t>
            </a:r>
            <a:endParaRPr lang="en-US" altLang="ko-KR" sz="1800" dirty="0"/>
          </a:p>
        </p:txBody>
      </p:sp>
    </p:spTree>
    <p:extLst>
      <p:ext uri="{BB962C8B-B14F-4D97-AF65-F5344CB8AC3E}">
        <p14:creationId xmlns:p14="http://schemas.microsoft.com/office/powerpoint/2010/main" val="54699267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E8B86A-02E0-75D3-4DC4-F4A38026EB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449B169-87DB-BB44-398F-E49BFB2424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데이터 분석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F66E609-4104-925D-88F5-1F3D555D79BE}"/>
              </a:ext>
            </a:extLst>
          </p:cNvPr>
          <p:cNvSpPr txBox="1"/>
          <p:nvPr/>
        </p:nvSpPr>
        <p:spPr>
          <a:xfrm>
            <a:off x="571499" y="6400365"/>
            <a:ext cx="1105981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400" dirty="0"/>
              <a:t>Analysis of Changes in Business Model of Industry-Academia-Research Technology Holding Companies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01E55EC-7EB8-FDBC-FD95-9E46B813B91F}"/>
              </a:ext>
            </a:extLst>
          </p:cNvPr>
          <p:cNvSpPr txBox="1">
            <a:spLocks/>
          </p:cNvSpPr>
          <p:nvPr/>
        </p:nvSpPr>
        <p:spPr>
          <a:xfrm>
            <a:off x="571499" y="1579418"/>
            <a:ext cx="11059811" cy="440725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8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0000"/>
              <a:buFont typeface="Avenir Next LT Pro Light" panose="020B0304020202020204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0000"/>
              <a:buFont typeface="Avenir Next LT Pro Light" panose="020B03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dirty="0"/>
              <a:t>국책사업비 수익이 존재하는 회사는 다음해 전담인력이 증가하는가</a:t>
            </a:r>
            <a:r>
              <a:rPr lang="en-US" altLang="ko-KR" dirty="0"/>
              <a:t>?</a:t>
            </a:r>
          </a:p>
          <a:p>
            <a:endParaRPr lang="en-US" altLang="ko-KR" dirty="0"/>
          </a:p>
          <a:p>
            <a:endParaRPr lang="en-US" altLang="ko-KR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7936D750-DDAD-5C40-FDD9-8C9ED9BE72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2914" y="2944729"/>
            <a:ext cx="8926171" cy="16766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170232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A235E1-A237-60AE-DBD1-3108A7A7E0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34610AD-BB4D-D54E-0FA5-C289DC3506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데이터 분석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7AF1795-7417-B56C-E36B-61C44C3B6426}"/>
              </a:ext>
            </a:extLst>
          </p:cNvPr>
          <p:cNvSpPr txBox="1"/>
          <p:nvPr/>
        </p:nvSpPr>
        <p:spPr>
          <a:xfrm>
            <a:off x="571499" y="6400365"/>
            <a:ext cx="1105981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400" dirty="0"/>
              <a:t>Analysis of Changes in Business Model of Industry-Academia-Research Technology Holding Companies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6C7E768-A3AD-A698-C057-F03C4005FF61}"/>
              </a:ext>
            </a:extLst>
          </p:cNvPr>
          <p:cNvSpPr txBox="1">
            <a:spLocks/>
          </p:cNvSpPr>
          <p:nvPr/>
        </p:nvSpPr>
        <p:spPr>
          <a:xfrm>
            <a:off x="571499" y="1579418"/>
            <a:ext cx="11059811" cy="440725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8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0000"/>
              <a:buFont typeface="Avenir Next LT Pro Light" panose="020B0304020202020204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0000"/>
              <a:buFont typeface="Avenir Next LT Pro Light" panose="020B03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dirty="0"/>
              <a:t>국책사업비 수익이 존재하는 회사는 다음해 신규 자회사 설립 수가 증가하는가</a:t>
            </a:r>
            <a:r>
              <a:rPr lang="en-US" altLang="ko-KR" dirty="0"/>
              <a:t>?</a:t>
            </a:r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84D39C79-2103-DB1A-9D8C-28A79EB779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94809" y="2901860"/>
            <a:ext cx="9002381" cy="17623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512314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9720F1-A06D-F52D-8E94-BE24F7B708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A487C17-73D0-1067-C9F3-4CF81AD2C2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데이터 분석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56342D4-F838-0865-4D9F-F825F471109F}"/>
              </a:ext>
            </a:extLst>
          </p:cNvPr>
          <p:cNvSpPr txBox="1"/>
          <p:nvPr/>
        </p:nvSpPr>
        <p:spPr>
          <a:xfrm>
            <a:off x="571499" y="6400365"/>
            <a:ext cx="1105981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400" dirty="0"/>
              <a:t>Analysis of Changes in Business Model of Industry-Academia-Research Technology Holding Companies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E715C2E-2C48-BDE6-9688-38B4DE24B6F6}"/>
              </a:ext>
            </a:extLst>
          </p:cNvPr>
          <p:cNvSpPr txBox="1">
            <a:spLocks/>
          </p:cNvSpPr>
          <p:nvPr/>
        </p:nvSpPr>
        <p:spPr>
          <a:xfrm>
            <a:off x="571499" y="1579418"/>
            <a:ext cx="11059811" cy="440725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8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0000"/>
              <a:buFont typeface="Avenir Next LT Pro Light" panose="020B0304020202020204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0000"/>
              <a:buFont typeface="Avenir Next LT Pro Light" panose="020B03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dirty="0"/>
              <a:t>국책사업비 수익은 다음해 또는 </a:t>
            </a:r>
            <a:r>
              <a:rPr lang="en-US" altLang="ko-KR" dirty="0"/>
              <a:t>2</a:t>
            </a:r>
            <a:r>
              <a:rPr lang="ko-KR" altLang="en-US" dirty="0"/>
              <a:t>년 후 사업화</a:t>
            </a:r>
            <a:r>
              <a:rPr lang="en-US" altLang="ko-KR" dirty="0"/>
              <a:t>·</a:t>
            </a:r>
            <a:r>
              <a:rPr lang="ko-KR" altLang="en-US" dirty="0"/>
              <a:t>투자수익 발생 가능성을 높이는가</a:t>
            </a:r>
            <a:r>
              <a:rPr lang="en-US" altLang="ko-KR" dirty="0"/>
              <a:t>?</a:t>
            </a:r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74BC3A0A-6D1C-DB2C-F1BE-3A0625E0DD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7930" y="2392202"/>
            <a:ext cx="9345329" cy="2781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867364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F20204-C16F-BDAA-7458-3826DD4C27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BB78A3C-B6DA-F1C9-AC84-9169757154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데이터 분석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2AC92D6-BEDE-02AC-92B7-B30FE21ABD99}"/>
              </a:ext>
            </a:extLst>
          </p:cNvPr>
          <p:cNvSpPr txBox="1"/>
          <p:nvPr/>
        </p:nvSpPr>
        <p:spPr>
          <a:xfrm>
            <a:off x="571499" y="6400365"/>
            <a:ext cx="1105981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400" dirty="0"/>
              <a:t>Analysis of Changes in Business Model of Industry-Academia-Research Technology Holding Companies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407F034-EEA7-4392-CCEB-0A098F5781ED}"/>
              </a:ext>
            </a:extLst>
          </p:cNvPr>
          <p:cNvSpPr txBox="1">
            <a:spLocks/>
          </p:cNvSpPr>
          <p:nvPr/>
        </p:nvSpPr>
        <p:spPr>
          <a:xfrm>
            <a:off x="571499" y="1579418"/>
            <a:ext cx="11059811" cy="440725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8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0000"/>
              <a:buFont typeface="Avenir Next LT Pro Light" panose="020B0304020202020204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0000"/>
              <a:buFont typeface="Avenir Next LT Pro Light" panose="020B03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dirty="0">
                <a:solidFill>
                  <a:srgbClr val="FF0000"/>
                </a:solidFill>
              </a:rPr>
              <a:t>이러한 관계는 초기 조직과 성숙 조직에서 다르게 나타나는가</a:t>
            </a:r>
            <a:r>
              <a:rPr lang="en-US" altLang="ko-KR" dirty="0">
                <a:solidFill>
                  <a:srgbClr val="FF0000"/>
                </a:solidFill>
              </a:rPr>
              <a:t>?</a:t>
            </a:r>
          </a:p>
          <a:p>
            <a:endParaRPr lang="en-US" altLang="ko-KR" dirty="0"/>
          </a:p>
          <a:p>
            <a:endParaRPr lang="en-US" altLang="ko-KR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E12C901B-26A1-474A-D447-5CC77F3198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0493" y="2416017"/>
            <a:ext cx="9231013" cy="2734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736874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29DC88-CF48-8942-6DD7-8650DFBA8B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027008C-3B98-804A-3473-CA36678610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 err="1"/>
              <a:t>머신러닝</a:t>
            </a:r>
            <a:r>
              <a:rPr lang="ko-KR" altLang="en-US" dirty="0"/>
              <a:t> 활용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C672CEB-3D93-2744-4C8B-9BD91BA509FE}"/>
              </a:ext>
            </a:extLst>
          </p:cNvPr>
          <p:cNvSpPr txBox="1"/>
          <p:nvPr/>
        </p:nvSpPr>
        <p:spPr>
          <a:xfrm>
            <a:off x="571499" y="6400365"/>
            <a:ext cx="1105981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400" dirty="0"/>
              <a:t>Analysis of Changes in Business Model of Industry-Academia-Research Technology Holding Companies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8A5C7E4-8D61-759A-A5E3-F4512D29E490}"/>
              </a:ext>
            </a:extLst>
          </p:cNvPr>
          <p:cNvSpPr txBox="1">
            <a:spLocks/>
          </p:cNvSpPr>
          <p:nvPr/>
        </p:nvSpPr>
        <p:spPr>
          <a:xfrm>
            <a:off x="571499" y="1579418"/>
            <a:ext cx="11059811" cy="440725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8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0000"/>
              <a:buFont typeface="Avenir Next LT Pro Light" panose="020B0304020202020204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0000"/>
              <a:buFont typeface="Avenir Next LT Pro Light" panose="020B03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800" dirty="0"/>
              <a:t>주성분 분석</a:t>
            </a:r>
            <a:r>
              <a:rPr lang="en-US" altLang="ko-KR" sz="1800" dirty="0"/>
              <a:t>(PCA)</a:t>
            </a:r>
          </a:p>
          <a:p>
            <a:pPr lvl="1"/>
            <a:r>
              <a:rPr lang="ko-KR" altLang="en-US" sz="1600" dirty="0"/>
              <a:t>현재 변수가 많으니 이를 활용해 </a:t>
            </a:r>
            <a:r>
              <a:rPr lang="en-US" altLang="ko-KR" sz="1600" dirty="0"/>
              <a:t>‘</a:t>
            </a:r>
            <a:r>
              <a:rPr lang="ko-KR" altLang="en-US" sz="1600" dirty="0"/>
              <a:t>역량 지수</a:t>
            </a:r>
            <a:r>
              <a:rPr lang="en-US" altLang="ko-KR" sz="1600" dirty="0"/>
              <a:t>(Index)’ </a:t>
            </a:r>
            <a:r>
              <a:rPr lang="ko-KR" altLang="en-US" sz="1600" dirty="0"/>
              <a:t>개념을 새로 창출 시도</a:t>
            </a:r>
            <a:endParaRPr lang="en-US" altLang="ko-KR" sz="1600" dirty="0"/>
          </a:p>
          <a:p>
            <a:pPr lvl="1"/>
            <a:r>
              <a:rPr lang="en-US" altLang="ko-KR" sz="1600" dirty="0"/>
              <a:t>[Try</a:t>
            </a:r>
            <a:r>
              <a:rPr lang="ko-KR" altLang="en-US" sz="1600" dirty="0"/>
              <a:t> </a:t>
            </a:r>
            <a:r>
              <a:rPr lang="en-US" altLang="ko-KR" sz="1600" dirty="0"/>
              <a:t>&amp;</a:t>
            </a:r>
            <a:r>
              <a:rPr lang="ko-KR" altLang="en-US" sz="1600" dirty="0"/>
              <a:t> </a:t>
            </a:r>
            <a:r>
              <a:rPr lang="en-US" altLang="ko-KR" sz="1600" dirty="0"/>
              <a:t>Error]</a:t>
            </a:r>
            <a:r>
              <a:rPr lang="ko-KR" altLang="en-US" sz="1600" dirty="0"/>
              <a:t> 자본금과 전담인력 등 숫자 차이가 크기에 정규화 스케일링이 필요</a:t>
            </a:r>
            <a:endParaRPr lang="en-US" altLang="ko-KR" sz="1600" dirty="0"/>
          </a:p>
          <a:p>
            <a:r>
              <a:rPr lang="ko-KR" altLang="en-US" sz="1800" dirty="0"/>
              <a:t>계층적 군집화</a:t>
            </a:r>
            <a:r>
              <a:rPr lang="en-US" altLang="ko-KR" sz="1800" dirty="0"/>
              <a:t>(Hierarchy Clustering &amp; Dendrogram)</a:t>
            </a:r>
          </a:p>
          <a:p>
            <a:pPr lvl="1"/>
            <a:r>
              <a:rPr lang="ko-KR" altLang="en-US" sz="1600" dirty="0"/>
              <a:t>조직의 분화</a:t>
            </a:r>
            <a:r>
              <a:rPr lang="en-US" altLang="ko-KR" sz="1600" dirty="0"/>
              <a:t>(Divergence)</a:t>
            </a:r>
            <a:r>
              <a:rPr lang="ko-KR" altLang="en-US" sz="1600" dirty="0"/>
              <a:t>라는 이론적 가설을 </a:t>
            </a:r>
            <a:r>
              <a:rPr lang="ko-KR" altLang="en-US" sz="1600" dirty="0" err="1"/>
              <a:t>덴드로그램으로</a:t>
            </a:r>
            <a:r>
              <a:rPr lang="ko-KR" altLang="en-US" sz="1600" dirty="0"/>
              <a:t> 증명 시도</a:t>
            </a:r>
            <a:endParaRPr lang="en-US" altLang="ko-KR" sz="1600" dirty="0"/>
          </a:p>
          <a:p>
            <a:pPr lvl="1"/>
            <a:r>
              <a:rPr lang="en-US" altLang="ko-KR" sz="1600" dirty="0"/>
              <a:t>[Try &amp; Error] 5</a:t>
            </a:r>
            <a:r>
              <a:rPr lang="ko-KR" altLang="en-US" sz="1600" dirty="0"/>
              <a:t>년치 데이터를 한번에 </a:t>
            </a:r>
            <a:r>
              <a:rPr lang="ko-KR" altLang="en-US" sz="1600" dirty="0" err="1"/>
              <a:t>군집화하면</a:t>
            </a:r>
            <a:r>
              <a:rPr lang="ko-KR" altLang="en-US" sz="1600" dirty="0"/>
              <a:t> 같은 회사가 연도별로 다른 군집에 쪼개질 수 있어</a:t>
            </a:r>
            <a:r>
              <a:rPr lang="en-US" altLang="ko-KR" sz="1600" dirty="0"/>
              <a:t>, (1) </a:t>
            </a:r>
            <a:r>
              <a:rPr lang="ko-KR" altLang="en-US" sz="1600" dirty="0"/>
              <a:t>최근 연도</a:t>
            </a:r>
            <a:r>
              <a:rPr lang="en-US" altLang="ko-KR" sz="1600" dirty="0"/>
              <a:t>(2024</a:t>
            </a:r>
            <a:r>
              <a:rPr lang="ko-KR" altLang="en-US" sz="1600" dirty="0"/>
              <a:t>년</a:t>
            </a:r>
            <a:r>
              <a:rPr lang="en-US" altLang="ko-KR" sz="1600" dirty="0"/>
              <a:t>) </a:t>
            </a:r>
            <a:r>
              <a:rPr lang="ko-KR" altLang="en-US" sz="1600" dirty="0"/>
              <a:t>데이터만 활용</a:t>
            </a:r>
            <a:r>
              <a:rPr lang="en-US" altLang="ko-KR" sz="1600" dirty="0"/>
              <a:t>, </a:t>
            </a:r>
            <a:r>
              <a:rPr lang="ko-KR" altLang="en-US" sz="1600" dirty="0"/>
              <a:t>혹은 </a:t>
            </a:r>
            <a:r>
              <a:rPr lang="en-US" altLang="ko-KR" sz="1600" dirty="0"/>
              <a:t>(2) 5</a:t>
            </a:r>
            <a:r>
              <a:rPr lang="ko-KR" altLang="en-US" sz="1600" dirty="0" err="1"/>
              <a:t>년간의</a:t>
            </a:r>
            <a:r>
              <a:rPr lang="ko-KR" altLang="en-US" sz="1600" dirty="0"/>
              <a:t> </a:t>
            </a:r>
            <a:r>
              <a:rPr lang="en-US" altLang="ko-KR" sz="1600" dirty="0"/>
              <a:t>‘</a:t>
            </a:r>
            <a:r>
              <a:rPr lang="ko-KR" altLang="en-US" sz="1600" dirty="0"/>
              <a:t>성장률</a:t>
            </a:r>
            <a:r>
              <a:rPr lang="en-US" altLang="ko-KR" sz="1600" dirty="0"/>
              <a:t>(</a:t>
            </a:r>
            <a:r>
              <a:rPr lang="ko-KR" altLang="en-US" sz="1600" dirty="0" err="1"/>
              <a:t>차이값</a:t>
            </a:r>
            <a:r>
              <a:rPr lang="en-US" altLang="ko-KR" sz="1600" dirty="0"/>
              <a:t>)’</a:t>
            </a:r>
            <a:r>
              <a:rPr lang="ko-KR" altLang="en-US" sz="1600" dirty="0"/>
              <a:t>을 기준으로 군집화</a:t>
            </a:r>
            <a:endParaRPr lang="en-US" altLang="ko-KR" sz="1600" dirty="0"/>
          </a:p>
          <a:p>
            <a:r>
              <a:rPr lang="ko-KR" altLang="ko-KR" sz="1800" dirty="0" err="1"/>
              <a:t>Decision</a:t>
            </a:r>
            <a:r>
              <a:rPr lang="ko-KR" altLang="ko-KR" sz="1800" dirty="0"/>
              <a:t> Tree &amp; </a:t>
            </a:r>
            <a:r>
              <a:rPr lang="ko-KR" altLang="ko-KR" sz="1800" dirty="0" err="1"/>
              <a:t>Random</a:t>
            </a:r>
            <a:r>
              <a:rPr lang="ko-KR" altLang="ko-KR" sz="1800" dirty="0"/>
              <a:t> </a:t>
            </a:r>
            <a:r>
              <a:rPr lang="ko-KR" altLang="ko-KR" sz="1800" dirty="0" err="1"/>
              <a:t>Forest</a:t>
            </a:r>
            <a:r>
              <a:rPr lang="ko-KR" altLang="ko-KR" sz="1800" dirty="0"/>
              <a:t> (분류 및 피처 중요도)</a:t>
            </a:r>
            <a:endParaRPr lang="en-US" altLang="ko-KR" sz="1800" dirty="0"/>
          </a:p>
          <a:p>
            <a:pPr lvl="1"/>
            <a:r>
              <a:rPr lang="ko-KR" altLang="en-US" sz="1600" dirty="0"/>
              <a:t>결국 그래서 어떤 요소가 중요한가</a:t>
            </a:r>
            <a:r>
              <a:rPr lang="en-US" altLang="ko-KR" sz="1600" dirty="0"/>
              <a:t>?</a:t>
            </a:r>
            <a:r>
              <a:rPr lang="ko-KR" altLang="en-US" sz="1600" dirty="0"/>
              <a:t>를 직관적인 차트로 시각화 및 향후 예측 시스템 개발 시도</a:t>
            </a:r>
            <a:endParaRPr lang="en-US" altLang="ko-KR" sz="1600" dirty="0"/>
          </a:p>
          <a:p>
            <a:pPr lvl="1"/>
            <a:r>
              <a:rPr lang="ko-KR" altLang="en-US" sz="1600" dirty="0"/>
              <a:t>다음 해</a:t>
            </a:r>
            <a:r>
              <a:rPr lang="en-US" altLang="ko-KR" sz="1600" dirty="0"/>
              <a:t>(t+1) </a:t>
            </a:r>
            <a:r>
              <a:rPr lang="ko-KR" altLang="en-US" sz="1600" dirty="0"/>
              <a:t>이중형 전환 여부를 기준으로 설계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75826917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C945A5-E3FA-75EC-4456-1B3A42C625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B40D748-7045-069D-145B-1101FD9CC2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 err="1"/>
              <a:t>머신러닝</a:t>
            </a:r>
            <a:r>
              <a:rPr lang="ko-KR" altLang="en-US" dirty="0"/>
              <a:t> 활용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4A4C748-5F27-DE27-7F76-E037297CD4E8}"/>
              </a:ext>
            </a:extLst>
          </p:cNvPr>
          <p:cNvSpPr txBox="1"/>
          <p:nvPr/>
        </p:nvSpPr>
        <p:spPr>
          <a:xfrm>
            <a:off x="571499" y="6400365"/>
            <a:ext cx="1105981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400" dirty="0"/>
              <a:t>Analysis of Changes in Business Model of Industry-Academia-Research Technology Holding Companies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E6D200A-2DA5-0424-16FF-94B3C785BBD8}"/>
              </a:ext>
            </a:extLst>
          </p:cNvPr>
          <p:cNvSpPr txBox="1">
            <a:spLocks/>
          </p:cNvSpPr>
          <p:nvPr/>
        </p:nvSpPr>
        <p:spPr>
          <a:xfrm>
            <a:off x="571499" y="1579418"/>
            <a:ext cx="11059811" cy="440725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8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0000"/>
              <a:buFont typeface="Avenir Next LT Pro Light" panose="020B0304020202020204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0000"/>
              <a:buFont typeface="Avenir Next LT Pro Light" panose="020B03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800" dirty="0"/>
              <a:t>Dendrogram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519C9BFD-8CF9-8332-A5A0-4772591507B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36300" y="2026975"/>
            <a:ext cx="7919400" cy="3959700"/>
          </a:xfrm>
          <a:prstGeom prst="rect">
            <a:avLst/>
          </a:prstGeom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3AE7E773-8DD5-B02B-A344-24CD2FCC1206}"/>
              </a:ext>
            </a:extLst>
          </p:cNvPr>
          <p:cNvSpPr/>
          <p:nvPr/>
        </p:nvSpPr>
        <p:spPr>
          <a:xfrm>
            <a:off x="2136299" y="4673599"/>
            <a:ext cx="7919401" cy="1032527"/>
          </a:xfrm>
          <a:prstGeom prst="rect">
            <a:avLst/>
          </a:prstGeom>
          <a:blipFill dpi="0" rotWithShape="1">
            <a:blip r:embed="rId4">
              <a:alphaModFix amt="67000"/>
            </a:blip>
            <a:srcRect/>
            <a:tile tx="0" ty="0" sx="100000" sy="100000" flip="none" algn="tl"/>
          </a:blip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3223242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526F8F-38EB-8870-6EEB-6EDFE88685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185C60B-88EC-9A08-CAF9-EC05176998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 err="1"/>
              <a:t>머신러닝</a:t>
            </a:r>
            <a:r>
              <a:rPr lang="ko-KR" altLang="en-US" dirty="0"/>
              <a:t> 활용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4E369F2-08CE-71EF-592C-085CCA095669}"/>
              </a:ext>
            </a:extLst>
          </p:cNvPr>
          <p:cNvSpPr txBox="1"/>
          <p:nvPr/>
        </p:nvSpPr>
        <p:spPr>
          <a:xfrm>
            <a:off x="571499" y="6400365"/>
            <a:ext cx="1105981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400" dirty="0"/>
              <a:t>Analysis of Changes in Business Model of Industry-Academia-Research Technology Holding Companies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97DA345D-5AB7-417E-F3BC-E72A25CF5C8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45"/>
          <a:stretch>
            <a:fillRect/>
          </a:stretch>
        </p:blipFill>
        <p:spPr>
          <a:xfrm>
            <a:off x="2215936" y="1446622"/>
            <a:ext cx="7749317" cy="46939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681659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1944C8-EEFA-A777-CAFC-06059E5C1D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A3A9048-7645-35F2-1C0B-98814036AA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 err="1"/>
              <a:t>머신러닝</a:t>
            </a:r>
            <a:r>
              <a:rPr lang="ko-KR" altLang="en-US" dirty="0"/>
              <a:t> 활용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BCF2B9E-E695-DDFF-70D4-ACC34FF51C01}"/>
              </a:ext>
            </a:extLst>
          </p:cNvPr>
          <p:cNvSpPr txBox="1"/>
          <p:nvPr/>
        </p:nvSpPr>
        <p:spPr>
          <a:xfrm>
            <a:off x="571499" y="6400365"/>
            <a:ext cx="1105981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400" dirty="0"/>
              <a:t>Analysis of Changes in Business Model of Industry-Academia-Research Technology Holding Companies</a:t>
            </a:r>
          </a:p>
        </p:txBody>
      </p: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0AB978E6-9828-8723-7F62-AC1AB94A3004}"/>
              </a:ext>
            </a:extLst>
          </p:cNvPr>
          <p:cNvGrpSpPr/>
          <p:nvPr/>
        </p:nvGrpSpPr>
        <p:grpSpPr>
          <a:xfrm>
            <a:off x="1648242" y="2139090"/>
            <a:ext cx="8906324" cy="2682292"/>
            <a:chOff x="1637433" y="2139090"/>
            <a:chExt cx="8906324" cy="2682292"/>
          </a:xfrm>
        </p:grpSpPr>
        <p:pic>
          <p:nvPicPr>
            <p:cNvPr id="12" name="그림 11">
              <a:extLst>
                <a:ext uri="{FF2B5EF4-FFF2-40B4-BE49-F238E27FC236}">
                  <a16:creationId xmlns:a16="http://schemas.microsoft.com/office/drawing/2014/main" id="{484242A9-DC09-1B58-2A34-AB8D1F5EB4A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790363" y="2139090"/>
              <a:ext cx="6611273" cy="1524213"/>
            </a:xfrm>
            <a:prstGeom prst="rect">
              <a:avLst/>
            </a:prstGeom>
          </p:spPr>
        </p:pic>
        <p:pic>
          <p:nvPicPr>
            <p:cNvPr id="14" name="그림 13">
              <a:extLst>
                <a:ext uri="{FF2B5EF4-FFF2-40B4-BE49-F238E27FC236}">
                  <a16:creationId xmlns:a16="http://schemas.microsoft.com/office/drawing/2014/main" id="{606B9188-611D-51F3-2EEA-65A7E23EA8B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637433" y="4119407"/>
              <a:ext cx="8906324" cy="70197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7790824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6A0127-5C68-C671-8B32-29D91E1235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99DB4B5-AD50-B718-66FE-4E7C711925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조직역량 동원과 실증적 성과 분화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D627768-2B89-FF69-C27C-BCAE4C93CD15}"/>
              </a:ext>
            </a:extLst>
          </p:cNvPr>
          <p:cNvSpPr txBox="1"/>
          <p:nvPr/>
        </p:nvSpPr>
        <p:spPr>
          <a:xfrm>
            <a:off x="571499" y="6400365"/>
            <a:ext cx="1105981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400" dirty="0"/>
              <a:t>Analysis of Changes in Business Model of Industry-Academia-Research Technology Holding Companies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B2F10BD-79DB-4ABF-D55D-C33C487D9441}"/>
              </a:ext>
            </a:extLst>
          </p:cNvPr>
          <p:cNvSpPr txBox="1">
            <a:spLocks/>
          </p:cNvSpPr>
          <p:nvPr/>
        </p:nvSpPr>
        <p:spPr>
          <a:xfrm>
            <a:off x="571499" y="1579418"/>
            <a:ext cx="11059811" cy="440725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8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0000"/>
              <a:buFont typeface="Avenir Next LT Pro Light" panose="020B0304020202020204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0000"/>
              <a:buFont typeface="Avenir Next LT Pro Light" panose="020B03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ko-KR" altLang="en-US" sz="1800" b="1" dirty="0"/>
              <a:t>자원 동원 능력에 따른 성과 분화</a:t>
            </a:r>
            <a:endParaRPr lang="en-US" altLang="ko-KR" sz="1800" b="1" dirty="0"/>
          </a:p>
          <a:p>
            <a:r>
              <a:rPr lang="ko-KR" altLang="ko-KR" sz="1800" dirty="0"/>
              <a:t>조직 성과는 단순 제도 유무가 아닌, 전문인력 역량 및 지역 요소시장 발달 수준에 의해 분화됨 (</a:t>
            </a:r>
            <a:r>
              <a:rPr lang="ko-KR" altLang="ko-KR" sz="1800" dirty="0" err="1"/>
              <a:t>Yuan</a:t>
            </a:r>
            <a:r>
              <a:rPr lang="ko-KR" altLang="ko-KR" sz="1800" dirty="0"/>
              <a:t> </a:t>
            </a:r>
            <a:r>
              <a:rPr lang="ko-KR" altLang="ko-KR" sz="1800" dirty="0" err="1"/>
              <a:t>et</a:t>
            </a:r>
            <a:r>
              <a:rPr lang="ko-KR" altLang="ko-KR" sz="1800" dirty="0"/>
              <a:t> </a:t>
            </a:r>
            <a:r>
              <a:rPr lang="ko-KR" altLang="ko-KR" sz="1800" dirty="0" err="1"/>
              <a:t>al</a:t>
            </a:r>
            <a:r>
              <a:rPr lang="ko-KR" altLang="ko-KR" sz="1800" dirty="0"/>
              <a:t>., 2016; </a:t>
            </a:r>
            <a:r>
              <a:rPr lang="ko-KR" altLang="ko-KR" sz="1800" dirty="0" err="1"/>
              <a:t>Cai</a:t>
            </a:r>
            <a:r>
              <a:rPr lang="ko-KR" altLang="ko-KR" sz="1800" dirty="0"/>
              <a:t> </a:t>
            </a:r>
            <a:r>
              <a:rPr lang="ko-KR" altLang="ko-KR" sz="1800" dirty="0" err="1"/>
              <a:t>et</a:t>
            </a:r>
            <a:r>
              <a:rPr lang="ko-KR" altLang="ko-KR" sz="1800" dirty="0"/>
              <a:t> </a:t>
            </a:r>
            <a:r>
              <a:rPr lang="ko-KR" altLang="ko-KR" sz="1800" dirty="0" err="1"/>
              <a:t>al</a:t>
            </a:r>
            <a:r>
              <a:rPr lang="ko-KR" altLang="ko-KR" sz="1800" dirty="0"/>
              <a:t>., 2015)</a:t>
            </a:r>
            <a:endParaRPr lang="en-US" altLang="ko-KR" sz="1800" dirty="0"/>
          </a:p>
          <a:p>
            <a:pPr marL="0" indent="0">
              <a:buNone/>
            </a:pPr>
            <a:r>
              <a:rPr lang="ko-KR" altLang="en-US" sz="1800" b="1" dirty="0"/>
              <a:t>국내 기술지주회사 실증 추이 </a:t>
            </a:r>
            <a:r>
              <a:rPr lang="en-US" altLang="ko-KR" sz="1800" b="1" dirty="0"/>
              <a:t>(2020~2024)</a:t>
            </a:r>
          </a:p>
          <a:p>
            <a:r>
              <a:rPr lang="ko-KR" altLang="ko-KR" sz="1800" b="1" dirty="0"/>
              <a:t>수익 구조의 변화:</a:t>
            </a:r>
            <a:r>
              <a:rPr lang="ko-KR" altLang="ko-KR" sz="1800" dirty="0"/>
              <a:t> 정책수익 비중은 </a:t>
            </a:r>
            <a:r>
              <a:rPr lang="ko-KR" altLang="ko-KR" sz="1800" dirty="0" err="1"/>
              <a:t>역U자형으로</a:t>
            </a:r>
            <a:r>
              <a:rPr lang="ko-KR" altLang="ko-KR" sz="1800" dirty="0"/>
              <a:t> 하락세 진입(24년 58.3%), </a:t>
            </a:r>
            <a:r>
              <a:rPr lang="ko-KR" altLang="ko-KR" sz="1800" dirty="0" err="1"/>
              <a:t>사업화·투자수익</a:t>
            </a:r>
            <a:r>
              <a:rPr lang="ko-KR" altLang="ko-KR" sz="1800" dirty="0"/>
              <a:t> 비중은 지속 </a:t>
            </a:r>
            <a:r>
              <a:rPr lang="ko-KR" altLang="ko-KR" sz="1800" dirty="0" err="1"/>
              <a:t>우상향</a:t>
            </a:r>
            <a:r>
              <a:rPr lang="ko-KR" altLang="ko-KR" sz="1800" dirty="0"/>
              <a:t>(37.0% → 59.5%)</a:t>
            </a:r>
            <a:endParaRPr lang="en-US" altLang="ko-KR" sz="1800" dirty="0"/>
          </a:p>
          <a:p>
            <a:r>
              <a:rPr lang="ko-KR" altLang="ko-KR" sz="1800" b="1" dirty="0"/>
              <a:t>조직 유형의 진화:</a:t>
            </a:r>
            <a:r>
              <a:rPr lang="ko-KR" altLang="ko-KR" sz="1800" dirty="0"/>
              <a:t> </a:t>
            </a:r>
            <a:r>
              <a:rPr lang="ko-KR" altLang="ko-KR" sz="1800" dirty="0" err="1"/>
              <a:t>공공·시장성을</a:t>
            </a:r>
            <a:r>
              <a:rPr lang="ko-KR" altLang="ko-KR" sz="1800" dirty="0"/>
              <a:t> 모두 갖춘 '이중형 </a:t>
            </a:r>
            <a:r>
              <a:rPr lang="ko-KR" altLang="ko-KR" sz="1800" dirty="0" err="1"/>
              <a:t>조직'의</a:t>
            </a:r>
            <a:r>
              <a:rPr lang="ko-KR" altLang="ko-KR" sz="1800" dirty="0"/>
              <a:t> 높은 지속성(78.7%), 정책형 조직의 다수가 이중형으로 전환됨(41.0%)</a:t>
            </a:r>
            <a:endParaRPr lang="en-US" altLang="ko-KR" sz="1800" dirty="0"/>
          </a:p>
          <a:p>
            <a:pPr marL="0" indent="0">
              <a:buNone/>
            </a:pPr>
            <a:r>
              <a:rPr lang="ko-KR" altLang="en-US" sz="1800" b="1" dirty="0"/>
              <a:t>사업화 수익의 핵심 결정요인</a:t>
            </a:r>
            <a:endParaRPr lang="en-US" altLang="ko-KR" sz="1800" dirty="0"/>
          </a:p>
          <a:p>
            <a:r>
              <a:rPr lang="ko-KR" altLang="ko-KR" sz="1800" dirty="0"/>
              <a:t>단순한 지리적 차이(수도권/비수도권)는 통계적으로 무의의함 (</a:t>
            </a:r>
            <a:r>
              <a:rPr lang="ko-KR" altLang="ko-KR" sz="1800" dirty="0" err="1"/>
              <a:t>p</a:t>
            </a:r>
            <a:r>
              <a:rPr lang="ko-KR" altLang="ko-KR" sz="1800" dirty="0"/>
              <a:t>=0.148)</a:t>
            </a:r>
            <a:endParaRPr lang="en-US" altLang="ko-KR" sz="1800" dirty="0"/>
          </a:p>
          <a:p>
            <a:r>
              <a:rPr lang="ko-KR" altLang="ko-KR" sz="1800" dirty="0"/>
              <a:t>자본금, 전담인력 등 실질적인 '조직적 자원 동원 </a:t>
            </a:r>
            <a:r>
              <a:rPr lang="ko-KR" altLang="ko-KR" sz="1800" dirty="0" err="1"/>
              <a:t>능력'이</a:t>
            </a:r>
            <a:r>
              <a:rPr lang="ko-KR" altLang="ko-KR" sz="1800" dirty="0"/>
              <a:t> 핵심 요인으로 작용</a:t>
            </a:r>
            <a:endParaRPr lang="en-US" altLang="ko-KR" sz="1800" dirty="0"/>
          </a:p>
          <a:p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99688312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521C9F-09B5-2C37-C273-EADFFB4262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421F677-A11B-DED5-0E04-8D30F62D6F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본</a:t>
            </a:r>
            <a:r>
              <a:rPr lang="en-US" altLang="ko-KR" dirty="0"/>
              <a:t> </a:t>
            </a:r>
            <a:r>
              <a:rPr lang="ko-KR" altLang="en-US" dirty="0"/>
              <a:t>연구의 차별성 및 학술적</a:t>
            </a:r>
            <a:r>
              <a:rPr lang="en-US" altLang="ko-KR" dirty="0"/>
              <a:t>·</a:t>
            </a:r>
            <a:r>
              <a:rPr lang="ko-KR" altLang="en-US" dirty="0"/>
              <a:t>정책적 기여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68DBE72-A0A5-8A06-89C1-9BE1F3CD72BC}"/>
              </a:ext>
            </a:extLst>
          </p:cNvPr>
          <p:cNvSpPr txBox="1"/>
          <p:nvPr/>
        </p:nvSpPr>
        <p:spPr>
          <a:xfrm>
            <a:off x="571499" y="6400365"/>
            <a:ext cx="1105981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400" dirty="0"/>
              <a:t>Analysis of Changes in Business Model of Industry-Academia-Research Technology Holding Companies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7C0BBD8-B237-7BEF-2690-D52EB60C4B27}"/>
              </a:ext>
            </a:extLst>
          </p:cNvPr>
          <p:cNvSpPr txBox="1">
            <a:spLocks/>
          </p:cNvSpPr>
          <p:nvPr/>
        </p:nvSpPr>
        <p:spPr>
          <a:xfrm>
            <a:off x="571499" y="1579418"/>
            <a:ext cx="11059811" cy="440725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8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0000"/>
              <a:buFont typeface="Avenir Next LT Pro Light" panose="020B0304020202020204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0000"/>
              <a:buFont typeface="Avenir Next LT Pro Light" panose="020B03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ko-KR" altLang="en-US" b="1" dirty="0"/>
              <a:t>종단적 전수 데이터 기반의 실증</a:t>
            </a:r>
            <a:endParaRPr lang="en-US" altLang="ko-KR" b="1" dirty="0"/>
          </a:p>
          <a:p>
            <a:r>
              <a:rPr lang="en-US" altLang="ko-KR" sz="1800" dirty="0"/>
              <a:t>[</a:t>
            </a:r>
            <a:r>
              <a:rPr lang="ko-KR" altLang="en-US" sz="1800" dirty="0"/>
              <a:t>기존</a:t>
            </a:r>
            <a:r>
              <a:rPr lang="en-US" altLang="ko-KR" sz="1800" dirty="0"/>
              <a:t>] </a:t>
            </a:r>
            <a:r>
              <a:rPr lang="ko-KR" altLang="en-US" sz="1800" dirty="0"/>
              <a:t>단면적 사례 연구 → </a:t>
            </a:r>
            <a:r>
              <a:rPr lang="en-US" altLang="ko-KR" sz="1800" dirty="0"/>
              <a:t>[</a:t>
            </a:r>
            <a:r>
              <a:rPr lang="ko-KR" altLang="en-US" sz="1800" dirty="0"/>
              <a:t>본 연구</a:t>
            </a:r>
            <a:r>
              <a:rPr lang="en-US" altLang="ko-KR" sz="1800" dirty="0"/>
              <a:t>] </a:t>
            </a:r>
            <a:r>
              <a:rPr lang="ko-KR" altLang="ko-KR" sz="1800" dirty="0"/>
              <a:t>5개년(2020~2024) 전국 전수 데이터 기반 생태계 진화 경로 추적</a:t>
            </a:r>
            <a:endParaRPr lang="en-US" altLang="ko-KR" sz="1800" dirty="0"/>
          </a:p>
          <a:p>
            <a:pPr marL="0" indent="0">
              <a:buNone/>
            </a:pPr>
            <a:r>
              <a:rPr lang="ko-KR" altLang="en-US" b="1" dirty="0"/>
              <a:t>포트폴리오 관점의 조직 유형화</a:t>
            </a:r>
            <a:endParaRPr lang="en-US" altLang="ko-KR" b="1" dirty="0"/>
          </a:p>
          <a:p>
            <a:r>
              <a:rPr lang="en-US" altLang="ko-KR" sz="1800" dirty="0"/>
              <a:t>[</a:t>
            </a:r>
            <a:r>
              <a:rPr lang="ko-KR" altLang="en-US" sz="1800" dirty="0"/>
              <a:t>기존</a:t>
            </a:r>
            <a:r>
              <a:rPr lang="en-US" altLang="ko-KR" sz="1800" dirty="0"/>
              <a:t>] </a:t>
            </a:r>
            <a:r>
              <a:rPr lang="ko-KR" altLang="en-US" sz="1800" dirty="0"/>
              <a:t>단순 성과지표 나열 → </a:t>
            </a:r>
            <a:r>
              <a:rPr lang="en-US" altLang="ko-KR" sz="1800" dirty="0"/>
              <a:t>[</a:t>
            </a:r>
            <a:r>
              <a:rPr lang="ko-KR" altLang="en-US" sz="1800" dirty="0"/>
              <a:t>본 연구</a:t>
            </a:r>
            <a:r>
              <a:rPr lang="en-US" altLang="ko-KR" sz="1800" dirty="0"/>
              <a:t>] </a:t>
            </a:r>
            <a:r>
              <a:rPr lang="ko-KR" altLang="en-US" sz="1800" dirty="0"/>
              <a:t>수익 결합 구조에 따른 </a:t>
            </a:r>
            <a:r>
              <a:rPr lang="en-US" altLang="ko-KR" sz="1800" dirty="0"/>
              <a:t>4</a:t>
            </a:r>
            <a:r>
              <a:rPr lang="ko-KR" altLang="en-US" sz="1800" dirty="0"/>
              <a:t>대 운영 모델</a:t>
            </a:r>
            <a:r>
              <a:rPr lang="en-US" altLang="ko-KR" sz="1800" dirty="0"/>
              <a:t>(</a:t>
            </a:r>
            <a:r>
              <a:rPr lang="ko-KR" altLang="en-US" sz="1800" dirty="0"/>
              <a:t>정책형</a:t>
            </a:r>
            <a:r>
              <a:rPr lang="en-US" altLang="ko-KR" sz="1800" dirty="0"/>
              <a:t>, </a:t>
            </a:r>
            <a:r>
              <a:rPr lang="ko-KR" altLang="en-US" sz="1800" dirty="0"/>
              <a:t>사업형</a:t>
            </a:r>
            <a:r>
              <a:rPr lang="en-US" altLang="ko-KR" sz="1800" dirty="0"/>
              <a:t>, </a:t>
            </a:r>
            <a:r>
              <a:rPr lang="ko-KR" altLang="en-US" sz="1800" dirty="0"/>
              <a:t>이중형</a:t>
            </a:r>
            <a:r>
              <a:rPr lang="en-US" altLang="ko-KR" sz="1800" dirty="0"/>
              <a:t>, </a:t>
            </a:r>
            <a:r>
              <a:rPr lang="ko-KR" altLang="en-US" sz="1800" dirty="0"/>
              <a:t>무수익형</a:t>
            </a:r>
            <a:r>
              <a:rPr lang="en-US" altLang="ko-KR" sz="1800" dirty="0"/>
              <a:t>)</a:t>
            </a:r>
          </a:p>
          <a:p>
            <a:pPr marL="0" indent="0">
              <a:buNone/>
            </a:pPr>
            <a:r>
              <a:rPr lang="ko-KR" altLang="en-US" b="1" dirty="0"/>
              <a:t>정부 지원의 마중물 효과 규명</a:t>
            </a:r>
            <a:endParaRPr lang="en-US" altLang="ko-KR" b="1" dirty="0"/>
          </a:p>
          <a:p>
            <a:r>
              <a:rPr lang="en-US" altLang="ko-KR" sz="1800" dirty="0"/>
              <a:t>[</a:t>
            </a:r>
            <a:r>
              <a:rPr lang="ko-KR" altLang="en-US" sz="1800" dirty="0"/>
              <a:t>기존</a:t>
            </a:r>
            <a:r>
              <a:rPr lang="en-US" altLang="ko-KR" sz="1800" dirty="0"/>
              <a:t>] </a:t>
            </a:r>
            <a:r>
              <a:rPr lang="ko-KR" altLang="en-US" sz="1800" dirty="0"/>
              <a:t>예산 의존성 심화 우려 → </a:t>
            </a:r>
            <a:r>
              <a:rPr lang="en-US" altLang="ko-KR" sz="1800" dirty="0"/>
              <a:t>[</a:t>
            </a:r>
            <a:r>
              <a:rPr lang="ko-KR" altLang="en-US" sz="1800" dirty="0"/>
              <a:t>본 연구</a:t>
            </a:r>
            <a:r>
              <a:rPr lang="en-US" altLang="ko-KR" sz="1800" dirty="0"/>
              <a:t>] </a:t>
            </a:r>
            <a:r>
              <a:rPr lang="ko-KR" altLang="en-US" sz="1800" dirty="0"/>
              <a:t>국책사업비 지출이 </a:t>
            </a:r>
            <a:r>
              <a:rPr lang="en-US" altLang="ko-KR" sz="1800" dirty="0"/>
              <a:t>2</a:t>
            </a:r>
            <a:r>
              <a:rPr lang="ko-KR" altLang="en-US" sz="1800" dirty="0"/>
              <a:t>년 후 자립적 사업화 수익을 높인다는 시차 효과</a:t>
            </a:r>
            <a:r>
              <a:rPr lang="en-US" altLang="ko-KR" sz="1800" dirty="0"/>
              <a:t>(Lagged Effect) </a:t>
            </a:r>
            <a:r>
              <a:rPr lang="ko-KR" altLang="en-US" sz="1800" dirty="0"/>
              <a:t>최초 실증</a:t>
            </a:r>
            <a:endParaRPr lang="en-US" altLang="ko-KR" sz="1800" dirty="0"/>
          </a:p>
          <a:p>
            <a:pPr marL="0" indent="0">
              <a:buNone/>
            </a:pPr>
            <a:r>
              <a:rPr lang="ko-KR" altLang="en-US" b="1" dirty="0"/>
              <a:t>운영모델 분화 조건의 정밀 검증</a:t>
            </a:r>
            <a:endParaRPr lang="en-US" altLang="ko-KR" dirty="0"/>
          </a:p>
          <a:p>
            <a:r>
              <a:rPr lang="ko-KR" altLang="en-US" sz="1800" dirty="0"/>
              <a:t>다항 로지스틱 분석을 통해 업력</a:t>
            </a:r>
            <a:r>
              <a:rPr lang="en-US" altLang="ko-KR" sz="1800" dirty="0"/>
              <a:t>, </a:t>
            </a:r>
            <a:r>
              <a:rPr lang="ko-KR" altLang="en-US" sz="1800" dirty="0"/>
              <a:t>자본금</a:t>
            </a:r>
            <a:r>
              <a:rPr lang="en-US" altLang="ko-KR" sz="1800" dirty="0"/>
              <a:t>, </a:t>
            </a:r>
            <a:r>
              <a:rPr lang="ko-KR" altLang="en-US" sz="1800" dirty="0"/>
              <a:t>전담인력 등 조직 내부 자원 격차가 모델 진화에 미치는 영향 검증</a:t>
            </a:r>
            <a:endParaRPr lang="en-US" altLang="ko-KR" sz="1800" dirty="0"/>
          </a:p>
        </p:txBody>
      </p:sp>
    </p:spTree>
    <p:extLst>
      <p:ext uri="{BB962C8B-B14F-4D97-AF65-F5344CB8AC3E}">
        <p14:creationId xmlns:p14="http://schemas.microsoft.com/office/powerpoint/2010/main" val="27692641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72A9FF-4B7A-B8E4-0B21-4ABA6A679C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C240499-7F3E-FA40-90C4-7CB98505AA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한계점 및 향후 연구 제언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FD4F3EF-F74A-F06D-131A-7010D53B6A84}"/>
              </a:ext>
            </a:extLst>
          </p:cNvPr>
          <p:cNvSpPr txBox="1"/>
          <p:nvPr/>
        </p:nvSpPr>
        <p:spPr>
          <a:xfrm>
            <a:off x="571499" y="6400365"/>
            <a:ext cx="1105981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400" dirty="0"/>
              <a:t>Analysis of Changes in Business Model of Industry-Academia-Research Technology Holding Companies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D89C9A8-D5FD-2FAD-115C-F69644812BD8}"/>
              </a:ext>
            </a:extLst>
          </p:cNvPr>
          <p:cNvSpPr txBox="1">
            <a:spLocks/>
          </p:cNvSpPr>
          <p:nvPr/>
        </p:nvSpPr>
        <p:spPr>
          <a:xfrm>
            <a:off x="571499" y="1579418"/>
            <a:ext cx="11059811" cy="440725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8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0000"/>
              <a:buFont typeface="Avenir Next LT Pro Light" panose="020B0304020202020204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0000"/>
              <a:buFont typeface="Avenir Next LT Pro Light" panose="020B03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ko-KR" altLang="en-US" b="1" dirty="0"/>
              <a:t>정성적 지표의 누락</a:t>
            </a:r>
            <a:endParaRPr lang="en-US" altLang="ko-KR" b="1" dirty="0"/>
          </a:p>
          <a:p>
            <a:r>
              <a:rPr lang="ko-KR" altLang="ko-KR" sz="1800" dirty="0"/>
              <a:t>본 연구는 </a:t>
            </a:r>
            <a:r>
              <a:rPr lang="ko-KR" altLang="ko-KR" sz="1800" dirty="0" err="1"/>
              <a:t>계량화된</a:t>
            </a:r>
            <a:r>
              <a:rPr lang="ko-KR" altLang="ko-KR" sz="1800" dirty="0"/>
              <a:t> 재무/인력 데이터만 사용했기 때문에 CEO(대표이사)의 투자 철학, 모(母)대학의 지원 의지, 기술지주회사가 보유한 특정 특허의 질적 수준 등 </a:t>
            </a:r>
            <a:r>
              <a:rPr lang="ko-KR" altLang="ko-KR" sz="1800" b="1" dirty="0"/>
              <a:t>정성적 역량</a:t>
            </a:r>
            <a:r>
              <a:rPr lang="ko-KR" altLang="ko-KR" sz="1800" dirty="0"/>
              <a:t>을 모델에 반영하지 못한 한계가 있</a:t>
            </a:r>
            <a:r>
              <a:rPr lang="ko-KR" altLang="en-US" sz="1800" dirty="0"/>
              <a:t>음</a:t>
            </a:r>
            <a:endParaRPr lang="en-US" altLang="ko-KR" sz="1800" dirty="0"/>
          </a:p>
          <a:p>
            <a:pPr marL="0" indent="0">
              <a:buNone/>
            </a:pPr>
            <a:r>
              <a:rPr lang="ko-KR" altLang="en-US" b="1" dirty="0"/>
              <a:t>한정된 데이터로 인한 한계</a:t>
            </a:r>
            <a:r>
              <a:rPr lang="en-US" altLang="ko-KR" b="1" dirty="0"/>
              <a:t> (i.e. Network Analysis)</a:t>
            </a:r>
          </a:p>
          <a:p>
            <a:r>
              <a:rPr lang="ko-KR" altLang="ko-KR" sz="1800" dirty="0"/>
              <a:t>이중형으로 성공적으로 안착한 기술지주회사들이 </a:t>
            </a:r>
            <a:r>
              <a:rPr lang="en-US" altLang="ko-KR" sz="1800" dirty="0"/>
              <a:t>‘</a:t>
            </a:r>
            <a:r>
              <a:rPr lang="ko-KR" altLang="ko-KR" sz="1800" dirty="0"/>
              <a:t>어떤 민간 </a:t>
            </a:r>
            <a:r>
              <a:rPr lang="ko-KR" altLang="ko-KR" sz="1800" dirty="0" err="1"/>
              <a:t>엑셀러레이터</a:t>
            </a:r>
            <a:r>
              <a:rPr lang="ko-KR" altLang="ko-KR" sz="1800" dirty="0"/>
              <a:t>(AC)나 </a:t>
            </a:r>
            <a:r>
              <a:rPr lang="ko-KR" altLang="ko-KR" sz="1800" dirty="0" err="1"/>
              <a:t>벤처캐피탈</a:t>
            </a:r>
            <a:r>
              <a:rPr lang="ko-KR" altLang="ko-KR" sz="1800" dirty="0"/>
              <a:t>(VC)과 공동 투자를 진행했는지’ </a:t>
            </a:r>
            <a:r>
              <a:rPr lang="ko-KR" altLang="en-US" sz="1800" dirty="0"/>
              <a:t>등 </a:t>
            </a:r>
            <a:r>
              <a:rPr lang="ko-KR" altLang="ko-KR" sz="1800" dirty="0"/>
              <a:t>투자 생태계 네트워크 지도를 그려보면, 외부 자원 동원력이 성과에 미치는 영향을 더 정밀하게 규명할 수 있을</a:t>
            </a:r>
            <a:r>
              <a:rPr lang="en-US" altLang="ko-KR" sz="1800" dirty="0"/>
              <a:t> </a:t>
            </a:r>
            <a:r>
              <a:rPr lang="ko-KR" altLang="en-US" sz="1800" dirty="0"/>
              <a:t>것으로 보임</a:t>
            </a:r>
            <a:endParaRPr lang="en-US" altLang="ko-KR" sz="1800" dirty="0"/>
          </a:p>
        </p:txBody>
      </p:sp>
    </p:spTree>
    <p:extLst>
      <p:ext uri="{BB962C8B-B14F-4D97-AF65-F5344CB8AC3E}">
        <p14:creationId xmlns:p14="http://schemas.microsoft.com/office/powerpoint/2010/main" val="119112458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1572A47-D215-D6D5-161F-1C267EEFA5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1500" y="2848082"/>
            <a:ext cx="11049000" cy="1161836"/>
          </a:xfrm>
        </p:spPr>
        <p:txBody>
          <a:bodyPr>
            <a:noAutofit/>
          </a:bodyPr>
          <a:lstStyle/>
          <a:p>
            <a:pPr algn="ctr"/>
            <a:r>
              <a:rPr lang="en-US" altLang="ko-KR" sz="9600" dirty="0"/>
              <a:t>Thank you</a:t>
            </a:r>
            <a:endParaRPr lang="ko-KR" altLang="en-US" sz="9600" dirty="0"/>
          </a:p>
        </p:txBody>
      </p:sp>
    </p:spTree>
    <p:extLst>
      <p:ext uri="{BB962C8B-B14F-4D97-AF65-F5344CB8AC3E}">
        <p14:creationId xmlns:p14="http://schemas.microsoft.com/office/powerpoint/2010/main" val="57891815"/>
      </p:ext>
    </p:extLst>
  </p:cSld>
  <p:clrMapOvr>
    <a:masterClrMapping/>
  </p:clrMapOvr>
</p:sld>
</file>

<file path=ppt/theme/theme1.xml><?xml version="1.0" encoding="utf-8"?>
<a:theme xmlns:a="http://schemas.openxmlformats.org/drawingml/2006/main" name="AlignmentVTI">
  <a:themeElements>
    <a:clrScheme name="Alignment">
      <a:dk1>
        <a:sysClr val="windowText" lastClr="000000"/>
      </a:dk1>
      <a:lt1>
        <a:sysClr val="window" lastClr="FFFFFF"/>
      </a:lt1>
      <a:dk2>
        <a:srgbClr val="3B3D38"/>
      </a:dk2>
      <a:lt2>
        <a:srgbClr val="F7F2EE"/>
      </a:lt2>
      <a:accent1>
        <a:srgbClr val="928A63"/>
      </a:accent1>
      <a:accent2>
        <a:srgbClr val="B57B6B"/>
      </a:accent2>
      <a:accent3>
        <a:srgbClr val="9E8484"/>
      </a:accent3>
      <a:accent4>
        <a:srgbClr val="7C8A75"/>
      </a:accent4>
      <a:accent5>
        <a:srgbClr val="8C8578"/>
      </a:accent5>
      <a:accent6>
        <a:srgbClr val="A18563"/>
      </a:accent6>
      <a:hlink>
        <a:srgbClr val="B57B6B"/>
      </a:hlink>
      <a:folHlink>
        <a:srgbClr val="7C8A75"/>
      </a:folHlink>
    </a:clrScheme>
    <a:fontScheme name="Custom 1">
      <a:majorFont>
        <a:latin typeface="Batang"/>
        <a:ea typeface=""/>
        <a:cs typeface=""/>
      </a:majorFont>
      <a:minorFont>
        <a:latin typeface="Avenir Next LT Pro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lignmentVTI" id="{606D7720-FAA0-4ADC-B967-3239DA8ECA1A}" vid="{10074623-6FCC-4A3C-AAA5-58644BD8FF19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3046</TotalTime>
  <Words>2010</Words>
  <Application>Microsoft Office PowerPoint</Application>
  <PresentationFormat>와이드스크린</PresentationFormat>
  <Paragraphs>231</Paragraphs>
  <Slides>33</Slides>
  <Notes>31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33</vt:i4>
      </vt:variant>
    </vt:vector>
  </HeadingPairs>
  <TitlesOfParts>
    <vt:vector size="38" baseType="lpstr">
      <vt:lpstr>맑은 고딕</vt:lpstr>
      <vt:lpstr>Batang</vt:lpstr>
      <vt:lpstr>Arial</vt:lpstr>
      <vt:lpstr>Avenir Next LT Pro Light</vt:lpstr>
      <vt:lpstr>AlignmentVTI</vt:lpstr>
      <vt:lpstr>PowerPoint 프레젠테이션</vt:lpstr>
      <vt:lpstr>연구 배경</vt:lpstr>
      <vt:lpstr>연구 배경</vt:lpstr>
      <vt:lpstr>선행연구 검토</vt:lpstr>
      <vt:lpstr>선행연구 검토</vt:lpstr>
      <vt:lpstr>선행연구 검토</vt:lpstr>
      <vt:lpstr>선행연구 검토</vt:lpstr>
      <vt:lpstr>데이터 확보</vt:lpstr>
      <vt:lpstr>데이터 훑어보기</vt:lpstr>
      <vt:lpstr>가설 설정</vt:lpstr>
      <vt:lpstr>가설 설정</vt:lpstr>
      <vt:lpstr>가설 설정</vt:lpstr>
      <vt:lpstr>가설 설정</vt:lpstr>
      <vt:lpstr>데이터 분석</vt:lpstr>
      <vt:lpstr>데이터 분석</vt:lpstr>
      <vt:lpstr>데이터 분석</vt:lpstr>
      <vt:lpstr>데이터 분석</vt:lpstr>
      <vt:lpstr>데이터 분석</vt:lpstr>
      <vt:lpstr>데이터 분석</vt:lpstr>
      <vt:lpstr>데이터 분석</vt:lpstr>
      <vt:lpstr>데이터 분석</vt:lpstr>
      <vt:lpstr>데이터 분석</vt:lpstr>
      <vt:lpstr>데이터 분석</vt:lpstr>
      <vt:lpstr>데이터 분석</vt:lpstr>
      <vt:lpstr>데이터 분석</vt:lpstr>
      <vt:lpstr>머신러닝 활용</vt:lpstr>
      <vt:lpstr>머신러닝 활용</vt:lpstr>
      <vt:lpstr>머신러닝 활용</vt:lpstr>
      <vt:lpstr>머신러닝 활용</vt:lpstr>
      <vt:lpstr>조직역량 동원과 실증적 성과 분화</vt:lpstr>
      <vt:lpstr>본 연구의 차별성 및 학술적·정책적 기여</vt:lpstr>
      <vt:lpstr>한계점 및 향후 연구 제언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Jongbeen Song</dc:creator>
  <cp:lastModifiedBy>Jongbeen Song</cp:lastModifiedBy>
  <cp:revision>22</cp:revision>
  <dcterms:created xsi:type="dcterms:W3CDTF">2026-02-13T15:35:19Z</dcterms:created>
  <dcterms:modified xsi:type="dcterms:W3CDTF">2026-06-10T07:47:38Z</dcterms:modified>
</cp:coreProperties>
</file>