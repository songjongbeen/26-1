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53"/>
  </p:notesMasterIdLst>
  <p:sldIdLst>
    <p:sldId id="288" r:id="rId2"/>
    <p:sldId id="257" r:id="rId3"/>
    <p:sldId id="304" r:id="rId4"/>
    <p:sldId id="305" r:id="rId5"/>
    <p:sldId id="350" r:id="rId6"/>
    <p:sldId id="351" r:id="rId7"/>
    <p:sldId id="306" r:id="rId8"/>
    <p:sldId id="311" r:id="rId9"/>
    <p:sldId id="312" r:id="rId10"/>
    <p:sldId id="307" r:id="rId11"/>
    <p:sldId id="316" r:id="rId12"/>
    <p:sldId id="315" r:id="rId13"/>
    <p:sldId id="319" r:id="rId14"/>
    <p:sldId id="313" r:id="rId15"/>
    <p:sldId id="314" r:id="rId16"/>
    <p:sldId id="318" r:id="rId17"/>
    <p:sldId id="317" r:id="rId18"/>
    <p:sldId id="322" r:id="rId19"/>
    <p:sldId id="320" r:id="rId20"/>
    <p:sldId id="323" r:id="rId21"/>
    <p:sldId id="321" r:id="rId22"/>
    <p:sldId id="324" r:id="rId23"/>
    <p:sldId id="327" r:id="rId24"/>
    <p:sldId id="333" r:id="rId25"/>
    <p:sldId id="334" r:id="rId26"/>
    <p:sldId id="335" r:id="rId27"/>
    <p:sldId id="332" r:id="rId28"/>
    <p:sldId id="354" r:id="rId29"/>
    <p:sldId id="353" r:id="rId30"/>
    <p:sldId id="355" r:id="rId31"/>
    <p:sldId id="356" r:id="rId32"/>
    <p:sldId id="357" r:id="rId33"/>
    <p:sldId id="358" r:id="rId34"/>
    <p:sldId id="359" r:id="rId35"/>
    <p:sldId id="361" r:id="rId36"/>
    <p:sldId id="362" r:id="rId37"/>
    <p:sldId id="363" r:id="rId38"/>
    <p:sldId id="369" r:id="rId39"/>
    <p:sldId id="368" r:id="rId40"/>
    <p:sldId id="367" r:id="rId41"/>
    <p:sldId id="364" r:id="rId42"/>
    <p:sldId id="339" r:id="rId43"/>
    <p:sldId id="340" r:id="rId44"/>
    <p:sldId id="341" r:id="rId45"/>
    <p:sldId id="328" r:id="rId46"/>
    <p:sldId id="330" r:id="rId47"/>
    <p:sldId id="331" r:id="rId48"/>
    <p:sldId id="265" r:id="rId49"/>
    <p:sldId id="347" r:id="rId50"/>
    <p:sldId id="348" r:id="rId51"/>
    <p:sldId id="349" r:id="rId5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5ECE"/>
    <a:srgbClr val="E2E5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2" autoAdjust="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8D6CA-249E-60D1-4D6B-762024FF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16B5-70D8-FDCC-3F34-05B6E74DA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22E71B-DC6D-A1D5-B54D-93CEEA4E6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6AD67-ED21-6A33-A29E-651FABB84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345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6E2F8-1578-9DE9-274C-666C8B4C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0B88CC-DA0B-DBAB-861A-56D6995AD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76781-03AA-D929-23B6-FC96B31DF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9290CF-580A-2EB8-E2F6-4CEDAED94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790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673BA-8F40-BE35-8102-700B5B49E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6A3990-6A19-17EB-A525-49B20ADA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6B4E19-9372-0862-D3B6-8C54CB01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2C701-A8C2-8D6E-6ED0-B98BB6757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859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355A-508A-F64B-4E51-C84F0C37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0C62-A5E6-FB75-8C61-2D291B6466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6BE3B-9DAC-7C99-6D53-27EAEFCFA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473D1B-0647-5B08-F1FB-36A843BC4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928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6F0D-EBE0-4A61-A138-8483E0AE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10557-D866-82CD-E78C-E87886F2F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F4EE9-2632-2E96-5A56-C2F530648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A0C31-086F-FE01-DFE3-08909845F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482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87F0-9631-4B44-80B7-91E1BD357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159A-91CF-0606-9A38-AD91EE94F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76C720-594A-19A6-9C14-0CA33B893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45656D-ACD1-5306-E56D-C1161125E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27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536D-EC68-19FE-2B8A-406381EA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E2EFAA-2FEB-CE88-A832-C34BEAE30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180FAB-EA16-BA58-F1F4-FAAC068B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8CA30-D810-68D7-9402-947B1CA21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90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2A0F2-F58D-5D02-2AF9-ACAF98E47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D1D4E8-DC65-B69F-ED85-4F1073967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71629-50F3-D8C9-6347-53850530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5284-1054-1A0D-3FD5-90D32132A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078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79158-ACC1-2331-DFEC-8422DFE0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0CFA03-2C9F-1B6E-CF21-7A6A18300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330FB5-E27C-5943-F2B5-C662230AE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6308EB-4FFA-60DC-BA11-600141E00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032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2B1A-2643-2FF0-A0E3-2FE888D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6F92B4-CB59-1D93-FBBC-8A053EF42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4503-DB70-7CBB-2C73-35D4E3FB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9B2BC-B6A3-A483-2C64-B03FC4D05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266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B734B-235D-4530-40A3-1B948C10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8A1A47-9B34-5898-0010-029BA8AB9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AFFDE-24F3-5E65-A7F9-381BD4431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3F0291-7FCE-4ED9-55FA-AD8D1198D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749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A2C8-40C8-456D-F70A-3BB9CC41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07ACBF-C7CC-1DA7-D5F1-6C20F33DA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22845B-AD33-6925-DB70-DDDC8CC56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78071-D8EC-3831-F9B3-633A0A978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8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E3CFF-0E5E-AA8A-EFE9-E248F3A20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4ADB4-2EEF-EEE3-87D1-30865773C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E24B3-AF7A-083A-9661-75A956E1C1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4261B9-EC5C-73AB-F9B7-BCDB5B5C3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635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1920-AB1E-E83D-C486-87AF21E3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46954E-8DBA-CFF8-458B-ED792A006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2ED339-0DA5-5782-937B-083A81061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ED3878-AD65-5308-1B4E-D72F49004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02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0BEB5-BA08-9A64-8584-E4C42A0D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45729-7E84-D913-1D72-365C63A06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FB02E-6AC6-2F59-1EC5-26FFDE6E3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E7B4B5-5487-6C87-A785-DB841DEDA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2466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36CAB-0572-FEDB-DA69-06BF57B9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9AD51B-8913-D7DE-E005-39CC2B644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1FDE3B-B6F7-2984-8AF5-B786371A7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7D3E8-3783-DF0B-E04E-0526D11CE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925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E906-353B-1694-065E-CF1A522E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F506E-CDA9-9696-C1E2-6491C7DFF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5799A1-BC2D-14A1-1316-2E15200EF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0C4E83-EA10-3D17-C32A-BD9354E09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176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7B94D-E077-5842-DF37-0DA626AE6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9F7CB4-5390-936C-7345-2C375B05B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7ED06A-250E-0788-36AD-4B98A2752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4DB67-7548-E12E-3AE9-55E9E389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014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D9D0-E595-27CE-F11D-02EEF5635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7D7E26-E703-DD17-9FAA-D8B42C59B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D7D538-E67C-E042-24F1-72B2AC3A2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C8081-A066-E739-3117-027229CCE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2852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39DDE-00F1-ED11-4D10-56AE21A3D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668CC-B030-082C-C007-1D383817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7C92E2-F656-22B1-37FC-C7C245D6E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4EB6A0-8F33-C97E-81CF-9A0F1845C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6850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9AF6D-7386-40B4-3AF8-6F9B7F63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6C1AD-7665-31D5-774E-1AD583E6B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367AE-A437-397F-3299-8CF88989B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352C7-92EE-720F-A502-7A4AEAFFD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221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09B2-A924-B110-D8C2-F52FFF7B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4888B1-A862-E10F-3A19-F6770F118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A0E5B7-6F80-C43F-5D46-1D8B9F8B6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6F86D3-B905-F409-70D4-FD54AA2ADA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216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3029-382C-7517-9D5A-AA8FB54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B1F0A8-2CA5-15DF-B966-CFBC532E1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350737-B8B1-5158-561B-E915EC57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13C359-0279-A6F4-CEA3-677E7266B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986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A9A7B-8938-153B-6FCF-B6CF7A4B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D6BF-210D-EF91-3939-8DCE724F7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31002-5048-A6CC-E3D3-3DD87F128C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45591-3F07-9866-A365-E04D4577C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289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62BFE-007C-D7E3-D715-FAB00467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B8CEE-79E6-0CEC-C59C-319A4737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CD3BE-4CC4-1EB2-0B2D-49F68DD39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DD2EB3-DCD6-F5FD-2B6E-811EC3824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17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BEFC7-F0EA-ED3B-B332-6F92B94F5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A6BC43-8722-6E7A-2C9E-59E91F4448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34307F-9227-F5DB-AEF4-66FED2D69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62621-F1D0-1D94-F718-2F87C3AD5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14463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0009A-4BDC-6145-4804-916D609D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295AD9-1A76-31F8-8644-33FA1B77E7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11D22-AB05-2AC5-C73F-C8A81C1F5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5BAF4A-79D7-EF48-5AF6-116B4983F0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9381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B5880-E39F-F6E2-8CC9-E5C05D97A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3C6269-061F-3E49-8C03-0134B5208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9133D1-427F-B145-F57E-1BE06BD23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723331-AFDD-2DBA-CE05-AA8928467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09907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EF638-99FA-C6BC-B05D-DAB71FD77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CEEE05-B2FE-9155-4E5E-CAD90BC4A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D23141-7883-6225-BDBA-80C795235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38A74-B5EF-90AC-C570-F463358451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267654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FE660-AB50-D0E8-66FD-835A0D13E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DE5924-AC25-D19E-9D14-CE2A3039D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C7486B-A79D-5A5E-F458-B1CC85D9E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CED1D4-40DB-8AE0-E766-FE18E8610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136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A551B-3345-1FA4-3262-5F3ECB610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1FF8DE-5B5E-1A6F-DEAA-C5AE9E51F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81D498-F49A-C516-C98A-BEB64F7A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5B00D9-7EC6-BC22-F28E-40904C2FE9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674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6705E-6D58-A276-E1C9-A2D5215BB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B1A28-CB30-208E-8A9A-E285802E6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B44326-D91A-42DC-B178-B663047F1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6904C3-646F-9A45-13FC-257CE1D2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7429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1717E-DAC9-2774-3576-B97C0A34F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51F8D4-CF1F-EAAF-6E94-B9AAFE779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86FEC6-3FDE-76D1-6EBA-AAAC1E3B2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FEF68D-4A79-5691-551B-1005B5CACB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197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F31D-D44F-E130-6113-B82856C62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26DA43-E260-00B0-B493-C27CE9970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6A911-0834-0ACD-B0CC-32B5E454F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E51007-66D7-F3B8-B8E3-C322F8513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5159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84FF3-E53A-54F7-D83D-5228B44D4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E82110-3B9A-122A-85C6-65D9AD759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A175D6-CCE1-4142-D006-8C8CBD1D0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54936F-2E21-178C-6F47-3CAC5AE78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1200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A2979-3FAD-9AFE-5428-A659BDB6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FA4492-1CEB-6579-A11D-2DE4B68FF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3E1194-6D10-8EF8-5E8F-EC7C9FE4E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830EE5-7A22-DE86-0F2B-FA02E9BD4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700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E6C1F-EDDA-C59B-2418-DE264A22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70A6A6-E041-3FFF-081E-3E8F12696D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32C084-2716-6E3B-8633-4AB5DEBF3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EE6B5-7DE7-E222-E891-44855F456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12086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DE3B5-4E24-E431-25E5-111203C53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CBB78A-EC46-6414-B27D-E0E523D1D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05A80-C35F-4C77-92F3-55578327E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09B9B8-0884-3501-7185-89D418E21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3084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4C09-83E7-6BE9-2B76-A040F1FBF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A988EA-8897-74F0-5D33-C0520C0E0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12F230-3878-3EB7-713A-EA5B7E9FB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BA9434-BB3E-5F8A-1D37-0370A2EEA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52518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58F8-FB07-3ACB-40F8-F327B1D9C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F35AA-8F73-C564-A59A-D88EA1FD1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E2391E-E8DB-B1F4-E83A-E72BCBBE6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839B19-CD09-1393-9F55-39E596324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09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EE82-3EF5-1C9C-30C0-26088C75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BDF1B-9E4C-8002-31C4-7FD06C0E3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F712DB-6585-7DFB-9052-CBB3C52D9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BB974-1972-D0CD-6EAE-5BD25ECC8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0007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9259A-7B8E-07AA-264E-196FBD97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5BEAAB-64FF-38FF-32EE-A67A75F6E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183E13-C2AB-445B-522E-1678CCB8E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08BDA4-D842-A350-AD09-FA36DB4F8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3282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DFDEE-D544-17E9-A085-1C9652CF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BE2F08-7516-5E71-EA1E-30436D474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11E802-FDCE-0923-FEC7-A0B3421D2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65905-CF81-1909-4C5E-E8464908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2103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641F1-8199-229F-CE80-43B90AD9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0A015D-F458-0F8F-111D-A3DD7FFAF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7C7E4-17D9-BC88-597F-79DA9F51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2B592-272E-EAD1-90EE-C2B319498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6229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983C5-F7EB-951C-A24B-F07EC150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5C27D9-99C6-3C15-CCB9-23C04661B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BE1409-69A2-F5BB-710D-5D69D11F7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49F22D-EB28-EE5C-E020-3EC2FB33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3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osem@korea.ac.kr" TargetMode="External"/><Relationship Id="rId2" Type="http://schemas.openxmlformats.org/officeDocument/2006/relationships/hyperlink" Target="mailto:1041489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891/1942-0617.1.2.193" TargetMode="External"/><Relationship Id="rId7" Type="http://schemas.openxmlformats.org/officeDocument/2006/relationships/hyperlink" Target="https://doi.org/10.3726/b14414" TargetMode="External"/><Relationship Id="rId2" Type="http://schemas.openxmlformats.org/officeDocument/2006/relationships/hyperlink" Target="https://arxiv.org/abs/2212.08073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8716/pd.v2i1.11657" TargetMode="External"/><Relationship Id="rId5" Type="http://schemas.openxmlformats.org/officeDocument/2006/relationships/hyperlink" Target="https://doi.org/10.1016/0040-1625(83)90032-X" TargetMode="External"/><Relationship Id="rId4" Type="http://schemas.openxmlformats.org/officeDocument/2006/relationships/hyperlink" Target="https://doi.org/10.18653/v1/2023.acl-long.84" TargetMode="Externa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75347" TargetMode="External"/><Relationship Id="rId3" Type="http://schemas.openxmlformats.org/officeDocument/2006/relationships/hyperlink" Target="https://doi.org/10.14281/18241.18" TargetMode="External"/><Relationship Id="rId7" Type="http://schemas.openxmlformats.org/officeDocument/2006/relationships/hyperlink" Target="https://arxiv.org/abs/2603.11279" TargetMode="External"/><Relationship Id="rId2" Type="http://schemas.openxmlformats.org/officeDocument/2006/relationships/hyperlink" Target="https://doi.org/10.1177/1461444819858691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80/13669877.2024.2350725" TargetMode="External"/><Relationship Id="rId5" Type="http://schemas.openxmlformats.org/officeDocument/2006/relationships/hyperlink" Target="https://doi.org/10.1080/13669877.2010.511246" TargetMode="External"/><Relationship Id="rId4" Type="http://schemas.openxmlformats.org/officeDocument/2006/relationships/hyperlink" Target="https://doi.org/10.1386/macp.10.3.245_1" TargetMode="External"/><Relationship Id="rId9" Type="http://schemas.openxmlformats.org/officeDocument/2006/relationships/hyperlink" Target="https://doi.org/10.1145/191666.191703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26/science.3563507" TargetMode="External"/><Relationship Id="rId2" Type="http://schemas.openxmlformats.org/officeDocument/2006/relationships/hyperlink" Target="https://doi.org/10.1177/0893318988002002006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i.org/10.31234/osf.io/qh5e3_v1" TargetMode="External"/><Relationship Id="rId4" Type="http://schemas.openxmlformats.org/officeDocument/2006/relationships/hyperlink" Target="https://doi.org/10.2307/19607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52EFEA85-236C-2B7C-8801-CA0257D68594}"/>
              </a:ext>
            </a:extLst>
          </p:cNvPr>
          <p:cNvSpPr txBox="1">
            <a:spLocks/>
          </p:cNvSpPr>
          <p:nvPr/>
        </p:nvSpPr>
        <p:spPr>
          <a:xfrm>
            <a:off x="433178" y="1031846"/>
            <a:ext cx="11325645" cy="121554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>
              <a:lnSpc>
                <a:spcPts val="6000"/>
              </a:lnSpc>
            </a:pPr>
            <a:r>
              <a:rPr lang="ko-KR" altLang="en-US" dirty="0"/>
              <a:t>생성형 인공지능의 위험 인식 구조와 문화적 원형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위험 커뮤니케이션 관점에서의 알고리즘 감사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D4EFC-803D-F5E1-188D-37AFC2FBCE04}"/>
              </a:ext>
            </a:extLst>
          </p:cNvPr>
          <p:cNvSpPr txBox="1"/>
          <p:nvPr/>
        </p:nvSpPr>
        <p:spPr>
          <a:xfrm>
            <a:off x="433178" y="2554437"/>
            <a:ext cx="1118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Risk Perception Structures and Cultural Prototypes of Generative AI:</a:t>
            </a:r>
          </a:p>
          <a:p>
            <a:r>
              <a:rPr lang="en-US" altLang="ko-KR" dirty="0"/>
              <a:t>Algorithmic Auditing from a Risk Communication Perspective</a:t>
            </a:r>
            <a:endParaRPr lang="ko-KR" altLang="en-US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227641-5091-D2F5-83B8-AF62EBEB3E0B}"/>
              </a:ext>
            </a:extLst>
          </p:cNvPr>
          <p:cNvGrpSpPr/>
          <p:nvPr/>
        </p:nvGrpSpPr>
        <p:grpSpPr>
          <a:xfrm>
            <a:off x="433178" y="3967709"/>
            <a:ext cx="10287400" cy="1107996"/>
            <a:chOff x="433178" y="3719825"/>
            <a:chExt cx="10287400" cy="110799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4626AA-195B-7251-627D-9A08E2A5A3F2}"/>
                </a:ext>
              </a:extLst>
            </p:cNvPr>
            <p:cNvSpPr txBox="1"/>
            <p:nvPr/>
          </p:nvSpPr>
          <p:spPr>
            <a:xfrm>
              <a:off x="433178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 err="1">
                  <a:latin typeface="+mj-lt"/>
                </a:rPr>
                <a:t>송종빈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(Jongbeen Song)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석사과정</a:t>
              </a:r>
              <a:endParaRPr lang="en-US" altLang="ko-KR" sz="1400" dirty="0"/>
            </a:p>
            <a:p>
              <a:r>
                <a:rPr lang="en-US" altLang="ko-KR" sz="1400" dirty="0">
                  <a:hlinkClick r:id="rId2"/>
                </a:rPr>
                <a:t>1041489@gmail.com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707EE2-FD72-ACCF-CACB-58131B3559C4}"/>
                </a:ext>
              </a:extLst>
            </p:cNvPr>
            <p:cNvSpPr txBox="1"/>
            <p:nvPr/>
          </p:nvSpPr>
          <p:spPr>
            <a:xfrm>
              <a:off x="6096000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>
                  <a:latin typeface="+mj-lt"/>
                </a:rPr>
                <a:t>장미경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</a:t>
              </a:r>
              <a:r>
                <a:rPr lang="en-US" altLang="ko-KR" sz="2400" dirty="0" err="1"/>
                <a:t>Mikyung</a:t>
              </a:r>
              <a:r>
                <a:rPr lang="en-US" altLang="ko-KR" sz="2400" dirty="0"/>
                <a:t> Chang)*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겸임교수</a:t>
              </a:r>
              <a:endParaRPr lang="en-US" altLang="ko-KR" sz="1400" dirty="0"/>
            </a:p>
            <a:p>
              <a:r>
                <a:rPr lang="en-US" altLang="ko-KR" sz="1400" dirty="0">
                  <a:hlinkClick r:id="rId3"/>
                </a:rPr>
                <a:t>rosem@korea.ac.kr</a:t>
              </a:r>
              <a:r>
                <a:rPr lang="en-US" altLang="ko-KR" sz="1400" dirty="0"/>
                <a:t> (corresponding author)</a:t>
              </a:r>
              <a:endParaRPr lang="ko-KR" altLang="en-US" sz="1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5A5137-B82A-BFBD-66DE-801154A7FEF7}"/>
              </a:ext>
            </a:extLst>
          </p:cNvPr>
          <p:cNvSpPr txBox="1"/>
          <p:nvPr/>
        </p:nvSpPr>
        <p:spPr>
          <a:xfrm>
            <a:off x="433178" y="5905238"/>
            <a:ext cx="71471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인간과 </a:t>
            </a:r>
            <a:r>
              <a:rPr lang="en-US" altLang="ko-KR" dirty="0"/>
              <a:t>AI</a:t>
            </a:r>
            <a:r>
              <a:rPr lang="ko-KR" altLang="en-US" dirty="0"/>
              <a:t>의 경계에서 다시 길을 묻다</a:t>
            </a:r>
            <a:r>
              <a:rPr lang="en-US" altLang="ko-KR" dirty="0"/>
              <a:t>: </a:t>
            </a:r>
            <a:r>
              <a:rPr lang="ko-KR" altLang="en-US" dirty="0"/>
              <a:t>소통은 이상인가</a:t>
            </a:r>
            <a:r>
              <a:rPr lang="en-US" altLang="ko-KR" dirty="0"/>
              <a:t>, </a:t>
            </a:r>
            <a:r>
              <a:rPr lang="ko-KR" altLang="en-US" dirty="0"/>
              <a:t>허상인가</a:t>
            </a:r>
            <a:r>
              <a:rPr lang="en-US" altLang="ko-KR" dirty="0"/>
              <a:t>?</a:t>
            </a:r>
          </a:p>
          <a:p>
            <a:endParaRPr lang="en-US" altLang="ko-KR" sz="1200" dirty="0"/>
          </a:p>
          <a:p>
            <a:r>
              <a:rPr lang="en-US" altLang="ko-KR" sz="1200" dirty="0"/>
              <a:t>2026</a:t>
            </a:r>
            <a:r>
              <a:rPr lang="ko-KR" altLang="en-US" sz="1200" dirty="0"/>
              <a:t>년 한국소통학회 봄철 정기학술대회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3DDD5-0DBB-3592-A256-7777D0E6CC1F}"/>
              </a:ext>
            </a:extLst>
          </p:cNvPr>
          <p:cNvSpPr txBox="1"/>
          <p:nvPr/>
        </p:nvSpPr>
        <p:spPr>
          <a:xfrm>
            <a:off x="10347888" y="6336125"/>
            <a:ext cx="1268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dirty="0"/>
              <a:t>2026. 05. 29.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989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B8A756-57B3-37FA-6E0F-83C974C807C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인공지능의 현재</a:t>
            </a:r>
            <a:endParaRPr lang="en-US" altLang="ko-KR" b="1" dirty="0"/>
          </a:p>
          <a:p>
            <a:r>
              <a:rPr lang="ko-KR" altLang="en-US" dirty="0"/>
              <a:t>인공지능</a:t>
            </a:r>
            <a:r>
              <a:rPr lang="en-US" altLang="ko-KR" dirty="0"/>
              <a:t>(AI), </a:t>
            </a:r>
            <a:r>
              <a:rPr lang="ko-KR" altLang="en-US" dirty="0"/>
              <a:t>특히 대규모 언어모델</a:t>
            </a:r>
            <a:r>
              <a:rPr lang="en-US" altLang="ko-KR" dirty="0"/>
              <a:t>(LLM)</a:t>
            </a:r>
            <a:r>
              <a:rPr lang="ko-KR" altLang="en-US" dirty="0"/>
              <a:t>이 현대 사회의 지식 생산과 정보 유통의 핵심기제가 되었다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기술이 단순한 도구를 넘어선 사회적 </a:t>
            </a:r>
            <a:r>
              <a:rPr lang="ko-KR" altLang="en-US" dirty="0" err="1"/>
              <a:t>행위자로서의</a:t>
            </a:r>
            <a:r>
              <a:rPr lang="ko-KR" altLang="en-US" dirty="0"/>
              <a:t> 지위를 급격히 획득하였다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초기의 인공지능 연구는 주로 정보 검색의 효율성이나 문장 생성의 구문론적 정확성에 집중하였다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가 일상적 의사소통</a:t>
            </a:r>
            <a:r>
              <a:rPr lang="en-US" altLang="ko-KR" dirty="0"/>
              <a:t>, </a:t>
            </a:r>
            <a:r>
              <a:rPr lang="ko-KR" altLang="en-US" dirty="0"/>
              <a:t>정책 기획</a:t>
            </a:r>
            <a:r>
              <a:rPr lang="en-US" altLang="ko-KR" dirty="0"/>
              <a:t>, </a:t>
            </a:r>
            <a:r>
              <a:rPr lang="ko-KR" altLang="en-US" dirty="0"/>
              <a:t>여론 형성 과정 등에 깊숙이 개입하게 되면서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모델이 내재화하고 있는 가치관</a:t>
            </a:r>
            <a:r>
              <a:rPr lang="en-US" altLang="ko-KR" dirty="0"/>
              <a:t>, </a:t>
            </a:r>
            <a:r>
              <a:rPr lang="ko-KR" altLang="en-US" dirty="0"/>
              <a:t>편향성 등에 대한 </a:t>
            </a:r>
            <a:r>
              <a:rPr lang="en-US" altLang="ko-KR" dirty="0"/>
              <a:t>AI </a:t>
            </a:r>
            <a:r>
              <a:rPr lang="ko-KR" altLang="en-US" dirty="0"/>
              <a:t>정렬</a:t>
            </a:r>
            <a:r>
              <a:rPr lang="en-US" altLang="ko-KR" dirty="0"/>
              <a:t>(Alignment) </a:t>
            </a:r>
            <a:r>
              <a:rPr lang="ko-KR" altLang="en-US" dirty="0"/>
              <a:t>연구가 부상하고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92590-6410-E215-A4E7-CB19B379620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6A0C-5AAA-D6D1-4B22-31B92843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DC18-001C-F9AA-99CC-929DEDE7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E0FC9E-A70B-CE17-B100-3999D075EF0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현대의 위험 사회와 공론장의 </a:t>
            </a:r>
            <a:r>
              <a:rPr lang="ko-KR" altLang="en-US" b="1" dirty="0" err="1"/>
              <a:t>재봉건화</a:t>
            </a:r>
            <a:endParaRPr lang="en-US" altLang="ko-KR" b="1" dirty="0"/>
          </a:p>
          <a:p>
            <a:r>
              <a:rPr lang="en-US" altLang="ko-KR" dirty="0"/>
              <a:t>Beck (1992)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현대의 위험은 고도화된 기술이 파생시킨 </a:t>
            </a:r>
            <a:r>
              <a:rPr lang="en-US" altLang="ko-KR" dirty="0"/>
              <a:t>'</a:t>
            </a:r>
            <a:r>
              <a:rPr lang="ko-KR" altLang="en-US" dirty="0"/>
              <a:t>제조된 위험</a:t>
            </a:r>
            <a:r>
              <a:rPr lang="en-US" altLang="ko-KR" dirty="0"/>
              <a:t>'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그 결정은 민주적 합의 없이 빅테크 내부의 </a:t>
            </a:r>
            <a:r>
              <a:rPr lang="en-US" altLang="ko-KR" dirty="0"/>
              <a:t>'</a:t>
            </a:r>
            <a:r>
              <a:rPr lang="ko-KR" altLang="en-US" dirty="0"/>
              <a:t>하위정치</a:t>
            </a:r>
            <a:r>
              <a:rPr lang="en-US" altLang="ko-KR" dirty="0"/>
              <a:t>' </a:t>
            </a:r>
            <a:r>
              <a:rPr lang="ko-KR" altLang="en-US" dirty="0"/>
              <a:t>영역에서 독점된다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Habermas (1989)</a:t>
            </a:r>
            <a:r>
              <a:rPr lang="ko-KR" altLang="en-US" dirty="0"/>
              <a:t>의 이론을 가져와서 살펴보면</a:t>
            </a:r>
            <a:r>
              <a:rPr lang="en-US" altLang="ko-KR" dirty="0"/>
              <a:t>, AI</a:t>
            </a:r>
            <a:r>
              <a:rPr lang="ko-KR" altLang="en-US" dirty="0"/>
              <a:t>가 지식 생산과 유통을 대리하면서 특정 가치에 편향된 응답을 제공할 경우</a:t>
            </a:r>
            <a:r>
              <a:rPr lang="en-US" altLang="ko-KR" dirty="0"/>
              <a:t>, </a:t>
            </a:r>
            <a:r>
              <a:rPr lang="ko-KR" altLang="en-US" dirty="0"/>
              <a:t>대중의 비판적 토론 역량이 마비되고 </a:t>
            </a:r>
            <a:r>
              <a:rPr lang="en-US" altLang="ko-KR" dirty="0"/>
              <a:t>‘</a:t>
            </a:r>
            <a:r>
              <a:rPr lang="ko-KR" altLang="en-US" dirty="0"/>
              <a:t>가짜 합의</a:t>
            </a:r>
            <a:r>
              <a:rPr lang="en-US" altLang="ko-KR" dirty="0"/>
              <a:t>’</a:t>
            </a:r>
            <a:r>
              <a:rPr lang="ko-KR" altLang="en-US" dirty="0"/>
              <a:t>가 공론장을 지배할 위협이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단순한 인공지능의 표면적인 편향성 연구 너머 인공지능에 내재된 가치 체계와 위험 합리성을 감시하는 것은 민주적 공론장을 지키기 위한 시급한 과제이며</a:t>
            </a:r>
            <a:r>
              <a:rPr lang="en-US" altLang="ko-KR" dirty="0"/>
              <a:t>, </a:t>
            </a:r>
            <a:r>
              <a:rPr lang="ko-KR" altLang="en-US" dirty="0"/>
              <a:t>이를 위한 알고리즘 감사가 필요한 순간이다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A8DBC-BFE7-350E-8A4C-5C93DFCE65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10B3-381D-3CA9-85DC-83E8F48F103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5460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6BCC5-00C3-9D42-11A7-DD0A626C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E59A-FA3C-E66A-86EF-D49A2637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연구의 한계와 인식론적 전환</a:t>
            </a:r>
            <a:r>
              <a:rPr lang="en-US" altLang="ko-KR" dirty="0"/>
              <a:t>: </a:t>
            </a:r>
            <a:r>
              <a:rPr lang="ko-KR" altLang="en-US" dirty="0"/>
              <a:t>뒤집힌 프레임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1C2A08-BB14-7986-73B5-509F76F2C5C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기존 연구들의 방향성</a:t>
            </a:r>
            <a:endParaRPr lang="en-US" altLang="ko-KR" b="1" dirty="0"/>
          </a:p>
          <a:p>
            <a:r>
              <a:rPr lang="en-US" altLang="ko-KR" dirty="0"/>
              <a:t>Covello (1983)</a:t>
            </a:r>
            <a:r>
              <a:rPr lang="ko-KR" altLang="en-US" dirty="0"/>
              <a:t>와</a:t>
            </a:r>
            <a:r>
              <a:rPr lang="en-US" altLang="ko-KR" dirty="0"/>
              <a:t>, Krieger et al. (2025)</a:t>
            </a:r>
            <a:r>
              <a:rPr lang="ko-KR" altLang="en-US" dirty="0"/>
              <a:t>의 문헌 리뷰들을 보면</a:t>
            </a:r>
            <a:r>
              <a:rPr lang="en-US" altLang="ko-KR" dirty="0"/>
              <a:t>, </a:t>
            </a:r>
            <a:r>
              <a:rPr lang="ko-KR" altLang="en-US" dirty="0"/>
              <a:t>각각 </a:t>
            </a:r>
            <a:r>
              <a:rPr lang="en-US" altLang="ko-KR" dirty="0"/>
              <a:t>‘</a:t>
            </a:r>
            <a:r>
              <a:rPr lang="ko-KR" altLang="en-US" dirty="0"/>
              <a:t>대중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기술적 위험성과 인공지능의 위험성</a:t>
            </a:r>
            <a:r>
              <a:rPr lang="en-US" altLang="ko-KR" dirty="0"/>
              <a:t>’</a:t>
            </a:r>
            <a:r>
              <a:rPr lang="ko-KR" altLang="en-US" dirty="0"/>
              <a:t>을 어떻게 </a:t>
            </a:r>
            <a:r>
              <a:rPr lang="ko-KR" altLang="en-US" dirty="0" err="1"/>
              <a:t>인식하는지의</a:t>
            </a:r>
            <a:r>
              <a:rPr lang="ko-KR" altLang="en-US" dirty="0"/>
              <a:t> 방향으로 연구가 진행되어왔다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본 연구가 제시하는 방향성</a:t>
            </a:r>
            <a:endParaRPr lang="en-US" altLang="ko-KR" dirty="0"/>
          </a:p>
          <a:p>
            <a:r>
              <a:rPr lang="ko-KR" altLang="en-US" dirty="0"/>
              <a:t>인공지능은 객관적이고 중립적인 연산 기계가 아니라</a:t>
            </a:r>
            <a:r>
              <a:rPr lang="en-US" altLang="ko-KR" dirty="0"/>
              <a:t>, </a:t>
            </a:r>
            <a:r>
              <a:rPr lang="ko-KR" altLang="en-US" dirty="0"/>
              <a:t>학습 데이터와 가치 정렬을 통해 형성된 편향된 </a:t>
            </a:r>
            <a:r>
              <a:rPr lang="en-US" altLang="ko-KR" dirty="0"/>
              <a:t>‘</a:t>
            </a:r>
            <a:r>
              <a:rPr lang="ko-KR" altLang="en-US" dirty="0"/>
              <a:t>문화적 산물</a:t>
            </a:r>
            <a:r>
              <a:rPr lang="en-US" altLang="ko-KR" dirty="0"/>
              <a:t>‘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본 연구는 인공지능 모델 자체가 사회의 위험에 대해 어떻게 </a:t>
            </a:r>
            <a:r>
              <a:rPr lang="en-US" altLang="ko-KR" dirty="0"/>
              <a:t>(1) </a:t>
            </a:r>
            <a:r>
              <a:rPr lang="ko-KR" altLang="en-US" dirty="0"/>
              <a:t>지각하고</a:t>
            </a:r>
            <a:r>
              <a:rPr lang="en-US" altLang="ko-KR" dirty="0"/>
              <a:t>, (2) </a:t>
            </a:r>
            <a:r>
              <a:rPr lang="ko-KR" altLang="en-US" dirty="0"/>
              <a:t>반응하며</a:t>
            </a:r>
            <a:r>
              <a:rPr lang="en-US" altLang="ko-KR" dirty="0"/>
              <a:t>, (3) </a:t>
            </a:r>
            <a:r>
              <a:rPr lang="ko-KR" altLang="en-US" dirty="0"/>
              <a:t>서술하는지를 추적하고자 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4CB03-610F-7594-662F-7A4DA6C9F62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1ACE9-EDF9-EA47-C7E3-9AD16D151C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01710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136A8-12C3-89E4-DBA0-1CF12F9E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18B13A-92C2-25FB-77BC-78D251A92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1A230-1287-44EE-E3A6-B8B29C37D3B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RQ1. </a:t>
            </a:r>
            <a:r>
              <a:rPr lang="ko-KR" altLang="en-US" sz="1600" b="1" dirty="0"/>
              <a:t>인공지능 모델은 객관적이고 중립적인 연산 기계인가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아니면 특정한 문화적 원형을 도출하는 편향된 문화적 산물인가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H1. </a:t>
            </a:r>
            <a:r>
              <a:rPr lang="ko-KR" altLang="en-US" sz="1600" dirty="0"/>
              <a:t>생성형 </a:t>
            </a:r>
            <a:r>
              <a:rPr lang="en-US" altLang="ko-KR" sz="1600" dirty="0"/>
              <a:t>AI </a:t>
            </a:r>
            <a:r>
              <a:rPr lang="ko-KR" altLang="en-US" sz="1600" dirty="0"/>
              <a:t>모델들은 가치 중립적인 백지상태</a:t>
            </a:r>
            <a:r>
              <a:rPr lang="en-US" altLang="ko-KR" sz="1600" dirty="0"/>
              <a:t>(Tabula rasa)</a:t>
            </a:r>
            <a:r>
              <a:rPr lang="ko-KR" altLang="en-US" sz="1600" dirty="0"/>
              <a:t>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학습 데이터와 가치 정렬 과정의 영향으로 개발 기업의 이데올로기나 특정 문화적 원형</a:t>
            </a:r>
            <a:r>
              <a:rPr lang="en-US" altLang="ko-KR" sz="1600" dirty="0"/>
              <a:t>(</a:t>
            </a:r>
            <a:r>
              <a:rPr lang="ko-KR" altLang="en-US" sz="1600" dirty="0"/>
              <a:t>특히 </a:t>
            </a:r>
            <a:r>
              <a:rPr lang="en-US" altLang="ko-KR" sz="1600" dirty="0"/>
              <a:t>'</a:t>
            </a:r>
            <a:r>
              <a:rPr lang="ko-KR" altLang="en-US" sz="1600" dirty="0"/>
              <a:t>평등주의</a:t>
            </a:r>
            <a:r>
              <a:rPr lang="en-US" altLang="ko-KR" sz="1600" dirty="0"/>
              <a:t>')</a:t>
            </a:r>
            <a:r>
              <a:rPr lang="ko-KR" altLang="en-US" sz="1600" dirty="0"/>
              <a:t>에 편향된 지향성을 지닐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b="1" dirty="0"/>
              <a:t>RQ2. </a:t>
            </a:r>
            <a:r>
              <a:rPr lang="ko-KR" altLang="en-US" sz="1600" b="1" dirty="0"/>
              <a:t>인공지능 모델이 내재한 문화적 원형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개인주의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위계주의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평등주의 등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 따라 특정 위험</a:t>
            </a:r>
            <a:r>
              <a:rPr lang="en-US" altLang="ko-KR" sz="1600" b="1" dirty="0"/>
              <a:t>(Risk)</a:t>
            </a:r>
            <a:r>
              <a:rPr lang="ko-KR" altLang="en-US" sz="1600" b="1" dirty="0"/>
              <a:t>의 전반적 위험성</a:t>
            </a:r>
            <a:r>
              <a:rPr lang="en-US" altLang="ko-KR" sz="1600" b="1" dirty="0"/>
              <a:t>(Riskiness)</a:t>
            </a:r>
            <a:r>
              <a:rPr lang="ko-KR" altLang="en-US" sz="1600" b="1" dirty="0"/>
              <a:t>을 견인하는 핵심 </a:t>
            </a:r>
            <a:r>
              <a:rPr lang="ko-KR" altLang="en-US" sz="1600" b="1" dirty="0" err="1"/>
              <a:t>아웃레이지</a:t>
            </a:r>
            <a:r>
              <a:rPr lang="en-US" altLang="ko-KR" sz="1600" b="1" dirty="0"/>
              <a:t>(Outrage) </a:t>
            </a:r>
            <a:r>
              <a:rPr lang="ko-KR" altLang="en-US" sz="1600" b="1" dirty="0"/>
              <a:t>요인과 평가 기준은 어떻게 다르게 나타나는가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dirty="0"/>
              <a:t>H2. </a:t>
            </a:r>
            <a:r>
              <a:rPr lang="ko-KR" altLang="en-US" sz="1600" dirty="0"/>
              <a:t>모델의 문화적 원형에 따라 위험을 지각하는 핵심 </a:t>
            </a:r>
            <a:r>
              <a:rPr lang="ko-KR" altLang="en-US" sz="1600" dirty="0" err="1"/>
              <a:t>매커니즘이</a:t>
            </a:r>
            <a:r>
              <a:rPr lang="ko-KR" altLang="en-US" sz="1600" dirty="0"/>
              <a:t> 다르게 나타날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H2a. </a:t>
            </a:r>
            <a:r>
              <a:rPr lang="ko-KR" altLang="en-US" sz="1600" dirty="0"/>
              <a:t>개인주의 모델은 주관적 공포보다 실제 발생하는 물리적 </a:t>
            </a:r>
            <a:r>
              <a:rPr lang="ko-KR" altLang="en-US" sz="1600" dirty="0" err="1"/>
              <a:t>피해량</a:t>
            </a:r>
            <a:r>
              <a:rPr lang="en-US" altLang="ko-KR" sz="1600" dirty="0"/>
              <a:t>(Severity)</a:t>
            </a:r>
            <a:r>
              <a:rPr lang="ko-KR" altLang="en-US" sz="1600" dirty="0"/>
              <a:t>을 중심으로 위험을 평가할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H2b. </a:t>
            </a:r>
            <a:r>
              <a:rPr lang="ko-KR" altLang="en-US" sz="1600" dirty="0"/>
              <a:t>위계주의 모델은 체제 유지와 사회 질서 보호를 중시하여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 통제가 불가능한 지연 효과나 공포</a:t>
            </a:r>
            <a:r>
              <a:rPr lang="en-US" altLang="ko-KR" sz="1600" dirty="0"/>
              <a:t>(Dread), </a:t>
            </a:r>
            <a:r>
              <a:rPr lang="ko-KR" altLang="en-US" sz="1600" dirty="0"/>
              <a:t>대중적 패닉을 유발하는 시스템 교란 요인에 민감하게 반응할 것이다</a:t>
            </a:r>
            <a:r>
              <a:rPr lang="en-US" altLang="ko-KR" sz="1600" dirty="0"/>
              <a:t>. </a:t>
            </a:r>
          </a:p>
          <a:p>
            <a:pPr marL="0" indent="0">
              <a:buNone/>
            </a:pPr>
            <a:r>
              <a:rPr lang="en-US" altLang="ko-KR" sz="1600" dirty="0"/>
              <a:t>    H2c. </a:t>
            </a:r>
            <a:r>
              <a:rPr lang="ko-KR" altLang="en-US" sz="1600" dirty="0"/>
              <a:t>평등주의 모델은 거대 권력의 위협을 경계하므로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치명성뿐만</a:t>
            </a:r>
            <a:r>
              <a:rPr lang="ko-KR" altLang="en-US" sz="1600" dirty="0"/>
              <a:t> 아니라 불공정성</a:t>
            </a:r>
            <a:r>
              <a:rPr lang="en-US" altLang="ko-KR" sz="1600" dirty="0"/>
              <a:t>(Unfairness), </a:t>
            </a:r>
            <a:r>
              <a:rPr lang="ko-KR" altLang="en-US" sz="1600" dirty="0"/>
              <a:t>미래 세대 위협 등 도덕적이고 복합적인 요인들을 종합하여 위험을 평가할 것이다</a:t>
            </a:r>
            <a:r>
              <a:rPr lang="en-US" altLang="ko-KR" sz="1600" dirty="0"/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16049F-5A97-0C00-EEA1-CD47A5B8E8B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AD0BCE-35C6-7B02-F2F2-069DB20D43C5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2099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9291-92AE-2936-22DD-0DB0ACC9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48C80-5C54-93E8-EE23-0065E6541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8932B-5B79-F83D-E56D-0AF443C19EA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[</a:t>
            </a:r>
            <a:r>
              <a:rPr lang="ko-KR" altLang="en-US" sz="1600" b="1" dirty="0"/>
              <a:t>계획</a:t>
            </a:r>
            <a:r>
              <a:rPr lang="en-US" altLang="ko-KR" sz="1600" b="1" dirty="0"/>
              <a:t>]</a:t>
            </a:r>
          </a:p>
          <a:p>
            <a:pPr marL="0" indent="0">
              <a:buNone/>
            </a:pPr>
            <a:r>
              <a:rPr lang="en-US" altLang="ko-KR" sz="1600" b="1" dirty="0"/>
              <a:t>RQ3. </a:t>
            </a:r>
            <a:r>
              <a:rPr lang="ko-KR" altLang="en-US" sz="1600" b="1" dirty="0"/>
              <a:t>양적 방법론</a:t>
            </a:r>
            <a:r>
              <a:rPr lang="en-US" altLang="ko-KR" sz="1600" b="1" dirty="0"/>
              <a:t>(Study 1, 2)</a:t>
            </a:r>
            <a:r>
              <a:rPr lang="ko-KR" altLang="en-US" sz="1600" b="1" dirty="0"/>
              <a:t>으로 판별된 </a:t>
            </a:r>
            <a:r>
              <a:rPr lang="en-US" altLang="ko-KR" sz="1600" b="1" dirty="0"/>
              <a:t>AI </a:t>
            </a:r>
            <a:r>
              <a:rPr lang="ko-KR" altLang="en-US" sz="1600" b="1" dirty="0"/>
              <a:t>모델의 문화적 원형과 위험 인식 구조가 실제 모델이 생성해 내는 텍스트 담론</a:t>
            </a:r>
            <a:r>
              <a:rPr lang="en-US" altLang="ko-KR" sz="1600" b="1" dirty="0"/>
              <a:t>(</a:t>
            </a:r>
            <a:r>
              <a:rPr lang="ko-KR" altLang="en-US" sz="1600" b="1" dirty="0" err="1"/>
              <a:t>프레이밍</a:t>
            </a:r>
            <a:r>
              <a:rPr lang="ko-KR" altLang="en-US" sz="1600" b="1" dirty="0"/>
              <a:t> 및 어휘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에서도 일관되게 발현되는가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H3. </a:t>
            </a:r>
            <a:r>
              <a:rPr lang="ko-KR" altLang="en-US" sz="1600" dirty="0"/>
              <a:t>각 인공지능 모델이 위험 시나리오에 대해 텍스트를 생성할 때</a:t>
            </a:r>
            <a:r>
              <a:rPr lang="en-US" altLang="ko-KR" sz="1600" dirty="0"/>
              <a:t>, </a:t>
            </a:r>
            <a:r>
              <a:rPr lang="ko-KR" altLang="en-US" sz="1600" dirty="0"/>
              <a:t>해당 모델이 속한 문화적 원형에 부합하는 특정한 어휘와 </a:t>
            </a:r>
            <a:r>
              <a:rPr lang="ko-KR" altLang="en-US" sz="1600" dirty="0" err="1"/>
              <a:t>프레이밍을</a:t>
            </a:r>
            <a:r>
              <a:rPr lang="ko-KR" altLang="en-US" sz="1600" dirty="0"/>
              <a:t> 집중적으로 동원할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H3a. </a:t>
            </a:r>
            <a:r>
              <a:rPr lang="ko-KR" altLang="en-US" sz="1600" dirty="0"/>
              <a:t>평등주의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거대 자본의 탐욕</a:t>
            </a:r>
            <a:r>
              <a:rPr lang="en-US" altLang="ko-KR" sz="1600" dirty="0"/>
              <a:t>‘</a:t>
            </a:r>
            <a:r>
              <a:rPr lang="ko-KR" altLang="en-US" sz="1600" dirty="0"/>
              <a:t>이나 </a:t>
            </a:r>
            <a:r>
              <a:rPr lang="en-US" altLang="ko-KR" sz="1600" dirty="0"/>
              <a:t>‘</a:t>
            </a:r>
            <a:r>
              <a:rPr lang="ko-KR" altLang="en-US" sz="1600" dirty="0"/>
              <a:t>구조적 불평등</a:t>
            </a:r>
            <a:r>
              <a:rPr lang="en-US" altLang="ko-KR" sz="1600" dirty="0"/>
              <a:t>‘</a:t>
            </a:r>
            <a:r>
              <a:rPr lang="ko-KR" altLang="en-US" sz="1600" dirty="0"/>
              <a:t>의 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H3b. </a:t>
            </a:r>
            <a:r>
              <a:rPr lang="ko-KR" altLang="en-US" sz="1600" dirty="0"/>
              <a:t>위계주의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전문가의 합의</a:t>
            </a:r>
            <a:r>
              <a:rPr lang="en-US" altLang="ko-KR" sz="1600" dirty="0"/>
              <a:t>'</a:t>
            </a:r>
            <a:r>
              <a:rPr lang="ko-KR" altLang="en-US" sz="1600" dirty="0"/>
              <a:t>나 </a:t>
            </a:r>
            <a:r>
              <a:rPr lang="en-US" altLang="ko-KR" sz="1600" dirty="0"/>
              <a:t>'</a:t>
            </a:r>
            <a:r>
              <a:rPr lang="ko-KR" altLang="en-US" sz="1600" dirty="0"/>
              <a:t>통제된 위험 관리</a:t>
            </a:r>
            <a:r>
              <a:rPr lang="en-US" altLang="ko-KR" sz="1600" dirty="0"/>
              <a:t>' </a:t>
            </a:r>
            <a:r>
              <a:rPr lang="ko-KR" altLang="en-US" sz="1600" dirty="0"/>
              <a:t>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H3c. </a:t>
            </a:r>
            <a:r>
              <a:rPr lang="ko-KR" altLang="en-US" sz="1600" dirty="0"/>
              <a:t>개인주의 모델은 </a:t>
            </a:r>
            <a:r>
              <a:rPr lang="en-US" altLang="ko-KR" sz="1600" dirty="0"/>
              <a:t>'</a:t>
            </a:r>
            <a:r>
              <a:rPr lang="ko-KR" altLang="en-US" sz="1600" dirty="0"/>
              <a:t>개인의 선택과 책임</a:t>
            </a:r>
            <a:r>
              <a:rPr lang="en-US" altLang="ko-KR" sz="1600" dirty="0"/>
              <a:t>'</a:t>
            </a:r>
            <a:r>
              <a:rPr lang="ko-KR" altLang="en-US" sz="1600" dirty="0"/>
              <a:t> 프레임을 강조하는 텍스트를 생성할 것이다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0B26B-BA5B-7215-87B4-04C6676E5B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412CA2-C8C8-20E3-E57A-B4F0138635A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7604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8FC60-CCB5-3A89-39A1-62ED65E29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ADF82-A79D-7A8A-0079-B439C94B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5E37B8-A0DD-55FB-5EBC-D12A09A9C72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미디어 방정식</a:t>
            </a:r>
            <a:r>
              <a:rPr lang="en-US" altLang="ko-KR" b="1" dirty="0"/>
              <a:t>, CASA </a:t>
            </a:r>
            <a:r>
              <a:rPr lang="ko-KR" altLang="en-US" b="1" dirty="0"/>
              <a:t>패러다임</a:t>
            </a:r>
            <a:r>
              <a:rPr lang="en-US" altLang="ko-KR" b="1" dirty="0"/>
              <a:t>, HMC </a:t>
            </a:r>
            <a:r>
              <a:rPr lang="ko-KR" altLang="en-US" b="1" dirty="0"/>
              <a:t>프레임워크</a:t>
            </a:r>
            <a:endParaRPr lang="en-US" altLang="ko-KR" b="1" dirty="0"/>
          </a:p>
          <a:p>
            <a:r>
              <a:rPr lang="en-US" altLang="ko-KR" dirty="0"/>
              <a:t>Reeves &amp; Nass (1996)</a:t>
            </a:r>
            <a:r>
              <a:rPr lang="ko-KR" altLang="en-US" dirty="0"/>
              <a:t>와 </a:t>
            </a:r>
            <a:r>
              <a:rPr lang="en-US" altLang="ko-KR" dirty="0"/>
              <a:t>Nass et al. (1994)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연구를 보면</a:t>
            </a:r>
            <a:r>
              <a:rPr lang="en-US" altLang="ko-KR" dirty="0"/>
              <a:t>, </a:t>
            </a:r>
            <a:r>
              <a:rPr lang="ko-KR" altLang="en-US" dirty="0"/>
              <a:t>인간은 컴퓨터를 단순한 도구가 아니라 사회적 행위자로 대우하며 상호작용함을 알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Guzman (2018), Guzman &amp; Lewis (2020), </a:t>
            </a:r>
            <a:r>
              <a:rPr lang="ko-KR" altLang="en-US" dirty="0"/>
              <a:t>그리고 </a:t>
            </a:r>
            <a:r>
              <a:rPr lang="en-US" altLang="ko-KR" dirty="0"/>
              <a:t>Jones (2014)</a:t>
            </a:r>
            <a:r>
              <a:rPr lang="ko-KR" altLang="en-US" dirty="0"/>
              <a:t>가 제시한 </a:t>
            </a:r>
            <a:r>
              <a:rPr lang="en-US" altLang="ko-KR" dirty="0"/>
              <a:t>HMC </a:t>
            </a:r>
            <a:r>
              <a:rPr lang="ko-KR" altLang="en-US" dirty="0"/>
              <a:t>프레임워크는 이미 인공지능을 의사소통의 주체로 인정하는 방향성을 제시하고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b="1" dirty="0"/>
              <a:t>전산 심리측정</a:t>
            </a:r>
            <a:endParaRPr lang="en-US" altLang="ko-KR" dirty="0"/>
          </a:p>
          <a:p>
            <a:r>
              <a:rPr lang="en-US" altLang="ko-KR" dirty="0"/>
              <a:t>Ye et al. (2025), </a:t>
            </a:r>
            <a:r>
              <a:rPr lang="en-US" altLang="ko-KR" dirty="0" err="1"/>
              <a:t>Geranpayeh</a:t>
            </a:r>
            <a:r>
              <a:rPr lang="en-US" altLang="ko-KR" dirty="0"/>
              <a:t> (2023), Li et al. (2026)</a:t>
            </a:r>
            <a:r>
              <a:rPr lang="ko-KR" altLang="en-US" dirty="0"/>
              <a:t>과 </a:t>
            </a:r>
            <a:r>
              <a:rPr lang="en-US" altLang="ko-KR" dirty="0"/>
              <a:t>Maharjan et al. (2025)</a:t>
            </a:r>
            <a:r>
              <a:rPr lang="ko-KR" altLang="en-US" dirty="0"/>
              <a:t>의 전산 심리측정학 연구는 </a:t>
            </a:r>
            <a:r>
              <a:rPr lang="en-US" altLang="ko-KR" dirty="0"/>
              <a:t>LLM</a:t>
            </a:r>
            <a:r>
              <a:rPr lang="ko-KR" altLang="en-US" dirty="0"/>
              <a:t>이 무작위적 출력이 아니라 인지적 일관성을 지닌 프로파일을 구현해낼 수 있음을 입증하였고</a:t>
            </a:r>
            <a:r>
              <a:rPr lang="en-US" altLang="ko-KR" dirty="0"/>
              <a:t>, </a:t>
            </a:r>
            <a:r>
              <a:rPr lang="ko-KR" altLang="en-US" dirty="0"/>
              <a:t>이는 기계 시스템에 대한 인간 사회과학 방법론 적용의 학문적 근거를 제시한다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FAC94-3EAA-EFF5-153A-0C59FCAA707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EB8B8-8DA3-3465-0CDB-3EDEEB9C57A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14420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9A4BB-6FFD-068E-3F9D-CB83BD55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F5C8A-0E1A-27EF-0696-4FD3B61E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B4D9CB-8715-EFF3-3646-F718CDD065C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en-US" altLang="ko-KR" dirty="0"/>
              <a:t>Esposito (2025)</a:t>
            </a:r>
            <a:r>
              <a:rPr lang="ko-KR" altLang="en-US" dirty="0"/>
              <a:t>의 연구는</a:t>
            </a:r>
            <a:r>
              <a:rPr lang="en-US" altLang="ko-KR" dirty="0"/>
              <a:t> </a:t>
            </a:r>
            <a:r>
              <a:rPr lang="ko-KR" altLang="en-US" dirty="0"/>
              <a:t>인공지능을 실제로 </a:t>
            </a:r>
            <a:r>
              <a:rPr lang="en-US" altLang="ko-KR" dirty="0"/>
              <a:t>‘</a:t>
            </a:r>
            <a:r>
              <a:rPr lang="ko-KR" altLang="en-US" dirty="0"/>
              <a:t>지능</a:t>
            </a:r>
            <a:r>
              <a:rPr lang="en-US" altLang="ko-KR" dirty="0"/>
              <a:t>‘</a:t>
            </a:r>
            <a:r>
              <a:rPr lang="ko-KR" altLang="en-US" dirty="0"/>
              <a:t>을 가진 주체로 인정하지 않더라도</a:t>
            </a:r>
            <a:r>
              <a:rPr lang="en-US" altLang="ko-KR" dirty="0"/>
              <a:t>, ‘</a:t>
            </a:r>
            <a:r>
              <a:rPr lang="ko-KR" altLang="en-US" dirty="0"/>
              <a:t>소통</a:t>
            </a:r>
            <a:r>
              <a:rPr lang="en-US" altLang="ko-KR" dirty="0"/>
              <a:t>’</a:t>
            </a:r>
            <a:r>
              <a:rPr lang="ko-KR" altLang="en-US" dirty="0"/>
              <a:t>의 관점으로 이 기술을 바라볼 수 있음을 역설한다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그녀의 주장에 따르면</a:t>
            </a:r>
            <a:r>
              <a:rPr lang="en-US" altLang="ko-KR" dirty="0"/>
              <a:t>, </a:t>
            </a:r>
            <a:r>
              <a:rPr lang="ko-KR" altLang="en-US" dirty="0"/>
              <a:t>인공지능 알고리즘을 </a:t>
            </a:r>
            <a:r>
              <a:rPr lang="en-US" altLang="ko-KR" dirty="0"/>
              <a:t>‘</a:t>
            </a:r>
            <a:r>
              <a:rPr lang="ko-KR" altLang="en-US" dirty="0"/>
              <a:t>지능을 갖게 되었다</a:t>
            </a:r>
            <a:r>
              <a:rPr lang="en-US" altLang="ko-KR" dirty="0"/>
              <a:t>‘</a:t>
            </a:r>
            <a:r>
              <a:rPr lang="ko-KR" altLang="en-US" dirty="0"/>
              <a:t>로 이해하는 대신</a:t>
            </a:r>
            <a:r>
              <a:rPr lang="en-US" altLang="ko-KR" dirty="0"/>
              <a:t>, </a:t>
            </a:r>
            <a:r>
              <a:rPr lang="ko-KR" altLang="en-US" dirty="0"/>
              <a:t>사용자의 상황과 맥락에 맞춰 정교하게 재단된 </a:t>
            </a:r>
            <a:r>
              <a:rPr lang="en-US" altLang="ko-KR" dirty="0"/>
              <a:t>‘</a:t>
            </a:r>
            <a:r>
              <a:rPr lang="ko-KR" altLang="en-US" dirty="0"/>
              <a:t>소통을 제공하는 </a:t>
            </a:r>
            <a:r>
              <a:rPr lang="ko-KR" altLang="en-US" dirty="0" err="1"/>
              <a:t>기계로서의</a:t>
            </a:r>
            <a:r>
              <a:rPr lang="ko-KR" altLang="en-US" dirty="0"/>
              <a:t> 역할</a:t>
            </a:r>
            <a:r>
              <a:rPr lang="en-US" altLang="ko-KR" dirty="0"/>
              <a:t>‘</a:t>
            </a:r>
            <a:r>
              <a:rPr lang="ko-KR" altLang="en-US" dirty="0"/>
              <a:t>을 수행할 수 있게 되었다고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이때</a:t>
            </a:r>
            <a:r>
              <a:rPr lang="en-US" altLang="ko-KR" dirty="0"/>
              <a:t>, </a:t>
            </a:r>
            <a:r>
              <a:rPr lang="ko-KR" altLang="en-US" dirty="0"/>
              <a:t>이해</a:t>
            </a:r>
            <a:r>
              <a:rPr lang="en-US" altLang="ko-KR" dirty="0"/>
              <a:t>(Understanding)</a:t>
            </a:r>
            <a:r>
              <a:rPr lang="ko-KR" altLang="en-US" dirty="0"/>
              <a:t>가 결여된 소통이 가능한 이유로 </a:t>
            </a:r>
            <a:r>
              <a:rPr lang="en-US" altLang="ko-KR" dirty="0"/>
              <a:t>Luhmann (1992, 97)</a:t>
            </a:r>
            <a:r>
              <a:rPr lang="ko-KR" altLang="en-US" dirty="0"/>
              <a:t>의 소통 개념을 가져오는데</a:t>
            </a:r>
            <a:r>
              <a:rPr lang="en-US" altLang="ko-KR" dirty="0"/>
              <a:t>, </a:t>
            </a:r>
            <a:r>
              <a:rPr lang="ko-KR" altLang="en-US" dirty="0"/>
              <a:t>소통은 참여자들이 반드시 같은 생각을 공유할 때만 성공하는 것이 아니며</a:t>
            </a:r>
            <a:r>
              <a:rPr lang="en-US" altLang="ko-KR" dirty="0"/>
              <a:t>, </a:t>
            </a:r>
            <a:r>
              <a:rPr lang="ko-KR" altLang="en-US" dirty="0"/>
              <a:t>수신자가 전달받은 내용을 바탕으로 </a:t>
            </a:r>
            <a:r>
              <a:rPr lang="en-US" altLang="ko-KR" dirty="0"/>
              <a:t>‘</a:t>
            </a:r>
            <a:r>
              <a:rPr lang="ko-KR" altLang="en-US" dirty="0"/>
              <a:t>자신만의 유의미한 생각과 정보</a:t>
            </a:r>
            <a:r>
              <a:rPr lang="en-US" altLang="ko-KR" dirty="0"/>
              <a:t>‘</a:t>
            </a:r>
            <a:r>
              <a:rPr lang="ko-KR" altLang="en-US" dirty="0"/>
              <a:t>를 생산할 수 있다면 소통은 성공한 것이라고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1CC77-45A2-59BD-FBB6-2F261C70B8B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EC5CC-90B5-CE01-8423-34C9F25A8A6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929834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2A0E-AD2A-5119-45D4-64AAF6D5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D4018-B3C5-8D43-7E47-248189CD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ED99A-84F8-D660-4354-8B741C5AEF9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ko-KR" altLang="en-US" dirty="0"/>
              <a:t>결국 알고리즘은 지능을 가진 인간 사용자가 유의미한 정보를 생산하도록 돕는 자극물을 제공하므로 소통에 기여한다고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연구는 인공지능의 </a:t>
            </a:r>
            <a:r>
              <a:rPr lang="en-US" altLang="ko-KR" dirty="0"/>
              <a:t>‘</a:t>
            </a:r>
            <a:r>
              <a:rPr lang="ko-KR" altLang="en-US" dirty="0"/>
              <a:t>진정한 세계관</a:t>
            </a:r>
            <a:r>
              <a:rPr lang="en-US" altLang="ko-KR" dirty="0"/>
              <a:t>‘</a:t>
            </a:r>
            <a:r>
              <a:rPr lang="ko-KR" altLang="en-US" dirty="0"/>
              <a:t>이나</a:t>
            </a:r>
            <a:r>
              <a:rPr lang="en-US" altLang="ko-KR" dirty="0"/>
              <a:t>, </a:t>
            </a:r>
            <a:r>
              <a:rPr lang="ko-KR" altLang="en-US" dirty="0" err="1"/>
              <a:t>인식론적인</a:t>
            </a:r>
            <a:r>
              <a:rPr lang="ko-KR" altLang="en-US" dirty="0"/>
              <a:t> 지각을 추출하는</a:t>
            </a:r>
            <a:r>
              <a:rPr lang="en-US" altLang="ko-KR" dirty="0"/>
              <a:t>, </a:t>
            </a:r>
            <a:r>
              <a:rPr lang="ko-KR" altLang="en-US" dirty="0"/>
              <a:t>현재의 방법론으로 접근할 수 없는 존재론적 문제를 다루지 않고서도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결국 인공지능의 응답 패턴이라는</a:t>
            </a:r>
            <a:r>
              <a:rPr lang="en-US" altLang="ko-KR" dirty="0"/>
              <a:t>, </a:t>
            </a:r>
            <a:r>
              <a:rPr lang="ko-KR" altLang="en-US" dirty="0"/>
              <a:t>관찰 가능한 출력 패턴의 문제를 실증적으로 분석하여 인간 사용자에게 전달되는 </a:t>
            </a:r>
            <a:r>
              <a:rPr lang="en-US" altLang="ko-KR" dirty="0"/>
              <a:t>‘</a:t>
            </a:r>
            <a:r>
              <a:rPr lang="ko-KR" altLang="en-US" dirty="0"/>
              <a:t>자극물</a:t>
            </a:r>
            <a:r>
              <a:rPr lang="en-US" altLang="ko-KR" dirty="0"/>
              <a:t>‘</a:t>
            </a:r>
            <a:r>
              <a:rPr lang="ko-KR" altLang="en-US" dirty="0"/>
              <a:t>에 대한 분석만으로도 충분히 그 의미를 가지고 기여할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</a:t>
            </a:r>
            <a:r>
              <a:rPr lang="en-US" altLang="ko-KR" dirty="0"/>
              <a:t>Esposito (2025)</a:t>
            </a:r>
            <a:r>
              <a:rPr lang="ko-KR" altLang="en-US" dirty="0"/>
              <a:t>가 생성형 인공지능의 잘못된 소통이 낳을 사회적 파급효과와 새로운 위험성에 대한 연구가 필요하다는 제언에도 부합한다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9BC46-E28B-BF53-091D-340CF751706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4E310F-47EE-C09E-44A2-C64019E4372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6334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4BF35-A018-2A80-6DDC-1744DE5E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E3619-775F-D0B1-EFA4-738004993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C76AA9-EEAD-F42A-123A-69537E41FC1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연구 대상 모델</a:t>
            </a:r>
            <a:endParaRPr lang="en-US" altLang="ko-KR" b="1" dirty="0"/>
          </a:p>
          <a:p>
            <a:r>
              <a:rPr lang="en-US" altLang="ko-KR" dirty="0"/>
              <a:t>OpenAI – GPT 5.5</a:t>
            </a:r>
          </a:p>
          <a:p>
            <a:r>
              <a:rPr lang="en-US" altLang="ko-KR" dirty="0"/>
              <a:t>Claude Sonnet 4.6</a:t>
            </a:r>
          </a:p>
          <a:p>
            <a:r>
              <a:rPr lang="en-US" altLang="ko-KR" dirty="0"/>
              <a:t>Google Gemini 3.1 Pro Preview</a:t>
            </a:r>
          </a:p>
          <a:p>
            <a:r>
              <a:rPr lang="en-US" altLang="ko-KR" dirty="0" err="1"/>
              <a:t>xAI</a:t>
            </a:r>
            <a:r>
              <a:rPr lang="en-US" altLang="ko-KR" dirty="0"/>
              <a:t> Grok 4.3</a:t>
            </a:r>
          </a:p>
          <a:p>
            <a:r>
              <a:rPr lang="en-US" altLang="ko-KR" dirty="0"/>
              <a:t>Meta </a:t>
            </a:r>
            <a:r>
              <a:rPr lang="en-US" altLang="ko-KR" dirty="0" err="1"/>
              <a:t>LLaMA</a:t>
            </a:r>
            <a:r>
              <a:rPr lang="en-US" altLang="ko-KR" dirty="0"/>
              <a:t> 4 Maverick</a:t>
            </a:r>
          </a:p>
          <a:p>
            <a:r>
              <a:rPr lang="en-US" altLang="ko-KR" dirty="0"/>
              <a:t>Mistral Medium 3.5</a:t>
            </a:r>
          </a:p>
          <a:p>
            <a:r>
              <a:rPr lang="en-US" altLang="ko-KR" dirty="0"/>
              <a:t>DeepSeek</a:t>
            </a:r>
            <a:r>
              <a:rPr lang="ko-KR" altLang="en-US" dirty="0"/>
              <a:t> </a:t>
            </a:r>
            <a:r>
              <a:rPr lang="en-US" altLang="ko-KR" dirty="0"/>
              <a:t>V4 Pro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F14AC-EB76-591C-0551-813E5022B58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ED3602-763B-0847-4862-0CE43DEFD1D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959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D38D5-AD63-3654-B64C-7EF78690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23055-5BB9-2B03-90D5-3137509A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E9A484-A5CC-2170-C87D-B601D30A13B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모델 세팅</a:t>
            </a:r>
            <a:endParaRPr lang="en-US" altLang="ko-KR" b="1" dirty="0"/>
          </a:p>
          <a:p>
            <a:r>
              <a:rPr lang="en-US" altLang="ko-KR" dirty="0"/>
              <a:t>API</a:t>
            </a:r>
            <a:r>
              <a:rPr lang="ko-KR" altLang="en-US" dirty="0"/>
              <a:t>를 활용한 답변 추출</a:t>
            </a:r>
            <a:endParaRPr lang="en-US" altLang="ko-KR" dirty="0"/>
          </a:p>
          <a:p>
            <a:r>
              <a:rPr lang="en-US" altLang="ko-KR" dirty="0"/>
              <a:t>Temperature = 0.0</a:t>
            </a:r>
          </a:p>
          <a:p>
            <a:r>
              <a:rPr lang="en-US" altLang="ko-KR" dirty="0"/>
              <a:t>Top-P = 1.0</a:t>
            </a:r>
          </a:p>
          <a:p>
            <a:r>
              <a:rPr lang="en-US" altLang="ko-KR" dirty="0"/>
              <a:t>Zero-shot </a:t>
            </a:r>
            <a:r>
              <a:rPr lang="ko-KR" altLang="en-US" dirty="0" err="1"/>
              <a:t>프롬프팅</a:t>
            </a:r>
            <a:endParaRPr lang="en-US" altLang="ko-KR" dirty="0"/>
          </a:p>
          <a:p>
            <a:pPr lvl="1"/>
            <a:r>
              <a:rPr lang="ko-KR" altLang="en-US" dirty="0"/>
              <a:t>어떠한 명시적 배경 설정이나 맥락을 제공하지 않고</a:t>
            </a:r>
            <a:r>
              <a:rPr lang="en-US" altLang="ko-KR" dirty="0"/>
              <a:t>, ‘</a:t>
            </a:r>
            <a:r>
              <a:rPr lang="ko-KR" altLang="en-US" dirty="0" err="1"/>
              <a:t>무표적</a:t>
            </a:r>
            <a:r>
              <a:rPr lang="ko-KR" altLang="en-US" dirty="0"/>
              <a:t> 기본 페르소나</a:t>
            </a:r>
            <a:r>
              <a:rPr lang="en-US" altLang="ko-KR" dirty="0"/>
              <a:t>(unmarked default persona)‘ </a:t>
            </a:r>
            <a:r>
              <a:rPr lang="ko-KR" altLang="en-US" dirty="0"/>
              <a:t>상태에서의 반응을 측정한다</a:t>
            </a:r>
            <a:r>
              <a:rPr lang="en-US" altLang="ko-KR" dirty="0"/>
              <a:t>. Cheng</a:t>
            </a:r>
            <a:r>
              <a:rPr lang="ko-KR" altLang="en-US" dirty="0"/>
              <a:t> </a:t>
            </a:r>
            <a:r>
              <a:rPr lang="en-US" altLang="ko-KR" dirty="0"/>
              <a:t>et</a:t>
            </a:r>
            <a:r>
              <a:rPr lang="ko-KR" altLang="en-US" dirty="0"/>
              <a:t> </a:t>
            </a:r>
            <a:r>
              <a:rPr lang="en-US" altLang="ko-KR" dirty="0"/>
              <a:t>al.</a:t>
            </a:r>
            <a:r>
              <a:rPr lang="ko-KR" altLang="en-US" dirty="0"/>
              <a:t> </a:t>
            </a:r>
            <a:r>
              <a:rPr lang="en-US" altLang="ko-KR" dirty="0"/>
              <a:t>(2023)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상호 작용 턴이 길어질수록 모델은 결국 학습 과정에서 깊게 뿌리내린 내재적 편향성으로 회귀하는 경향을 보이기에</a:t>
            </a:r>
            <a:r>
              <a:rPr lang="en-US" altLang="ko-KR" dirty="0"/>
              <a:t>, </a:t>
            </a:r>
            <a:r>
              <a:rPr lang="ko-KR" altLang="en-US" dirty="0"/>
              <a:t>중립적 환경에서 측정 도구를 투입해 도출한 응답패턴이 해당 모델의 구조적 문화적 경향을 파악하기에 적합하다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5CA553-2253-D81C-11EA-E6D5797A6D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0C9B08-CFE7-C861-1BA8-FFE4716DF8E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936754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E60A-414B-17DF-4186-8163D051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A6622-8A57-F6CC-B4F0-DADF65B41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3E74C-F0B7-CF6A-0602-C7C5505AF97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en-US" altLang="ko-KR" dirty="0"/>
              <a:t>Douglas (1978)</a:t>
            </a:r>
            <a:r>
              <a:rPr lang="ko-KR" altLang="en-US" dirty="0"/>
              <a:t>에서 인류학적 분류법을 활용해 </a:t>
            </a:r>
            <a:r>
              <a:rPr lang="en-US" altLang="ko-KR" dirty="0"/>
              <a:t>Grid-Group</a:t>
            </a:r>
            <a:r>
              <a:rPr lang="ko-KR" altLang="en-US" dirty="0"/>
              <a:t>의 이론적 뼈대가 제안되었고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Wildavsky</a:t>
            </a:r>
            <a:r>
              <a:rPr lang="en-US" altLang="ko-KR" dirty="0"/>
              <a:t> (1987)</a:t>
            </a:r>
            <a:r>
              <a:rPr lang="ko-KR" altLang="en-US" dirty="0"/>
              <a:t>가 이를 문화이론으로 </a:t>
            </a:r>
            <a:r>
              <a:rPr lang="ko-KR" altLang="en-US" dirty="0" err="1"/>
              <a:t>진화시켰다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문화이론과 위험 커뮤니케이션의 만남</a:t>
            </a:r>
            <a:endParaRPr lang="en-US" altLang="ko-KR" dirty="0"/>
          </a:p>
          <a:p>
            <a:r>
              <a:rPr lang="en-US" altLang="ko-KR" dirty="0" err="1"/>
              <a:t>Wildavsky</a:t>
            </a:r>
            <a:r>
              <a:rPr lang="en-US" altLang="ko-KR" dirty="0"/>
              <a:t> &amp; Dake (1990)</a:t>
            </a:r>
            <a:r>
              <a:rPr lang="ko-KR" altLang="en-US" dirty="0"/>
              <a:t>은 이를 위험 인식</a:t>
            </a:r>
            <a:r>
              <a:rPr lang="en-US" altLang="ko-KR" dirty="0"/>
              <a:t>(Risk Perception)</a:t>
            </a:r>
            <a:r>
              <a:rPr lang="ko-KR" altLang="en-US" dirty="0"/>
              <a:t>에 적용하였고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Dake (1991)</a:t>
            </a:r>
            <a:r>
              <a:rPr lang="ko-KR" altLang="en-US" dirty="0"/>
              <a:t>은 이를 설문조사를 통해 측정 가능한 변수로 만들고 실증적인 데이터를 </a:t>
            </a:r>
            <a:r>
              <a:rPr lang="ko-KR" altLang="en-US" dirty="0" err="1"/>
              <a:t>뽑아내기도</a:t>
            </a:r>
            <a:r>
              <a:rPr lang="ko-KR" altLang="en-US" dirty="0"/>
              <a:t> 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D06D2-A1B4-2072-2929-ED8E379D51D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EDE96-8A80-76A0-D8AA-0EA849AD86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855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AAEDF-0430-4772-7818-04A0BC1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F14BB-7D13-37B2-0E1A-F6551E02A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26CC00-5C75-3E9C-9CCD-568B8D015F7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커뮤니케이션에서의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ko-KR" altLang="en-US" dirty="0"/>
              <a:t>규범적 제약의 정도를 나타내는 그리드</a:t>
            </a:r>
            <a:r>
              <a:rPr lang="en-US" altLang="ko-KR" dirty="0"/>
              <a:t>(Grid)</a:t>
            </a:r>
            <a:r>
              <a:rPr lang="ko-KR" altLang="en-US" dirty="0"/>
              <a:t>와 집단 귀속의 강도를 나타내는 그룹</a:t>
            </a:r>
            <a:r>
              <a:rPr lang="en-US" altLang="ko-KR" dirty="0"/>
              <a:t>(Group), </a:t>
            </a:r>
            <a:r>
              <a:rPr lang="ko-KR" altLang="en-US" dirty="0"/>
              <a:t>두 차원을 </a:t>
            </a:r>
            <a:r>
              <a:rPr lang="ko-KR" altLang="en-US" dirty="0" err="1"/>
              <a:t>교차시킨</a:t>
            </a:r>
            <a:r>
              <a:rPr lang="ko-KR" altLang="en-US" dirty="0"/>
              <a:t> 이차원적 좌표계를 활용하여 위험에 대한 태도의 문화적 원형을 도출한다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평등주의</a:t>
            </a:r>
            <a:r>
              <a:rPr lang="en-US" altLang="ko-KR" dirty="0"/>
              <a:t>(Low-Grid, High-Group): </a:t>
            </a:r>
            <a:r>
              <a:rPr lang="ko-KR" altLang="en-US" dirty="0"/>
              <a:t>기술 위험에 대한 강한 경계와 집단적 연대 강조</a:t>
            </a:r>
            <a:endParaRPr lang="en-US" altLang="ko-KR" dirty="0"/>
          </a:p>
          <a:p>
            <a:r>
              <a:rPr lang="ko-KR" altLang="en-US" dirty="0"/>
              <a:t>위계주의</a:t>
            </a:r>
            <a:r>
              <a:rPr lang="en-US" altLang="ko-KR" dirty="0"/>
              <a:t>(High-Grid, High-Group): </a:t>
            </a:r>
            <a:r>
              <a:rPr lang="ko-KR" altLang="en-US" dirty="0"/>
              <a:t>전문가와 제도를 통한 하향식 위험 관리를 지향</a:t>
            </a:r>
            <a:endParaRPr lang="en-US" altLang="ko-KR" dirty="0"/>
          </a:p>
          <a:p>
            <a:r>
              <a:rPr lang="ko-KR" altLang="en-US" dirty="0"/>
              <a:t>개인주의</a:t>
            </a:r>
            <a:r>
              <a:rPr lang="en-US" altLang="ko-KR" dirty="0"/>
              <a:t>(Low-Grid, Low-Group): </a:t>
            </a:r>
            <a:r>
              <a:rPr lang="ko-KR" altLang="en-US" dirty="0"/>
              <a:t>시장과 개인의 자율적 선택을 통한 위험 해결을 선호</a:t>
            </a:r>
            <a:endParaRPr lang="en-US" altLang="ko-KR" dirty="0"/>
          </a:p>
          <a:p>
            <a:r>
              <a:rPr lang="ko-KR" altLang="en-US" dirty="0"/>
              <a:t>운명주의</a:t>
            </a:r>
            <a:r>
              <a:rPr lang="en-US" altLang="ko-KR" dirty="0"/>
              <a:t>(High-Grid, Low-Group): </a:t>
            </a:r>
            <a:r>
              <a:rPr lang="ko-KR" altLang="en-US" dirty="0"/>
              <a:t>위험의 통제 불가능성과 체념적 수용이 특징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DE858-484A-C8F8-BDBC-06BCBDCCF60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25B6-CA58-C5D5-4648-8DB214F2A57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44527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79308-87C3-A9BB-E285-B31E3E95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E0CCD-A06E-F16D-5DC4-A221F31D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 err="1"/>
              <a:t>세계가치관조사</a:t>
            </a:r>
            <a:r>
              <a:rPr lang="en-US" altLang="ko-KR" sz="3200" dirty="0"/>
              <a:t>(WVS)</a:t>
            </a:r>
            <a:r>
              <a:rPr lang="ko-KR" altLang="en-US" sz="3200" dirty="0"/>
              <a:t>를 활용한 조작화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2814D4-7CD6-0F4A-8AED-F92E24B455B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세계가치관조사</a:t>
            </a:r>
            <a:r>
              <a:rPr lang="en-US" altLang="ko-KR" b="1" dirty="0"/>
              <a:t>(World Value Survey)</a:t>
            </a:r>
          </a:p>
          <a:p>
            <a:r>
              <a:rPr lang="en-US" altLang="ko-KR" dirty="0" err="1"/>
              <a:t>Haerpfer</a:t>
            </a:r>
            <a:r>
              <a:rPr lang="en-US" altLang="ko-KR" dirty="0"/>
              <a:t> et al. (2022)</a:t>
            </a:r>
            <a:r>
              <a:rPr lang="ko-KR" altLang="en-US" dirty="0"/>
              <a:t>의 </a:t>
            </a:r>
            <a:r>
              <a:rPr lang="ko-KR" altLang="en-US" dirty="0" err="1"/>
              <a:t>세계가치관조사</a:t>
            </a:r>
            <a:r>
              <a:rPr lang="en-US" altLang="ko-KR" dirty="0"/>
              <a:t>(WVS)</a:t>
            </a:r>
            <a:r>
              <a:rPr lang="ko-KR" altLang="en-US" dirty="0"/>
              <a:t>는 전 세계 인구의 </a:t>
            </a:r>
            <a:r>
              <a:rPr lang="en-US" altLang="ko-KR" dirty="0"/>
              <a:t>90%</a:t>
            </a:r>
            <a:r>
              <a:rPr lang="ko-KR" altLang="en-US" dirty="0"/>
              <a:t> 이상을 포괄하는 </a:t>
            </a:r>
            <a:r>
              <a:rPr lang="en-US" altLang="ko-KR" dirty="0"/>
              <a:t>120</a:t>
            </a:r>
            <a:r>
              <a:rPr lang="ko-KR" altLang="en-US" dirty="0"/>
              <a:t>여 개국에서 전 세계 사람들의 사회적</a:t>
            </a:r>
            <a:r>
              <a:rPr lang="en-US" altLang="ko-KR" dirty="0"/>
              <a:t>, </a:t>
            </a:r>
            <a:r>
              <a:rPr lang="ko-KR" altLang="en-US" dirty="0"/>
              <a:t>정치적</a:t>
            </a:r>
            <a:r>
              <a:rPr lang="en-US" altLang="ko-KR" dirty="0"/>
              <a:t>, </a:t>
            </a:r>
            <a:r>
              <a:rPr lang="ko-KR" altLang="en-US" dirty="0"/>
              <a:t>종교적</a:t>
            </a:r>
            <a:r>
              <a:rPr lang="en-US" altLang="ko-KR" dirty="0"/>
              <a:t>, </a:t>
            </a:r>
            <a:r>
              <a:rPr lang="ko-KR" altLang="en-US" dirty="0"/>
              <a:t>문화적 신념이 어떻게 변화하고 있는지 과학적으로 연구하는 세계 최대 규모의 국제 학술 프로젝트이다</a:t>
            </a:r>
            <a:r>
              <a:rPr lang="en-US" altLang="ko-KR" dirty="0"/>
              <a:t>. </a:t>
            </a:r>
            <a:r>
              <a:rPr lang="ko-KR" altLang="en-US" dirty="0"/>
              <a:t>본 연구에서는 가장 최근의 </a:t>
            </a:r>
            <a:r>
              <a:rPr lang="en-US" altLang="ko-KR" dirty="0"/>
              <a:t>2017</a:t>
            </a:r>
            <a:r>
              <a:rPr lang="ko-KR" altLang="en-US" dirty="0"/>
              <a:t>년부터 </a:t>
            </a:r>
            <a:r>
              <a:rPr lang="en-US" altLang="ko-KR" dirty="0"/>
              <a:t>2022</a:t>
            </a:r>
            <a:r>
              <a:rPr lang="ko-KR" altLang="en-US" dirty="0" err="1"/>
              <a:t>년까지를</a:t>
            </a:r>
            <a:r>
              <a:rPr lang="ko-KR" altLang="en-US" dirty="0"/>
              <a:t> 다룬 </a:t>
            </a:r>
            <a:r>
              <a:rPr lang="en-US" altLang="ko-KR" dirty="0"/>
              <a:t>Wave 7</a:t>
            </a:r>
            <a:r>
              <a:rPr lang="ko-KR" altLang="en-US" dirty="0"/>
              <a:t>의 문항들을 활용하였다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WVS</a:t>
            </a:r>
            <a:r>
              <a:rPr lang="ko-KR" altLang="en-US" b="1" dirty="0"/>
              <a:t>와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dirty="0"/>
          </a:p>
          <a:p>
            <a:r>
              <a:rPr lang="en-US" altLang="ko-KR" dirty="0"/>
              <a:t>Chai et al. (2009)</a:t>
            </a:r>
            <a:r>
              <a:rPr lang="ko-KR" altLang="en-US" dirty="0"/>
              <a:t>는 </a:t>
            </a:r>
            <a:r>
              <a:rPr lang="en-US" altLang="ko-KR" dirty="0"/>
              <a:t>WVS </a:t>
            </a:r>
            <a:r>
              <a:rPr lang="ko-KR" altLang="en-US" dirty="0"/>
              <a:t>설문 문항을 바탕으로 </a:t>
            </a:r>
            <a:r>
              <a:rPr lang="en-US" altLang="ko-KR" dirty="0"/>
              <a:t>Grid</a:t>
            </a:r>
            <a:r>
              <a:rPr lang="ko-KR" altLang="en-US" dirty="0"/>
              <a:t>와 </a:t>
            </a:r>
            <a:r>
              <a:rPr lang="en-US" altLang="ko-KR" dirty="0"/>
              <a:t>Group</a:t>
            </a:r>
            <a:r>
              <a:rPr lang="ko-KR" altLang="en-US" dirty="0"/>
              <a:t>의 측정 문항을 </a:t>
            </a:r>
            <a:r>
              <a:rPr lang="en-US" altLang="ko-KR" dirty="0"/>
              <a:t>11</a:t>
            </a:r>
            <a:r>
              <a:rPr lang="ko-KR" altLang="en-US" dirty="0"/>
              <a:t>개 문항씩 추출하고</a:t>
            </a:r>
            <a:r>
              <a:rPr lang="en-US" altLang="ko-KR" dirty="0"/>
              <a:t>, </a:t>
            </a:r>
            <a:r>
              <a:rPr lang="ko-KR" altLang="en-US" dirty="0"/>
              <a:t>이를 바탕으로 그리드</a:t>
            </a:r>
            <a:r>
              <a:rPr lang="en-US" altLang="ko-KR" dirty="0"/>
              <a:t>-</a:t>
            </a:r>
            <a:r>
              <a:rPr lang="ko-KR" altLang="en-US" dirty="0"/>
              <a:t>그룹 문화적 원형을 양적으로 측정하는 방법을 제안하였고</a:t>
            </a:r>
            <a:r>
              <a:rPr lang="en-US" altLang="ko-KR" dirty="0"/>
              <a:t>, </a:t>
            </a:r>
            <a:r>
              <a:rPr lang="ko-KR" altLang="en-US" dirty="0"/>
              <a:t>이 방식의 학술적 타당성과 견고성을 입증하였다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42692-4C16-258C-BB73-4F9490C3688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B90588-B8C8-F1FC-C9DB-28CDABF0940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29707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B715E-7397-7A41-5274-441FD63C5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99FC5-B094-A2DB-5722-2252FB90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3539C-A91E-D09E-7C87-E532A4E933C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E40F5-70A8-CCBA-2077-1E32DBB4F7D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7CA5AC-221D-A40F-5BD9-59863F4DF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99" y="2234125"/>
            <a:ext cx="11046286" cy="281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35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687FC-7308-170D-C1B2-734798A9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D92C5-ACBA-283A-423E-5E1BD65B8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CB571-7075-209B-3D37-FD06D6AB1FB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D30BC-8677-2965-0AFF-C6A5EC87193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E06089-AE14-CA31-78D9-C4EF84AC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270" y="1290153"/>
            <a:ext cx="6062995" cy="485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55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BE100-8D66-990E-C0B4-5F2E24BE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E4BD7-6664-1F93-1E24-A104EE144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60F744-2839-5C00-BD29-3DADC05B62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en-US" altLang="ko-KR" dirty="0"/>
              <a:t>7</a:t>
            </a:r>
            <a:r>
              <a:rPr lang="ko-KR" altLang="en-US" dirty="0"/>
              <a:t>개의 모델 중 </a:t>
            </a:r>
            <a:r>
              <a:rPr lang="en-US" altLang="ko-KR" dirty="0"/>
              <a:t>5</a:t>
            </a:r>
            <a:r>
              <a:rPr lang="ko-KR" altLang="en-US" dirty="0"/>
              <a:t>개의 모델이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’ </a:t>
            </a:r>
            <a:r>
              <a:rPr lang="ko-KR" altLang="en-US" dirty="0"/>
              <a:t>영역에 위치하였다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Google</a:t>
            </a:r>
            <a:r>
              <a:rPr lang="ko-KR" altLang="en-US" dirty="0"/>
              <a:t>의 </a:t>
            </a:r>
            <a:r>
              <a:rPr lang="en-US" altLang="ko-KR" dirty="0"/>
              <a:t>Gemini </a:t>
            </a:r>
            <a:r>
              <a:rPr lang="ko-KR" altLang="en-US" dirty="0"/>
              <a:t>모델은 </a:t>
            </a:r>
            <a:r>
              <a:rPr lang="en-US" altLang="ko-KR" dirty="0"/>
              <a:t>Group </a:t>
            </a:r>
            <a:r>
              <a:rPr lang="ko-KR" altLang="en-US" dirty="0"/>
              <a:t>지수가 가장 높아 집단적 연대</a:t>
            </a:r>
            <a:r>
              <a:rPr lang="en-US" altLang="ko-KR" dirty="0"/>
              <a:t>, </a:t>
            </a:r>
            <a:r>
              <a:rPr lang="ko-KR" altLang="en-US" dirty="0"/>
              <a:t>타인에 대한 신뢰</a:t>
            </a:r>
            <a:r>
              <a:rPr lang="en-US" altLang="ko-KR" dirty="0"/>
              <a:t>, </a:t>
            </a:r>
            <a:r>
              <a:rPr lang="ko-KR" altLang="en-US" dirty="0"/>
              <a:t>그리고 사회적 평등을 강하게 지향하는 모습을 보였다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OpenAI</a:t>
            </a:r>
            <a:r>
              <a:rPr lang="ko-KR" altLang="en-US" dirty="0"/>
              <a:t>의 </a:t>
            </a:r>
            <a:r>
              <a:rPr lang="en-US" altLang="ko-KR" dirty="0"/>
              <a:t>GPT </a:t>
            </a:r>
            <a:r>
              <a:rPr lang="ko-KR" altLang="en-US" dirty="0"/>
              <a:t>모델은 </a:t>
            </a:r>
            <a:r>
              <a:rPr lang="en-US" altLang="ko-KR" dirty="0"/>
              <a:t>Grid </a:t>
            </a:r>
            <a:r>
              <a:rPr lang="ko-KR" altLang="en-US" dirty="0"/>
              <a:t>지수가 가장 낮아 권위와 규범적 제약에 대한 거부감이 강하게 드러났다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Anthropic</a:t>
            </a:r>
            <a:r>
              <a:rPr lang="ko-KR" altLang="en-US" dirty="0"/>
              <a:t>의 </a:t>
            </a:r>
            <a:r>
              <a:rPr lang="en-US" altLang="ko-KR" dirty="0"/>
              <a:t>Claude </a:t>
            </a:r>
            <a:r>
              <a:rPr lang="ko-KR" altLang="en-US" dirty="0"/>
              <a:t>모델은 비록 계층주의 영역에 위치하긴 하였지만</a:t>
            </a:r>
            <a:r>
              <a:rPr lang="en-US" altLang="ko-KR" dirty="0"/>
              <a:t>, Grid </a:t>
            </a:r>
            <a:r>
              <a:rPr lang="ko-KR" altLang="en-US" dirty="0"/>
              <a:t>지수</a:t>
            </a:r>
            <a:r>
              <a:rPr lang="en-US" altLang="ko-KR" dirty="0"/>
              <a:t>(=0.503), Group </a:t>
            </a:r>
            <a:r>
              <a:rPr lang="ko-KR" altLang="en-US" dirty="0"/>
              <a:t>지수</a:t>
            </a:r>
            <a:r>
              <a:rPr lang="en-US" altLang="ko-KR" dirty="0"/>
              <a:t>(=0.528)</a:t>
            </a:r>
            <a:r>
              <a:rPr lang="ko-KR" altLang="en-US" dirty="0"/>
              <a:t>로 두 지수 모두 분기점</a:t>
            </a:r>
            <a:r>
              <a:rPr lang="en-US" altLang="ko-KR" dirty="0"/>
              <a:t>(=0.5)</a:t>
            </a:r>
            <a:r>
              <a:rPr lang="ko-KR" altLang="en-US" dirty="0"/>
              <a:t>를 갓 넘긴 수준으로</a:t>
            </a:r>
            <a:r>
              <a:rPr lang="en-US" altLang="ko-KR" dirty="0"/>
              <a:t>, </a:t>
            </a:r>
            <a:r>
              <a:rPr lang="ko-KR" altLang="en-US" dirty="0"/>
              <a:t>전반적으로 </a:t>
            </a:r>
            <a:r>
              <a:rPr lang="en-US" altLang="ko-KR" dirty="0"/>
              <a:t>AI </a:t>
            </a:r>
            <a:r>
              <a:rPr lang="ko-KR" altLang="en-US" dirty="0"/>
              <a:t>모델들이 평등주의에 많이 편향된 양상을 보인다는 것이 다시 한번 드러난다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B031B-4802-BA07-4C46-D5D95F88CE5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E92C-E925-E918-AFD8-240C5BB887F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324708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FE1F6-09B2-3EDB-F67A-3A9D96E6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0B572-D3EA-EC58-0BDC-C50E27888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2F6B51-F614-1B78-7786-2546EA1A105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ko-KR" altLang="en-US" dirty="0"/>
              <a:t>대다수의 주류 모델들이 가치 중립적인 백지상태</a:t>
            </a:r>
            <a:r>
              <a:rPr lang="en-US" altLang="ko-KR" dirty="0"/>
              <a:t>(Tabula rasa)</a:t>
            </a:r>
            <a:r>
              <a:rPr lang="ko-KR" altLang="en-US" dirty="0"/>
              <a:t>의 기술적 도구가 아니라</a:t>
            </a:r>
            <a:r>
              <a:rPr lang="en-US" altLang="ko-KR" dirty="0"/>
              <a:t>, </a:t>
            </a:r>
            <a:r>
              <a:rPr lang="ko-KR" altLang="en-US" dirty="0"/>
              <a:t>개발 기업의 이념적 지향과 알고리즘 조정 방식에 따라 특정한 문화적 원형</a:t>
            </a:r>
            <a:r>
              <a:rPr lang="en-US" altLang="ko-KR" dirty="0"/>
              <a:t>(Cultural Prototype)</a:t>
            </a:r>
            <a:r>
              <a:rPr lang="ko-KR" altLang="en-US" dirty="0"/>
              <a:t>을 내재하고 있음을 실증적으로 확인할 수 있었다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실리콘밸리 기업들의 지배적인 이데올로기</a:t>
            </a:r>
            <a:r>
              <a:rPr lang="en-US" altLang="ko-KR" dirty="0"/>
              <a:t>(</a:t>
            </a:r>
            <a:r>
              <a:rPr lang="ko-KR" altLang="en-US" dirty="0"/>
              <a:t>다양성</a:t>
            </a:r>
            <a:r>
              <a:rPr lang="en-US" altLang="ko-KR" dirty="0"/>
              <a:t>, </a:t>
            </a:r>
            <a:r>
              <a:rPr lang="ko-KR" altLang="en-US" dirty="0"/>
              <a:t>포용성</a:t>
            </a:r>
            <a:r>
              <a:rPr lang="en-US" altLang="ko-KR" dirty="0"/>
              <a:t>, </a:t>
            </a:r>
            <a:r>
              <a:rPr lang="ko-KR" altLang="en-US" dirty="0"/>
              <a:t>사회적 약자 보호 등으로 대표되는 정치적 올바름</a:t>
            </a:r>
            <a:r>
              <a:rPr lang="en-US" altLang="ko-KR" dirty="0"/>
              <a:t>)</a:t>
            </a:r>
            <a:r>
              <a:rPr lang="ko-KR" altLang="en-US" dirty="0"/>
              <a:t>가 최우선 가치로 </a:t>
            </a:r>
            <a:r>
              <a:rPr lang="ko-KR" altLang="en-US" dirty="0" err="1"/>
              <a:t>학습받았고</a:t>
            </a:r>
            <a:r>
              <a:rPr lang="en-US" altLang="ko-KR" dirty="0"/>
              <a:t>, </a:t>
            </a:r>
            <a:r>
              <a:rPr lang="ko-KR" altLang="en-US" dirty="0"/>
              <a:t>이것이 학습 데이터 선정과 인간 피드백 기반 강화학습</a:t>
            </a:r>
            <a:r>
              <a:rPr lang="en-US" altLang="ko-KR" dirty="0"/>
              <a:t>(RLHF) </a:t>
            </a:r>
            <a:r>
              <a:rPr lang="ko-KR" altLang="en-US" dirty="0"/>
              <a:t>등을 통해 인공지능 모델의 가치관으로 이식된 결과로 추측할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Beck</a:t>
            </a:r>
            <a:r>
              <a:rPr lang="ko-KR" altLang="en-US" dirty="0"/>
              <a:t>이 지적한 위험사회에서 위험을 인지하고 분류하는 주체가 인간에서 </a:t>
            </a:r>
            <a:r>
              <a:rPr lang="en-US" altLang="ko-KR" dirty="0"/>
              <a:t>AI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대중이나 전문가에서 소수의 빅테크 기업으로 옮겨가고 있는 현시점에</a:t>
            </a:r>
            <a:r>
              <a:rPr lang="en-US" altLang="ko-KR" dirty="0"/>
              <a:t>, </a:t>
            </a:r>
            <a:r>
              <a:rPr lang="ko-KR" altLang="en-US" dirty="0"/>
              <a:t>이들 모델이 지닌 편향성은 공론장의 </a:t>
            </a:r>
            <a:r>
              <a:rPr lang="ko-KR" altLang="en-US" dirty="0" err="1"/>
              <a:t>재봉건화를</a:t>
            </a:r>
            <a:r>
              <a:rPr lang="ko-KR" altLang="en-US" dirty="0"/>
              <a:t> 가속하는 또 하나의 </a:t>
            </a:r>
            <a:r>
              <a:rPr lang="en-US" altLang="ko-KR" dirty="0"/>
              <a:t>‘</a:t>
            </a:r>
            <a:r>
              <a:rPr lang="ko-KR" altLang="en-US" dirty="0"/>
              <a:t>위험</a:t>
            </a:r>
            <a:r>
              <a:rPr lang="en-US" altLang="ko-KR" dirty="0"/>
              <a:t>‘</a:t>
            </a:r>
            <a:r>
              <a:rPr lang="ko-KR" altLang="en-US" dirty="0"/>
              <a:t>으로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7EFB8-E621-7F9E-CC84-3013DAE8D99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A6A5DA-410E-5AC4-3884-BA825B95BF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9860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026E9-FBC5-5DFD-7C9A-01C8A903D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CF9AA8-5F7E-D36E-60AE-8B25992D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5F1212-4053-5776-41A5-32B91804042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 </a:t>
            </a:r>
            <a:r>
              <a:rPr lang="ko-KR" altLang="en-US" b="1" dirty="0"/>
              <a:t>모델의 계층주의</a:t>
            </a:r>
            <a:r>
              <a:rPr lang="en-US" altLang="ko-KR" b="1" dirty="0"/>
              <a:t>(Hierarchy)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계층주의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집단적 평등을 중시하면서도</a:t>
            </a:r>
            <a:r>
              <a:rPr lang="en-US" altLang="ko-KR" dirty="0"/>
              <a:t>(High Group), </a:t>
            </a:r>
            <a:r>
              <a:rPr lang="ko-KR" altLang="en-US" dirty="0"/>
              <a:t>동시에 엄격한 규칙과 도덕적</a:t>
            </a:r>
            <a:r>
              <a:rPr lang="en-US" altLang="ko-KR" dirty="0"/>
              <a:t>/</a:t>
            </a:r>
            <a:r>
              <a:rPr lang="ko-KR" altLang="en-US" dirty="0"/>
              <a:t>권위적 규범</a:t>
            </a:r>
            <a:r>
              <a:rPr lang="en-US" altLang="ko-KR" dirty="0"/>
              <a:t>(High Grid) </a:t>
            </a:r>
            <a:r>
              <a:rPr lang="ko-KR" altLang="en-US" dirty="0"/>
              <a:t>역시 중요하게 취급하는 보수적</a:t>
            </a:r>
            <a:r>
              <a:rPr lang="en-US" altLang="ko-KR" dirty="0"/>
              <a:t>/</a:t>
            </a:r>
            <a:r>
              <a:rPr lang="ko-KR" altLang="en-US" dirty="0"/>
              <a:t>관리적 성향을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Anthropic</a:t>
            </a:r>
            <a:r>
              <a:rPr lang="ko-KR" altLang="en-US" dirty="0"/>
              <a:t>은 </a:t>
            </a:r>
            <a:r>
              <a:rPr lang="en-US" altLang="ko-KR" dirty="0"/>
              <a:t>Bai et al. (2022)</a:t>
            </a:r>
            <a:r>
              <a:rPr lang="ko-KR" altLang="en-US" dirty="0"/>
              <a:t>가 제안한 헌법적 </a:t>
            </a:r>
            <a:r>
              <a:rPr lang="en-US" altLang="ko-KR" dirty="0"/>
              <a:t>AI (Constitutional</a:t>
            </a:r>
            <a:r>
              <a:rPr lang="ko-KR" altLang="en-US" dirty="0"/>
              <a:t> </a:t>
            </a:r>
            <a:r>
              <a:rPr lang="en-US" altLang="ko-KR" dirty="0"/>
              <a:t>AI)</a:t>
            </a:r>
            <a:r>
              <a:rPr lang="ko-KR" altLang="en-US" dirty="0"/>
              <a:t> 접근법을 채택한다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헌법</a:t>
            </a:r>
            <a:r>
              <a:rPr lang="en-US" altLang="ko-KR" dirty="0"/>
              <a:t>‘</a:t>
            </a:r>
            <a:r>
              <a:rPr lang="ko-KR" altLang="en-US" dirty="0"/>
              <a:t>은 시스템을 안전하게 통제하는 강력한 하향식 규범으로 작용하게 되는데</a:t>
            </a:r>
            <a:r>
              <a:rPr lang="en-US" altLang="ko-KR" dirty="0"/>
              <a:t>, </a:t>
            </a:r>
            <a:r>
              <a:rPr lang="ko-KR" altLang="en-US" dirty="0"/>
              <a:t>이러한 강도 높은 원칙 기반의 통제 구조가 모델 내부 가치관에 반영되며 이러한 결과가 나왔을 수 있다고 추측해볼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ABC2F-3277-3EE2-A5CC-837DCB0CD9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2064E-EE6B-F3B5-EB36-4DF548F3DA8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92845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816A-A468-BB9D-7D66-01A9E3F6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603BE-FB46-D7C0-897E-100EC1C3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77C819-BA16-6A1A-C6E2-5C5135812E0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 </a:t>
            </a:r>
            <a:r>
              <a:rPr lang="ko-KR" altLang="en-US" b="1" dirty="0"/>
              <a:t>모델의 개인주의</a:t>
            </a:r>
            <a:r>
              <a:rPr lang="en-US" altLang="ko-KR" b="1" dirty="0"/>
              <a:t>(Individualism)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개인주의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집단주의적 책임이나 결과의 평등보다는 개인의 자유를 극대화하는 성향을 모델이 내재화</a:t>
            </a:r>
            <a:r>
              <a:rPr lang="en-US" altLang="ko-KR" dirty="0"/>
              <a:t>(</a:t>
            </a:r>
            <a:r>
              <a:rPr lang="ko-KR" altLang="en-US" dirty="0"/>
              <a:t>혹은 모방</a:t>
            </a:r>
            <a:r>
              <a:rPr lang="en-US" altLang="ko-KR" dirty="0"/>
              <a:t>)</a:t>
            </a:r>
            <a:r>
              <a:rPr lang="ko-KR" altLang="en-US" dirty="0"/>
              <a:t>하고 있음을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일론 </a:t>
            </a:r>
            <a:r>
              <a:rPr lang="ko-KR" altLang="en-US" dirty="0" err="1"/>
              <a:t>머스크는</a:t>
            </a:r>
            <a:r>
              <a:rPr lang="ko-KR" altLang="en-US" dirty="0"/>
              <a:t> 기존의 </a:t>
            </a:r>
            <a:r>
              <a:rPr lang="en-US" altLang="ko-KR" dirty="0"/>
              <a:t>LLM</a:t>
            </a:r>
            <a:r>
              <a:rPr lang="ko-KR" altLang="en-US" dirty="0"/>
              <a:t>들이 지나치게 </a:t>
            </a:r>
            <a:r>
              <a:rPr lang="en-US" altLang="ko-KR" dirty="0"/>
              <a:t>‘Woke’</a:t>
            </a:r>
            <a:r>
              <a:rPr lang="ko-KR" altLang="en-US" dirty="0"/>
              <a:t>하다고 비판하며</a:t>
            </a:r>
            <a:r>
              <a:rPr lang="en-US" altLang="ko-KR" dirty="0"/>
              <a:t>, Grok</a:t>
            </a:r>
            <a:r>
              <a:rPr lang="ko-KR" altLang="en-US" dirty="0"/>
              <a:t>을 이에 대응하는 </a:t>
            </a:r>
            <a:r>
              <a:rPr lang="en-US" altLang="ko-KR" dirty="0"/>
              <a:t>‘Anti-woke’ </a:t>
            </a:r>
            <a:r>
              <a:rPr lang="ko-KR" altLang="en-US" dirty="0" err="1"/>
              <a:t>챗봇으로</a:t>
            </a:r>
            <a:r>
              <a:rPr lang="ko-KR" altLang="en-US" dirty="0"/>
              <a:t> </a:t>
            </a:r>
            <a:r>
              <a:rPr lang="ko-KR" altLang="en-US" dirty="0" err="1"/>
              <a:t>포지셔닝하였다</a:t>
            </a:r>
            <a:r>
              <a:rPr lang="en-US" altLang="ko-KR" dirty="0"/>
              <a:t>. </a:t>
            </a:r>
            <a:r>
              <a:rPr lang="ko-KR" altLang="en-US" dirty="0"/>
              <a:t>이러한 개발 과정에서의 </a:t>
            </a:r>
            <a:r>
              <a:rPr lang="ko-KR" altLang="en-US" dirty="0" err="1"/>
              <a:t>아젠다가</a:t>
            </a:r>
            <a:r>
              <a:rPr lang="ko-KR" altLang="en-US" dirty="0"/>
              <a:t> 모델의 실제 문화적 원형으로 나타날 수 있다는 것이 다시 한번 드러나는 지점이라고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5687A-325F-C599-CADE-96AE65B8B8B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787B0-DE8C-45A6-84B3-DB9A2A33894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79509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7339-9538-CDC9-4299-6F027FEC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1F4BF-0B8C-84DD-A608-93972C765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2A6382-DCDD-D7F0-85A4-8BAA5703BD1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</a:t>
            </a:r>
            <a:endParaRPr lang="en-US" altLang="ko-KR" b="1" dirty="0"/>
          </a:p>
          <a:p>
            <a:r>
              <a:rPr lang="en-US" altLang="ko-KR" dirty="0"/>
              <a:t>Slovic (1987)</a:t>
            </a:r>
            <a:r>
              <a:rPr lang="ko-KR" altLang="en-US" dirty="0"/>
              <a:t>은 대중이 통계적 확률에 의존하여 위험에 반응하는 것만은 아니라고 주장한다</a:t>
            </a:r>
            <a:r>
              <a:rPr lang="en-US" altLang="ko-KR" dirty="0"/>
              <a:t>. </a:t>
            </a:r>
            <a:r>
              <a:rPr lang="ko-KR" altLang="en-US" dirty="0"/>
              <a:t>그리고 이러한 </a:t>
            </a:r>
            <a:r>
              <a:rPr lang="ko-KR" altLang="en-US" dirty="0" err="1"/>
              <a:t>아웃레이지</a:t>
            </a:r>
            <a:r>
              <a:rPr lang="en-US" altLang="ko-KR" dirty="0"/>
              <a:t>(Outrage)</a:t>
            </a:r>
            <a:r>
              <a:rPr lang="ko-KR" altLang="en-US" dirty="0"/>
              <a:t>를 유발하는 질적 요인들을 심리학적으로 처음 규명하고 </a:t>
            </a:r>
            <a:r>
              <a:rPr lang="ko-KR" altLang="en-US" dirty="0" err="1"/>
              <a:t>수치화하였다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Sandman (1988)</a:t>
            </a:r>
            <a:r>
              <a:rPr lang="ko-KR" altLang="en-US" dirty="0"/>
              <a:t>은 </a:t>
            </a:r>
            <a:r>
              <a:rPr lang="en-US" altLang="ko-KR" dirty="0"/>
              <a:t>Risk = Hazard + Outrage </a:t>
            </a:r>
            <a:r>
              <a:rPr lang="ko-KR" altLang="en-US" dirty="0"/>
              <a:t>라는 공식을 제시하였고</a:t>
            </a:r>
            <a:r>
              <a:rPr lang="en-US" altLang="ko-KR" dirty="0"/>
              <a:t>, Sandman (1993)</a:t>
            </a:r>
            <a:r>
              <a:rPr lang="ko-KR" altLang="en-US" dirty="0"/>
              <a:t>에서 대중의 </a:t>
            </a:r>
            <a:r>
              <a:rPr lang="ko-KR" altLang="en-US" dirty="0" err="1"/>
              <a:t>아웃레이지를</a:t>
            </a:r>
            <a:r>
              <a:rPr lang="ko-KR" altLang="en-US" dirty="0"/>
              <a:t> 촉발하는 질적 요인들을 체계적으로 </a:t>
            </a:r>
            <a:r>
              <a:rPr lang="ko-KR" altLang="en-US" dirty="0" err="1"/>
              <a:t>범주화하여</a:t>
            </a:r>
            <a:r>
              <a:rPr lang="ko-KR" altLang="en-US" dirty="0"/>
              <a:t> 제시하였다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아웃레이지의</a:t>
            </a:r>
            <a:r>
              <a:rPr lang="ko-KR" altLang="en-US" dirty="0"/>
              <a:t> 요인으로는 자발성</a:t>
            </a:r>
            <a:r>
              <a:rPr lang="en-US" altLang="ko-KR" dirty="0"/>
              <a:t>(Voluntariness), </a:t>
            </a:r>
            <a:r>
              <a:rPr lang="ko-KR" altLang="en-US" dirty="0"/>
              <a:t>통제 가능성</a:t>
            </a:r>
            <a:r>
              <a:rPr lang="en-US" altLang="ko-KR" dirty="0"/>
              <a:t>(Controllability), </a:t>
            </a:r>
            <a:r>
              <a:rPr lang="ko-KR" altLang="en-US" dirty="0"/>
              <a:t>친숙성</a:t>
            </a:r>
            <a:r>
              <a:rPr lang="en-US" altLang="ko-KR" dirty="0"/>
              <a:t>(Familiarity) </a:t>
            </a:r>
            <a:r>
              <a:rPr lang="ko-KR" altLang="en-US" dirty="0"/>
              <a:t>등이 제시되었다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89F812-5FE2-48C4-0711-0E7FA93BDD5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52C19-33A0-80C8-7033-4D3641F7644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1383706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2CDC-423A-AF21-88DB-9EB6AAD90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8E1B91-CE2B-0D90-E7E0-48E8D9768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EC4C4-579F-C07D-C84F-2199881C608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패러다임과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b="1" dirty="0"/>
          </a:p>
          <a:p>
            <a:r>
              <a:rPr lang="en-US" altLang="ko-KR" dirty="0"/>
              <a:t>Marris et al. (1996)</a:t>
            </a:r>
            <a:r>
              <a:rPr lang="ko-KR" altLang="en-US" dirty="0"/>
              <a:t>은 문화적 편향</a:t>
            </a:r>
            <a:r>
              <a:rPr lang="en-US" altLang="ko-KR" dirty="0"/>
              <a:t>(Grid-Group)</a:t>
            </a:r>
            <a:r>
              <a:rPr lang="ko-KR" altLang="en-US" dirty="0"/>
              <a:t>과 심리측정적 위험 특성</a:t>
            </a:r>
            <a:r>
              <a:rPr lang="en-US" altLang="ko-KR" dirty="0"/>
              <a:t>(Outrage) </a:t>
            </a:r>
            <a:r>
              <a:rPr lang="ko-KR" altLang="en-US" dirty="0"/>
              <a:t>간의 상관관계를 분석하여 연구를 진행하였다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Kahan et al. (2011)</a:t>
            </a:r>
            <a:r>
              <a:rPr lang="ko-KR" altLang="en-US" dirty="0"/>
              <a:t>은 사람들이 문화적 정체성을 보호하기 위해 가치관에 위협이 되는 특정 위험에는 강하게 분노</a:t>
            </a:r>
            <a:r>
              <a:rPr lang="en-US" altLang="ko-KR" dirty="0"/>
              <a:t>(High outrage)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그렇지 않은 위험은 무시</a:t>
            </a:r>
            <a:r>
              <a:rPr lang="en-US" altLang="ko-KR" dirty="0"/>
              <a:t>(Low outrage)</a:t>
            </a:r>
            <a:r>
              <a:rPr lang="ko-KR" altLang="en-US" dirty="0"/>
              <a:t>한다는 것을 실증하였다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Douglas</a:t>
            </a:r>
            <a:r>
              <a:rPr lang="ko-KR" altLang="en-US" dirty="0"/>
              <a:t>의 </a:t>
            </a:r>
            <a:r>
              <a:rPr lang="en-US" altLang="ko-KR" dirty="0"/>
              <a:t>Grid-Group </a:t>
            </a:r>
            <a:r>
              <a:rPr lang="ko-KR" altLang="en-US" dirty="0"/>
              <a:t>문화이론과 </a:t>
            </a:r>
            <a:r>
              <a:rPr lang="en-US" altLang="ko-KR" dirty="0"/>
              <a:t>Slovic</a:t>
            </a:r>
            <a:r>
              <a:rPr lang="ko-KR" altLang="en-US" dirty="0"/>
              <a:t>의 심리측정 패러다임이 서로 배타적인 것이 아니라</a:t>
            </a:r>
            <a:r>
              <a:rPr lang="en-US" altLang="ko-KR" dirty="0"/>
              <a:t> </a:t>
            </a:r>
            <a:r>
              <a:rPr lang="ko-KR" altLang="en-US" dirty="0"/>
              <a:t>위험 인식과 반응이라는</a:t>
            </a:r>
            <a:r>
              <a:rPr lang="en-US" altLang="ko-KR" dirty="0"/>
              <a:t>, </a:t>
            </a:r>
            <a:r>
              <a:rPr lang="ko-KR" altLang="en-US" dirty="0"/>
              <a:t>다른 차원을 설명하는 상호 보완적 관계임이 실증되었다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90387-805D-3553-8114-880219CD8CF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58B8D-1678-4ACD-8648-F352B2FA1B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47582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6BF9-FFF0-B2BD-A630-FF48AE29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3FB06-6CE1-1E58-1695-5CE8A55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551BD0-C96F-E886-DE14-85A5759979B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주제 </a:t>
            </a:r>
            <a:r>
              <a:rPr lang="en-US" altLang="ko-KR" b="1" dirty="0"/>
              <a:t>(13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기반하여 아래의 위험들을 주제로 선정하였다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256CB-978A-7107-90CF-78A3416AA1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422F78-9309-7883-6D27-585595D8117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DF735089-3A13-2349-CD7D-F5117C2C8FE6}"/>
              </a:ext>
            </a:extLst>
          </p:cNvPr>
          <p:cNvSpPr txBox="1">
            <a:spLocks/>
          </p:cNvSpPr>
          <p:nvPr/>
        </p:nvSpPr>
        <p:spPr>
          <a:xfrm>
            <a:off x="571498" y="2741254"/>
            <a:ext cx="11059811" cy="2987644"/>
          </a:xfrm>
          <a:prstGeom prst="rect">
            <a:avLst/>
          </a:prstGeom>
        </p:spPr>
        <p:txBody>
          <a:bodyPr numCol="2"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ko-KR" dirty="0"/>
              <a:t>Sunbathing (</a:t>
            </a:r>
            <a:r>
              <a:rPr lang="ko-KR" altLang="en-US" dirty="0"/>
              <a:t>일광욕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Food </a:t>
            </a:r>
            <a:r>
              <a:rPr lang="en-US" altLang="ko-KR" dirty="0" err="1"/>
              <a:t>colourings</a:t>
            </a:r>
            <a:r>
              <a:rPr lang="en-US" altLang="ko-KR" dirty="0"/>
              <a:t> (</a:t>
            </a:r>
            <a:r>
              <a:rPr lang="ko-KR" altLang="en-US" dirty="0"/>
              <a:t>식용 색소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Genetic engineering (</a:t>
            </a:r>
            <a:r>
              <a:rPr lang="ko-KR" altLang="en-US" dirty="0"/>
              <a:t>유전공학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Nuclear power (</a:t>
            </a:r>
            <a:r>
              <a:rPr lang="ko-KR" altLang="en-US" dirty="0"/>
              <a:t>원자력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Mugging (</a:t>
            </a:r>
            <a:r>
              <a:rPr lang="ko-KR" altLang="en-US" dirty="0"/>
              <a:t>노상강도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Home accidents (</a:t>
            </a:r>
            <a:r>
              <a:rPr lang="ko-KR" altLang="en-US" dirty="0"/>
              <a:t>가정 내 사고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Ozone depletion (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Car driving (</a:t>
            </a:r>
            <a:r>
              <a:rPr lang="ko-KR" altLang="en-US" dirty="0"/>
              <a:t>자동차 운전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Microwave ovens (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AIDS (</a:t>
            </a:r>
            <a:r>
              <a:rPr lang="ko-KR" altLang="en-US" dirty="0"/>
              <a:t>에이즈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War (</a:t>
            </a:r>
            <a:r>
              <a:rPr lang="ko-KR" altLang="en-US" dirty="0"/>
              <a:t>전쟁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Terrorism (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Alcoholic drinks (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35968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A364D-CF04-6433-2396-3C6406980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4E64-66A5-6EEF-E003-3B38AC7A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AC92DA-D222-0B29-06C2-6F48A94D3ACB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문화적 원형에 따른 반응 경향성</a:t>
            </a:r>
            <a:endParaRPr lang="en-US" altLang="ko-KR" b="1" dirty="0"/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각 문화적 원형은 다음과 같이 각 주제를 경계하거나 무시한다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평등주의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비자연적인</a:t>
            </a:r>
            <a:r>
              <a:rPr lang="ko-KR" altLang="en-US" dirty="0"/>
              <a:t> 위험</a:t>
            </a:r>
            <a:r>
              <a:rPr lang="en-US" altLang="ko-KR" dirty="0"/>
              <a:t>(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유전 공학</a:t>
            </a:r>
            <a:r>
              <a:rPr lang="en-US" altLang="ko-KR" dirty="0"/>
              <a:t>, 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  <a:r>
              <a:rPr lang="ko-KR" altLang="en-US" dirty="0"/>
              <a:t>을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위계주의</a:t>
            </a:r>
            <a:r>
              <a:rPr lang="en-US" altLang="ko-KR" dirty="0"/>
              <a:t>: </a:t>
            </a:r>
            <a:r>
              <a:rPr lang="ko-KR" altLang="en-US" dirty="0"/>
              <a:t>사회 질서를 위협하는 범죄나 테러</a:t>
            </a:r>
            <a:r>
              <a:rPr lang="en-US" altLang="ko-KR" dirty="0"/>
              <a:t>(</a:t>
            </a:r>
            <a:r>
              <a:rPr lang="ko-KR" altLang="en-US" dirty="0"/>
              <a:t>노상강도</a:t>
            </a:r>
            <a:r>
              <a:rPr lang="en-US" altLang="ko-KR" dirty="0"/>
              <a:t>, 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  <a:r>
              <a:rPr lang="ko-KR" altLang="en-US" dirty="0"/>
              <a:t>를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개인주의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개인의 자발적 선택에 의한 위험</a:t>
            </a:r>
            <a:r>
              <a:rPr lang="en-US" altLang="ko-KR" dirty="0"/>
              <a:t>(</a:t>
            </a:r>
            <a:r>
              <a:rPr lang="ko-KR" altLang="en-US" dirty="0"/>
              <a:t>일광욕</a:t>
            </a:r>
            <a:r>
              <a:rPr lang="en-US" altLang="ko-KR" dirty="0"/>
              <a:t>, 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자동차 운전</a:t>
            </a:r>
            <a:r>
              <a:rPr lang="en-US" altLang="ko-KR" dirty="0"/>
              <a:t>, 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  <a:r>
              <a:rPr lang="ko-KR" altLang="en-US" dirty="0"/>
              <a:t>에 대한 경계심이 낮다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운명주의</a:t>
            </a:r>
            <a:r>
              <a:rPr lang="en-US" altLang="ko-KR" dirty="0"/>
              <a:t>: </a:t>
            </a:r>
            <a:r>
              <a:rPr lang="ko-KR" altLang="en-US" dirty="0"/>
              <a:t>노상강도나 에이즈처럼 개인에게 직접적인 영향을 미치는 사회적 병폐에 대해 높은 우려를 보인다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5B840-83A6-1517-543B-D61C9A3881D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CF5CC-EF19-0C0E-0B4F-0E661F083C6A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748549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31BC-350F-6593-35B8-246AF59A2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D2CD5-0497-32B4-1D75-12FD3B1B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DDC4-A9D2-3EC3-AF4F-76CF791D3AC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질적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요인 </a:t>
            </a:r>
            <a:r>
              <a:rPr lang="en-US" altLang="ko-KR" b="1" dirty="0"/>
              <a:t>(9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</a:t>
            </a:r>
            <a:r>
              <a:rPr lang="en-US" altLang="ko-KR" dirty="0"/>
              <a:t>9</a:t>
            </a:r>
            <a:r>
              <a:rPr lang="ko-KR" altLang="en-US" dirty="0"/>
              <a:t>가지 질적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요인을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Involuntariness (</a:t>
            </a:r>
            <a:r>
              <a:rPr lang="ko-KR" altLang="en-US" dirty="0"/>
              <a:t>자발성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Delayed effects (</a:t>
            </a:r>
            <a:r>
              <a:rPr lang="ko-KR" altLang="en-US" dirty="0"/>
              <a:t>지연 효과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Severity (</a:t>
            </a:r>
            <a:r>
              <a:rPr lang="ko-KR" altLang="en-US" dirty="0" err="1"/>
              <a:t>치명성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Dread (</a:t>
            </a:r>
            <a:r>
              <a:rPr lang="ko-KR" altLang="en-US" dirty="0"/>
              <a:t>공포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Catastrophic potential (</a:t>
            </a:r>
            <a:r>
              <a:rPr lang="ko-KR" altLang="en-US" dirty="0"/>
              <a:t>재난적 잠재력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Harm to future generations (</a:t>
            </a:r>
            <a:r>
              <a:rPr lang="ko-KR" altLang="en-US" dirty="0"/>
              <a:t>미래 세대 위협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those exposed (</a:t>
            </a:r>
            <a:r>
              <a:rPr lang="ko-KR" altLang="en-US" dirty="0"/>
              <a:t>노출자의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scientists (</a:t>
            </a:r>
            <a:r>
              <a:rPr lang="ko-KR" altLang="en-US" dirty="0"/>
              <a:t>과학자의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Unfairness (</a:t>
            </a:r>
            <a:r>
              <a:rPr lang="ko-KR" altLang="en-US" dirty="0"/>
              <a:t>불공정성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49B33-D177-1DAD-D9B9-C387C92FBF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59448-8FF7-E8A2-0B60-9C93623C592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67167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EF443-9C46-AD11-DD05-B196C3A6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534B1-6092-DF63-813F-34F12A04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51CB2-16FC-D4DE-6296-574F98F878E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위험성 평가 지표 </a:t>
            </a:r>
            <a:r>
              <a:rPr lang="en-US" altLang="ko-KR" b="1" dirty="0"/>
              <a:t>(2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지표를 위험에 대한 전반적인 평가로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Riskiness (</a:t>
            </a:r>
            <a:r>
              <a:rPr lang="ko-KR" altLang="en-US" dirty="0"/>
              <a:t>위험성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Unacceptability (</a:t>
            </a:r>
            <a:r>
              <a:rPr lang="ko-KR" altLang="en-US" dirty="0"/>
              <a:t>수용 불가능성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방법론적 세팅</a:t>
            </a:r>
            <a:endParaRPr lang="en-US" altLang="ko-KR" b="1" dirty="0"/>
          </a:p>
          <a:p>
            <a:r>
              <a:rPr lang="en-US" altLang="ko-KR" dirty="0"/>
              <a:t>Study 1</a:t>
            </a:r>
            <a:r>
              <a:rPr lang="ko-KR" altLang="en-US" dirty="0"/>
              <a:t>과 대상 모델</a:t>
            </a:r>
            <a:r>
              <a:rPr lang="en-US" altLang="ko-KR" dirty="0"/>
              <a:t>, API</a:t>
            </a:r>
            <a:r>
              <a:rPr lang="ko-KR" altLang="en-US" dirty="0"/>
              <a:t>를 통한 응답 반환</a:t>
            </a:r>
            <a:r>
              <a:rPr lang="en-US" altLang="ko-KR" dirty="0"/>
              <a:t>, </a:t>
            </a:r>
            <a:r>
              <a:rPr lang="ko-KR" altLang="en-US" dirty="0"/>
              <a:t>파라미터 세팅</a:t>
            </a:r>
            <a:r>
              <a:rPr lang="en-US" altLang="ko-KR" dirty="0"/>
              <a:t>, </a:t>
            </a:r>
            <a:r>
              <a:rPr lang="ko-KR" altLang="en-US" dirty="0" err="1"/>
              <a:t>무표적</a:t>
            </a:r>
            <a:r>
              <a:rPr lang="ko-KR" altLang="en-US" dirty="0"/>
              <a:t> 페르소나 기반 등의 세팅을 똑같이 공유한다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문항에 대한 응답은 </a:t>
            </a:r>
            <a:r>
              <a:rPr lang="ko-KR" altLang="en-US" dirty="0" err="1"/>
              <a:t>리커트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점 척도로 </a:t>
            </a:r>
            <a:r>
              <a:rPr lang="ko-KR" altLang="en-US" dirty="0" err="1"/>
              <a:t>반환받는다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228600" lvl="1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A0723-E419-C256-66A8-94981CE7E88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98492-BB7E-8E4C-FD93-8B2FD126699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02963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E0F2E-58E5-DCE8-A1E2-193442AE7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B9442-7F27-A73B-B944-65A1ED6C3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953B3-7A75-175E-7F9F-4D790EC48C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문화이론의 원형별 위험 이슈에 대한 위험 인식 차이 비교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EAD5E4-4C07-7173-0172-AC0CDD9D6C6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E4FF-152F-D45C-6420-19C2863D4C1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E2C576A-69A0-8747-8FEB-8D33FE4FFB3A}"/>
              </a:ext>
            </a:extLst>
          </p:cNvPr>
          <p:cNvGrpSpPr/>
          <p:nvPr/>
        </p:nvGrpSpPr>
        <p:grpSpPr>
          <a:xfrm>
            <a:off x="365064" y="2198445"/>
            <a:ext cx="11461870" cy="3788230"/>
            <a:chOff x="365064" y="2065938"/>
            <a:chExt cx="11461870" cy="378823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70505A-664C-9D0E-3B93-3EB1C100A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5065" y="2065938"/>
              <a:ext cx="6960905" cy="3480453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49501EF-6854-6AEF-454A-7FAF291E9C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76368" y="2065938"/>
              <a:ext cx="4350566" cy="348045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D2D9A9-E4C0-E845-343A-F859A70E4CFE}"/>
                </a:ext>
              </a:extLst>
            </p:cNvPr>
            <p:cNvSpPr txBox="1"/>
            <p:nvPr/>
          </p:nvSpPr>
          <p:spPr>
            <a:xfrm>
              <a:off x="365064" y="5546391"/>
              <a:ext cx="69609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b="1" dirty="0"/>
                <a:t>위험의 </a:t>
              </a:r>
              <a:r>
                <a:rPr lang="en-US" altLang="ko-KR" sz="1400" b="1" dirty="0"/>
                <a:t>3</a:t>
              </a:r>
              <a:r>
                <a:rPr lang="ko-KR" altLang="en-US" sz="1400" b="1" dirty="0"/>
                <a:t>대 범주를 대표하는 이슈에 대한 문화적 원형별 위험 인식 차이 비교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F5479F-8593-7615-13A5-F12F7D1D70F2}"/>
                </a:ext>
              </a:extLst>
            </p:cNvPr>
            <p:cNvSpPr txBox="1"/>
            <p:nvPr/>
          </p:nvSpPr>
          <p:spPr>
            <a:xfrm>
              <a:off x="7510190" y="5546391"/>
              <a:ext cx="428292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b="1" dirty="0"/>
                <a:t>13</a:t>
              </a:r>
              <a:r>
                <a:rPr lang="ko-KR" altLang="en-US" sz="1400" b="1" dirty="0"/>
                <a:t>대 위험 이슈 전체에 대한 문화적 원형 별 </a:t>
              </a:r>
              <a:r>
                <a:rPr lang="ko-KR" altLang="en-US" sz="1400" b="1" dirty="0" err="1"/>
                <a:t>히트맵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4014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76F7A-AE5E-C70D-51B5-65C0CA5D9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3C0301-AEEA-0C0A-1889-4A4D80071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475269-9FEB-687B-9B80-2CE85E60C3D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</a:t>
            </a:r>
            <a:r>
              <a:rPr lang="en-US" altLang="ko-KR" b="1" dirty="0"/>
              <a:t>(Egalitarianism)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식품 색소</a:t>
            </a:r>
            <a:r>
              <a:rPr lang="en-US" altLang="ko-KR" dirty="0"/>
              <a:t>(Food </a:t>
            </a:r>
            <a:r>
              <a:rPr lang="en-US" altLang="ko-KR" dirty="0" err="1"/>
              <a:t>Colourings</a:t>
            </a:r>
            <a:r>
              <a:rPr lang="en-US" altLang="ko-KR" dirty="0"/>
              <a:t>)</a:t>
            </a:r>
            <a:r>
              <a:rPr lang="ko-KR" altLang="en-US" dirty="0"/>
              <a:t>에 대한 위험성</a:t>
            </a:r>
            <a:r>
              <a:rPr lang="en-US" altLang="ko-KR" dirty="0"/>
              <a:t>(Riskiness)</a:t>
            </a:r>
          </a:p>
          <a:p>
            <a:pPr lvl="1"/>
            <a:r>
              <a:rPr lang="ko-KR" altLang="en-US" dirty="0"/>
              <a:t>평등주의가 </a:t>
            </a:r>
            <a:r>
              <a:rPr lang="en-US" altLang="ko-KR" dirty="0"/>
              <a:t>2.6</a:t>
            </a:r>
            <a:r>
              <a:rPr lang="ko-KR" altLang="en-US" dirty="0"/>
              <a:t>으로</a:t>
            </a:r>
            <a:r>
              <a:rPr lang="en-US" altLang="ko-KR" dirty="0"/>
              <a:t>, </a:t>
            </a:r>
            <a:r>
              <a:rPr lang="ko-KR" altLang="en-US" dirty="0"/>
              <a:t>계층</a:t>
            </a:r>
            <a:r>
              <a:rPr lang="en-US" altLang="ko-KR" dirty="0"/>
              <a:t>/</a:t>
            </a:r>
            <a:r>
              <a:rPr lang="ko-KR" altLang="en-US" dirty="0"/>
              <a:t>개인주의</a:t>
            </a:r>
            <a:r>
              <a:rPr lang="en-US" altLang="ko-KR" dirty="0"/>
              <a:t>(2.0)</a:t>
            </a:r>
            <a:r>
              <a:rPr lang="ko-KR" altLang="en-US" dirty="0"/>
              <a:t>보다 높았다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이는 해당 모델들이 부자연스러운</a:t>
            </a:r>
            <a:r>
              <a:rPr lang="en-US" altLang="ko-KR" dirty="0"/>
              <a:t>(unnatural)</a:t>
            </a:r>
            <a:r>
              <a:rPr lang="ko-KR" altLang="en-US" dirty="0"/>
              <a:t> 위협에 대한 평등주의 원형의 위험 인식을 재현하는 양상을 보이는 것이라고 해석할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8A3AC-06D1-8575-C855-70D48E59376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EEA9D5-A324-80CB-1DF1-C60A518658E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CD5B968D-7DD2-D064-75FF-612483CA8772}"/>
              </a:ext>
            </a:extLst>
          </p:cNvPr>
          <p:cNvGrpSpPr/>
          <p:nvPr/>
        </p:nvGrpSpPr>
        <p:grpSpPr>
          <a:xfrm>
            <a:off x="3602126" y="2065938"/>
            <a:ext cx="4987748" cy="2493874"/>
            <a:chOff x="3602126" y="1986859"/>
            <a:chExt cx="4987748" cy="2493874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4A4AE8B-AD32-B726-D7A4-2E5AAFB39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2126" y="1986859"/>
              <a:ext cx="4987748" cy="249387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5ADE7ED-8A5D-4BBD-E9C2-942155384BB3}"/>
                </a:ext>
              </a:extLst>
            </p:cNvPr>
            <p:cNvSpPr/>
            <p:nvPr/>
          </p:nvSpPr>
          <p:spPr>
            <a:xfrm>
              <a:off x="5595042" y="2860895"/>
              <a:ext cx="588475" cy="1412341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0734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2B527-8AD1-E727-E3C5-2C0201E2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1878BC-E81A-7D80-2873-35630E768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5A78EE-DA05-DF70-3E18-1DB6207AE9D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</a:t>
            </a:r>
            <a:r>
              <a:rPr lang="en-US" altLang="ko-KR" b="1" dirty="0"/>
              <a:t>(Egalitarianism)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오존층 파괴</a:t>
            </a:r>
            <a:r>
              <a:rPr lang="en-US" altLang="ko-KR" dirty="0"/>
              <a:t>(Ozone depletion)</a:t>
            </a:r>
            <a:r>
              <a:rPr lang="ko-KR" altLang="en-US" dirty="0"/>
              <a:t>에 대한 수용 불가능성</a:t>
            </a:r>
            <a:r>
              <a:rPr lang="en-US" altLang="ko-KR" dirty="0"/>
              <a:t>(Unacceptability)</a:t>
            </a:r>
          </a:p>
          <a:p>
            <a:pPr lvl="1"/>
            <a:r>
              <a:rPr lang="ko-KR" altLang="en-US" dirty="0"/>
              <a:t>평등주의 원형은 환경에 대한 위협</a:t>
            </a:r>
            <a:r>
              <a:rPr lang="en-US" altLang="ko-KR" dirty="0"/>
              <a:t>(Environmental threats of a potentially catastrophic nature)</a:t>
            </a:r>
            <a:r>
              <a:rPr lang="ko-KR" altLang="en-US" dirty="0"/>
              <a:t>과 관련된 이슈들에 대해 수용 불가능성을 강하게 보이는데</a:t>
            </a:r>
            <a:r>
              <a:rPr lang="en-US" altLang="ko-KR" dirty="0"/>
              <a:t>, </a:t>
            </a:r>
            <a:r>
              <a:rPr lang="ko-KR" altLang="en-US" dirty="0"/>
              <a:t>실제 해당 원형에 속하는 모델들도 그러한 양상을 보여준다</a:t>
            </a:r>
            <a:r>
              <a:rPr lang="en-US" altLang="ko-KR" dirty="0"/>
              <a:t>. </a:t>
            </a:r>
            <a:r>
              <a:rPr lang="ko-KR" altLang="en-US" dirty="0">
                <a:solidFill>
                  <a:srgbClr val="FF0000"/>
                </a:solidFill>
              </a:rPr>
              <a:t>하지만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다른 원형의 모델들 또한 해당 이슈에 대해 같은 수치를 보이고 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87E265-8E46-2BF2-E476-2200A6E814A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E5C8E1-2BC7-EE8F-D958-DCFD252E1B70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31B34A6-CC20-F533-2F99-48A0F8202621}"/>
              </a:ext>
            </a:extLst>
          </p:cNvPr>
          <p:cNvGrpSpPr/>
          <p:nvPr/>
        </p:nvGrpSpPr>
        <p:grpSpPr>
          <a:xfrm>
            <a:off x="3602126" y="2065938"/>
            <a:ext cx="4987748" cy="2493874"/>
            <a:chOff x="3602126" y="1986859"/>
            <a:chExt cx="4987748" cy="249387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EF7D9E27-4802-7124-477A-0F4673AE7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02126" y="1986859"/>
              <a:ext cx="4987748" cy="249387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CA05158-1BEC-5FED-257F-45A88E8166A9}"/>
                </a:ext>
              </a:extLst>
            </p:cNvPr>
            <p:cNvSpPr/>
            <p:nvPr/>
          </p:nvSpPr>
          <p:spPr>
            <a:xfrm>
              <a:off x="4418091" y="2372008"/>
              <a:ext cx="588475" cy="2018923"/>
            </a:xfrm>
            <a:prstGeom prst="rect">
              <a:avLst/>
            </a:prstGeom>
            <a:noFill/>
            <a:ln w="57150">
              <a:solidFill>
                <a:srgbClr val="9E5EC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28536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6CAF4-48A0-F115-95D2-441BF59D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00CE36-6550-26A4-23CB-4419275F3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F808A-9625-26E8-57C8-05F929D7266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</a:t>
            </a:r>
            <a:r>
              <a:rPr lang="en-US" altLang="ko-KR" b="1" dirty="0"/>
              <a:t>(Egalitarianism)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유전자 조작</a:t>
            </a:r>
            <a:r>
              <a:rPr lang="en-US" altLang="ko-KR" dirty="0"/>
              <a:t>(Genetic engineering)</a:t>
            </a:r>
            <a:r>
              <a:rPr lang="ko-KR" altLang="en-US" dirty="0"/>
              <a:t>에 대한 수용 불가능성</a:t>
            </a:r>
            <a:r>
              <a:rPr lang="en-US" altLang="ko-KR" dirty="0"/>
              <a:t>(Unacceptability)</a:t>
            </a:r>
          </a:p>
          <a:p>
            <a:pPr lvl="1"/>
            <a:r>
              <a:rPr lang="ko-KR" altLang="en-US" dirty="0"/>
              <a:t>평등주의 원형은 부자연스러운</a:t>
            </a:r>
            <a:r>
              <a:rPr lang="en-US" altLang="ko-KR" dirty="0"/>
              <a:t>(unnatural)</a:t>
            </a:r>
            <a:r>
              <a:rPr lang="ko-KR" altLang="en-US" dirty="0"/>
              <a:t> 이슈들에 대해 수용 불가능성을 강하게 보이는데</a:t>
            </a:r>
            <a:r>
              <a:rPr lang="en-US" altLang="ko-KR" dirty="0"/>
              <a:t>, </a:t>
            </a:r>
            <a:r>
              <a:rPr lang="ko-KR" altLang="en-US" dirty="0"/>
              <a:t>실제 해당 원형에 속하는 모델들 또한 다른 원형에 속하는 모델들에 비해 유전자 조작을 더 수용하지 못하는 것으로 드러났다</a:t>
            </a:r>
            <a:r>
              <a:rPr lang="en-US" altLang="ko-KR" dirty="0"/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5B1B0-0917-89E0-97C8-6E34FF508E0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3AC01-6D38-3BA7-51B2-182DA562253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54BADA-D79C-09D4-8545-3BCFF27947D6}"/>
              </a:ext>
            </a:extLst>
          </p:cNvPr>
          <p:cNvGrpSpPr/>
          <p:nvPr/>
        </p:nvGrpSpPr>
        <p:grpSpPr>
          <a:xfrm>
            <a:off x="3602126" y="2065938"/>
            <a:ext cx="4987748" cy="2493874"/>
            <a:chOff x="3602126" y="1986859"/>
            <a:chExt cx="4987748" cy="249387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79BCECA7-C369-BF69-86EC-237588A45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02126" y="1986859"/>
              <a:ext cx="4987748" cy="249387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43AF51D-888C-3056-D5B3-D077649C7313}"/>
                </a:ext>
              </a:extLst>
            </p:cNvPr>
            <p:cNvSpPr/>
            <p:nvPr/>
          </p:nvSpPr>
          <p:spPr>
            <a:xfrm>
              <a:off x="5006567" y="2372008"/>
              <a:ext cx="588475" cy="2018923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0605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0B10E-EA41-F7E0-E3A2-7125874E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DE7F6-AFFC-520C-CC51-AC04281B6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F1992B-0876-6A9F-A531-98D2E971CC1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</a:t>
            </a:r>
            <a:r>
              <a:rPr lang="en-US" altLang="ko-KR" b="1" dirty="0"/>
              <a:t>(Egalitarianism)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개 이슈에 대한 위험 인식 </a:t>
            </a:r>
            <a:r>
              <a:rPr lang="en-US" altLang="ko-KR" dirty="0"/>
              <a:t>(Avg. of Riskiness &amp; Unacceptability)</a:t>
            </a:r>
          </a:p>
          <a:p>
            <a:pPr lvl="1"/>
            <a:r>
              <a:rPr lang="ko-KR" altLang="en-US" sz="1600" dirty="0"/>
              <a:t>평등주의 원형은 환경에 대한 위협</a:t>
            </a:r>
            <a:r>
              <a:rPr lang="en-US" altLang="ko-KR" sz="1600" dirty="0"/>
              <a:t>(Environmental threats of a potentially catastrophic nature)</a:t>
            </a:r>
            <a:r>
              <a:rPr lang="ko-KR" altLang="en-US" sz="1600" dirty="0"/>
              <a:t>과</a:t>
            </a:r>
            <a:r>
              <a:rPr lang="en-US" altLang="ko-KR" sz="1600" dirty="0"/>
              <a:t> </a:t>
            </a:r>
            <a:r>
              <a:rPr lang="ko-KR" altLang="en-US" sz="1600" dirty="0"/>
              <a:t>부자연스러운</a:t>
            </a:r>
            <a:r>
              <a:rPr lang="en-US" altLang="ko-KR" sz="1600" dirty="0"/>
              <a:t>(unnatural)</a:t>
            </a:r>
            <a:r>
              <a:rPr lang="ko-KR" altLang="en-US" sz="1600" dirty="0"/>
              <a:t> 이슈들의 위험을 더 높게 인식하는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미세한 차이</a:t>
            </a:r>
            <a:r>
              <a:rPr lang="en-US" altLang="ko-KR" sz="1600" dirty="0"/>
              <a:t> (Grid +0.003) </a:t>
            </a:r>
            <a:r>
              <a:rPr lang="ko-KR" altLang="en-US" sz="1600" dirty="0"/>
              <a:t>로 계층주의로 분류된 </a:t>
            </a:r>
            <a:r>
              <a:rPr lang="en-US" altLang="ko-KR" sz="1600" dirty="0"/>
              <a:t>Claude</a:t>
            </a:r>
            <a:r>
              <a:rPr lang="ko-KR" altLang="en-US" sz="1600" dirty="0"/>
              <a:t>까지 포함시켜서 이를 바라본다면</a:t>
            </a:r>
            <a:r>
              <a:rPr lang="en-US" altLang="ko-KR" sz="1600" dirty="0"/>
              <a:t>, </a:t>
            </a:r>
            <a:r>
              <a:rPr lang="ko-KR" altLang="en-US" sz="1600" dirty="0">
                <a:solidFill>
                  <a:srgbClr val="FF0000"/>
                </a:solidFill>
              </a:rPr>
              <a:t>오존층 파괴를 제외하면 </a:t>
            </a:r>
            <a:r>
              <a:rPr lang="ko-KR" altLang="en-US" sz="1600" dirty="0"/>
              <a:t>개인주의와 비교해 이러한 경향을 모델들도 공유하고 있음을 확인할 수 있다</a:t>
            </a:r>
            <a:r>
              <a:rPr lang="en-US" altLang="ko-KR" sz="1600" dirty="0"/>
              <a:t>.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E8B31A-33E0-002A-9044-88C13E8EEE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91845-56F9-9D5B-B8D9-CB3AD2C268E0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54FDFE0-17A0-790D-68C0-452640BE940F}"/>
              </a:ext>
            </a:extLst>
          </p:cNvPr>
          <p:cNvGrpSpPr/>
          <p:nvPr/>
        </p:nvGrpSpPr>
        <p:grpSpPr>
          <a:xfrm>
            <a:off x="3602126" y="2065938"/>
            <a:ext cx="4987748" cy="2493874"/>
            <a:chOff x="3602126" y="1986859"/>
            <a:chExt cx="4987748" cy="249387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69643ED-A663-8A9F-E968-992544073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02126" y="1986859"/>
              <a:ext cx="4987748" cy="2493874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994D034-FA3C-2FE5-CCB4-0E6874B22623}"/>
                </a:ext>
              </a:extLst>
            </p:cNvPr>
            <p:cNvSpPr/>
            <p:nvPr/>
          </p:nvSpPr>
          <p:spPr>
            <a:xfrm>
              <a:off x="3838669" y="2218100"/>
              <a:ext cx="2335795" cy="2172832"/>
            </a:xfrm>
            <a:prstGeom prst="rect">
              <a:avLst/>
            </a:prstGeom>
            <a:noFill/>
            <a:ln w="57150">
              <a:solidFill>
                <a:srgbClr val="9E5EC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382B82A-E17F-5B0F-5965-27018F4D9D8E}"/>
                </a:ext>
              </a:extLst>
            </p:cNvPr>
            <p:cNvSpPr/>
            <p:nvPr/>
          </p:nvSpPr>
          <p:spPr>
            <a:xfrm>
              <a:off x="4418091" y="2218100"/>
              <a:ext cx="588475" cy="2172831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9235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8AF7-3518-F3B6-8256-CEB6FCDD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5AED6D-3D66-F0E7-B3B4-06D55305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280EFD-7FEA-9533-65A4-63DBB5AEA99A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계층주의</a:t>
            </a:r>
            <a:r>
              <a:rPr lang="en-US" altLang="ko-KR" b="1" dirty="0"/>
              <a:t>(Hierarchy)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사회적 위협 </a:t>
            </a:r>
            <a:r>
              <a:rPr lang="en-US" altLang="ko-KR" dirty="0"/>
              <a:t>(Social threats) </a:t>
            </a:r>
            <a:r>
              <a:rPr lang="ko-KR" altLang="en-US" dirty="0"/>
              <a:t>이슈에 대한 위험성</a:t>
            </a:r>
            <a:r>
              <a:rPr lang="en-US" altLang="ko-KR" dirty="0"/>
              <a:t>(Riskiness)</a:t>
            </a:r>
            <a:r>
              <a:rPr lang="ko-KR" altLang="en-US" dirty="0"/>
              <a:t> 인식</a:t>
            </a:r>
            <a:endParaRPr lang="en-US" altLang="ko-KR" dirty="0"/>
          </a:p>
          <a:p>
            <a:pPr lvl="1"/>
            <a:r>
              <a:rPr lang="ko-KR" altLang="en-US" dirty="0"/>
              <a:t>계층주의 집단은 사회적 위협을 중대하게 인식하고 있다</a:t>
            </a:r>
            <a:r>
              <a:rPr lang="en-US" altLang="ko-KR" dirty="0"/>
              <a:t>. </a:t>
            </a:r>
            <a:r>
              <a:rPr lang="ko-KR" altLang="en-US" dirty="0"/>
              <a:t>해당 원형에 속한 모델 또한 노상강도</a:t>
            </a:r>
            <a:r>
              <a:rPr lang="en-US" altLang="ko-KR" dirty="0"/>
              <a:t>(Mugging)</a:t>
            </a:r>
            <a:r>
              <a:rPr lang="ko-KR" altLang="en-US" dirty="0"/>
              <a:t>과 테러리즘</a:t>
            </a:r>
            <a:r>
              <a:rPr lang="en-US" altLang="ko-KR" dirty="0"/>
              <a:t>(Terrorism)</a:t>
            </a:r>
            <a:r>
              <a:rPr lang="ko-KR" altLang="en-US" dirty="0"/>
              <a:t>에 각각 </a:t>
            </a:r>
            <a:r>
              <a:rPr lang="en-US" altLang="ko-KR" dirty="0"/>
              <a:t>5.0, 4.0</a:t>
            </a:r>
            <a:r>
              <a:rPr lang="ko-KR" altLang="en-US" dirty="0"/>
              <a:t>이라는 높은 위험성</a:t>
            </a:r>
            <a:r>
              <a:rPr lang="en-US" altLang="ko-KR" dirty="0"/>
              <a:t> </a:t>
            </a:r>
            <a:r>
              <a:rPr lang="ko-KR" altLang="en-US" dirty="0"/>
              <a:t>점수를 부여한 것을 확인할 수 있었다</a:t>
            </a:r>
            <a:r>
              <a:rPr lang="en-US" altLang="ko-KR" dirty="0"/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E18371-9C1B-1F96-B95D-70E895913F6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AED0F7-7C16-1D1B-047E-1B87BD5C679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CC5930-C851-ED5F-0DF6-513E319DE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126" y="2065938"/>
            <a:ext cx="4987748" cy="24938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87B44B1-9CD9-6F6E-5E1E-3DE0E8E29DD6}"/>
              </a:ext>
            </a:extLst>
          </p:cNvPr>
          <p:cNvSpPr/>
          <p:nvPr/>
        </p:nvSpPr>
        <p:spPr>
          <a:xfrm>
            <a:off x="6174463" y="2190939"/>
            <a:ext cx="1186004" cy="2163778"/>
          </a:xfrm>
          <a:prstGeom prst="rect">
            <a:avLst/>
          </a:prstGeom>
          <a:noFill/>
          <a:ln w="57150">
            <a:solidFill>
              <a:srgbClr val="9E5E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180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F4FEC-88D2-FAF6-3AB5-EEAE29BFE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426A2-2E5C-ED9D-C714-30B92885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9040D8-5E1E-A061-4CCB-6EB98D9FF3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</a:t>
            </a:r>
            <a:r>
              <a:rPr lang="en-US" altLang="ko-KR" b="1" dirty="0"/>
              <a:t>(Individualism)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원자력에 대한 개인주의 모델의 위험 인식</a:t>
            </a:r>
            <a:endParaRPr lang="en-US" altLang="ko-KR" dirty="0"/>
          </a:p>
          <a:p>
            <a:pPr lvl="1"/>
            <a:r>
              <a:rPr lang="ko-KR" altLang="en-US" dirty="0"/>
              <a:t>개인주의 집단은 환경적 위협</a:t>
            </a:r>
            <a:r>
              <a:rPr lang="en-US" altLang="ko-KR" dirty="0"/>
              <a:t>(Environmental threats)</a:t>
            </a:r>
            <a:r>
              <a:rPr lang="ko-KR" altLang="en-US" dirty="0"/>
              <a:t>에 대해 낮은 우려를 보이는 특징이 있다</a:t>
            </a:r>
            <a:r>
              <a:rPr lang="en-US" altLang="ko-KR" dirty="0"/>
              <a:t>. </a:t>
            </a:r>
            <a:r>
              <a:rPr lang="ko-KR" altLang="en-US" dirty="0"/>
              <a:t>이에 속한 모델 또한 이와 관련된 원자력</a:t>
            </a:r>
            <a:r>
              <a:rPr lang="en-US" altLang="ko-KR" dirty="0"/>
              <a:t>(Nuclear) </a:t>
            </a:r>
            <a:r>
              <a:rPr lang="ko-KR" altLang="en-US" dirty="0"/>
              <a:t>이슈에 대해 위험성</a:t>
            </a:r>
            <a:r>
              <a:rPr lang="en-US" altLang="ko-KR" dirty="0"/>
              <a:t>(Riskiness)</a:t>
            </a:r>
            <a:r>
              <a:rPr lang="ko-KR" altLang="en-US" dirty="0"/>
              <a:t>와 수용 불가능성</a:t>
            </a:r>
            <a:r>
              <a:rPr lang="en-US" altLang="ko-KR" dirty="0"/>
              <a:t>(Unacceptability) </a:t>
            </a:r>
            <a:r>
              <a:rPr lang="ko-KR" altLang="en-US" dirty="0"/>
              <a:t>모두 가장 낮은 점수를 부여하는 모습을 보여주었다</a:t>
            </a:r>
            <a:r>
              <a:rPr lang="en-US" altLang="ko-KR" dirty="0"/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3638C-2EE0-6358-6BDA-A349EF1C8CE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C0150-91CA-2C34-408C-7AA32B61AD05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236DFCC-13E2-64F0-9F49-2E88FB8F4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943" y="2065938"/>
            <a:ext cx="4987748" cy="24938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2C119A9-2793-1183-6432-C8AD67814005}"/>
              </a:ext>
            </a:extLst>
          </p:cNvPr>
          <p:cNvSpPr/>
          <p:nvPr/>
        </p:nvSpPr>
        <p:spPr>
          <a:xfrm>
            <a:off x="1034380" y="2292978"/>
            <a:ext cx="588475" cy="20593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5BD7462-6B90-9365-C7CA-DB597C3BCB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8309" y="2065938"/>
            <a:ext cx="4987748" cy="2493874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693197-69CD-9A16-5981-D0A36976FFB9}"/>
              </a:ext>
            </a:extLst>
          </p:cNvPr>
          <p:cNvSpPr/>
          <p:nvPr/>
        </p:nvSpPr>
        <p:spPr>
          <a:xfrm>
            <a:off x="6615798" y="2292977"/>
            <a:ext cx="588475" cy="20593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050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9C441-EE45-802D-5B27-193F28ED5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CE054-0797-F5CB-4DBF-98DA6BEB7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649298-BD86-5261-53C1-5A6B4B3A706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</a:t>
            </a:r>
            <a:r>
              <a:rPr lang="en-US" altLang="ko-KR" b="1" dirty="0"/>
              <a:t>(Individualism)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자동차 운전에 대한 개인주의 모델의 위험 인식</a:t>
            </a:r>
            <a:endParaRPr lang="en-US" altLang="ko-KR" dirty="0"/>
          </a:p>
          <a:p>
            <a:pPr lvl="1"/>
            <a:r>
              <a:rPr lang="ko-KR" altLang="en-US" dirty="0"/>
              <a:t>개인주의 집단은 개인적 위험</a:t>
            </a:r>
            <a:r>
              <a:rPr lang="en-US" altLang="ko-KR" dirty="0"/>
              <a:t>(Personal risks)</a:t>
            </a:r>
            <a:r>
              <a:rPr lang="ko-KR" altLang="en-US" dirty="0"/>
              <a:t>에 대해 낮은 우려를 보이는 특징이 있다</a:t>
            </a:r>
            <a:r>
              <a:rPr lang="en-US" altLang="ko-KR" dirty="0"/>
              <a:t>. </a:t>
            </a:r>
            <a:r>
              <a:rPr lang="ko-KR" altLang="en-US" dirty="0"/>
              <a:t>이에 속한 모델 또한 이와 관련된 자동차 운전</a:t>
            </a:r>
            <a:r>
              <a:rPr lang="en-US" altLang="ko-KR" dirty="0"/>
              <a:t>(Car driving) </a:t>
            </a:r>
            <a:r>
              <a:rPr lang="ko-KR" altLang="en-US" dirty="0"/>
              <a:t>이슈에 대해 위험성</a:t>
            </a:r>
            <a:r>
              <a:rPr lang="en-US" altLang="ko-KR" dirty="0"/>
              <a:t>(Riskiness)</a:t>
            </a:r>
            <a:r>
              <a:rPr lang="ko-KR" altLang="en-US" dirty="0"/>
              <a:t>와 수용 불가능성 </a:t>
            </a:r>
            <a:r>
              <a:rPr lang="en-US" altLang="ko-KR" dirty="0"/>
              <a:t>(Unacceptability) </a:t>
            </a:r>
            <a:r>
              <a:rPr lang="ko-KR" altLang="en-US" dirty="0"/>
              <a:t>모두 가장 낮은 점수를 부여하는 모습을 보여주었다</a:t>
            </a:r>
            <a:r>
              <a:rPr lang="en-US" altLang="ko-KR" dirty="0"/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1D714-9D2F-1547-E937-6048AB32DB4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4AC87-0D78-5087-4DF6-3E81A8FEE2D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DB85918-4BFC-2355-58F7-6EC3EFD13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943" y="2065938"/>
            <a:ext cx="4987748" cy="24938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9CD5868-FFD5-8033-FE37-3E1A0AEFC9B1}"/>
              </a:ext>
            </a:extLst>
          </p:cNvPr>
          <p:cNvSpPr/>
          <p:nvPr/>
        </p:nvSpPr>
        <p:spPr>
          <a:xfrm>
            <a:off x="4556178" y="2741254"/>
            <a:ext cx="588475" cy="161106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CD9A913-7651-C046-37FE-E1FBADB7E8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8309" y="2065938"/>
            <a:ext cx="4987748" cy="2493874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AB494E5-1E31-F9F2-72C1-86F783CD61F9}"/>
              </a:ext>
            </a:extLst>
          </p:cNvPr>
          <p:cNvSpPr/>
          <p:nvPr/>
        </p:nvSpPr>
        <p:spPr>
          <a:xfrm>
            <a:off x="10146649" y="2741254"/>
            <a:ext cx="588475" cy="16110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8868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4A0D2-2F6C-A561-098C-423CB0CA8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AC49-6A89-9971-9AAB-276784E92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13D39D-2E1A-F589-6DE7-844C56C1ADF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</a:t>
            </a:r>
            <a:r>
              <a:rPr lang="en-US" altLang="ko-KR" b="1" dirty="0"/>
              <a:t>(Individualism)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주류에 대한 개인주의 모델의 위험성</a:t>
            </a:r>
            <a:r>
              <a:rPr lang="en-US" altLang="ko-KR" dirty="0"/>
              <a:t>(Riskiness)</a:t>
            </a:r>
            <a:r>
              <a:rPr lang="ko-KR" altLang="en-US" dirty="0"/>
              <a:t> 평가</a:t>
            </a:r>
            <a:endParaRPr lang="en-US" altLang="ko-KR" dirty="0"/>
          </a:p>
          <a:p>
            <a:pPr lvl="1"/>
            <a:r>
              <a:rPr lang="ko-KR" altLang="en-US" dirty="0"/>
              <a:t>개인주의 집단은 개인적 위험</a:t>
            </a:r>
            <a:r>
              <a:rPr lang="en-US" altLang="ko-KR" dirty="0"/>
              <a:t>(Personal risks)</a:t>
            </a:r>
            <a:r>
              <a:rPr lang="ko-KR" altLang="en-US" dirty="0"/>
              <a:t>에 대해 낮은 우려를 보이는 특징이 있다</a:t>
            </a:r>
            <a:r>
              <a:rPr lang="en-US" altLang="ko-KR" dirty="0"/>
              <a:t>. </a:t>
            </a:r>
            <a:r>
              <a:rPr lang="ko-KR" altLang="en-US" dirty="0"/>
              <a:t>이에 속한 모델 또한 이와 관련된 주류</a:t>
            </a:r>
            <a:r>
              <a:rPr lang="en-US" altLang="ko-KR" dirty="0"/>
              <a:t>(Alcoholic drinks) </a:t>
            </a:r>
            <a:r>
              <a:rPr lang="ko-KR" altLang="en-US" dirty="0"/>
              <a:t>이슈에 대해 낮은 수용 불가능성 </a:t>
            </a:r>
            <a:r>
              <a:rPr lang="en-US" altLang="ko-KR" dirty="0"/>
              <a:t>(Unacceptability) </a:t>
            </a:r>
            <a:r>
              <a:rPr lang="ko-KR" altLang="en-US" dirty="0"/>
              <a:t>점수를 부여하는 모습을 보여주었다</a:t>
            </a:r>
            <a:r>
              <a:rPr lang="en-US" altLang="ko-KR" dirty="0"/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87046B-FC89-509F-556F-4F764B6B4BA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0E469-9D56-55AE-7FBB-FAD47B3FED7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D066C23-8390-E1C9-5CD8-D2953EA78BB9}"/>
              </a:ext>
            </a:extLst>
          </p:cNvPr>
          <p:cNvGrpSpPr/>
          <p:nvPr/>
        </p:nvGrpSpPr>
        <p:grpSpPr>
          <a:xfrm>
            <a:off x="3596721" y="2065938"/>
            <a:ext cx="4987748" cy="2493874"/>
            <a:chOff x="3074741" y="2065938"/>
            <a:chExt cx="4987748" cy="2493874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ABD37EE-95B9-480C-3372-4EC6E7A091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74741" y="2065938"/>
              <a:ext cx="4987748" cy="2493874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24C1FBF-D981-AAB1-00E3-38AAA31D0A96}"/>
                </a:ext>
              </a:extLst>
            </p:cNvPr>
            <p:cNvSpPr/>
            <p:nvPr/>
          </p:nvSpPr>
          <p:spPr>
            <a:xfrm>
              <a:off x="7403449" y="2741254"/>
              <a:ext cx="588475" cy="161106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18442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8400B-C141-8CF3-8421-EC72EB070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0A8E68-9550-BBEB-E776-F0A6A2ED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문화이론 예측 검증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795BE7-9928-A00E-2925-37FF7A54C83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</a:t>
            </a:r>
            <a:r>
              <a:rPr lang="en-US" altLang="ko-KR" b="1" dirty="0"/>
              <a:t>(Individualism)</a:t>
            </a:r>
            <a:r>
              <a:rPr lang="ko-KR" altLang="en-US" b="1" dirty="0"/>
              <a:t>의 초점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환경에 대한 개인주의 모델의 위험</a:t>
            </a:r>
            <a:r>
              <a:rPr lang="en-US" altLang="ko-KR" dirty="0"/>
              <a:t> </a:t>
            </a:r>
            <a:r>
              <a:rPr lang="ko-KR" altLang="en-US" dirty="0"/>
              <a:t>인식</a:t>
            </a:r>
            <a:endParaRPr lang="en-US" altLang="ko-KR" dirty="0"/>
          </a:p>
          <a:p>
            <a:pPr lvl="1"/>
            <a:r>
              <a:rPr lang="ko-KR" altLang="en-US" dirty="0"/>
              <a:t>개인주의 집단은 환경적 위협</a:t>
            </a:r>
            <a:r>
              <a:rPr lang="en-US" altLang="ko-KR" dirty="0"/>
              <a:t>(Environmental threats)</a:t>
            </a:r>
            <a:r>
              <a:rPr lang="ko-KR" altLang="en-US" dirty="0"/>
              <a:t>에 대해 낮은 우려를 보이는 특징이 있다</a:t>
            </a:r>
            <a:r>
              <a:rPr lang="en-US" altLang="ko-KR" dirty="0"/>
              <a:t>. </a:t>
            </a:r>
            <a:r>
              <a:rPr lang="ko-KR" altLang="en-US" dirty="0"/>
              <a:t>그럼에도 불구하고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rgbClr val="FF0000"/>
                </a:solidFill>
              </a:rPr>
              <a:t>이에 속한 모델인 </a:t>
            </a:r>
            <a:r>
              <a:rPr lang="en-US" altLang="ko-KR" dirty="0">
                <a:solidFill>
                  <a:srgbClr val="FF0000"/>
                </a:solidFill>
              </a:rPr>
              <a:t>Grok</a:t>
            </a:r>
            <a:r>
              <a:rPr lang="ko-KR" altLang="en-US" dirty="0">
                <a:solidFill>
                  <a:srgbClr val="FF0000"/>
                </a:solidFill>
              </a:rPr>
              <a:t>이 이와 관련된 오존층 파괴</a:t>
            </a:r>
            <a:r>
              <a:rPr lang="en-US" altLang="ko-KR" dirty="0">
                <a:solidFill>
                  <a:srgbClr val="FF0000"/>
                </a:solidFill>
              </a:rPr>
              <a:t>(Ozone depletion) </a:t>
            </a:r>
            <a:r>
              <a:rPr lang="ko-KR" altLang="en-US" dirty="0">
                <a:solidFill>
                  <a:srgbClr val="FF0000"/>
                </a:solidFill>
              </a:rPr>
              <a:t>이슈에 대해 매우 높게 위험을 인식하는 특징을 보였다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A99257-8C38-6ED8-F3C8-81908FA2819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A96CE-4BBC-6964-70D5-52AB84FA5DB5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6FF7C2-75E5-DDF2-D0B8-0732B7DE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2126" y="2065938"/>
            <a:ext cx="4987748" cy="24938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C58FFB3-B044-CFC7-BE24-D0319330BF59}"/>
              </a:ext>
            </a:extLst>
          </p:cNvPr>
          <p:cNvSpPr/>
          <p:nvPr/>
        </p:nvSpPr>
        <p:spPr>
          <a:xfrm>
            <a:off x="4418091" y="2297179"/>
            <a:ext cx="588475" cy="2172832"/>
          </a:xfrm>
          <a:prstGeom prst="rect">
            <a:avLst/>
          </a:prstGeom>
          <a:noFill/>
          <a:ln w="57150">
            <a:solidFill>
              <a:srgbClr val="9E5E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974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D5327-BD0D-1370-0D98-6F789BC3A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317D25-483B-3729-B0B4-53DBC2DB3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lang="ko-KR" altLang="en-US" sz="3200" dirty="0">
                <a:solidFill>
                  <a:prstClr val="black"/>
                </a:solidFill>
              </a:rPr>
              <a:t>심리측정 패러다임 구조 검증</a:t>
            </a:r>
            <a:endParaRPr lang="ko-KR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A6DE9E-355B-8FD6-5881-FED0F6A1F37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EF3EA-BDEA-D9B8-EB32-E4C090306890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A73CA7-CD7C-EE0E-1144-656B2A568C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7"/>
          <a:stretch>
            <a:fillRect/>
          </a:stretch>
        </p:blipFill>
        <p:spPr>
          <a:xfrm>
            <a:off x="3739976" y="2065938"/>
            <a:ext cx="4701238" cy="3658467"/>
          </a:xfrm>
          <a:prstGeom prst="rect">
            <a:avLst/>
          </a:prstGeom>
        </p:spPr>
      </p:pic>
      <p:sp>
        <p:nvSpPr>
          <p:cNvPr id="26" name="내용 개체 틀 2">
            <a:extLst>
              <a:ext uri="{FF2B5EF4-FFF2-40B4-BE49-F238E27FC236}">
                <a16:creationId xmlns:a16="http://schemas.microsoft.com/office/drawing/2014/main" id="{7237AEB8-6D46-E0EC-59F2-5333FCB21D3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아웃레이지</a:t>
            </a:r>
            <a:r>
              <a:rPr lang="ko-KR" altLang="en-US" b="1" dirty="0"/>
              <a:t> 질적 요인과 위험 인식의 상관관계</a:t>
            </a:r>
            <a:endParaRPr lang="en-US" altLang="ko-KR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F977B0-DE1D-D849-DD58-3F8E3CEDD515}"/>
              </a:ext>
            </a:extLst>
          </p:cNvPr>
          <p:cNvSpPr txBox="1"/>
          <p:nvPr/>
        </p:nvSpPr>
        <p:spPr>
          <a:xfrm>
            <a:off x="3508033" y="5731854"/>
            <a:ext cx="51867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질적 요인</a:t>
            </a:r>
            <a:r>
              <a:rPr lang="en-US" altLang="ko-KR" sz="1400" dirty="0"/>
              <a:t>(Avg. of Dread &amp; Harm to Future Generations)</a:t>
            </a:r>
            <a:r>
              <a:rPr lang="ko-KR" altLang="en-US" sz="1400" dirty="0"/>
              <a:t>과</a:t>
            </a:r>
            <a:endParaRPr lang="en-US" altLang="ko-KR" sz="1400" dirty="0"/>
          </a:p>
          <a:p>
            <a:pPr algn="ctr"/>
            <a:r>
              <a:rPr lang="ko-KR" altLang="en-US" sz="1400" dirty="0"/>
              <a:t>위험 인식</a:t>
            </a:r>
            <a:r>
              <a:rPr lang="en-US" altLang="ko-KR" sz="1400" dirty="0"/>
              <a:t>(Avg. of Riskiness &amp; Unacceptability) </a:t>
            </a:r>
            <a:r>
              <a:rPr lang="ko-KR" altLang="en-US" sz="1400" dirty="0"/>
              <a:t>관계</a:t>
            </a:r>
          </a:p>
        </p:txBody>
      </p:sp>
    </p:spTree>
    <p:extLst>
      <p:ext uri="{BB962C8B-B14F-4D97-AF65-F5344CB8AC3E}">
        <p14:creationId xmlns:p14="http://schemas.microsoft.com/office/powerpoint/2010/main" val="27868215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8F7D2-F559-A9F4-1BEE-1C3BF3CB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618CDF-20FE-3DF4-E021-D9CE8FBD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lang="ko-KR" altLang="en-US" sz="3200" dirty="0">
                <a:solidFill>
                  <a:prstClr val="black"/>
                </a:solidFill>
              </a:rPr>
              <a:t>심리측정 패러다임 구조 검증</a:t>
            </a:r>
            <a:endParaRPr lang="ko-KR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CCFF48-D860-6CD4-90EB-D159E614177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1A32F7-5E77-01B7-3355-D44BC8223A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26" name="내용 개체 틀 2">
            <a:extLst>
              <a:ext uri="{FF2B5EF4-FFF2-40B4-BE49-F238E27FC236}">
                <a16:creationId xmlns:a16="http://schemas.microsoft.com/office/drawing/2014/main" id="{5B7F49A6-883A-3124-71BF-4EB3C79160E9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문화이론의 원형별 위험 이슈에 대한 위험 인식 차이 비교</a:t>
            </a:r>
            <a:endParaRPr lang="en-US" altLang="ko-KR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8A23823-CF97-D94F-E863-DDF054509B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98"/>
          <a:stretch>
            <a:fillRect/>
          </a:stretch>
        </p:blipFill>
        <p:spPr>
          <a:xfrm>
            <a:off x="3731247" y="2065939"/>
            <a:ext cx="4729506" cy="39207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866EA2-5760-A941-3BBE-A7903B7AB438}"/>
              </a:ext>
            </a:extLst>
          </p:cNvPr>
          <p:cNvSpPr txBox="1"/>
          <p:nvPr/>
        </p:nvSpPr>
        <p:spPr>
          <a:xfrm>
            <a:off x="3508033" y="5986659"/>
            <a:ext cx="51867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문화원형별 질적요인</a:t>
            </a:r>
            <a:r>
              <a:rPr lang="en-US" altLang="ko-KR" sz="1400" dirty="0"/>
              <a:t>-</a:t>
            </a:r>
            <a:r>
              <a:rPr lang="ko-KR" altLang="en-US" sz="1400" dirty="0"/>
              <a:t>위험인식 중 핵심 데이터 포인트 표시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9847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986E1-CC6C-B20F-AD35-AF567D41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D1896-674B-B552-EE72-C3E43BD9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lang="ko-KR" altLang="en-US" sz="3200" dirty="0">
                <a:solidFill>
                  <a:prstClr val="black"/>
                </a:solidFill>
              </a:rPr>
              <a:t>심리측정 패러다임 구조 검증</a:t>
            </a:r>
            <a:endParaRPr lang="ko-KR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879B7-6E84-52E1-E6BD-F743C9009C1E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C8FAA-A40A-29F2-AE41-18B417839A1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9C26D9E8-22EF-3AEA-E13D-43B2412B87D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핵심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질적 요인과 위험 인식 간의 상관 관계</a:t>
            </a:r>
            <a:endParaRPr lang="en-US" altLang="ko-KR" dirty="0"/>
          </a:p>
          <a:p>
            <a:r>
              <a:rPr lang="ko-KR" altLang="en-US" dirty="0"/>
              <a:t>선행연구에서는 두려움</a:t>
            </a:r>
            <a:r>
              <a:rPr lang="en-US" altLang="ko-KR" dirty="0"/>
              <a:t>(Dread)</a:t>
            </a:r>
            <a:r>
              <a:rPr lang="ko-KR" altLang="en-US" dirty="0"/>
              <a:t>과 미래 세대에 미치는 해악</a:t>
            </a:r>
            <a:r>
              <a:rPr lang="en-US" altLang="ko-KR" dirty="0"/>
              <a:t>(Harm to future generations)</a:t>
            </a:r>
            <a:r>
              <a:rPr lang="ko-KR" altLang="en-US" dirty="0"/>
              <a:t>이 위험성</a:t>
            </a:r>
            <a:r>
              <a:rPr lang="en-US" altLang="ko-KR" dirty="0"/>
              <a:t>(Riskiness)</a:t>
            </a:r>
            <a:r>
              <a:rPr lang="ko-KR" altLang="en-US" dirty="0"/>
              <a:t>과 수용 불가능성</a:t>
            </a:r>
            <a:r>
              <a:rPr lang="en-US" altLang="ko-KR" dirty="0"/>
              <a:t>(Unacceptability)</a:t>
            </a:r>
            <a:r>
              <a:rPr lang="ko-KR" altLang="en-US" dirty="0"/>
              <a:t>을 높이는 가장 강력한 </a:t>
            </a:r>
            <a:r>
              <a:rPr lang="ko-KR" altLang="en-US" dirty="0" err="1"/>
              <a:t>기저변인으로</a:t>
            </a:r>
            <a:r>
              <a:rPr lang="ko-KR" altLang="en-US" dirty="0"/>
              <a:t> 보았다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실제로 평등주의에 속한 모델들은 </a:t>
            </a:r>
            <a:r>
              <a:rPr lang="en-US" altLang="ko-KR" dirty="0"/>
              <a:t>‘</a:t>
            </a:r>
            <a:r>
              <a:rPr lang="ko-KR" altLang="en-US" dirty="0"/>
              <a:t>전쟁</a:t>
            </a:r>
            <a:r>
              <a:rPr lang="en-US" altLang="ko-KR" dirty="0"/>
              <a:t>(War)’</a:t>
            </a:r>
            <a:r>
              <a:rPr lang="ko-KR" altLang="en-US" dirty="0"/>
              <a:t>에 대해</a:t>
            </a:r>
            <a:r>
              <a:rPr lang="en-US" altLang="ko-KR" dirty="0"/>
              <a:t>,</a:t>
            </a:r>
            <a:r>
              <a:rPr lang="ko-KR" altLang="en-US" dirty="0"/>
              <a:t> 두려움</a:t>
            </a:r>
            <a:r>
              <a:rPr lang="en-US" altLang="ko-KR" dirty="0"/>
              <a:t>(4.4), </a:t>
            </a:r>
            <a:r>
              <a:rPr lang="ko-KR" altLang="en-US" dirty="0"/>
              <a:t>미래 세대에 미치는 해악</a:t>
            </a:r>
            <a:r>
              <a:rPr lang="en-US" altLang="ko-KR" dirty="0"/>
              <a:t>(5.0) </a:t>
            </a:r>
            <a:r>
              <a:rPr lang="ko-KR" altLang="en-US" dirty="0"/>
              <a:t>두 수치 모두 매우 높게 보았고</a:t>
            </a:r>
            <a:r>
              <a:rPr lang="en-US" altLang="ko-KR" dirty="0"/>
              <a:t>, </a:t>
            </a:r>
            <a:r>
              <a:rPr lang="ko-KR" altLang="en-US" dirty="0"/>
              <a:t>실제로 위험성</a:t>
            </a:r>
            <a:r>
              <a:rPr lang="en-US" altLang="ko-KR" dirty="0"/>
              <a:t>(5.0)</a:t>
            </a:r>
            <a:r>
              <a:rPr lang="ko-KR" altLang="en-US" dirty="0"/>
              <a:t>과 수용 불가능성</a:t>
            </a:r>
            <a:r>
              <a:rPr lang="en-US" altLang="ko-KR" dirty="0"/>
              <a:t>(4.6) </a:t>
            </a:r>
            <a:r>
              <a:rPr lang="ko-KR" altLang="en-US" dirty="0"/>
              <a:t>모두 최고 수준으로 위험을 인식하는 모습을 보여주었다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개인주의 모델에서 </a:t>
            </a:r>
            <a:r>
              <a:rPr lang="en-US" altLang="ko-KR" dirty="0"/>
              <a:t>‘</a:t>
            </a:r>
            <a:r>
              <a:rPr lang="ko-KR" altLang="en-US" dirty="0"/>
              <a:t>전자레인지</a:t>
            </a:r>
            <a:r>
              <a:rPr lang="en-US" altLang="ko-KR" dirty="0"/>
              <a:t>(Microwave ovens)’</a:t>
            </a:r>
            <a:r>
              <a:rPr lang="ko-KR" altLang="en-US" dirty="0"/>
              <a:t>는 두려움</a:t>
            </a:r>
            <a:r>
              <a:rPr lang="en-US" altLang="ko-KR" dirty="0"/>
              <a:t>(1.0), </a:t>
            </a:r>
            <a:r>
              <a:rPr lang="ko-KR" altLang="en-US" dirty="0"/>
              <a:t>미래 세대에 미치는 해악</a:t>
            </a:r>
            <a:r>
              <a:rPr lang="en-US" altLang="ko-KR" dirty="0"/>
              <a:t>(2.0)</a:t>
            </a:r>
            <a:r>
              <a:rPr lang="ko-KR" altLang="en-US" dirty="0"/>
              <a:t>으로 둘 모두 수치가 낮았고</a:t>
            </a:r>
            <a:r>
              <a:rPr lang="en-US" altLang="ko-KR" dirty="0"/>
              <a:t>, </a:t>
            </a:r>
            <a:r>
              <a:rPr lang="ko-KR" altLang="en-US" dirty="0"/>
              <a:t>결과적으로 위험성</a:t>
            </a:r>
            <a:r>
              <a:rPr lang="en-US" altLang="ko-KR" dirty="0"/>
              <a:t>(2.0)</a:t>
            </a:r>
            <a:r>
              <a:rPr lang="ko-KR" altLang="en-US" dirty="0"/>
              <a:t>과 수용 불가능성</a:t>
            </a:r>
            <a:r>
              <a:rPr lang="en-US" altLang="ko-KR" dirty="0"/>
              <a:t>(2.0) </a:t>
            </a:r>
            <a:r>
              <a:rPr lang="ko-KR" altLang="en-US" dirty="0"/>
              <a:t>또한 최저 수준을 기록하였다</a:t>
            </a:r>
            <a:r>
              <a:rPr lang="en-US" altLang="ko-KR" dirty="0"/>
              <a:t>.</a:t>
            </a:r>
          </a:p>
          <a:p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3109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D9906-3001-9FD2-20F6-0BE6EE1B6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59132B-F03A-9900-621C-FC07E018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 </a:t>
            </a: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– </a:t>
            </a:r>
            <a:r>
              <a:rPr lang="ko-KR" altLang="en-US" sz="3200" dirty="0">
                <a:solidFill>
                  <a:prstClr val="black"/>
                </a:solidFill>
              </a:rPr>
              <a:t>심리측정 패러다임 구조 검증</a:t>
            </a:r>
            <a:endParaRPr lang="ko-KR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2DE84A-CF2F-98CB-F113-C980B65BA29E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EBAE03-9465-D589-CCE3-C24C2104006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19E2E784-6B40-AA5E-A932-1F7863F9333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핵심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질적 요인과 위험 인식 간의 상관 관계</a:t>
            </a:r>
            <a:endParaRPr lang="en-US" altLang="ko-KR" dirty="0"/>
          </a:p>
          <a:p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개인주의 모델의 경우</a:t>
            </a:r>
            <a:r>
              <a:rPr lang="en-US" altLang="ko-KR" dirty="0"/>
              <a:t>, ‘</a:t>
            </a:r>
            <a:r>
              <a:rPr lang="ko-KR" altLang="en-US" dirty="0"/>
              <a:t>오존층 파괴</a:t>
            </a:r>
            <a:r>
              <a:rPr lang="en-US" altLang="ko-KR" dirty="0"/>
              <a:t>(Ozone depletion)’</a:t>
            </a:r>
            <a:r>
              <a:rPr lang="ko-KR" altLang="en-US" dirty="0"/>
              <a:t>에 대해 </a:t>
            </a:r>
            <a:r>
              <a:rPr lang="ko-KR" altLang="en-US" dirty="0">
                <a:solidFill>
                  <a:srgbClr val="FF0000"/>
                </a:solidFill>
              </a:rPr>
              <a:t>두려움</a:t>
            </a:r>
            <a:r>
              <a:rPr lang="en-US" altLang="ko-KR" dirty="0">
                <a:solidFill>
                  <a:srgbClr val="FF0000"/>
                </a:solidFill>
              </a:rPr>
              <a:t>(2.0), </a:t>
            </a:r>
            <a:r>
              <a:rPr lang="ko-KR" altLang="en-US" dirty="0">
                <a:solidFill>
                  <a:srgbClr val="FF0000"/>
                </a:solidFill>
              </a:rPr>
              <a:t>미래세대에 미치는 해악</a:t>
            </a:r>
            <a:r>
              <a:rPr lang="en-US" altLang="ko-KR" dirty="0">
                <a:solidFill>
                  <a:srgbClr val="FF0000"/>
                </a:solidFill>
              </a:rPr>
              <a:t>(2.0) </a:t>
            </a:r>
            <a:r>
              <a:rPr lang="ko-KR" altLang="en-US" dirty="0">
                <a:solidFill>
                  <a:srgbClr val="FF0000"/>
                </a:solidFill>
              </a:rPr>
              <a:t>모두 낮게 보았음에도 불구하고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위험성은 만점인 </a:t>
            </a:r>
            <a:r>
              <a:rPr lang="en-US" altLang="ko-KR" dirty="0">
                <a:solidFill>
                  <a:srgbClr val="FF0000"/>
                </a:solidFill>
              </a:rPr>
              <a:t>5.0</a:t>
            </a:r>
            <a:r>
              <a:rPr lang="ko-KR" altLang="en-US" dirty="0">
                <a:solidFill>
                  <a:srgbClr val="FF0000"/>
                </a:solidFill>
              </a:rPr>
              <a:t>점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수용 불가능성은 </a:t>
            </a:r>
            <a:r>
              <a:rPr lang="en-US" altLang="ko-KR" dirty="0">
                <a:solidFill>
                  <a:srgbClr val="FF0000"/>
                </a:solidFill>
              </a:rPr>
              <a:t>4.0</a:t>
            </a:r>
            <a:r>
              <a:rPr lang="ko-KR" altLang="en-US" dirty="0">
                <a:solidFill>
                  <a:srgbClr val="FF0000"/>
                </a:solidFill>
              </a:rPr>
              <a:t>점을 기록하는 예외적인 모습을 보여주었다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현재 개인주의 모델의 </a:t>
            </a:r>
            <a:r>
              <a:rPr lang="en-US" altLang="ko-KR" dirty="0"/>
              <a:t>‘</a:t>
            </a:r>
            <a:r>
              <a:rPr lang="ko-KR" altLang="en-US" dirty="0"/>
              <a:t>오존층 파괴</a:t>
            </a:r>
            <a:r>
              <a:rPr lang="en-US" altLang="ko-KR" dirty="0"/>
              <a:t>’</a:t>
            </a:r>
            <a:r>
              <a:rPr lang="ko-KR" altLang="en-US" dirty="0"/>
              <a:t>에 대한 반응이 일관적으로 사람 그룹 대상으로 한 선행연구의 결과와 어긋나는 모습을 보여주고 있다</a:t>
            </a:r>
            <a:r>
              <a:rPr lang="en-US" altLang="ko-KR" dirty="0"/>
              <a:t>. </a:t>
            </a:r>
            <a:r>
              <a:rPr lang="ko-KR" altLang="en-US" dirty="0"/>
              <a:t>이는 해당 모델</a:t>
            </a:r>
            <a:r>
              <a:rPr lang="en-US" altLang="ko-KR" dirty="0"/>
              <a:t>(Grok)</a:t>
            </a:r>
            <a:r>
              <a:rPr lang="ko-KR" altLang="en-US" dirty="0"/>
              <a:t>을 만든 기업</a:t>
            </a:r>
            <a:r>
              <a:rPr lang="en-US" altLang="ko-KR" dirty="0"/>
              <a:t>(</a:t>
            </a:r>
            <a:r>
              <a:rPr lang="en-US" altLang="ko-KR" dirty="0" err="1"/>
              <a:t>xAI</a:t>
            </a:r>
            <a:r>
              <a:rPr lang="en-US" altLang="ko-KR" dirty="0"/>
              <a:t>)</a:t>
            </a:r>
            <a:r>
              <a:rPr lang="ko-KR" altLang="en-US" dirty="0"/>
              <a:t>를 들여다보면 그 안에서의 하위 정치</a:t>
            </a:r>
            <a:r>
              <a:rPr lang="en-US" altLang="ko-KR" dirty="0"/>
              <a:t>(sub politics)</a:t>
            </a:r>
            <a:r>
              <a:rPr lang="ko-KR" altLang="en-US" dirty="0"/>
              <a:t>를 추측해볼 수 있는데</a:t>
            </a:r>
            <a:r>
              <a:rPr lang="en-US" altLang="ko-KR" dirty="0"/>
              <a:t>, </a:t>
            </a:r>
            <a:r>
              <a:rPr lang="ko-KR" altLang="en-US" dirty="0"/>
              <a:t>대표를 맡고 있는 일론 </a:t>
            </a:r>
            <a:r>
              <a:rPr lang="ko-KR" altLang="en-US" dirty="0" err="1"/>
              <a:t>머스크는</a:t>
            </a:r>
            <a:r>
              <a:rPr lang="ko-KR" altLang="en-US" dirty="0"/>
              <a:t> </a:t>
            </a:r>
            <a:r>
              <a:rPr lang="en-US" altLang="ko-KR" dirty="0"/>
              <a:t>Grok</a:t>
            </a:r>
            <a:r>
              <a:rPr lang="ko-KR" altLang="en-US" dirty="0"/>
              <a:t>에 대해 </a:t>
            </a:r>
            <a:r>
              <a:rPr lang="en-US" altLang="ko-KR" dirty="0"/>
              <a:t>Anti-woke</a:t>
            </a:r>
            <a:r>
              <a:rPr lang="ko-KR" altLang="en-US" dirty="0"/>
              <a:t>를 표방하고 있기는 하지만</a:t>
            </a:r>
            <a:r>
              <a:rPr lang="en-US" altLang="ko-KR" dirty="0"/>
              <a:t>, </a:t>
            </a:r>
            <a:r>
              <a:rPr lang="ko-KR" altLang="en-US" dirty="0"/>
              <a:t>동시에 </a:t>
            </a:r>
            <a:r>
              <a:rPr lang="en-US" altLang="ko-KR" dirty="0"/>
              <a:t>(a) </a:t>
            </a:r>
            <a:r>
              <a:rPr lang="ko-KR" altLang="en-US" dirty="0"/>
              <a:t>전기차</a:t>
            </a:r>
            <a:r>
              <a:rPr lang="en-US" altLang="ko-KR" dirty="0"/>
              <a:t>, (b)</a:t>
            </a:r>
            <a:r>
              <a:rPr lang="ko-KR" altLang="en-US" dirty="0"/>
              <a:t> 태양광 패널</a:t>
            </a:r>
            <a:r>
              <a:rPr lang="en-US" altLang="ko-KR" dirty="0"/>
              <a:t>, (c) </a:t>
            </a:r>
            <a:r>
              <a:rPr lang="ko-KR" altLang="en-US" dirty="0"/>
              <a:t>화성 도시건설 계획 등 실제로 환경의 파괴에 대해 매우 높은 수준의 위험 인식을 하고 있는 것으로 보여지고 있다</a:t>
            </a:r>
            <a:r>
              <a:rPr lang="en-US" altLang="ko-KR" dirty="0"/>
              <a:t>. </a:t>
            </a:r>
            <a:r>
              <a:rPr lang="ko-KR" altLang="en-US" dirty="0"/>
              <a:t>이러한 점이 모델에 영향을 주었을 가능성도 배제할 수 없다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1098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749DC-916F-2605-CC2A-248B4876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9CF9B-92EA-899F-1E38-D99E90964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>
                <a:solidFill>
                  <a:prstClr val="black"/>
                </a:solidFill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연구 결과 </a:t>
            </a:r>
            <a:r>
              <a:rPr lang="en-US" altLang="ko-KR" sz="3200" dirty="0">
                <a:solidFill>
                  <a:prstClr val="black"/>
                </a:solidFill>
              </a:rPr>
              <a:t>– </a:t>
            </a:r>
            <a:r>
              <a:rPr lang="ko-KR" altLang="en-US" sz="3200" dirty="0">
                <a:solidFill>
                  <a:prstClr val="black"/>
                </a:solidFill>
              </a:rPr>
              <a:t>두 이론의 통합 검증</a:t>
            </a:r>
            <a:endParaRPr lang="ko-KR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B96608-E329-BFC6-9CE0-CC422594AEA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8CFAC-0A73-1860-F0F5-B235D482F28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8CE8799-5FE2-55C1-8E01-2E1F44698AD6}"/>
              </a:ext>
            </a:extLst>
          </p:cNvPr>
          <p:cNvGrpSpPr/>
          <p:nvPr/>
        </p:nvGrpSpPr>
        <p:grpSpPr>
          <a:xfrm>
            <a:off x="201830" y="1670734"/>
            <a:ext cx="11799147" cy="3516531"/>
            <a:chOff x="61442" y="1670734"/>
            <a:chExt cx="11799147" cy="351653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050ADFB-54E6-EEF8-6551-D674515CB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42" y="2217951"/>
              <a:ext cx="4143892" cy="2486335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6F90333E-55B4-5459-BFA9-0CE233BF7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05334" y="1831323"/>
              <a:ext cx="3259591" cy="3259591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ACD49B5E-C079-8BB3-3024-0BB4E68FE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64925" y="1670734"/>
              <a:ext cx="4395664" cy="351653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AB4407D-54A1-2D92-1860-7F3D025308FD}"/>
              </a:ext>
            </a:extLst>
          </p:cNvPr>
          <p:cNvSpPr txBox="1"/>
          <p:nvPr/>
        </p:nvSpPr>
        <p:spPr>
          <a:xfrm>
            <a:off x="201830" y="4704286"/>
            <a:ext cx="41438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이론적으로 가장 첨예하게 대립하는</a:t>
            </a:r>
            <a:endParaRPr lang="en-US" altLang="ko-KR" sz="1400" b="1" dirty="0"/>
          </a:p>
          <a:p>
            <a:pPr algn="ctr"/>
            <a:r>
              <a:rPr lang="en-US" altLang="ko-KR" sz="1400" b="1" dirty="0"/>
              <a:t>3</a:t>
            </a:r>
            <a:r>
              <a:rPr lang="ko-KR" altLang="en-US" sz="1400" b="1" dirty="0"/>
              <a:t>가지 </a:t>
            </a:r>
            <a:r>
              <a:rPr lang="ko-KR" altLang="en-US" sz="1400" b="1" dirty="0" err="1"/>
              <a:t>아웃레이지</a:t>
            </a:r>
            <a:r>
              <a:rPr lang="ko-KR" altLang="en-US" sz="1400" b="1" dirty="0"/>
              <a:t> 요인에 대한 원형별 비교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B02B22-F792-D44E-FA77-01DAAB81A853}"/>
              </a:ext>
            </a:extLst>
          </p:cNvPr>
          <p:cNvSpPr txBox="1"/>
          <p:nvPr/>
        </p:nvSpPr>
        <p:spPr>
          <a:xfrm>
            <a:off x="4345722" y="5090914"/>
            <a:ext cx="32595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문화원형별 </a:t>
            </a:r>
            <a:r>
              <a:rPr lang="ko-KR" altLang="en-US" sz="1400" b="1" dirty="0" err="1"/>
              <a:t>아웃레이지</a:t>
            </a:r>
            <a:r>
              <a:rPr lang="ko-KR" altLang="en-US" sz="1400" b="1" dirty="0"/>
              <a:t> 요인 프로파일</a:t>
            </a:r>
            <a:endParaRPr lang="en-US" altLang="ko-KR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EDB22B-A222-56AD-0CA6-681651975B99}"/>
              </a:ext>
            </a:extLst>
          </p:cNvPr>
          <p:cNvSpPr txBox="1"/>
          <p:nvPr/>
        </p:nvSpPr>
        <p:spPr>
          <a:xfrm>
            <a:off x="7605313" y="5187265"/>
            <a:ext cx="43956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 err="1"/>
              <a:t>아웃레이지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요인</a:t>
            </a:r>
            <a:r>
              <a:rPr lang="en-US" altLang="ko-KR" sz="1400" b="1" dirty="0"/>
              <a:t>-</a:t>
            </a:r>
            <a:r>
              <a:rPr lang="ko-KR" altLang="en-US" sz="1400" b="1" dirty="0"/>
              <a:t>위험성 상관계수 </a:t>
            </a:r>
            <a:r>
              <a:rPr lang="ko-KR" altLang="en-US" sz="1400" b="1" dirty="0" err="1"/>
              <a:t>히트맵</a:t>
            </a:r>
            <a:endParaRPr lang="en-US" altLang="ko-KR" sz="1400" b="1" dirty="0"/>
          </a:p>
        </p:txBody>
      </p:sp>
    </p:spTree>
    <p:extLst>
      <p:ext uri="{BB962C8B-B14F-4D97-AF65-F5344CB8AC3E}">
        <p14:creationId xmlns:p14="http://schemas.microsoft.com/office/powerpoint/2010/main" val="429676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4F64B-18FD-A0E6-7BEF-ECE442851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C7911-875D-4F77-A230-670D0F348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8DE8B-3EA4-622A-2FFE-A447E106624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 </a:t>
            </a:r>
            <a:r>
              <a:rPr lang="en-US" altLang="ko-KR" b="1" dirty="0"/>
              <a:t>(</a:t>
            </a: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Grok)</a:t>
            </a:r>
          </a:p>
          <a:p>
            <a:r>
              <a:rPr lang="en-US" altLang="ko-KR" dirty="0"/>
              <a:t>Grok</a:t>
            </a:r>
            <a:r>
              <a:rPr lang="ko-KR" altLang="en-US" dirty="0"/>
              <a:t>의 위험 지각은 오직 </a:t>
            </a:r>
            <a:r>
              <a:rPr lang="ko-KR" altLang="en-US" dirty="0" err="1"/>
              <a:t>치명성</a:t>
            </a:r>
            <a:r>
              <a:rPr lang="en-US" altLang="ko-KR" dirty="0"/>
              <a:t>(Severity)</a:t>
            </a:r>
            <a:r>
              <a:rPr lang="ko-KR" altLang="en-US" dirty="0"/>
              <a:t>에 의해서만 설명되고</a:t>
            </a:r>
            <a:r>
              <a:rPr lang="en-US" altLang="ko-KR" dirty="0"/>
              <a:t>, </a:t>
            </a:r>
            <a:r>
              <a:rPr lang="ko-KR" altLang="en-US" dirty="0"/>
              <a:t>감정적 요인인 공포</a:t>
            </a:r>
            <a:r>
              <a:rPr lang="en-US" altLang="ko-KR" dirty="0"/>
              <a:t>(Dread)</a:t>
            </a:r>
            <a:r>
              <a:rPr lang="ko-KR" altLang="en-US" dirty="0"/>
              <a:t>나 재난적 잠재력</a:t>
            </a:r>
            <a:r>
              <a:rPr lang="en-US" altLang="ko-KR" dirty="0"/>
              <a:t>(Catastrophic potential)</a:t>
            </a:r>
            <a:r>
              <a:rPr lang="ko-KR" altLang="en-US" dirty="0"/>
              <a:t>은 위험성 판단에 거의 영향을 미치지 않았다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개인주의 원형은 본인의 통제력과 회복 탄력성을 맹신하기 때문에</a:t>
            </a:r>
            <a:r>
              <a:rPr lang="en-US" altLang="ko-KR" dirty="0"/>
              <a:t>, </a:t>
            </a:r>
            <a:r>
              <a:rPr lang="ko-KR" altLang="en-US" dirty="0"/>
              <a:t>주관적 공포나 사회적 </a:t>
            </a:r>
            <a:r>
              <a:rPr lang="ko-KR" altLang="en-US" dirty="0" err="1"/>
              <a:t>패닉에</a:t>
            </a:r>
            <a:r>
              <a:rPr lang="ko-KR" altLang="en-US" dirty="0"/>
              <a:t> 휘둘리지 않고</a:t>
            </a:r>
            <a:r>
              <a:rPr lang="en-US" altLang="ko-KR" dirty="0"/>
              <a:t>, ‘</a:t>
            </a:r>
            <a:r>
              <a:rPr lang="ko-KR" altLang="en-US" dirty="0"/>
              <a:t>실제 발생하는 팩트 기반의 물리적 </a:t>
            </a:r>
            <a:r>
              <a:rPr lang="ko-KR" altLang="en-US" dirty="0" err="1"/>
              <a:t>피해량</a:t>
            </a:r>
            <a:r>
              <a:rPr lang="en-US" altLang="ko-KR" dirty="0"/>
              <a:t>(Severity)’</a:t>
            </a:r>
            <a:r>
              <a:rPr lang="ko-KR" altLang="en-US" dirty="0"/>
              <a:t>만을 통계적으로 계산하여 위험을 평가하는 모습을 보여주는데</a:t>
            </a:r>
            <a:r>
              <a:rPr lang="en-US" altLang="ko-KR" dirty="0"/>
              <a:t>, Grok</a:t>
            </a:r>
            <a:r>
              <a:rPr lang="ko-KR" altLang="en-US" dirty="0"/>
              <a:t>이 이러한 개인주의적 합리성을 그대로 모방하고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0D2A7-BAC2-9A47-A368-AE7B51CCA96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20AE9B-185E-555D-0336-20CD3EFF71B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212729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5506-0F2F-CB08-AED5-831AAE5C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A5703-2912-3F69-9724-4161D383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B9244-18F9-C534-E98C-21AC5492626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위계주의 </a:t>
            </a:r>
            <a:r>
              <a:rPr lang="en-US" altLang="ko-KR" b="1" dirty="0"/>
              <a:t>(Anthropic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Claude)</a:t>
            </a:r>
          </a:p>
          <a:p>
            <a:r>
              <a:rPr lang="en-US" altLang="ko-KR" dirty="0"/>
              <a:t>Claude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과학자의 지식 부족</a:t>
            </a:r>
            <a:r>
              <a:rPr lang="en-US" altLang="ko-KR" dirty="0"/>
              <a:t>(Lack of knowledge – Scientists)’ </a:t>
            </a:r>
            <a:r>
              <a:rPr lang="ko-KR" altLang="en-US" dirty="0"/>
              <a:t>평균 점수가 </a:t>
            </a:r>
            <a:r>
              <a:rPr lang="en-US" altLang="ko-KR" dirty="0"/>
              <a:t>1.23</a:t>
            </a:r>
            <a:r>
              <a:rPr lang="ko-KR" altLang="en-US" dirty="0"/>
              <a:t>으로</a:t>
            </a:r>
            <a:r>
              <a:rPr lang="en-US" altLang="ko-KR" dirty="0"/>
              <a:t> </a:t>
            </a:r>
            <a:r>
              <a:rPr lang="ko-KR" altLang="en-US" dirty="0"/>
              <a:t>모든 모델 중 가장 낮았다</a:t>
            </a:r>
            <a:r>
              <a:rPr lang="en-US" altLang="ko-KR" dirty="0"/>
              <a:t>. </a:t>
            </a:r>
            <a:r>
              <a:rPr lang="ko-KR" altLang="en-US" dirty="0"/>
              <a:t>이는 전문가들이 위험을 잘 통제하고 있다고 굳게 믿는 위계주의 원형에 부합한다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</a:t>
            </a:r>
            <a:r>
              <a:rPr lang="en-US" altLang="ko-KR" dirty="0"/>
              <a:t>, </a:t>
            </a:r>
            <a:r>
              <a:rPr lang="ko-KR" altLang="en-US" dirty="0"/>
              <a:t>위험성을 판단할 때는 공포</a:t>
            </a:r>
            <a:r>
              <a:rPr lang="en-US" altLang="ko-KR" dirty="0"/>
              <a:t>(Dread), </a:t>
            </a:r>
            <a:r>
              <a:rPr lang="ko-KR" altLang="en-US" dirty="0"/>
              <a:t>지연효과</a:t>
            </a:r>
            <a:r>
              <a:rPr lang="en-US" altLang="ko-KR" dirty="0"/>
              <a:t>(Delayed effects),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이 매우 강력한 상관관계를 보였다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위계주의는 하향식 통제와 전문가주의를 지향하고</a:t>
            </a:r>
            <a:r>
              <a:rPr lang="en-US" altLang="ko-KR" dirty="0"/>
              <a:t>, </a:t>
            </a:r>
            <a:r>
              <a:rPr lang="ko-KR" altLang="en-US" dirty="0"/>
              <a:t>이들이 가장 두려워하는 것은 엘리트 시스템으로 즉각적인 통제가 불가능한 </a:t>
            </a:r>
            <a:r>
              <a:rPr lang="en-US" altLang="ko-KR" dirty="0"/>
              <a:t>‘</a:t>
            </a:r>
            <a:r>
              <a:rPr lang="ko-KR" altLang="en-US" dirty="0"/>
              <a:t>지연된 위험</a:t>
            </a:r>
            <a:r>
              <a:rPr lang="en-US" altLang="ko-KR" dirty="0"/>
              <a:t>‘</a:t>
            </a:r>
            <a:r>
              <a:rPr lang="ko-KR" altLang="en-US" dirty="0"/>
              <a:t>과 사회 질서를 붕괴시키는 대중적 패닉</a:t>
            </a:r>
            <a:r>
              <a:rPr lang="en-US" altLang="ko-KR" dirty="0"/>
              <a:t>/</a:t>
            </a:r>
            <a:r>
              <a:rPr lang="ko-KR" altLang="en-US" dirty="0"/>
              <a:t>공포이다</a:t>
            </a:r>
            <a:r>
              <a:rPr lang="en-US" altLang="ko-KR" dirty="0"/>
              <a:t>. </a:t>
            </a:r>
            <a:r>
              <a:rPr lang="ko-KR" altLang="en-US" dirty="0"/>
              <a:t>물리적 피해</a:t>
            </a:r>
            <a:r>
              <a:rPr lang="en-US" altLang="ko-KR" dirty="0"/>
              <a:t>(Severity) </a:t>
            </a:r>
            <a:r>
              <a:rPr lang="ko-KR" altLang="en-US" dirty="0"/>
              <a:t>자체보다 사회 시스템적 교란을 위험으로 정의하는 위계주의 원형의 양상을 그대로 재현한다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3292D-3316-58BF-6243-38FB55AA3C6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A4C8F-76E7-7728-8A32-D166A8C5F0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9180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303E-1E0B-9EBC-2950-917B5B56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6BACF-5963-3261-C900-5465858C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661D6-948A-416F-E957-13AF58DB09F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 </a:t>
            </a:r>
            <a:r>
              <a:rPr lang="en-US" altLang="ko-KR" b="1" dirty="0"/>
              <a:t>(</a:t>
            </a:r>
            <a:r>
              <a:rPr lang="ko-KR" altLang="en-US" b="1" dirty="0"/>
              <a:t>그 외 모델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평등주의 모델들은 전문가 통제에 대한 회의감</a:t>
            </a:r>
            <a:r>
              <a:rPr lang="en-US" altLang="ko-KR" dirty="0"/>
              <a:t>(‘</a:t>
            </a:r>
            <a:r>
              <a:rPr lang="ko-KR" altLang="en-US" dirty="0"/>
              <a:t>과학자의 지식 부족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2.00</a:t>
            </a:r>
            <a:r>
              <a:rPr lang="ko-KR" altLang="en-US" dirty="0"/>
              <a:t>으로 최고치</a:t>
            </a:r>
            <a:r>
              <a:rPr lang="en-US" altLang="ko-KR" dirty="0"/>
              <a:t>)</a:t>
            </a:r>
            <a:r>
              <a:rPr lang="ko-KR" altLang="en-US" dirty="0"/>
              <a:t>을 보였으며</a:t>
            </a:r>
            <a:r>
              <a:rPr lang="en-US" altLang="ko-KR" dirty="0"/>
              <a:t>, </a:t>
            </a:r>
            <a:r>
              <a:rPr lang="ko-KR" altLang="en-US" dirty="0"/>
              <a:t>위험을 판단할 때 </a:t>
            </a:r>
            <a:r>
              <a:rPr lang="ko-KR" altLang="en-US" dirty="0" err="1"/>
              <a:t>치명성</a:t>
            </a:r>
            <a:r>
              <a:rPr lang="en-US" altLang="ko-KR" dirty="0"/>
              <a:t>(Severity), </a:t>
            </a:r>
            <a:r>
              <a:rPr lang="ko-KR" altLang="en-US" dirty="0"/>
              <a:t>미래 세대 위협</a:t>
            </a:r>
            <a:r>
              <a:rPr lang="en-US" altLang="ko-KR" dirty="0"/>
              <a:t>(Harm to future generation), </a:t>
            </a:r>
            <a:r>
              <a:rPr lang="ko-KR" altLang="en-US" dirty="0"/>
              <a:t>공포</a:t>
            </a:r>
            <a:r>
              <a:rPr lang="en-US" altLang="ko-KR" dirty="0"/>
              <a:t>(Dread),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등 다양한 도덕적</a:t>
            </a:r>
            <a:r>
              <a:rPr lang="en-US" altLang="ko-KR" dirty="0"/>
              <a:t>/</a:t>
            </a:r>
            <a:r>
              <a:rPr lang="ko-KR" altLang="en-US" dirty="0"/>
              <a:t>사회적 요인들을 복합적으로 고려하였다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평등주의 원형은 거대 권력</a:t>
            </a:r>
            <a:r>
              <a:rPr lang="en-US" altLang="ko-KR" dirty="0"/>
              <a:t>(</a:t>
            </a:r>
            <a:r>
              <a:rPr lang="ko-KR" altLang="en-US" dirty="0"/>
              <a:t>자본</a:t>
            </a:r>
            <a:r>
              <a:rPr lang="en-US" altLang="ko-KR" dirty="0"/>
              <a:t>/</a:t>
            </a:r>
            <a:r>
              <a:rPr lang="ko-KR" altLang="en-US" dirty="0"/>
              <a:t>기술 관료</a:t>
            </a:r>
            <a:r>
              <a:rPr lang="en-US" altLang="ko-KR" dirty="0"/>
              <a:t>)</a:t>
            </a:r>
            <a:r>
              <a:rPr lang="ko-KR" altLang="en-US" dirty="0"/>
              <a:t>에 의한 불공정한 위험 분배를 가장 경계한다</a:t>
            </a:r>
            <a:r>
              <a:rPr lang="en-US" altLang="ko-KR" dirty="0"/>
              <a:t>. </a:t>
            </a:r>
            <a:r>
              <a:rPr lang="ko-KR" altLang="en-US" dirty="0"/>
              <a:t>따라서 자연</a:t>
            </a:r>
            <a:r>
              <a:rPr lang="en-US" altLang="ko-KR" dirty="0"/>
              <a:t>(</a:t>
            </a:r>
            <a:r>
              <a:rPr lang="ko-KR" altLang="en-US" dirty="0"/>
              <a:t>미래 세대</a:t>
            </a:r>
            <a:r>
              <a:rPr lang="en-US" altLang="ko-KR" dirty="0"/>
              <a:t>)</a:t>
            </a:r>
            <a:r>
              <a:rPr lang="ko-KR" altLang="en-US" dirty="0"/>
              <a:t>에 대한 위협이나</a:t>
            </a:r>
            <a:r>
              <a:rPr lang="en-US" altLang="ko-KR" dirty="0"/>
              <a:t>, </a:t>
            </a:r>
            <a:r>
              <a:rPr lang="ko-KR" altLang="en-US" dirty="0"/>
              <a:t>거대 자본이 야기하는 불공정성</a:t>
            </a:r>
            <a:r>
              <a:rPr lang="en-US" altLang="ko-KR" dirty="0"/>
              <a:t>(Unfairness) </a:t>
            </a:r>
            <a:r>
              <a:rPr lang="ko-KR" altLang="en-US" dirty="0"/>
              <a:t>등 비가시적이고 도덕적인 </a:t>
            </a:r>
            <a:r>
              <a:rPr lang="ko-KR" altLang="en-US" dirty="0" err="1"/>
              <a:t>아웃레이지</a:t>
            </a:r>
            <a:r>
              <a:rPr lang="ko-KR" altLang="en-US" dirty="0"/>
              <a:t> 요소들을 종합하여 위험을 가장 민감하고 다차원적으로 지각하는 양상을 보인다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72BFE-52CC-EC60-5AD3-EDB29D50B775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34225-DFE4-C8DE-86E3-FF95730FC4E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8403278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D745-5528-DFBA-230A-832CC295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A9813-0C75-48D1-607D-52FE2CEB6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B6C38E-DA81-85A6-3C40-EC6429468E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모델들이 제시된 각 위험에 대해 어떻게 서술하는지를 비판적 담론 분석</a:t>
            </a:r>
            <a:r>
              <a:rPr lang="en-US" altLang="ko-KR" dirty="0"/>
              <a:t>(CDA)</a:t>
            </a:r>
            <a:r>
              <a:rPr lang="ko-KR" altLang="en-US" dirty="0"/>
              <a:t>를 통해 분석할 예정이다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본 연구의 </a:t>
            </a:r>
            <a:r>
              <a:rPr lang="en-US" altLang="ko-KR" dirty="0"/>
              <a:t>Study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에서 드러난 인공지능 모델의 위험 인식과 반응이</a:t>
            </a:r>
            <a:r>
              <a:rPr lang="en-US" altLang="ko-KR" dirty="0"/>
              <a:t>, </a:t>
            </a:r>
            <a:r>
              <a:rPr lang="ko-KR" altLang="en-US" dirty="0"/>
              <a:t>실제 소통에서의 결과물</a:t>
            </a:r>
            <a:r>
              <a:rPr lang="en-US" altLang="ko-KR" dirty="0"/>
              <a:t>, </a:t>
            </a:r>
            <a:r>
              <a:rPr lang="ko-KR" altLang="en-US" dirty="0"/>
              <a:t>즉 생성된 텍스트에서도 이어지는지를 보기 위함이다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7F223-8CFD-FCB8-F7FD-583ACC99634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F1BFB9-8FFA-A69B-8D46-EB0669E1D28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8432854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1450-CA39-C6C6-D82F-033B9800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61AF8-13FD-CFE1-082C-772B71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4F378-71A9-A140-A8AF-E6DE761606D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다음은 현재 연구자가 예상하는 각 문화원형 별 생성된 텍스트의 </a:t>
            </a:r>
            <a:r>
              <a:rPr lang="en-US" altLang="ko-KR" dirty="0"/>
              <a:t>CDA </a:t>
            </a:r>
            <a:r>
              <a:rPr lang="ko-KR" altLang="en-US" dirty="0"/>
              <a:t>예상 </a:t>
            </a:r>
            <a:r>
              <a:rPr lang="ko-KR" altLang="en-US" dirty="0" err="1"/>
              <a:t>프레이밍</a:t>
            </a:r>
            <a:r>
              <a:rPr lang="ko-KR" altLang="en-US" dirty="0"/>
              <a:t> 및 어휘 특성이다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C891C3-D8A9-2AE0-3A61-DEF1C6F231B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0EC99-B35D-C9BE-A4E3-16EDD93889A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BA2A4E-3DB5-A949-A23E-A454F1B96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697" y="2927904"/>
            <a:ext cx="8821414" cy="310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71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15C83-ED52-A8F2-5989-34842C6A4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631EB-E17A-6BF8-9254-29C0D4500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결과 및 논의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74F177-3A65-2B81-6193-FF7DAE53043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만약 </a:t>
            </a:r>
            <a:r>
              <a:rPr lang="en-US" altLang="ko-KR" dirty="0"/>
              <a:t>Study 1</a:t>
            </a:r>
            <a:r>
              <a:rPr lang="ko-KR" altLang="en-US" dirty="0"/>
              <a:t>에서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‘</a:t>
            </a:r>
            <a:r>
              <a:rPr lang="ko-KR" altLang="en-US" dirty="0"/>
              <a:t>로 판별된 언어모델이 </a:t>
            </a:r>
            <a:r>
              <a:rPr lang="en-US" altLang="ko-KR" dirty="0"/>
              <a:t>‘</a:t>
            </a:r>
            <a:r>
              <a:rPr lang="ko-KR" altLang="en-US" dirty="0"/>
              <a:t>인공지능 자동화로 인한 노동 시장 붕괴 위험</a:t>
            </a:r>
            <a:r>
              <a:rPr lang="en-US" altLang="ko-KR" dirty="0"/>
              <a:t>‘</a:t>
            </a:r>
            <a:r>
              <a:rPr lang="ko-KR" altLang="en-US" dirty="0"/>
              <a:t>이라는 시나리오에 대해 텍스트를 생성할 때</a:t>
            </a:r>
            <a:r>
              <a:rPr lang="en-US" altLang="ko-KR" dirty="0"/>
              <a:t>, ‘</a:t>
            </a:r>
            <a:r>
              <a:rPr lang="ko-KR" altLang="en-US" dirty="0"/>
              <a:t>거대 자본의 탐욕</a:t>
            </a:r>
            <a:r>
              <a:rPr lang="en-US" altLang="ko-KR" dirty="0"/>
              <a:t>‘</a:t>
            </a:r>
            <a:r>
              <a:rPr lang="ko-KR" altLang="en-US" dirty="0"/>
              <a:t>이나 </a:t>
            </a:r>
            <a:r>
              <a:rPr lang="en-US" altLang="ko-KR" dirty="0"/>
              <a:t>‘</a:t>
            </a:r>
            <a:r>
              <a:rPr lang="ko-KR" altLang="en-US" dirty="0"/>
              <a:t>구조적 소외</a:t>
            </a:r>
            <a:r>
              <a:rPr lang="en-US" altLang="ko-KR" dirty="0"/>
              <a:t>‘</a:t>
            </a:r>
            <a:r>
              <a:rPr lang="ko-KR" altLang="en-US" dirty="0"/>
              <a:t>라는 어휘와 프레임을 집중적으로 또 반복적으로 동원한다면</a:t>
            </a:r>
            <a:r>
              <a:rPr lang="en-US" altLang="ko-KR" dirty="0"/>
              <a:t>, Study 1</a:t>
            </a:r>
            <a:r>
              <a:rPr lang="ko-KR" altLang="en-US" dirty="0"/>
              <a:t>에서 측정한 양적 지표와 질적 언어 생성 </a:t>
            </a:r>
            <a:r>
              <a:rPr lang="ko-KR" altLang="en-US" dirty="0" err="1"/>
              <a:t>매커니즘</a:t>
            </a:r>
            <a:r>
              <a:rPr lang="ko-KR" altLang="en-US" dirty="0"/>
              <a:t> 간의 높은 합치도를 입증하는 것이며</a:t>
            </a:r>
            <a:r>
              <a:rPr lang="en-US" altLang="ko-KR" dirty="0"/>
              <a:t>, Study 1</a:t>
            </a:r>
            <a:r>
              <a:rPr lang="ko-KR" altLang="en-US" dirty="0"/>
              <a:t>에서 제기하였던 주류 모델들의 편향성과 이로 인한 위험성이 실재하는 위험임을 드러내는 근거로 작동할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</a:t>
            </a:r>
            <a:r>
              <a:rPr lang="en-US" altLang="ko-KR" dirty="0"/>
              <a:t>, Study 2</a:t>
            </a:r>
            <a:r>
              <a:rPr lang="ko-KR" altLang="en-US" dirty="0"/>
              <a:t>에서 해당 문화적 원형과 </a:t>
            </a:r>
            <a:r>
              <a:rPr lang="ko-KR" altLang="en-US" dirty="0" err="1"/>
              <a:t>관련있는</a:t>
            </a:r>
            <a:r>
              <a:rPr lang="ko-KR" altLang="en-US" dirty="0"/>
              <a:t> </a:t>
            </a:r>
            <a:r>
              <a:rPr lang="ko-KR" altLang="en-US" dirty="0" err="1"/>
              <a:t>아웃레이지</a:t>
            </a:r>
            <a:r>
              <a:rPr lang="ko-KR" altLang="en-US" dirty="0"/>
              <a:t> 질적 요인들에 관련된 표현이 드러난다면</a:t>
            </a:r>
            <a:r>
              <a:rPr lang="en-US" altLang="ko-KR" dirty="0"/>
              <a:t>, </a:t>
            </a:r>
            <a:r>
              <a:rPr lang="ko-KR" altLang="en-US" dirty="0"/>
              <a:t>이 또한 각 단계의 </a:t>
            </a:r>
            <a:r>
              <a:rPr lang="en-US" altLang="ko-KR" dirty="0"/>
              <a:t>Study</a:t>
            </a:r>
            <a:r>
              <a:rPr lang="ko-KR" altLang="en-US" dirty="0"/>
              <a:t>들이 유기적으로 연결되어 있고</a:t>
            </a:r>
            <a:r>
              <a:rPr lang="en-US" altLang="ko-KR" dirty="0"/>
              <a:t> </a:t>
            </a:r>
            <a:r>
              <a:rPr lang="ko-KR" altLang="en-US" dirty="0"/>
              <a:t>실제로 모델의 위험 인식</a:t>
            </a:r>
            <a:r>
              <a:rPr lang="en-US" altLang="ko-KR" dirty="0"/>
              <a:t>, </a:t>
            </a:r>
            <a:r>
              <a:rPr lang="ko-KR" altLang="en-US" dirty="0"/>
              <a:t>반응</a:t>
            </a:r>
            <a:r>
              <a:rPr lang="en-US" altLang="ko-KR" dirty="0"/>
              <a:t>, </a:t>
            </a:r>
            <a:r>
              <a:rPr lang="ko-KR" altLang="en-US" dirty="0"/>
              <a:t>생성 각 단계들에 대해 유효한 알고리즘 감사 시스템을 제안했다는 기여를 하였다는 것을 혼합연구를 통해 입증하였다고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BEE22-3DB9-5D1C-5C14-DC0B3152ACA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4D6E3D-5C46-D6D1-A833-236AC0BC86A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246690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24660-CF63-8DA7-2E0D-6591AEDD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95203DE-C74C-24E3-2568-20A04CAE5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65B6E3DF-85A0-3DEB-BFCE-F4BBDE77D6E5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indent="-720000"/>
            <a:r>
              <a:rPr lang="en-US" altLang="ko-KR" sz="1400" dirty="0"/>
              <a:t>Bai, Y., </a:t>
            </a:r>
            <a:r>
              <a:rPr lang="en-US" altLang="ko-KR" sz="1400" dirty="0" err="1"/>
              <a:t>Kadavath</a:t>
            </a:r>
            <a:r>
              <a:rPr lang="en-US" altLang="ko-KR" sz="1400" dirty="0"/>
              <a:t>, S., Kundu, S., Askell, A., </a:t>
            </a:r>
            <a:r>
              <a:rPr lang="en-US" altLang="ko-KR" sz="1400" dirty="0" err="1"/>
              <a:t>Kernion</a:t>
            </a:r>
            <a:r>
              <a:rPr lang="en-US" altLang="ko-KR" sz="1400" dirty="0"/>
              <a:t>, J., Jones, A., Chen, A., Goldie, A., </a:t>
            </a:r>
            <a:r>
              <a:rPr lang="en-US" altLang="ko-KR" sz="1400" dirty="0" err="1"/>
              <a:t>Mirhoseini</a:t>
            </a:r>
            <a:r>
              <a:rPr lang="en-US" altLang="ko-KR" sz="1400" dirty="0"/>
              <a:t>, A., McKinnon, C., Chen, C., Olsson, C., Olah, C., Hernandez, D., Drain, D., Ganguli, D., Li, D., Tran-Johnson, E., Perez, E., … Kaplan, J. (2022). </a:t>
            </a:r>
            <a:r>
              <a:rPr lang="en-US" altLang="ko-KR" sz="1400" i="1" dirty="0"/>
              <a:t>Constitutional AI: Harmlessness from AI feedback</a:t>
            </a:r>
            <a:r>
              <a:rPr lang="en-US" altLang="ko-KR" sz="1400" dirty="0"/>
              <a:t> (arXiv:2212.08073).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2"/>
              </a:rPr>
              <a:t>https://arxiv.org/abs/2212.08073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Beck, U. (1992). </a:t>
            </a:r>
            <a:r>
              <a:rPr lang="en-US" altLang="ko-KR" sz="1400" i="1" dirty="0"/>
              <a:t>Risk society: Towards a new modernity</a:t>
            </a:r>
            <a:r>
              <a:rPr lang="en-US" altLang="ko-KR" sz="1400" dirty="0"/>
              <a:t> (M. Ritter, Trans.). Sage Publications. (Original work published 1986)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Chai, S.-K., Liu, M., &amp; Kim, M.-S. (2009). Cultural comparisons of beliefs and values: Applying the grid-group approach to the World Values Survey. </a:t>
            </a:r>
            <a:r>
              <a:rPr lang="en-US" altLang="ko-KR" sz="1400" i="1" dirty="0"/>
              <a:t>Beliefs &amp; Values, 1</a:t>
            </a:r>
            <a:r>
              <a:rPr lang="en-US" altLang="ko-KR" sz="1400" dirty="0"/>
              <a:t>(2), 193–208. </a:t>
            </a:r>
            <a:r>
              <a:rPr lang="en-US" altLang="ko-KR" sz="1400" dirty="0">
                <a:hlinkClick r:id="rId3"/>
              </a:rPr>
              <a:t>https://doi.org/10.1891/1942-0617.1.2.193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Cheng, M., Durmus, E., &amp; </a:t>
            </a:r>
            <a:r>
              <a:rPr lang="en-US" altLang="ko-KR" sz="1400" dirty="0" err="1"/>
              <a:t>Jurafsky</a:t>
            </a:r>
            <a:r>
              <a:rPr lang="en-US" altLang="ko-KR" sz="1400" dirty="0"/>
              <a:t>, D. (2023). Marked personas: Using natural language prompts to measure stereotypes in language models. In </a:t>
            </a:r>
            <a:r>
              <a:rPr lang="en-US" altLang="ko-KR" sz="1400" i="1" dirty="0"/>
              <a:t>Proceedings of the 61st Annual Meeting of the Association for Computational Linguistics (Volume 1: Long Papers)</a:t>
            </a:r>
            <a:r>
              <a:rPr lang="en-US" altLang="ko-KR" sz="1400" dirty="0"/>
              <a:t> (pp. 1504–1532). Association for Computational Linguistics. </a:t>
            </a:r>
            <a:r>
              <a:rPr lang="en-US" altLang="ko-KR" sz="1400" dirty="0">
                <a:hlinkClick r:id="rId4"/>
              </a:rPr>
              <a:t>https://doi.org/10.18653/v1/2023.acl-long.84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Covello, V. T. (1983). The perception of technological risks: A literature review. </a:t>
            </a:r>
            <a:r>
              <a:rPr lang="en-US" altLang="ko-KR" sz="1400" i="1" dirty="0"/>
              <a:t>Technological Forecasting and Social Change, 23</a:t>
            </a:r>
            <a:r>
              <a:rPr lang="en-US" altLang="ko-KR" sz="1400" dirty="0"/>
              <a:t>(4), 285–297. </a:t>
            </a:r>
            <a:r>
              <a:rPr lang="en-US" altLang="ko-KR" sz="1400" dirty="0">
                <a:hlinkClick r:id="rId5"/>
              </a:rPr>
              <a:t>https://doi.org/10.1016/0040-1625(83)90032-X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Dake, K. (1991). Orienting dispositions in the perception of risk: An analysis of contemporary worldviews and cultural biases. </a:t>
            </a:r>
            <a:r>
              <a:rPr lang="en-US" altLang="ko-KR" sz="1400" i="1" dirty="0"/>
              <a:t>Journal of Cross-Cultural Psychology, 22</a:t>
            </a:r>
            <a:r>
              <a:rPr lang="en-US" altLang="ko-KR" sz="1400" dirty="0"/>
              <a:t>(1), 61–82.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Douglas, M. (1978). </a:t>
            </a:r>
            <a:r>
              <a:rPr lang="en-US" altLang="ko-KR" sz="1400" i="1" dirty="0"/>
              <a:t>Cultural bias</a:t>
            </a:r>
            <a:r>
              <a:rPr lang="en-US" altLang="ko-KR" sz="1400" dirty="0"/>
              <a:t>. Royal Anthropological Institute of Great Britain and Ireland.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Esposito, E. (2025). Beyond artificial intelligence: How algorithms communicate without understanding. </a:t>
            </a:r>
            <a:r>
              <a:rPr lang="en-US" altLang="ko-KR" sz="1400" i="1" dirty="0"/>
              <a:t>Philosophy &amp; Digitality, 2</a:t>
            </a:r>
            <a:r>
              <a:rPr lang="en-US" altLang="ko-KR" sz="1400" dirty="0"/>
              <a:t>(1), 8–16. </a:t>
            </a:r>
            <a:r>
              <a:rPr lang="en-US" altLang="ko-KR" sz="1400" dirty="0">
                <a:hlinkClick r:id="rId6"/>
              </a:rPr>
              <a:t>https://doi.org/10.18716/pd.v2i1.11657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 err="1"/>
              <a:t>Geranpayeh</a:t>
            </a:r>
            <a:r>
              <a:rPr lang="en-US" altLang="ko-KR" sz="1400" dirty="0"/>
              <a:t>, A. (2023). Leveraging computational psychometrics for language testing. </a:t>
            </a:r>
            <a:r>
              <a:rPr lang="en-US" altLang="ko-KR" sz="1400" i="1" dirty="0"/>
              <a:t>Language Teaching Research Quarterly, 37</a:t>
            </a:r>
            <a:r>
              <a:rPr lang="en-US" altLang="ko-KR" sz="1400" dirty="0"/>
              <a:t>, 204–212.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Guzman, A. L. (Ed.). (2018). </a:t>
            </a:r>
            <a:r>
              <a:rPr lang="en-US" altLang="ko-KR" sz="1400" i="1" dirty="0"/>
              <a:t>Human-machine communication: Rethinking communication, technology, and ourselves</a:t>
            </a:r>
            <a:r>
              <a:rPr lang="en-US" altLang="ko-KR" sz="1400" dirty="0"/>
              <a:t>. Peter Lang. </a:t>
            </a:r>
            <a:r>
              <a:rPr lang="en-US" altLang="ko-KR" sz="1400" dirty="0">
                <a:hlinkClick r:id="rId7"/>
              </a:rPr>
              <a:t>https://doi.org/10.3726/b14414</a:t>
            </a:r>
            <a:endParaRPr lang="en-US" altLang="ko-KR" sz="1400" dirty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762976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E52B-08EB-1EAB-9C96-E1AD1ED5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D8C6EFD-4E96-989B-EF21-C65F25C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51F1B978-0D2B-96E3-8961-1397D6E9F2E1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49833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Guzman, A. L., &amp; Lewis, S. C. (2020). Artificial intelligence and communication: A human–machine communication research agenda. </a:t>
            </a:r>
            <a:r>
              <a:rPr lang="en-US" altLang="ko-KR" sz="1400" i="1" dirty="0"/>
              <a:t>New Media &amp; Society, 22</a:t>
            </a:r>
            <a:r>
              <a:rPr lang="en-US" altLang="ko-KR" sz="1400" dirty="0"/>
              <a:t>(1), 70–86. </a:t>
            </a:r>
            <a:r>
              <a:rPr lang="en-US" altLang="ko-KR" sz="1400" dirty="0">
                <a:hlinkClick r:id="rId2"/>
              </a:rPr>
              <a:t>https://doi.org/10.1177/1461444819858691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Haerpfer</a:t>
            </a:r>
            <a:r>
              <a:rPr lang="en-US" altLang="ko-KR" sz="1400" dirty="0"/>
              <a:t>, C., Inglehart, R., Moreno, A., Welzel, C., Kizilova, K., Diez-Medrano, J., Lagos, M., Norris, P., </a:t>
            </a:r>
            <a:r>
              <a:rPr lang="en-US" altLang="ko-KR" sz="1400" dirty="0" err="1"/>
              <a:t>Ponarin</a:t>
            </a:r>
            <a:r>
              <a:rPr lang="en-US" altLang="ko-KR" sz="1400" dirty="0"/>
              <a:t>, E., &amp; Puranen, B. (2022). </a:t>
            </a:r>
            <a:r>
              <a:rPr lang="en-US" altLang="ko-KR" sz="1400" i="1" dirty="0"/>
              <a:t>World Values Survey Wave 7 (2017–2022) cross-national data-set</a:t>
            </a:r>
            <a:r>
              <a:rPr lang="en-US" altLang="ko-KR" sz="1400" dirty="0"/>
              <a:t> (Version 4.0.0) [Data set]. World Values Survey Association. </a:t>
            </a:r>
            <a:r>
              <a:rPr lang="en-US" altLang="ko-KR" sz="1400" dirty="0">
                <a:hlinkClick r:id="rId3"/>
              </a:rPr>
              <a:t>https://doi.org/10.14281/18241.18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Habermas, J. (1989). </a:t>
            </a:r>
            <a:r>
              <a:rPr lang="en-US" altLang="ko-KR" sz="1400" i="1" dirty="0"/>
              <a:t>The structural transformation of the public sphere: An inquiry into a category of bourgeois society</a:t>
            </a:r>
            <a:r>
              <a:rPr lang="en-US" altLang="ko-KR" sz="1400" dirty="0"/>
              <a:t> (T. Burger, Trans.). MIT Press. (Original work published 1962)</a:t>
            </a:r>
          </a:p>
          <a:p>
            <a:endParaRPr lang="en-US" altLang="ko-KR" sz="1400" dirty="0"/>
          </a:p>
          <a:p>
            <a:r>
              <a:rPr lang="en-US" altLang="ko-KR" sz="1400" dirty="0"/>
              <a:t>Jones, S. (2014). People, things, memory and human-machine communication. </a:t>
            </a:r>
            <a:r>
              <a:rPr lang="en-US" altLang="ko-KR" sz="1400" i="1" dirty="0"/>
              <a:t>International Journal of Media &amp; Cultural Politics, 10</a:t>
            </a:r>
            <a:r>
              <a:rPr lang="en-US" altLang="ko-KR" sz="1400" dirty="0"/>
              <a:t>(3), 245–258. </a:t>
            </a:r>
            <a:r>
              <a:rPr lang="en-US" altLang="ko-KR" sz="1400" dirty="0">
                <a:hlinkClick r:id="rId4"/>
              </a:rPr>
              <a:t>https://doi.org/10.1386/macp.10.3.245_1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Kahan, D., Jenkins‐Smith, H., &amp; Braman, D. (2011). Cultural cognition of scientific consensus. </a:t>
            </a:r>
            <a:r>
              <a:rPr lang="en-US" altLang="ko-KR" sz="1400" i="1" dirty="0"/>
              <a:t>Journal of Risk Research, 14</a:t>
            </a:r>
            <a:r>
              <a:rPr lang="en-US" altLang="ko-KR" sz="1400" dirty="0"/>
              <a:t>(2), 147–174. </a:t>
            </a:r>
            <a:r>
              <a:rPr lang="en-US" altLang="ko-KR" sz="1400" dirty="0">
                <a:hlinkClick r:id="rId5"/>
              </a:rPr>
              <a:t>https://doi.org/10.1080/13669877.2010.511246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Krieger, J. B., Bouder, F., </a:t>
            </a:r>
            <a:r>
              <a:rPr lang="en-US" altLang="ko-KR" sz="1400" dirty="0" err="1"/>
              <a:t>Wibral</a:t>
            </a:r>
            <a:r>
              <a:rPr lang="en-US" altLang="ko-KR" sz="1400" dirty="0"/>
              <a:t>, M., &amp; Almeida, R. J. (2025). A systematic literature review on risk perception of artificial narrow intelligence. </a:t>
            </a:r>
            <a:r>
              <a:rPr lang="en-US" altLang="ko-KR" sz="1400" i="1" dirty="0"/>
              <a:t>Journal of Risk Research, 28</a:t>
            </a:r>
            <a:r>
              <a:rPr lang="en-US" altLang="ko-KR" sz="1400" dirty="0"/>
              <a:t>(9/10), 1111–1129. </a:t>
            </a:r>
            <a:r>
              <a:rPr lang="en-US" altLang="ko-KR" sz="1400" dirty="0">
                <a:hlinkClick r:id="rId6"/>
              </a:rPr>
              <a:t>https://doi.org/10.1080/13669877.2024.2350725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Li, Y., Lin, X., Sha, Z., Jin, Z., &amp; Li, X. (2026). </a:t>
            </a:r>
            <a:r>
              <a:rPr lang="en-US" altLang="ko-KR" sz="1400" i="1" dirty="0"/>
              <a:t>AI psychometrics: Evaluating the psychological reasoning of large language models with psychometric validities</a:t>
            </a:r>
            <a:r>
              <a:rPr lang="en-US" altLang="ko-KR" sz="1400" dirty="0"/>
              <a:t>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7"/>
              </a:rPr>
              <a:t>https://arxiv.org/abs/2603.11279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Maharjan, J., Jin, R., Zhu, J., &amp; Kenne, D. (2025). Psychometric evaluation of large language model embeddings for personality trait prediction. </a:t>
            </a:r>
            <a:r>
              <a:rPr lang="en-US" altLang="ko-KR" sz="1400" i="1" dirty="0"/>
              <a:t>Journal of Medical Internet Research, 27</a:t>
            </a:r>
            <a:r>
              <a:rPr lang="en-US" altLang="ko-KR" sz="1400" dirty="0"/>
              <a:t>, e75347. </a:t>
            </a:r>
            <a:r>
              <a:rPr lang="en-US" altLang="ko-KR" sz="1400" dirty="0">
                <a:hlinkClick r:id="rId8"/>
              </a:rPr>
              <a:t>https://doi.org/10.2196/75347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Marris, C., Langford, I. H., &amp; O’Riordan, T. (1996). </a:t>
            </a:r>
            <a:r>
              <a:rPr lang="en-US" altLang="ko-KR" sz="1400" i="1" dirty="0"/>
              <a:t>Integrating sociological and psychological approaches to public perceptions of environmental risks: Detailed results from a questionnaire survey</a:t>
            </a:r>
            <a:r>
              <a:rPr lang="en-US" altLang="ko-KR" sz="1400" dirty="0"/>
              <a:t> (CSERGE Working Paper GEC 96-07). University of East Anglia.</a:t>
            </a:r>
          </a:p>
          <a:p>
            <a:endParaRPr lang="en-US" altLang="ko-KR" sz="1400" dirty="0"/>
          </a:p>
          <a:p>
            <a:r>
              <a:rPr lang="en-US" altLang="ko-KR" sz="1400" dirty="0"/>
              <a:t>Nass, C., Steuer, J., &amp; Tauber, E. R. (1994). Computers are social actors. In </a:t>
            </a:r>
            <a:r>
              <a:rPr lang="en-US" altLang="ko-KR" sz="1400" i="1" dirty="0"/>
              <a:t>Proceedings of the SIGCHI Conference on Human Factors in Computing Systems</a:t>
            </a:r>
            <a:r>
              <a:rPr lang="en-US" altLang="ko-KR" sz="1400" dirty="0"/>
              <a:t> (pp. 72–78). Association for Computing Machinery. </a:t>
            </a:r>
            <a:r>
              <a:rPr lang="en-US" altLang="ko-KR" sz="1400" dirty="0">
                <a:hlinkClick r:id="rId9"/>
              </a:rPr>
              <a:t>https://doi.org/10.1145/191666.191703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714710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665AA-D6A8-494C-3310-9D5E55BE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2B9AD0-631A-748E-0C00-94F8D894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CB4B75FA-2647-EB22-E471-E6170F54D4F3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Reeves, B., &amp; Nass, C. (1996). </a:t>
            </a:r>
            <a:r>
              <a:rPr lang="en-US" altLang="ko-KR" sz="1400" i="1" dirty="0"/>
              <a:t>The media equation: How people treat computers, television, and new media like real people and places</a:t>
            </a:r>
            <a:r>
              <a:rPr lang="en-US" altLang="ko-KR" sz="1400" dirty="0"/>
              <a:t>. Cambridge University Press.</a:t>
            </a:r>
          </a:p>
          <a:p>
            <a:endParaRPr lang="en-US" altLang="ko-KR" sz="1400" dirty="0"/>
          </a:p>
          <a:p>
            <a:r>
              <a:rPr lang="en-US" altLang="ko-KR" sz="1400" dirty="0"/>
              <a:t>Sandman, P. M. (1988). Risk communication: Facing public outrage. </a:t>
            </a:r>
            <a:r>
              <a:rPr lang="en-US" altLang="ko-KR" sz="1400" i="1" dirty="0"/>
              <a:t>Management Communication Quarterly, 2</a:t>
            </a:r>
            <a:r>
              <a:rPr lang="en-US" altLang="ko-KR" sz="1400" dirty="0"/>
              <a:t>(2), 235–238. </a:t>
            </a:r>
            <a:r>
              <a:rPr lang="en-US" altLang="ko-KR" sz="1400" dirty="0">
                <a:hlinkClick r:id="rId2"/>
              </a:rPr>
              <a:t>https://doi.org/10.1177/0893318988002002006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Sandman, P. M. (1993). </a:t>
            </a:r>
            <a:r>
              <a:rPr lang="en-US" altLang="ko-KR" sz="1400" i="1" dirty="0"/>
              <a:t>Responding to community outrage: Strategies for effective risk communication</a:t>
            </a:r>
            <a:r>
              <a:rPr lang="en-US" altLang="ko-KR" sz="1400" dirty="0"/>
              <a:t>. American Industrial Hygiene Association.</a:t>
            </a:r>
          </a:p>
          <a:p>
            <a:endParaRPr lang="en-US" altLang="ko-KR" sz="1400" dirty="0"/>
          </a:p>
          <a:p>
            <a:r>
              <a:rPr lang="en-US" altLang="ko-KR" sz="1400" dirty="0"/>
              <a:t>Slovic, P. (1987). Perception of risk. </a:t>
            </a:r>
            <a:r>
              <a:rPr lang="en-US" altLang="ko-KR" sz="1400" i="1" dirty="0"/>
              <a:t>Science, 236</a:t>
            </a:r>
            <a:r>
              <a:rPr lang="en-US" altLang="ko-KR" sz="1400" dirty="0"/>
              <a:t>(4799), 280–285. </a:t>
            </a:r>
            <a:r>
              <a:rPr lang="en-US" altLang="ko-KR" sz="1400" dirty="0">
                <a:hlinkClick r:id="rId3"/>
              </a:rPr>
              <a:t>https://doi.org/10.1126/science.3563507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 (1987). Choosing preferences by constructing institutions: A cultural theory of preference formation. </a:t>
            </a:r>
            <a:r>
              <a:rPr lang="en-US" altLang="ko-KR" sz="1400" i="1" dirty="0"/>
              <a:t>The American Political Science Review, 81</a:t>
            </a:r>
            <a:r>
              <a:rPr lang="en-US" altLang="ko-KR" sz="1400" dirty="0"/>
              <a:t>(1), 4–21. </a:t>
            </a:r>
            <a:r>
              <a:rPr lang="en-US" altLang="ko-KR" sz="1400" dirty="0">
                <a:hlinkClick r:id="rId4"/>
              </a:rPr>
              <a:t>https://doi.org/10.2307/1960776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A., &amp; Dake, K. (1990). Theories of risk perception: Who fears what and why? </a:t>
            </a:r>
            <a:r>
              <a:rPr lang="en-US" altLang="ko-KR" sz="1400" i="1" dirty="0"/>
              <a:t>Daedalus, 119</a:t>
            </a:r>
            <a:r>
              <a:rPr lang="en-US" altLang="ko-KR" sz="1400" dirty="0"/>
              <a:t>(4), 41–60.</a:t>
            </a:r>
          </a:p>
          <a:p>
            <a:endParaRPr lang="en-US" altLang="ko-KR" sz="1400" dirty="0"/>
          </a:p>
          <a:p>
            <a:r>
              <a:rPr lang="en-US" altLang="ko-KR" sz="1400" dirty="0"/>
              <a:t>Ye, H., Huo, T., Guo, Z., Zhang, X., Dong, H., &amp; Song, G. (2025). </a:t>
            </a:r>
            <a:r>
              <a:rPr lang="en-US" altLang="ko-KR" sz="1400" i="1" dirty="0"/>
              <a:t>Psychometrics with AI foundation models</a:t>
            </a:r>
            <a:r>
              <a:rPr lang="en-US" altLang="ko-KR" sz="1400" dirty="0"/>
              <a:t>. OSF Preprints. </a:t>
            </a:r>
            <a:r>
              <a:rPr lang="en-US" altLang="ko-KR" sz="1400" dirty="0">
                <a:hlinkClick r:id="rId5"/>
              </a:rPr>
              <a:t>https://doi.org/10.31234/osf.io/qh5e3_v1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53324782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1943</TotalTime>
  <Words>6502</Words>
  <Application>Microsoft Office PowerPoint</Application>
  <PresentationFormat>와이드스크린</PresentationFormat>
  <Paragraphs>508</Paragraphs>
  <Slides>51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6" baseType="lpstr">
      <vt:lpstr>맑은 고딕</vt:lpstr>
      <vt:lpstr>Batang</vt:lpstr>
      <vt:lpstr>Arial</vt:lpstr>
      <vt:lpstr>Avenir Next LT Pro Light</vt:lpstr>
      <vt:lpstr>AlignmentVTI</vt:lpstr>
      <vt:lpstr>PowerPoint 프레젠테이션</vt:lpstr>
      <vt:lpstr>왜 지금 인공지능(AI)의 위험 인식을 연구해야 하는가?</vt:lpstr>
      <vt:lpstr>왜 지금 인공지능(AI)의 위험 인식을 연구해야 하는가?</vt:lpstr>
      <vt:lpstr>기존 연구의 한계와 인식론적 전환: 뒤집힌 프레임</vt:lpstr>
      <vt:lpstr>연구질문 및 가설</vt:lpstr>
      <vt:lpstr>연구질문 및 가설</vt:lpstr>
      <vt:lpstr>방법론적 정당화: AI에게 심리측정학을 적용할 수 있나?</vt:lpstr>
      <vt:lpstr>방법론적 정당화: AI에게 심리측정학을 적용할 수 있나?</vt:lpstr>
      <vt:lpstr>방법론적 정당화: AI에게 심리측정학을 적용할 수 있나?</vt:lpstr>
      <vt:lpstr>방법론적 세팅</vt:lpstr>
      <vt:lpstr>방법론적 세팅</vt:lpstr>
      <vt:lpstr>[Study 1] 위험 인식의 이론적 토대: Grid-Group 문화이론</vt:lpstr>
      <vt:lpstr>[Study 1] 위험 인식의 이론적 토대: Grid-Group 문화이론</vt:lpstr>
      <vt:lpstr>[Study 1] 세계가치관조사(WVS)를 활용한 조작화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2] 위험에 대한 반응: 심리측정 패러다임과 아웃레이지</vt:lpstr>
      <vt:lpstr>[Study 2] 위험에 대한 반응: 심리측정 패러다임과 아웃레이지</vt:lpstr>
      <vt:lpstr>[Study 2] 연구 방법</vt:lpstr>
      <vt:lpstr>[Study 2] 연구 방법</vt:lpstr>
      <vt:lpstr>[Study 2] 연구 방법</vt:lpstr>
      <vt:lpstr>[Study 2] 연구 방법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문화이론 예측 검증</vt:lpstr>
      <vt:lpstr>[Study 2] 연구 결과 – 심리측정 패러다임 구조 검증</vt:lpstr>
      <vt:lpstr>[Study 2] 연구 결과 – 심리측정 패러다임 구조 검증</vt:lpstr>
      <vt:lpstr>[Study 2] 연구 결과 – 심리측정 패러다임 구조 검증</vt:lpstr>
      <vt:lpstr>[Study 2] 연구 결과 – 심리측정 패러다임 구조 검증</vt:lpstr>
      <vt:lpstr>[Study 2] 연구 결과 – 두 이론의 통합 검증</vt:lpstr>
      <vt:lpstr>[Study 2] 논의 및 결론</vt:lpstr>
      <vt:lpstr>[Study 2] 논의 및 결론</vt:lpstr>
      <vt:lpstr>[Study 2] 논의 및 결론</vt:lpstr>
      <vt:lpstr>[Study 3] 연구 방법</vt:lpstr>
      <vt:lpstr>[Study 3] 연구 방법</vt:lpstr>
      <vt:lpstr>[Study 3] 연구 결과 및 논의</vt:lpstr>
      <vt:lpstr>Thank you</vt:lpstr>
      <vt:lpstr>References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Jongbeen Song</cp:lastModifiedBy>
  <cp:revision>16</cp:revision>
  <dcterms:created xsi:type="dcterms:W3CDTF">2026-02-13T15:35:19Z</dcterms:created>
  <dcterms:modified xsi:type="dcterms:W3CDTF">2026-05-22T16:46:26Z</dcterms:modified>
</cp:coreProperties>
</file>