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20"/>
  </p:notesMasterIdLst>
  <p:sldIdLst>
    <p:sldId id="288" r:id="rId2"/>
    <p:sldId id="257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7" r:id="rId11"/>
    <p:sldId id="298" r:id="rId12"/>
    <p:sldId id="296" r:id="rId13"/>
    <p:sldId id="300" r:id="rId14"/>
    <p:sldId id="299" r:id="rId15"/>
    <p:sldId id="301" r:id="rId16"/>
    <p:sldId id="302" r:id="rId17"/>
    <p:sldId id="303" r:id="rId18"/>
    <p:sldId id="265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28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B8D08-34DA-4F78-8F9A-57C08BEFE083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D9D0D-256A-4334-8FBF-FD40B2DA7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582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400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8EC51-5201-8A17-3C71-7CE232002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C2B42A-B695-D6BC-1D5D-AAE7AD344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0179C8-5C52-55BF-83E3-91307EAB6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840AE0-03BE-5E34-42DA-06358DDE1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190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CEAE8-FE7A-4F78-D80C-A5E2DDB07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D438FA-BE32-0AD4-F516-DF5E1386E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A76425-8AB2-5F0C-B9E5-26E4315AF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732605-0ABC-4149-402D-95A4716C5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295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D72EC-B687-EE38-5DBD-9D0E96135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3D2230-BB04-9094-F6C5-6E4C0AB7B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0DA65-9576-C6B2-E38E-0C5AE43B5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D61295-5607-2C48-BFDE-48207BD1F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556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EA8D3-979E-2F3B-C593-13B06E22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21E7D8-76B4-1E7B-4652-1B8FD3A6E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26E9F1-A72A-AFC8-E271-55116216F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1BDAA1-F19C-5CF7-DBBC-81B4F51B1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241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7D8B2-DBBB-6317-E42F-1522B4EC2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750B25-8683-AD35-AB0D-3CF02BF81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B64B53-28FE-1384-ECEF-2553D56C7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5A0BEC-A6F3-FB31-F5D2-BC28AACC4B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270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3FBF8-141B-CF27-FD78-B5346555D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83C403-4629-B4A8-7D5E-71388AB6D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7D6168-D4CD-77A7-24C7-DFAA3E0CB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8C386-A7D8-5936-5E1E-789510EC4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515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0CB4-0BC7-0CE3-1925-A293115E3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0A57E9-8B69-4E36-39B9-1331DD92C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D78693-A3DE-A5E9-F3D2-F7C03C578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04A623-8680-8093-4B2C-30D1C984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137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A2415-148C-F0D6-DEB5-6EED70C1C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E263F3-0037-228C-ABC4-EE634F5B8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F168D8-0C16-23AD-E156-99D5E32D3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5FEE5F-7F99-0B80-D709-137F12A3B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942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EF90E-BC1B-65BB-C2E5-6F25D4B18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88BFA-872C-5AA2-6426-6BE6B79EF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E07E4B-ED92-9BE6-193A-732549295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F6DB93-587E-90F4-27E0-6C92C3F84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926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658E6-B864-BC88-FA20-E3B7DE574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C1FACA-E9AD-F0F8-BEB2-732CE1F2A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8D252D-2F2B-6449-3A16-A196DFA78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6F1A7A-A7F2-7540-0938-4ABFD7295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711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5C062-458B-E8A3-4D23-8B5EAC0EB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48307B-3CD6-775F-D522-F3F5A6999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3EEC4F-2980-1EE0-C0E2-CD88BC80B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C987AC-6D0C-4405-6B19-796E45D7B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0861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94F88-15E3-3F32-2CDA-E8953C825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7995FA-0F8E-BCF6-3987-AD3F6FE8A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C1B629-6A3E-B077-3B08-5544B4467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E4B54F-5BF5-77FB-9D66-478007E72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001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BD1A-96E5-EFC1-FA28-582D3D35F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C5AB96-14AF-24AF-E758-C6D694C3E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0D366C-944C-8E9A-BDD2-C085A7355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BD1E8D-7682-6CAB-CC52-121050291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5021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B93DD-D0BD-9AA6-4BA6-75BC849D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53CB25-AE74-6624-10E4-8BC558CD9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10FDD2-5F03-1B8D-2975-A39C4FF7E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0498F5-A5E5-3791-3070-98FAC9122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697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61B56-6BAF-6549-146B-3E7F808C7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930E12-D304-8DDC-95C7-AFAB443FB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8B8350-01AF-8209-A37A-9272C0A5E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47C140-713B-1AB1-FE80-B5C8435CFF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023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835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2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25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05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369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56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00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04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3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44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335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27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24" r:id="rId4"/>
    <p:sldLayoutId id="2147483725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osem@korea.ac.kr" TargetMode="External"/><Relationship Id="rId2" Type="http://schemas.openxmlformats.org/officeDocument/2006/relationships/hyperlink" Target="mailto:1041489@gmail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52EFEA85-236C-2B7C-8801-CA0257D68594}"/>
              </a:ext>
            </a:extLst>
          </p:cNvPr>
          <p:cNvSpPr txBox="1">
            <a:spLocks/>
          </p:cNvSpPr>
          <p:nvPr/>
        </p:nvSpPr>
        <p:spPr>
          <a:xfrm>
            <a:off x="433178" y="1031846"/>
            <a:ext cx="11325645" cy="1215547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100" baseline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>
              <a:lnSpc>
                <a:spcPts val="6000"/>
              </a:lnSpc>
            </a:pPr>
            <a:r>
              <a:rPr lang="ko-KR" altLang="en-US" dirty="0"/>
              <a:t>생성형 인공지능의 위험 인식 구조와 문화적 원형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위험 커뮤니케이션 관점에서의 알고리즘 감사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6D4EFC-803D-F5E1-188D-37AFC2FBCE04}"/>
              </a:ext>
            </a:extLst>
          </p:cNvPr>
          <p:cNvSpPr txBox="1"/>
          <p:nvPr/>
        </p:nvSpPr>
        <p:spPr>
          <a:xfrm>
            <a:off x="433178" y="2554437"/>
            <a:ext cx="11183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Risk Perception Structures and Cultural Prototypes of Generative AI:</a:t>
            </a:r>
          </a:p>
          <a:p>
            <a:r>
              <a:rPr lang="en-US" altLang="ko-KR" dirty="0"/>
              <a:t>Algorithmic Auditing from a Risk Communication Perspective</a:t>
            </a:r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E227641-5091-D2F5-83B8-AF62EBEB3E0B}"/>
              </a:ext>
            </a:extLst>
          </p:cNvPr>
          <p:cNvGrpSpPr/>
          <p:nvPr/>
        </p:nvGrpSpPr>
        <p:grpSpPr>
          <a:xfrm>
            <a:off x="433178" y="3967709"/>
            <a:ext cx="10287400" cy="1107996"/>
            <a:chOff x="433178" y="3719825"/>
            <a:chExt cx="10287400" cy="110799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84626AA-195B-7251-627D-9A08E2A5A3F2}"/>
                </a:ext>
              </a:extLst>
            </p:cNvPr>
            <p:cNvSpPr txBox="1"/>
            <p:nvPr/>
          </p:nvSpPr>
          <p:spPr>
            <a:xfrm>
              <a:off x="433178" y="3719825"/>
              <a:ext cx="4624578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2400" dirty="0" err="1">
                  <a:latin typeface="+mj-lt"/>
                </a:rPr>
                <a:t>송종빈</a:t>
              </a:r>
              <a:r>
                <a:rPr lang="ko-KR" altLang="en-US" sz="2400" dirty="0"/>
                <a:t> </a:t>
              </a:r>
              <a:r>
                <a:rPr lang="en-US" altLang="ko-KR" sz="2400" dirty="0"/>
                <a:t>(Jongbeen Song)</a:t>
              </a:r>
            </a:p>
            <a:p>
              <a:endParaRPr lang="en-US" altLang="ko-KR" sz="1400" dirty="0"/>
            </a:p>
            <a:p>
              <a:r>
                <a:rPr lang="ko-KR" altLang="en-US" sz="1400" dirty="0"/>
                <a:t>고려대학교 </a:t>
              </a:r>
              <a:r>
                <a:rPr lang="ko-KR" altLang="en-US" sz="1400" dirty="0" err="1"/>
                <a:t>과학기술학협동과정</a:t>
              </a:r>
              <a:r>
                <a:rPr lang="ko-KR" altLang="en-US" sz="1400" dirty="0"/>
                <a:t> 석사과정</a:t>
              </a:r>
              <a:endParaRPr lang="en-US" altLang="ko-KR" sz="1400" dirty="0"/>
            </a:p>
            <a:p>
              <a:r>
                <a:rPr lang="en-US" altLang="ko-KR" sz="1400" dirty="0">
                  <a:hlinkClick r:id="rId2"/>
                </a:rPr>
                <a:t>1041489@gmail.com</a:t>
              </a:r>
              <a:r>
                <a:rPr lang="en-US" altLang="ko-KR" sz="1400" dirty="0"/>
                <a:t> </a:t>
              </a:r>
              <a:endParaRPr lang="ko-KR" altLang="en-US" sz="1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F707EE2-FD72-ACCF-CACB-58131B3559C4}"/>
                </a:ext>
              </a:extLst>
            </p:cNvPr>
            <p:cNvSpPr txBox="1"/>
            <p:nvPr/>
          </p:nvSpPr>
          <p:spPr>
            <a:xfrm>
              <a:off x="6096000" y="3719825"/>
              <a:ext cx="4624578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2400" dirty="0">
                  <a:latin typeface="+mj-lt"/>
                </a:rPr>
                <a:t>장미경</a:t>
              </a:r>
              <a:r>
                <a:rPr lang="ko-KR" altLang="en-US" sz="2400" dirty="0"/>
                <a:t> </a:t>
              </a:r>
              <a:r>
                <a:rPr lang="en-US" altLang="ko-KR" sz="2400" dirty="0"/>
                <a:t>(</a:t>
              </a:r>
              <a:r>
                <a:rPr lang="en-US" altLang="ko-KR" sz="2400" dirty="0" err="1"/>
                <a:t>Mikyung</a:t>
              </a:r>
              <a:r>
                <a:rPr lang="en-US" altLang="ko-KR" sz="2400" dirty="0"/>
                <a:t> Chang)*</a:t>
              </a:r>
            </a:p>
            <a:p>
              <a:endParaRPr lang="en-US" altLang="ko-KR" sz="1400" dirty="0"/>
            </a:p>
            <a:p>
              <a:r>
                <a:rPr lang="ko-KR" altLang="en-US" sz="1400" dirty="0"/>
                <a:t>고려대학교 </a:t>
              </a:r>
              <a:r>
                <a:rPr lang="ko-KR" altLang="en-US" sz="1400" dirty="0" err="1"/>
                <a:t>과학기술학협동과정</a:t>
              </a:r>
              <a:r>
                <a:rPr lang="ko-KR" altLang="en-US" sz="1400" dirty="0"/>
                <a:t> 겸임교수</a:t>
              </a:r>
              <a:endParaRPr lang="en-US" altLang="ko-KR" sz="1400" dirty="0"/>
            </a:p>
            <a:p>
              <a:r>
                <a:rPr lang="en-US" altLang="ko-KR" sz="1400" dirty="0">
                  <a:hlinkClick r:id="rId3"/>
                </a:rPr>
                <a:t>rosem@korea.ac.kr</a:t>
              </a:r>
              <a:r>
                <a:rPr lang="en-US" altLang="ko-KR" sz="1400" dirty="0"/>
                <a:t> (corresponding author)</a:t>
              </a:r>
              <a:endParaRPr lang="ko-KR" altLang="en-US" sz="14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F5A5137-B82A-BFBD-66DE-801154A7FEF7}"/>
              </a:ext>
            </a:extLst>
          </p:cNvPr>
          <p:cNvSpPr txBox="1"/>
          <p:nvPr/>
        </p:nvSpPr>
        <p:spPr>
          <a:xfrm>
            <a:off x="433178" y="5905238"/>
            <a:ext cx="714719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인간과 </a:t>
            </a:r>
            <a:r>
              <a:rPr lang="en-US" altLang="ko-KR" dirty="0"/>
              <a:t>AI</a:t>
            </a:r>
            <a:r>
              <a:rPr lang="ko-KR" altLang="en-US" dirty="0"/>
              <a:t>의 경계에서 다시 길을 묻다</a:t>
            </a:r>
            <a:r>
              <a:rPr lang="en-US" altLang="ko-KR" dirty="0"/>
              <a:t>: </a:t>
            </a:r>
            <a:r>
              <a:rPr lang="ko-KR" altLang="en-US" dirty="0"/>
              <a:t>소통은 이상인가</a:t>
            </a:r>
            <a:r>
              <a:rPr lang="en-US" altLang="ko-KR" dirty="0"/>
              <a:t>, </a:t>
            </a:r>
            <a:r>
              <a:rPr lang="ko-KR" altLang="en-US" dirty="0"/>
              <a:t>허상인가</a:t>
            </a:r>
            <a:r>
              <a:rPr lang="en-US" altLang="ko-KR" dirty="0"/>
              <a:t>?</a:t>
            </a:r>
          </a:p>
          <a:p>
            <a:endParaRPr lang="en-US" altLang="ko-KR" sz="1200" dirty="0"/>
          </a:p>
          <a:p>
            <a:r>
              <a:rPr lang="en-US" altLang="ko-KR" sz="1200" dirty="0"/>
              <a:t>2026</a:t>
            </a:r>
            <a:r>
              <a:rPr lang="ko-KR" altLang="en-US" sz="1200" dirty="0"/>
              <a:t>년 한국소통학회 봄철 정기학술대회</a:t>
            </a:r>
            <a:endParaRPr lang="ko-KR" alt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3DDD5-0DBB-3592-A256-7777D0E6CC1F}"/>
              </a:ext>
            </a:extLst>
          </p:cNvPr>
          <p:cNvSpPr txBox="1"/>
          <p:nvPr/>
        </p:nvSpPr>
        <p:spPr>
          <a:xfrm>
            <a:off x="10347888" y="6336125"/>
            <a:ext cx="12687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/>
              <a:t>2026. 05. 29.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2989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4846A-86BB-E33F-8B50-56D96159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생성형 인공지능의 사회적 </a:t>
            </a:r>
            <a:r>
              <a:rPr lang="ko-KR" altLang="en-US" dirty="0" err="1"/>
              <a:t>행위성</a:t>
            </a:r>
            <a:r>
              <a:rPr lang="ko-KR" altLang="en-US" dirty="0"/>
              <a:t> </a:t>
            </a:r>
            <a:r>
              <a:rPr lang="en-US" altLang="ko-KR" dirty="0"/>
              <a:t>&amp; </a:t>
            </a:r>
            <a:r>
              <a:rPr lang="ko-KR" altLang="en-US" dirty="0"/>
              <a:t>분석 상향의 전환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B8A756-57B3-37FA-6E0F-83C974C807C1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15D63-7DAB-5A7E-196C-17878E51DFA7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992590-6410-E215-A4E7-CB19B379620C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525530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2655D-8DA7-3446-0858-A51C5A28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B64F76-C754-4D25-A74F-D9DCD5417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위험사회의 구조적 변동과 </a:t>
            </a:r>
            <a:r>
              <a:rPr lang="en-US" altLang="ko-KR" dirty="0"/>
              <a:t>AI </a:t>
            </a:r>
            <a:r>
              <a:rPr lang="ko-KR" altLang="en-US" dirty="0"/>
              <a:t>매개 공론장의 위기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9A75F-DAD7-EDCD-66FB-C9FB7604ACBB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7DFF3-1001-7B09-BE31-098EF56B70EB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0E437E-DF13-E2D4-618F-9D9099662591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1628113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877A-7698-A1F5-FFFE-CFCF93A65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7EFCC-99E7-FE77-6C98-22A90908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위험 지각의 인지적 </a:t>
            </a:r>
            <a:r>
              <a:rPr lang="ko-KR" altLang="en-US" dirty="0" err="1"/>
              <a:t>매커니즘과</a:t>
            </a:r>
            <a:r>
              <a:rPr lang="ko-KR" altLang="en-US" dirty="0"/>
              <a:t> 알고리즘적 이식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83FBDE-F3A0-3ED9-89D7-876E592F1261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4EB24A-201D-6EF0-CEC1-34BA2CEB1526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BE87B-7DB1-FE95-8C67-90C312F6A363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466396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E0F16-D743-6A44-AC37-1E567C347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3E6B94-905A-8403-BBFA-3B471A17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위험의 문화이론</a:t>
            </a:r>
            <a:r>
              <a:rPr lang="en-US" altLang="ko-KR" dirty="0"/>
              <a:t>: </a:t>
            </a:r>
            <a:r>
              <a:rPr lang="ko-KR" altLang="en-US" dirty="0"/>
              <a:t>핵심 분석 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C12485-F947-1F48-9EBF-B0E477C0E950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38B8D-44B9-06FD-A92B-56D3AC5C1928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8BBF1E-6D65-2221-985C-1A456A790E89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111415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D2D67-1E82-0DE6-C073-9DCEE2BD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2835A-F92D-9486-EEBB-DD5B52957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인공지능을 분석 단위로 보는 방법론적 정당화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미디어 방정식</a:t>
            </a:r>
            <a:r>
              <a:rPr lang="en-US" altLang="ko-KR" dirty="0"/>
              <a:t>, CASA, HMC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84F0EA-ABC4-2013-91EB-08653A7B642D}"/>
              </a:ext>
            </a:extLst>
          </p:cNvPr>
          <p:cNvSpPr txBox="1">
            <a:spLocks/>
          </p:cNvSpPr>
          <p:nvPr/>
        </p:nvSpPr>
        <p:spPr>
          <a:xfrm>
            <a:off x="571499" y="2065938"/>
            <a:ext cx="11059811" cy="39207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3EAE57-46E5-F75D-D22F-B2AF3225C8B1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DFF42F-E9FF-7C86-A5E6-43591B5F3098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465155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CF92E-9F08-0B94-D12A-706031E05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6C04F-AF35-F956-C7FC-F8B14256E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전산 심리측정학의 성과와 연구의 공백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D536BE-DADF-4C82-40FA-71E4D0BEF6CF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2380E-5699-62E8-F432-7CD2596CFECA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CBE01-3DDF-2758-2FD6-58A6400B9269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869343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33C02-0568-3581-9046-BFB3BEC42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35519D-06E4-286C-CEA0-F1E24099E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문제 및 연구 가설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EBCDED-DDB7-DD58-2315-88D40E3D4A48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AE2ABA-B4EA-49BE-C668-D1FA161EA599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27686-F219-F049-DD8E-D388A8577CE5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272989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35B7-B017-EA87-EAAF-F28E9E166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6061D-B250-7BA0-1D3D-FC105E872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CCD5B0-5681-CE54-27A5-3DC60B78AA19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C97B92-BDB9-9328-91B8-B6652F38E30C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DFCB2-00A6-6298-CF34-3069AAB3C0BA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3626587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CEEDF-5159-FD9B-3C25-D22340B13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7EB2AF-7907-ED13-E50C-FB7D2C22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그리드</a:t>
            </a:r>
            <a:r>
              <a:rPr lang="en-US" altLang="ko-KR" dirty="0"/>
              <a:t>-</a:t>
            </a:r>
            <a:r>
              <a:rPr lang="ko-KR" altLang="en-US" dirty="0"/>
              <a:t>그룹 문화적 원형 측정 도구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529CD7-7192-0810-D5B1-91257027377E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D80CB-CA3A-95F7-642E-B3D72DA5CFB7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5F190-049D-950E-931C-466948CD10C2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3931272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47AD9-D8F4-5259-E277-CEC253E4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92056-7351-1298-E87A-8E0E120BD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위험 지각 결정 요인 측정 도구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3EB9F2-9627-A38F-44DD-71FEFBA627E6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D8F84-6A05-F646-ABE6-62D69A7A862D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1082E-6818-443D-DE03-E685CEA3E68A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325491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7D219-8CFD-2112-AD2F-7506FD0BF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6EB5E3-6944-C29C-5F20-0A2F71FC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기술</a:t>
            </a:r>
            <a:r>
              <a:rPr lang="en-US" altLang="ko-KR" dirty="0"/>
              <a:t>·</a:t>
            </a:r>
            <a:r>
              <a:rPr lang="ko-KR" altLang="en-US" dirty="0"/>
              <a:t>사회적 위험 시나리오 텍스트 추출 도구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5AD3D2-F57F-5FDD-EFFA-6E7DF57F35EE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6EB08-B051-3E87-658F-CC8BB2DB8991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F5E03-E15B-020B-B1F8-D394B0A90863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3704068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648DD-A9AF-29D0-D024-C7471B56A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B7936-CBDE-CA25-5C67-5B5008B0D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통제된 실험 환경 및 시스템 </a:t>
            </a:r>
            <a:r>
              <a:rPr lang="ko-KR" altLang="en-US" dirty="0" err="1"/>
              <a:t>프롬프팅</a:t>
            </a:r>
            <a:r>
              <a:rPr lang="ko-KR" altLang="en-US" dirty="0"/>
              <a:t> 전략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904A0-B242-1327-5BB8-BEE119A44005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BD403-D386-32B6-DEC8-8E3B21434B1B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8D0BD-768F-81CA-367E-1326FB78DFCB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2089870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1A312-7239-36EC-AB32-4DE3D9238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717C1-2CD0-71FA-FC74-BB884ADB5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양적 분석 전략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F0E090-2409-7907-321B-EE7E4A301570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971AF-C08F-103A-83CD-731A933F1128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D8C272-931D-B40B-8D9C-9CB6042EFBC9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1188837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E5A3B-4112-DB7D-B074-B980F6D7D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7BFB4-2990-4FA5-FE42-2DE3E8402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질적 분석 전략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3F76E6-B014-7BA6-E670-578A53214FC8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2FEF5-7FF8-890F-E6C0-8230CA38498A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BBEE43-249E-4887-0A5B-D5F380D02EAB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2794259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1534B-9101-A66C-D71A-B53CB2109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F3E8A-77DF-9439-9BCA-0E0B1E02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BD203B-7981-8A3E-D9F1-46FFC87843AB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065081-73AA-4312-63F8-26FB64770CA4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A1190B-C7A9-DB63-8834-4619E3E2BF65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3777220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0F0D-C084-DA9D-5C8B-E8FA92EA2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39FC27-8B3F-1A94-A72D-82BF1FF5E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References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466E45-365B-B052-9633-063150E6FA59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인공지능은 더 이상 단순한 도구가 아닌 사회적 행위자임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B2C05-F173-F2F5-5341-1705A93E24FF}"/>
              </a:ext>
            </a:extLst>
          </p:cNvPr>
          <p:cNvSpPr txBox="1"/>
          <p:nvPr/>
        </p:nvSpPr>
        <p:spPr>
          <a:xfrm>
            <a:off x="571499" y="640036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생성형 인공지능의 위험 인식 구조와 문화적 원형</a:t>
            </a:r>
            <a:r>
              <a:rPr lang="en-US" altLang="ko-KR" sz="1400" dirty="0"/>
              <a:t>: </a:t>
            </a:r>
            <a:r>
              <a:rPr lang="ko-KR" altLang="en-US" sz="1400" dirty="0"/>
              <a:t>위험 커뮤니케이션 관점에서의 알고리즘 감사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송종빈</a:t>
            </a:r>
            <a:r>
              <a:rPr lang="ko-KR" altLang="en-US" sz="1400" dirty="0"/>
              <a:t> </a:t>
            </a:r>
            <a:r>
              <a:rPr lang="en-US" altLang="ko-KR" sz="1400" dirty="0"/>
              <a:t>&amp; </a:t>
            </a:r>
            <a:r>
              <a:rPr lang="ko-KR" altLang="en-US" sz="1400" dirty="0"/>
              <a:t>장미경</a:t>
            </a:r>
            <a:r>
              <a:rPr lang="en-US" altLang="ko-KR" sz="1400" dirty="0"/>
              <a:t>,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296460-BDFF-77AF-F8F4-25EC577549FF}"/>
              </a:ext>
            </a:extLst>
          </p:cNvPr>
          <p:cNvSpPr txBox="1"/>
          <p:nvPr/>
        </p:nvSpPr>
        <p:spPr>
          <a:xfrm>
            <a:off x="560690" y="223025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2026 </a:t>
            </a:r>
            <a:r>
              <a:rPr lang="ko-KR" altLang="en-US" sz="1400" dirty="0"/>
              <a:t>한국소통학회 봄철 정기학술대회</a:t>
            </a:r>
          </a:p>
        </p:txBody>
      </p:sp>
    </p:spTree>
    <p:extLst>
      <p:ext uri="{BB962C8B-B14F-4D97-AF65-F5344CB8AC3E}">
        <p14:creationId xmlns:p14="http://schemas.microsoft.com/office/powerpoint/2010/main" val="1468842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72A47-D215-D6D5-161F-1C267EEF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848082"/>
            <a:ext cx="11049000" cy="1161836"/>
          </a:xfrm>
        </p:spPr>
        <p:txBody>
          <a:bodyPr>
            <a:noAutofit/>
          </a:bodyPr>
          <a:lstStyle/>
          <a:p>
            <a:pPr algn="ctr"/>
            <a:r>
              <a:rPr lang="en-US" altLang="ko-KR" sz="9600" dirty="0"/>
              <a:t>Thank you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57891815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lignment">
      <a:dk1>
        <a:sysClr val="windowText" lastClr="000000"/>
      </a:dk1>
      <a:lt1>
        <a:sysClr val="window" lastClr="FFFFFF"/>
      </a:lt1>
      <a:dk2>
        <a:srgbClr val="3B3D38"/>
      </a:dk2>
      <a:lt2>
        <a:srgbClr val="F7F2EE"/>
      </a:lt2>
      <a:accent1>
        <a:srgbClr val="928A63"/>
      </a:accent1>
      <a:accent2>
        <a:srgbClr val="B57B6B"/>
      </a:accent2>
      <a:accent3>
        <a:srgbClr val="9E8484"/>
      </a:accent3>
      <a:accent4>
        <a:srgbClr val="7C8A75"/>
      </a:accent4>
      <a:accent5>
        <a:srgbClr val="8C8578"/>
      </a:accent5>
      <a:accent6>
        <a:srgbClr val="A18563"/>
      </a:accent6>
      <a:hlink>
        <a:srgbClr val="B57B6B"/>
      </a:hlink>
      <a:folHlink>
        <a:srgbClr val="7C8A75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</TotalTime>
  <Words>2467</Words>
  <Application>Microsoft Office PowerPoint</Application>
  <PresentationFormat>와이드스크린</PresentationFormat>
  <Paragraphs>208</Paragraphs>
  <Slides>18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Batang</vt:lpstr>
      <vt:lpstr>Arial</vt:lpstr>
      <vt:lpstr>Avenir Next LT Pro Light</vt:lpstr>
      <vt:lpstr>AlignmentVTI</vt:lpstr>
      <vt:lpstr>PowerPoint 프레젠테이션</vt:lpstr>
      <vt:lpstr>생성형 인공지능의 사회적 행위성 &amp; 분석 상향의 전환</vt:lpstr>
      <vt:lpstr>위험사회의 구조적 변동과 AI 매개 공론장의 위기</vt:lpstr>
      <vt:lpstr>위험 지각의 인지적 매커니즘과 알고리즘적 이식</vt:lpstr>
      <vt:lpstr>위험의 문화이론: 핵심 분석 틀</vt:lpstr>
      <vt:lpstr>인공지능을 분석 단위로 보는 방법론적 정당화: 미디어 방정식, CASA, HMC</vt:lpstr>
      <vt:lpstr>전산 심리측정학의 성과와 연구의 공백</vt:lpstr>
      <vt:lpstr>연구 문제 및 연구 가설</vt:lpstr>
      <vt:lpstr>연구 방법</vt:lpstr>
      <vt:lpstr>그리드-그룹 문화적 원형 측정 도구</vt:lpstr>
      <vt:lpstr>위험 지각 결정 요인 측정 도구</vt:lpstr>
      <vt:lpstr>기술·사회적 위험 시나리오 텍스트 추출 도구</vt:lpstr>
      <vt:lpstr>통제된 실험 환경 및 시스템 프롬프팅 전략</vt:lpstr>
      <vt:lpstr>양적 분석 전략</vt:lpstr>
      <vt:lpstr>질적 분석 전략</vt:lpstr>
      <vt:lpstr>연구 결과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Jongbeen Song</dc:creator>
  <cp:lastModifiedBy>Jongbeen Song</cp:lastModifiedBy>
  <cp:revision>7</cp:revision>
  <dcterms:created xsi:type="dcterms:W3CDTF">2026-02-13T15:35:19Z</dcterms:created>
  <dcterms:modified xsi:type="dcterms:W3CDTF">2026-05-17T16:42:54Z</dcterms:modified>
</cp:coreProperties>
</file>