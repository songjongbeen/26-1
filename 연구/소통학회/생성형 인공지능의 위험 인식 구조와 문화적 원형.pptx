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46"/>
  </p:notesMasterIdLst>
  <p:sldIdLst>
    <p:sldId id="288" r:id="rId2"/>
    <p:sldId id="257" r:id="rId3"/>
    <p:sldId id="304" r:id="rId4"/>
    <p:sldId id="305" r:id="rId5"/>
    <p:sldId id="350" r:id="rId6"/>
    <p:sldId id="351" r:id="rId7"/>
    <p:sldId id="306" r:id="rId8"/>
    <p:sldId id="311" r:id="rId9"/>
    <p:sldId id="312" r:id="rId10"/>
    <p:sldId id="307" r:id="rId11"/>
    <p:sldId id="316" r:id="rId12"/>
    <p:sldId id="315" r:id="rId13"/>
    <p:sldId id="319" r:id="rId14"/>
    <p:sldId id="313" r:id="rId15"/>
    <p:sldId id="314" r:id="rId16"/>
    <p:sldId id="318" r:id="rId17"/>
    <p:sldId id="317" r:id="rId18"/>
    <p:sldId id="322" r:id="rId19"/>
    <p:sldId id="320" r:id="rId20"/>
    <p:sldId id="323" r:id="rId21"/>
    <p:sldId id="321" r:id="rId22"/>
    <p:sldId id="324" r:id="rId23"/>
    <p:sldId id="327" r:id="rId24"/>
    <p:sldId id="333" r:id="rId25"/>
    <p:sldId id="334" r:id="rId26"/>
    <p:sldId id="335" r:id="rId27"/>
    <p:sldId id="332" r:id="rId28"/>
    <p:sldId id="336" r:id="rId29"/>
    <p:sldId id="338" r:id="rId30"/>
    <p:sldId id="339" r:id="rId31"/>
    <p:sldId id="340" r:id="rId32"/>
    <p:sldId id="341" r:id="rId33"/>
    <p:sldId id="342" r:id="rId34"/>
    <p:sldId id="343" r:id="rId35"/>
    <p:sldId id="344" r:id="rId36"/>
    <p:sldId id="345" r:id="rId37"/>
    <p:sldId id="346" r:id="rId38"/>
    <p:sldId id="328" r:id="rId39"/>
    <p:sldId id="330" r:id="rId40"/>
    <p:sldId id="331" r:id="rId41"/>
    <p:sldId id="265" r:id="rId42"/>
    <p:sldId id="347" r:id="rId43"/>
    <p:sldId id="348" r:id="rId44"/>
    <p:sldId id="349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242" autoAdjust="0"/>
  </p:normalViewPr>
  <p:slideViewPr>
    <p:cSldViewPr snapToGrid="0">
      <p:cViewPr varScale="1">
        <p:scale>
          <a:sx n="88" d="100"/>
          <a:sy n="88" d="100"/>
        </p:scale>
        <p:origin x="75" y="3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CB8D08-34DA-4F78-8F9A-57C08BEFE083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D9D0D-256A-4334-8FBF-FD40B2DA7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582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44000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8D6CA-249E-60D1-4D6B-762024FF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E816B5-70D8-FDCC-3F34-05B6E74DA7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22E71B-DC6D-A1D5-B54D-93CEEA4E6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6AD67-ED21-6A33-A29E-651FABB84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345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6E2F8-1578-9DE9-274C-666C8B4CD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0B88CC-DA0B-DBAB-861A-56D6995AD5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76781-03AA-D929-23B6-FC96B31DF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9290CF-580A-2EB8-E2F6-4CEDAED947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8790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673BA-8F40-BE35-8102-700B5B49E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6A3990-6A19-17EB-A525-49B20ADAE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6B4E19-9372-0862-D3B6-8C54CB016B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2C701-A8C2-8D6E-6ED0-B98BB6757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859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A355A-508A-F64B-4E51-C84F0C37A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0C62-A5E6-FB75-8C61-2D291B6466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C6BE3B-9DAC-7C99-6D53-27EAEFCFA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473D1B-0647-5B08-F1FB-36A843BC4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928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F6F0D-EBE0-4A61-A138-8483E0AEF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F10557-D866-82CD-E78C-E87886F2FF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3F4EE9-2632-2E96-5A56-C2F530648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5A0C31-086F-FE01-DFE3-08909845F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482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087F0-9631-4B44-80B7-91E1BD357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FF2159A-91CF-0606-9A38-AD91EE94F1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76C720-594A-19A6-9C14-0CA33B893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45656D-ACD1-5306-E56D-C1161125E1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279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C536D-EC68-19FE-2B8A-406381EA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E2EFAA-2FEB-CE88-A832-C34BEAE30E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180FAB-EA16-BA58-F1F4-FAAC068BB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78CA30-D810-68D7-9402-947B1CA21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90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2A0F2-F58D-5D02-2AF9-ACAF98E47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D1D4E8-DC65-B69F-ED85-4F10739672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871629-50F3-D8C9-6347-538505307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B5284-1054-1A0D-3FD5-90D32132AA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1078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79158-ACC1-2331-DFEC-8422DFE00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0CFA03-2C9F-1B6E-CF21-7A6A18300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330FB5-E27C-5943-F2B5-C662230AE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6308EB-4FFA-60DC-BA11-600141E000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032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2B1A-2643-2FF0-A0E3-2FE888D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6F92B4-CB59-1D93-FBBC-8A053EF42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564503-DB70-7CBB-2C73-35D4E3FB3E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29B2BC-B6A3-A483-2C64-B03FC4D05D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266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B734B-235D-4530-40A3-1B948C100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8A1A47-9B34-5898-0010-029BA8AB9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CAFFDE-24F3-5E65-A7F9-381BD4431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3F0291-7FCE-4ED9-55FA-AD8D1198D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7495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DA2C8-40C8-456D-F70A-3BB9CC41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07ACBF-C7CC-1DA7-D5F1-6C20F33DA4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22845B-AD33-6925-DB70-DDDC8CC56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178071-D8EC-3831-F9B3-633A0A9785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18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E3CFF-0E5E-AA8A-EFE9-E248F3A20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34ADB4-2EEF-EEE3-87D1-30865773C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3E24B3-AF7A-083A-9661-75A956E1C1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4261B9-EC5C-73AB-F9B7-BCDB5B5C37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96359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21920-AB1E-E83D-C486-87AF21E31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46954E-8DBA-CFF8-458B-ED792A006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2ED339-0DA5-5782-937B-083A81061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ED3878-AD65-5308-1B4E-D72F49004D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020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0BEB5-BA08-9A64-8584-E4C42A0D4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45729-7E84-D913-1D72-365C63A06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FB02E-6AC6-2F59-1EC5-26FFDE6E3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E7B4B5-5487-6C87-A785-DB841DEDA3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2466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36CAB-0572-FEDB-DA69-06BF57B9D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9AD51B-8913-D7DE-E005-39CC2B644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1FDE3B-B6F7-2984-8AF5-B786371A74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E7D3E8-3783-DF0B-E04E-0526D11CE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9255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7E906-353B-1694-065E-CF1A522E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F506E-CDA9-9696-C1E2-6491C7DFF5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5799A1-BC2D-14A1-1316-2E15200EF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0C4E83-EA10-3D17-C32A-BD9354E09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91766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7B94D-E077-5842-DF37-0DA626AE6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9F7CB4-5390-936C-7345-2C375B05B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7ED06A-250E-0788-36AD-4B98A2752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F4DB67-7548-E12E-3AE9-55E9E389FD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014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ED9D0-E595-27CE-F11D-02EEF5635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7D7E26-E703-DD17-9FAA-D8B42C59B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D7D538-E67C-E042-24F1-72B2AC3A2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5C8081-A066-E739-3117-027229CCE1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2852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39DDE-00F1-ED11-4D10-56AE21A3D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0668CC-B030-082C-C007-1D383817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7C92E2-F656-22B1-37FC-C7C245D6E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4EB6A0-8F33-C97E-81CF-9A0F1845C5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6850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9AF6D-7386-40B4-3AF8-6F9B7F631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96C1AD-7665-31D5-774E-1AD583E6B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367AE-A437-397F-3299-8CF88989B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3352C7-92EE-720F-A502-7A4AEAFFD1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2211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F09B2-A924-B110-D8C2-F52FFF7B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4888B1-A862-E10F-3A19-F6770F1182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A0E5B7-6F80-C43F-5D46-1D8B9F8B6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6F86D3-B905-F409-70D4-FD54AA2ADA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92161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83029-382C-7517-9D5A-AA8FB548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B1F0A8-2CA5-15DF-B966-CFBC532E18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350737-B8B1-5158-561B-E915EC573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13C359-0279-A6F4-CEA3-677E7266B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986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A9A7B-8938-153B-6FCF-B6CF7A4BD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8AD6BF-210D-EF91-3939-8DCE724F7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E31002-5048-A6CC-E3D3-3DD87F128C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45591-3F07-9866-A365-E04D4577C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289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62BFE-007C-D7E3-D715-FAB004676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DB8CEE-79E6-0CEC-C59C-319A4737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CD3BE-4CC4-1EB2-0B2D-49F68DD39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DD2EB3-DCD6-F5FD-2B6E-811EC3824F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917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2E1E-CE4C-9DDF-D8DD-4DF2332A2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DF8D57-1E6C-BF2B-5893-4661CFB5D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BD3120-CECE-03D4-895F-40E0738BC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0EB1CC-3D1D-5AE8-0449-2F788C1FB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84651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DD4F6-9A40-FDAF-A8D1-72362BEB1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5FB54E-0BF7-B555-318A-E5C6F209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EB6059E-68D9-AB29-A148-C47926893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F66CE7-EEFD-1577-A2F0-BF86A71F7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212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458F8-FB07-3ACB-40F8-F327B1D9C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DF35AA-8F73-C564-A59A-D88EA1FD1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E2391E-E8DB-B1F4-E83A-E72BCBBE65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839B19-CD09-1393-9F55-39E596324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1109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FEE82-3EF5-1C9C-30C0-26088C75A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DBDF1B-9E4C-8002-31C4-7FD06C0E3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F712DB-6585-7DFB-9052-CBB3C52D9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BB974-1972-D0CD-6EAE-5BD25ECC89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000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9259A-7B8E-07AA-264E-196FBD97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5BEAAB-64FF-38FF-32EE-A67A75F6E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183E13-C2AB-445B-522E-1678CCB8E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08BDA4-D842-A350-AD09-FA36DB4F8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53282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E7C4E-72E1-B41E-A7C8-508810D93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85FFAA-3FEB-F888-39F1-0E3B3E6420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A985E-7D00-9FFA-4442-7DC15D97B8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3D938-F2A1-DF7E-BFA4-49E801F239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1079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BD8B8-11BA-17D1-632C-BD3864CCB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FDA0AE-8516-4C79-8C80-A4E5F55E0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AA85D8-BA3F-B823-3BFE-5B2B1B5EF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33C0ED-5A45-28A9-D190-5FE4FF6600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6287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AF8BF-98C9-2521-24DD-D05981011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25A5AE-E4E5-0E39-B74F-1A10789A3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80FB14-5604-C725-7E15-C5FFE8955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C589D8-25B7-0DD8-5A9D-65773EAAC1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85898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074D2-C552-2306-871D-A81104692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7C6D2A-58B7-0521-54C1-37E138F66B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549B30-B9C4-C0BA-C91F-AF0A712EC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1995DC-4AEB-9287-9A43-44FA247A4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795568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25AD7-CB5C-D3F1-6267-7C4BC6E1C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8C1A68-D8B8-25A1-9355-C554C268A7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9DC81A-D479-0FAA-4136-5C17200E4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D3F24-8D52-DF00-58FD-1F3B32A46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036729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DFDEE-D544-17E9-A085-1C9652CF4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BE2F08-7516-5E71-EA1E-30436D474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11E802-FDCE-0923-FEC7-A0B3421D2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465905-CF81-1909-4C5E-E8464908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2103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641F1-8199-229F-CE80-43B90AD94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0A015D-F458-0F8F-111D-A3DD7FFAF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F7C7E4-17D9-BC88-597F-79DA9F51B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82B592-272E-EAD1-90EE-C2B3194989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62292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983C5-F7EB-951C-A24B-F07EC1500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5C27D9-99C6-3C15-CCB9-23C04661B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BE1409-69A2-F5BB-710D-5D69D11F7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49F22D-EB28-EE5C-E020-3EC2FB331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3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D8E5E-745C-407D-B425-C78EBF08D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822960"/>
            <a:ext cx="6057899" cy="5015169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7A4D5-56F4-4287-B174-56C55B18F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113" y="3003642"/>
            <a:ext cx="3522199" cy="2900274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B9C19-FEE0-4852-B181-14A0DD77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DDF-01B7-463C-82BC-BBF42961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056A-C3EE-4809-B1F3-1CEEEA26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40FCEE-B6E2-46D0-9BB0-F45F79545E9D}"/>
              </a:ext>
            </a:extLst>
          </p:cNvPr>
          <p:cNvCxnSpPr>
            <a:cxnSpLocks/>
          </p:cNvCxnSpPr>
          <p:nvPr/>
        </p:nvCxnSpPr>
        <p:spPr>
          <a:xfrm flipH="1">
            <a:off x="571501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D2FB83-3783-4477-80B5-DA5BF10BAF57}"/>
              </a:ext>
            </a:extLst>
          </p:cNvPr>
          <p:cNvCxnSpPr>
            <a:cxnSpLocks/>
          </p:cNvCxnSpPr>
          <p:nvPr/>
        </p:nvCxnSpPr>
        <p:spPr>
          <a:xfrm>
            <a:off x="7742482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3EA203-71D5-49C0-9626-FFA8E46787B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835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ED8-7F53-4C03-A740-493E5079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1087-99A9-4100-B5F7-520880DE3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2075688"/>
            <a:ext cx="11059811" cy="3910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4B20-1A65-4A26-B11E-6095083A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52D3-E985-4FEB-89B9-57C75471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A751A-C72D-47C1-A7A6-E8510A40C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82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1F78-07BF-45A9-92D4-E4E0A1E8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914255"/>
            <a:ext cx="6867115" cy="5009471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C2A83-A380-4828-BC68-C065C8BC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39817" y="914399"/>
            <a:ext cx="2370268" cy="2670273"/>
          </a:xfrm>
        </p:spPr>
        <p:txBody>
          <a:bodyPr anchor="t">
            <a:normAutofit/>
          </a:bodyPr>
          <a:lstStyle>
            <a:lvl1pPr marL="0" indent="0">
              <a:lnSpc>
                <a:spcPct val="130000"/>
              </a:lnSpc>
              <a:buNone/>
              <a:defRPr sz="14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92B2F-8804-4195-A779-F5C67C25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99C26-4411-4833-A917-A45E62D56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C7C7-F862-434D-A87A-DECE9FD2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0BAA4B-C4C0-40C1-8DC8-B4E2F8A68E12}"/>
              </a:ext>
            </a:extLst>
          </p:cNvPr>
          <p:cNvCxnSpPr>
            <a:cxnSpLocks/>
          </p:cNvCxnSpPr>
          <p:nvPr/>
        </p:nvCxnSpPr>
        <p:spPr>
          <a:xfrm>
            <a:off x="8872625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0A2259-2540-4B32-A999-2B46A6790E3D}"/>
              </a:ext>
            </a:extLst>
          </p:cNvPr>
          <p:cNvCxnSpPr>
            <a:cxnSpLocks/>
          </p:cNvCxnSpPr>
          <p:nvPr/>
        </p:nvCxnSpPr>
        <p:spPr>
          <a:xfrm flipH="1">
            <a:off x="566094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FB0ED-3F76-4403-AD0B-E738DD9D8CB6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5255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BD5F-CF53-4DD5-B8C5-27BBA2BB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09684"/>
            <a:ext cx="11049000" cy="105716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6C2E1-5D5E-409F-BEE8-F48CE86F5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447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F823-1BFB-4CF0-BAF4-D660C8F1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7082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F816E-EE02-44A4-8B81-B324ECFD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4D9E4-A693-44D2-A3E8-E3AABC90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F669F-4B8E-415D-A9BF-AD451F45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0AF959-FCDC-4B92-9324-06A06C0D56F2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805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85E5-82C4-4BAE-B2B0-A078ABD6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69" y="699118"/>
            <a:ext cx="11025062" cy="1063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D15C7-F445-40F7-88F6-FD652626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468" y="2022883"/>
            <a:ext cx="5230469" cy="564079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52C35-AA8E-4154-8A78-7DE9590E1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69" y="2866031"/>
            <a:ext cx="5157787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57EAC6-567C-4A4A-BB10-57EC14B97D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41470" y="2022883"/>
            <a:ext cx="5183188" cy="564080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A083F-AD60-4437-B32A-44035D78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41470" y="2866031"/>
            <a:ext cx="5183188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BF86F-3266-4551-B680-06F401FF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B38FE-80F9-4582-B2E1-B067C288D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BEF32-F637-47A1-9ED3-AFC4F79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C508D4-7C99-4B8D-BCDE-F0001BD345D9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BF61B-7951-48F4-982B-9401A483FFBF}"/>
              </a:ext>
            </a:extLst>
          </p:cNvPr>
          <p:cNvCxnSpPr>
            <a:cxnSpLocks/>
          </p:cNvCxnSpPr>
          <p:nvPr/>
        </p:nvCxnSpPr>
        <p:spPr>
          <a:xfrm flipH="1">
            <a:off x="577485" y="273859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36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94CB-6BE5-4B9E-B0A6-54F83B201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17452"/>
            <a:ext cx="11049000" cy="116183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8643C-1A5D-4F23-B0D7-5B46F5E4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A3394-78CC-43B0-9762-5E826F8B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47F0A-1980-4E13-AB22-AE3B8AA44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9D858B-8A9C-4235-B151-81C99A3D20D2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C7798B-3ECB-4076-8955-A82116BB0D2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7566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61D85-3E72-406F-AB26-B4ED9491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C831E-4321-467E-9090-C89C48C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A9556-B3D8-4403-835F-11AE2D40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008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AA48-D521-423D-B185-6490EF57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01" y="810344"/>
            <a:ext cx="3478084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4E6DD-DDD2-4ED6-B8A9-A8B6D7656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9809" y="931232"/>
            <a:ext cx="6700679" cy="50793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8F5E-AD33-4ACF-84C9-78B0FF6B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2578608"/>
            <a:ext cx="3478783" cy="34172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7604E-7DD4-4497-B325-74F899E8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2BEED-A8F6-4256-9539-4434694A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1AA6-EE0B-48FD-A7DE-6CEE6A8C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F35B32-9A23-4805-94A6-96826D202139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BA7DA-3944-40D4-91CD-40CA24DBB79B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EA0B78-39E7-4039-B8BE-4F425688C6DF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68B99C-0744-42EE-9713-AB0CEC3F5D8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047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2732-5D39-4B30-A499-D51BABC8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802204"/>
            <a:ext cx="3478787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AF5AEC-77BC-4A52-8A56-C6479CA6A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23467" y="847384"/>
            <a:ext cx="6907844" cy="52168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A9240-8762-4C7D-AF22-A844CB2EC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498" y="2574906"/>
            <a:ext cx="3478787" cy="34357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95685-E45D-4E74-8B78-D3B8E85C4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CBA3-0FF5-47C2-901A-645F6185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0381-5320-46AD-A0B9-7C04B3E5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57A432-D933-402A-8657-216EE20450EE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B1E0F3-D71B-436F-A10B-B6EA7125F684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EE64F5-2B48-4A2E-BA5E-1D37F1A7C9A3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9BF9AA-A2C8-4233-B597-EB11C6D6A0E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322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9A0A-70FC-426A-8B3B-60FAF980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F47EC6-9753-4ABC-BB66-64CCC8BA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99" y="2036363"/>
            <a:ext cx="11059811" cy="38707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4D9F-DC99-4B4C-98CF-178BBBB7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6840-AC0B-4260-8368-08E0A22D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5DAB8-EC07-4CCF-96EA-5D8ACDA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38F1AC-9961-4786-A189-20863DD97F68}"/>
              </a:ext>
            </a:extLst>
          </p:cNvPr>
          <p:cNvCxnSpPr>
            <a:cxnSpLocks/>
          </p:cNvCxnSpPr>
          <p:nvPr/>
        </p:nvCxnSpPr>
        <p:spPr>
          <a:xfrm flipH="1">
            <a:off x="571500" y="1780979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449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75F678-EC03-4845-A51B-C90FA6A154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77953" y="797251"/>
            <a:ext cx="2483929" cy="52837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A8B4D-A39F-4528-975A-9C84BEE77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6094" y="797251"/>
            <a:ext cx="8101072" cy="52837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E4A23-6984-4AD1-A51D-600EDC263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3E28-C341-49CC-BAAB-0C0D1982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6D54A-8E86-4026-8DD0-5B0979BB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05DA4-DF32-4D7A-9E4D-36309C90C5BB}"/>
              </a:ext>
            </a:extLst>
          </p:cNvPr>
          <p:cNvCxnSpPr>
            <a:cxnSpLocks/>
          </p:cNvCxnSpPr>
          <p:nvPr/>
        </p:nvCxnSpPr>
        <p:spPr>
          <a:xfrm flipH="1">
            <a:off x="566094" y="57711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CC7262-4997-41E4-976D-BA82E148280F}"/>
              </a:ext>
            </a:extLst>
          </p:cNvPr>
          <p:cNvCxnSpPr>
            <a:cxnSpLocks/>
          </p:cNvCxnSpPr>
          <p:nvPr/>
        </p:nvCxnSpPr>
        <p:spPr>
          <a:xfrm flipV="1">
            <a:off x="8875226" y="571500"/>
            <a:ext cx="0" cy="57114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5063B5-E478-4C41-AD40-49A39AE07429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5335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1467D-9ED1-4211-A71E-41C91C7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89"/>
            <a:ext cx="11049000" cy="1084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8A6A1-C9C7-4FDF-B4DA-1E86B6A35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499" y="2075688"/>
            <a:ext cx="11059811" cy="3818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CC44A-C635-4CD0-90E9-D9503AF4C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36732" y="6397103"/>
            <a:ext cx="30919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fld id="{1C8322F6-1C60-46CF-968C-BC20E470F443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F682-1A47-492C-81E3-9DB0A50EC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5782" y="639710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C814B-9105-44ED-98A9-D326B2E26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4553" y="6397103"/>
            <a:ext cx="700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814345-41DE-42C5-8657-66C1417DF81A}"/>
              </a:ext>
            </a:extLst>
          </p:cNvPr>
          <p:cNvCxnSpPr>
            <a:cxnSpLocks/>
          </p:cNvCxnSpPr>
          <p:nvPr/>
        </p:nvCxnSpPr>
        <p:spPr>
          <a:xfrm flipH="1">
            <a:off x="566094" y="6286347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68E419-3727-4F5E-8840-AF149B33B0B7}"/>
              </a:ext>
            </a:extLst>
          </p:cNvPr>
          <p:cNvCxnSpPr>
            <a:cxnSpLocks/>
          </p:cNvCxnSpPr>
          <p:nvPr/>
        </p:nvCxnSpPr>
        <p:spPr>
          <a:xfrm flipH="1">
            <a:off x="577485" y="1883336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19B6EC-D7AE-452F-8D0C-D11BD3377F3E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62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100" baseline="0">
          <a:solidFill>
            <a:schemeClr val="tx1"/>
          </a:solidFill>
          <a:latin typeface="Batang" panose="02030600000101010101" pitchFamily="18" charset="-127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rosem@korea.ac.kr" TargetMode="External"/><Relationship Id="rId2" Type="http://schemas.openxmlformats.org/officeDocument/2006/relationships/hyperlink" Target="mailto:1041489@gmail.com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891/1942-0617.1.2.193" TargetMode="External"/><Relationship Id="rId7" Type="http://schemas.openxmlformats.org/officeDocument/2006/relationships/hyperlink" Target="https://doi.org/10.3726/b14414" TargetMode="External"/><Relationship Id="rId2" Type="http://schemas.openxmlformats.org/officeDocument/2006/relationships/hyperlink" Target="https://arxiv.org/abs/2212.08073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i.org/10.18716/pd.v2i1.11657" TargetMode="External"/><Relationship Id="rId5" Type="http://schemas.openxmlformats.org/officeDocument/2006/relationships/hyperlink" Target="https://doi.org/10.1016/0040-1625(83)90032-X" TargetMode="External"/><Relationship Id="rId4" Type="http://schemas.openxmlformats.org/officeDocument/2006/relationships/hyperlink" Target="https://doi.org/10.18653/v1/2023.acl-long.84" TargetMode="Externa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2196/75347" TargetMode="External"/><Relationship Id="rId3" Type="http://schemas.openxmlformats.org/officeDocument/2006/relationships/hyperlink" Target="https://doi.org/10.14281/18241.18" TargetMode="External"/><Relationship Id="rId7" Type="http://schemas.openxmlformats.org/officeDocument/2006/relationships/hyperlink" Target="https://arxiv.org/abs/2603.11279" TargetMode="External"/><Relationship Id="rId2" Type="http://schemas.openxmlformats.org/officeDocument/2006/relationships/hyperlink" Target="https://doi.org/10.1177/1461444819858691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i.org/10.1080/13669877.2024.2350725" TargetMode="External"/><Relationship Id="rId5" Type="http://schemas.openxmlformats.org/officeDocument/2006/relationships/hyperlink" Target="https://doi.org/10.1080/13669877.2010.511246" TargetMode="External"/><Relationship Id="rId4" Type="http://schemas.openxmlformats.org/officeDocument/2006/relationships/hyperlink" Target="https://doi.org/10.1386/macp.10.3.245_1" TargetMode="External"/><Relationship Id="rId9" Type="http://schemas.openxmlformats.org/officeDocument/2006/relationships/hyperlink" Target="https://doi.org/10.1145/191666.191703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26/science.3563507" TargetMode="External"/><Relationship Id="rId2" Type="http://schemas.openxmlformats.org/officeDocument/2006/relationships/hyperlink" Target="https://doi.org/10.1177/0893318988002002006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doi.org/10.31234/osf.io/qh5e3_v1" TargetMode="External"/><Relationship Id="rId4" Type="http://schemas.openxmlformats.org/officeDocument/2006/relationships/hyperlink" Target="https://doi.org/10.2307/196077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52EFEA85-236C-2B7C-8801-CA0257D68594}"/>
              </a:ext>
            </a:extLst>
          </p:cNvPr>
          <p:cNvSpPr txBox="1">
            <a:spLocks/>
          </p:cNvSpPr>
          <p:nvPr/>
        </p:nvSpPr>
        <p:spPr>
          <a:xfrm>
            <a:off x="433178" y="1031846"/>
            <a:ext cx="11325645" cy="121554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>
              <a:lnSpc>
                <a:spcPts val="6000"/>
              </a:lnSpc>
            </a:pPr>
            <a:r>
              <a:rPr lang="ko-KR" altLang="en-US" dirty="0"/>
              <a:t>생성형 인공지능의 위험 인식 구조와 문화적 원형</a:t>
            </a:r>
            <a:r>
              <a:rPr lang="en-US" altLang="ko-KR" dirty="0"/>
              <a:t>:</a:t>
            </a:r>
            <a:br>
              <a:rPr lang="en-US" altLang="ko-KR" dirty="0"/>
            </a:br>
            <a:r>
              <a:rPr lang="ko-KR" altLang="en-US" dirty="0"/>
              <a:t>위험 커뮤니케이션 관점에서의 알고리즘 감사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D4EFC-803D-F5E1-188D-37AFC2FBCE04}"/>
              </a:ext>
            </a:extLst>
          </p:cNvPr>
          <p:cNvSpPr txBox="1"/>
          <p:nvPr/>
        </p:nvSpPr>
        <p:spPr>
          <a:xfrm>
            <a:off x="433178" y="2554437"/>
            <a:ext cx="11183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Risk Perception Structures and Cultural Prototypes of Generative AI:</a:t>
            </a:r>
          </a:p>
          <a:p>
            <a:r>
              <a:rPr lang="en-US" altLang="ko-KR" dirty="0"/>
              <a:t>Algorithmic Auditing from a Risk Communication Perspective</a:t>
            </a:r>
            <a:endParaRPr lang="ko-KR" altLang="en-US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E227641-5091-D2F5-83B8-AF62EBEB3E0B}"/>
              </a:ext>
            </a:extLst>
          </p:cNvPr>
          <p:cNvGrpSpPr/>
          <p:nvPr/>
        </p:nvGrpSpPr>
        <p:grpSpPr>
          <a:xfrm>
            <a:off x="433178" y="3967709"/>
            <a:ext cx="10287400" cy="1107996"/>
            <a:chOff x="433178" y="3719825"/>
            <a:chExt cx="10287400" cy="110799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84626AA-195B-7251-627D-9A08E2A5A3F2}"/>
                </a:ext>
              </a:extLst>
            </p:cNvPr>
            <p:cNvSpPr txBox="1"/>
            <p:nvPr/>
          </p:nvSpPr>
          <p:spPr>
            <a:xfrm>
              <a:off x="433178" y="3719825"/>
              <a:ext cx="4624578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400" dirty="0" err="1">
                  <a:latin typeface="+mj-lt"/>
                </a:rPr>
                <a:t>송종빈</a:t>
              </a:r>
              <a:r>
                <a:rPr lang="ko-KR" altLang="en-US" sz="2400" dirty="0"/>
                <a:t> </a:t>
              </a:r>
              <a:r>
                <a:rPr lang="en-US" altLang="ko-KR" sz="2400" dirty="0"/>
                <a:t>(Jongbeen Song)</a:t>
              </a:r>
            </a:p>
            <a:p>
              <a:endParaRPr lang="en-US" altLang="ko-KR" sz="1400" dirty="0"/>
            </a:p>
            <a:p>
              <a:r>
                <a:rPr lang="ko-KR" altLang="en-US" sz="1400" dirty="0"/>
                <a:t>고려대학교 </a:t>
              </a:r>
              <a:r>
                <a:rPr lang="ko-KR" altLang="en-US" sz="1400" dirty="0" err="1"/>
                <a:t>과학기술학협동과정</a:t>
              </a:r>
              <a:r>
                <a:rPr lang="ko-KR" altLang="en-US" sz="1400" dirty="0"/>
                <a:t> 석사과정</a:t>
              </a:r>
              <a:endParaRPr lang="en-US" altLang="ko-KR" sz="1400" dirty="0"/>
            </a:p>
            <a:p>
              <a:r>
                <a:rPr lang="en-US" altLang="ko-KR" sz="1400" dirty="0">
                  <a:hlinkClick r:id="rId2"/>
                </a:rPr>
                <a:t>1041489@gmail.com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F707EE2-FD72-ACCF-CACB-58131B3559C4}"/>
                </a:ext>
              </a:extLst>
            </p:cNvPr>
            <p:cNvSpPr txBox="1"/>
            <p:nvPr/>
          </p:nvSpPr>
          <p:spPr>
            <a:xfrm>
              <a:off x="6096000" y="3719825"/>
              <a:ext cx="4624578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400" dirty="0">
                  <a:latin typeface="+mj-lt"/>
                </a:rPr>
                <a:t>장미경</a:t>
              </a:r>
              <a:r>
                <a:rPr lang="ko-KR" altLang="en-US" sz="2400" dirty="0"/>
                <a:t> </a:t>
              </a:r>
              <a:r>
                <a:rPr lang="en-US" altLang="ko-KR" sz="2400" dirty="0"/>
                <a:t>(</a:t>
              </a:r>
              <a:r>
                <a:rPr lang="en-US" altLang="ko-KR" sz="2400" dirty="0" err="1"/>
                <a:t>Mikyung</a:t>
              </a:r>
              <a:r>
                <a:rPr lang="en-US" altLang="ko-KR" sz="2400" dirty="0"/>
                <a:t> Chang)*</a:t>
              </a:r>
            </a:p>
            <a:p>
              <a:endParaRPr lang="en-US" altLang="ko-KR" sz="1400" dirty="0"/>
            </a:p>
            <a:p>
              <a:r>
                <a:rPr lang="ko-KR" altLang="en-US" sz="1400" dirty="0"/>
                <a:t>고려대학교 </a:t>
              </a:r>
              <a:r>
                <a:rPr lang="ko-KR" altLang="en-US" sz="1400" dirty="0" err="1"/>
                <a:t>과학기술학협동과정</a:t>
              </a:r>
              <a:r>
                <a:rPr lang="ko-KR" altLang="en-US" sz="1400" dirty="0"/>
                <a:t> 겸임교수</a:t>
              </a:r>
              <a:endParaRPr lang="en-US" altLang="ko-KR" sz="1400" dirty="0"/>
            </a:p>
            <a:p>
              <a:r>
                <a:rPr lang="en-US" altLang="ko-KR" sz="1400" dirty="0">
                  <a:hlinkClick r:id="rId3"/>
                </a:rPr>
                <a:t>rosem@korea.ac.kr</a:t>
              </a:r>
              <a:r>
                <a:rPr lang="en-US" altLang="ko-KR" sz="1400" dirty="0"/>
                <a:t> (corresponding author)</a:t>
              </a:r>
              <a:endParaRPr lang="ko-KR" altLang="en-US" sz="1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F5A5137-B82A-BFBD-66DE-801154A7FEF7}"/>
              </a:ext>
            </a:extLst>
          </p:cNvPr>
          <p:cNvSpPr txBox="1"/>
          <p:nvPr/>
        </p:nvSpPr>
        <p:spPr>
          <a:xfrm>
            <a:off x="433178" y="5905238"/>
            <a:ext cx="71471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인간과 </a:t>
            </a:r>
            <a:r>
              <a:rPr lang="en-US" altLang="ko-KR" dirty="0"/>
              <a:t>AI</a:t>
            </a:r>
            <a:r>
              <a:rPr lang="ko-KR" altLang="en-US" dirty="0"/>
              <a:t>의 경계에서 다시 길을 묻다</a:t>
            </a:r>
            <a:r>
              <a:rPr lang="en-US" altLang="ko-KR" dirty="0"/>
              <a:t>: </a:t>
            </a:r>
            <a:r>
              <a:rPr lang="ko-KR" altLang="en-US" dirty="0"/>
              <a:t>소통은 이상인가</a:t>
            </a:r>
            <a:r>
              <a:rPr lang="en-US" altLang="ko-KR" dirty="0"/>
              <a:t>, </a:t>
            </a:r>
            <a:r>
              <a:rPr lang="ko-KR" altLang="en-US" dirty="0"/>
              <a:t>허상인가</a:t>
            </a:r>
            <a:r>
              <a:rPr lang="en-US" altLang="ko-KR" dirty="0"/>
              <a:t>?</a:t>
            </a:r>
          </a:p>
          <a:p>
            <a:endParaRPr lang="en-US" altLang="ko-KR" sz="1200" dirty="0"/>
          </a:p>
          <a:p>
            <a:r>
              <a:rPr lang="en-US" altLang="ko-KR" sz="1200" dirty="0"/>
              <a:t>2026</a:t>
            </a:r>
            <a:r>
              <a:rPr lang="ko-KR" altLang="en-US" sz="1200" dirty="0"/>
              <a:t>년 한국소통학회 봄철 정기학술대회</a:t>
            </a:r>
            <a:endParaRPr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63DDD5-0DBB-3592-A256-7777D0E6CC1F}"/>
              </a:ext>
            </a:extLst>
          </p:cNvPr>
          <p:cNvSpPr txBox="1"/>
          <p:nvPr/>
        </p:nvSpPr>
        <p:spPr>
          <a:xfrm>
            <a:off x="10347888" y="6336125"/>
            <a:ext cx="12687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dirty="0"/>
              <a:t>2026. 05. 29.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2989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4846A-86BB-E33F-8B50-56D961591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왜 지금 인공지능</a:t>
            </a:r>
            <a:r>
              <a:rPr lang="en-US" altLang="ko-KR" dirty="0"/>
              <a:t>(AI)</a:t>
            </a:r>
            <a:r>
              <a:rPr lang="ko-KR" altLang="en-US" dirty="0"/>
              <a:t>의 위험 인식을 연구해야 하는가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B8A756-57B3-37FA-6E0F-83C974C807C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인공지능의 현재</a:t>
            </a:r>
            <a:endParaRPr lang="en-US" altLang="ko-KR" b="1" dirty="0"/>
          </a:p>
          <a:p>
            <a:r>
              <a:rPr lang="ko-KR" altLang="en-US" dirty="0"/>
              <a:t>인공지능</a:t>
            </a:r>
            <a:r>
              <a:rPr lang="en-US" altLang="ko-KR" dirty="0"/>
              <a:t>(AI), </a:t>
            </a:r>
            <a:r>
              <a:rPr lang="ko-KR" altLang="en-US" dirty="0"/>
              <a:t>특히 대규모 언어모델</a:t>
            </a:r>
            <a:r>
              <a:rPr lang="en-US" altLang="ko-KR" dirty="0"/>
              <a:t>(LLM)</a:t>
            </a:r>
            <a:r>
              <a:rPr lang="ko-KR" altLang="en-US" dirty="0"/>
              <a:t>이 현대 사회의 지식 생산과 정보 유통의 핵심기제가 되었다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기술이 단순한 도구를 넘어선 사회적 </a:t>
            </a:r>
            <a:r>
              <a:rPr lang="ko-KR" altLang="en-US" dirty="0" err="1"/>
              <a:t>행위자로서의</a:t>
            </a:r>
            <a:r>
              <a:rPr lang="ko-KR" altLang="en-US" dirty="0"/>
              <a:t> 지위를 급격히 획득하였다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초기의 인공지능 연구는 주로 정보 검색의 효율성이나 문장 생성의 구문론적 정확성에 집중하였다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생성형 </a:t>
            </a:r>
            <a:r>
              <a:rPr lang="en-US" altLang="ko-KR" dirty="0"/>
              <a:t>AI</a:t>
            </a:r>
            <a:r>
              <a:rPr lang="ko-KR" altLang="en-US" dirty="0"/>
              <a:t>가 일상적 의사소통</a:t>
            </a:r>
            <a:r>
              <a:rPr lang="en-US" altLang="ko-KR" dirty="0"/>
              <a:t>, </a:t>
            </a:r>
            <a:r>
              <a:rPr lang="ko-KR" altLang="en-US" dirty="0"/>
              <a:t>정책 기획</a:t>
            </a:r>
            <a:r>
              <a:rPr lang="en-US" altLang="ko-KR" dirty="0"/>
              <a:t>, </a:t>
            </a:r>
            <a:r>
              <a:rPr lang="ko-KR" altLang="en-US" dirty="0"/>
              <a:t>여론 형성 과정 등에 깊숙이 개입하게 되면서</a:t>
            </a:r>
            <a:r>
              <a:rPr lang="en-US" altLang="ko-KR" dirty="0"/>
              <a:t>…</a:t>
            </a:r>
          </a:p>
          <a:p>
            <a:r>
              <a:rPr lang="ko-KR" altLang="en-US" dirty="0"/>
              <a:t>모델이 내재화하고 있는 가치관</a:t>
            </a:r>
            <a:r>
              <a:rPr lang="en-US" altLang="ko-KR" dirty="0"/>
              <a:t>, </a:t>
            </a:r>
            <a:r>
              <a:rPr lang="ko-KR" altLang="en-US" dirty="0"/>
              <a:t>편향성 등에 대한 </a:t>
            </a:r>
            <a:r>
              <a:rPr lang="en-US" altLang="ko-KR" dirty="0"/>
              <a:t>AI </a:t>
            </a:r>
            <a:r>
              <a:rPr lang="ko-KR" altLang="en-US" dirty="0"/>
              <a:t>정렬</a:t>
            </a:r>
            <a:r>
              <a:rPr lang="en-US" altLang="ko-KR" dirty="0"/>
              <a:t>(Alignment) </a:t>
            </a:r>
            <a:r>
              <a:rPr lang="ko-KR" altLang="en-US" dirty="0"/>
              <a:t>연구가 부상하고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15D63-7DAB-5A7E-196C-17878E51DFA7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992590-6410-E215-A4E7-CB19B379620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525530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96A0C-5AAA-D6D1-4B22-31B92843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DC18-001C-F9AA-99CC-929DEDE7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왜 지금 인공지능</a:t>
            </a:r>
            <a:r>
              <a:rPr lang="en-US" altLang="ko-KR" dirty="0"/>
              <a:t>(AI)</a:t>
            </a:r>
            <a:r>
              <a:rPr lang="ko-KR" altLang="en-US" dirty="0"/>
              <a:t>의 위험 인식을 연구해야 하는가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E0FC9E-A70B-CE17-B100-3999D075EF00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현대의 위험 사회와 공론장의 </a:t>
            </a:r>
            <a:r>
              <a:rPr lang="ko-KR" altLang="en-US" b="1" dirty="0" err="1"/>
              <a:t>재봉건화</a:t>
            </a:r>
            <a:endParaRPr lang="en-US" altLang="ko-KR" b="1" dirty="0"/>
          </a:p>
          <a:p>
            <a:r>
              <a:rPr lang="en-US" altLang="ko-KR" dirty="0"/>
              <a:t>Beck (1992)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현대의 위험은 고도화된 기술이 파생시킨 </a:t>
            </a:r>
            <a:r>
              <a:rPr lang="en-US" altLang="ko-KR" dirty="0"/>
              <a:t>'</a:t>
            </a:r>
            <a:r>
              <a:rPr lang="ko-KR" altLang="en-US" dirty="0"/>
              <a:t>제조된 위험</a:t>
            </a:r>
            <a:r>
              <a:rPr lang="en-US" altLang="ko-KR" dirty="0"/>
              <a:t>'</a:t>
            </a:r>
            <a:r>
              <a:rPr lang="ko-KR" altLang="en-US" dirty="0"/>
              <a:t>이며</a:t>
            </a:r>
            <a:r>
              <a:rPr lang="en-US" altLang="ko-KR" dirty="0"/>
              <a:t>, </a:t>
            </a:r>
            <a:r>
              <a:rPr lang="ko-KR" altLang="en-US" dirty="0"/>
              <a:t>그 결정은 민주적 합의 없이 빅테크 내부의 </a:t>
            </a:r>
            <a:r>
              <a:rPr lang="en-US" altLang="ko-KR" dirty="0"/>
              <a:t>'</a:t>
            </a:r>
            <a:r>
              <a:rPr lang="ko-KR" altLang="en-US" dirty="0"/>
              <a:t>하위정치</a:t>
            </a:r>
            <a:r>
              <a:rPr lang="en-US" altLang="ko-KR" dirty="0"/>
              <a:t>' </a:t>
            </a:r>
            <a:r>
              <a:rPr lang="ko-KR" altLang="en-US" dirty="0"/>
              <a:t>영역에서 독점된다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Habermas (1989)</a:t>
            </a:r>
            <a:r>
              <a:rPr lang="ko-KR" altLang="en-US" dirty="0"/>
              <a:t>의 이론을 가져와서 살펴보면</a:t>
            </a:r>
            <a:r>
              <a:rPr lang="en-US" altLang="ko-KR" dirty="0"/>
              <a:t>, AI</a:t>
            </a:r>
            <a:r>
              <a:rPr lang="ko-KR" altLang="en-US" dirty="0"/>
              <a:t>가 지식 생산과 유통을 대리하면서 특정 가치에 편향된 응답을 제공할 경우</a:t>
            </a:r>
            <a:r>
              <a:rPr lang="en-US" altLang="ko-KR" dirty="0"/>
              <a:t>, </a:t>
            </a:r>
            <a:r>
              <a:rPr lang="ko-KR" altLang="en-US" dirty="0"/>
              <a:t>대중의 비판적 토론 역량이 마비되고 </a:t>
            </a:r>
            <a:r>
              <a:rPr lang="en-US" altLang="ko-KR" dirty="0"/>
              <a:t>‘</a:t>
            </a:r>
            <a:r>
              <a:rPr lang="ko-KR" altLang="en-US" dirty="0"/>
              <a:t>가짜 합의</a:t>
            </a:r>
            <a:r>
              <a:rPr lang="en-US" altLang="ko-KR" dirty="0"/>
              <a:t>’</a:t>
            </a:r>
            <a:r>
              <a:rPr lang="ko-KR" altLang="en-US" dirty="0"/>
              <a:t>가 공론장을 지배할 위협이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단순한 인공지능의 표면적인 편향성 연구 너머 인공지능에 내재된 가치 체계와 위험 합리성을 감시하는 것은 민주적 공론장을 지키기 위한 시급한 과제이며</a:t>
            </a:r>
            <a:r>
              <a:rPr lang="en-US" altLang="ko-KR" dirty="0"/>
              <a:t>, </a:t>
            </a:r>
            <a:r>
              <a:rPr lang="ko-KR" altLang="en-US" dirty="0"/>
              <a:t>이를 위한 알고리즘 감사가 필요한 순간이다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A8DBC-BFE7-350E-8A4C-5C93DFCE654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0810B3-381D-3CA9-85DC-83E8F48F1037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854602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6BCC5-00C3-9D42-11A7-DD0A626C5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BE59A-FA3C-E66A-86EF-D49A2637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기존 연구의 한계와 인식론적 전환</a:t>
            </a:r>
            <a:r>
              <a:rPr lang="en-US" altLang="ko-KR" dirty="0"/>
              <a:t>: </a:t>
            </a:r>
            <a:r>
              <a:rPr lang="ko-KR" altLang="en-US" dirty="0"/>
              <a:t>뒤집힌 프레임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1C2A08-BB14-7986-73B5-509F76F2C5C6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기존 연구들의 방향성</a:t>
            </a:r>
            <a:endParaRPr lang="en-US" altLang="ko-KR" b="1" dirty="0"/>
          </a:p>
          <a:p>
            <a:r>
              <a:rPr lang="en-US" altLang="ko-KR" dirty="0"/>
              <a:t>Covello (1983)</a:t>
            </a:r>
            <a:r>
              <a:rPr lang="ko-KR" altLang="en-US" dirty="0"/>
              <a:t>와</a:t>
            </a:r>
            <a:r>
              <a:rPr lang="en-US" altLang="ko-KR" dirty="0"/>
              <a:t>, Krieger et al. (2025)</a:t>
            </a:r>
            <a:r>
              <a:rPr lang="ko-KR" altLang="en-US" dirty="0"/>
              <a:t>의 문헌 리뷰들을 보면</a:t>
            </a:r>
            <a:r>
              <a:rPr lang="en-US" altLang="ko-KR" dirty="0"/>
              <a:t>, </a:t>
            </a:r>
            <a:r>
              <a:rPr lang="ko-KR" altLang="en-US" dirty="0"/>
              <a:t>각각 </a:t>
            </a:r>
            <a:r>
              <a:rPr lang="en-US" altLang="ko-KR" dirty="0"/>
              <a:t>‘</a:t>
            </a:r>
            <a:r>
              <a:rPr lang="ko-KR" altLang="en-US" dirty="0"/>
              <a:t>대중</a:t>
            </a:r>
            <a:r>
              <a:rPr lang="en-US" altLang="ko-KR" dirty="0"/>
              <a:t>’</a:t>
            </a:r>
            <a:r>
              <a:rPr lang="ko-KR" altLang="en-US" dirty="0"/>
              <a:t>이 </a:t>
            </a:r>
            <a:r>
              <a:rPr lang="en-US" altLang="ko-KR" dirty="0"/>
              <a:t>‘</a:t>
            </a:r>
            <a:r>
              <a:rPr lang="ko-KR" altLang="en-US" dirty="0"/>
              <a:t>기술적 위험성과 인공지능의 위험성</a:t>
            </a:r>
            <a:r>
              <a:rPr lang="en-US" altLang="ko-KR" dirty="0"/>
              <a:t>’</a:t>
            </a:r>
            <a:r>
              <a:rPr lang="ko-KR" altLang="en-US" dirty="0"/>
              <a:t>을 어떻게 </a:t>
            </a:r>
            <a:r>
              <a:rPr lang="ko-KR" altLang="en-US" dirty="0" err="1"/>
              <a:t>인식하는지의</a:t>
            </a:r>
            <a:r>
              <a:rPr lang="ko-KR" altLang="en-US" dirty="0"/>
              <a:t> 방향으로 연구가 진행되어왔다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b="1" dirty="0"/>
              <a:t>본 연구가 제시하는 방향성</a:t>
            </a:r>
            <a:endParaRPr lang="en-US" altLang="ko-KR" dirty="0"/>
          </a:p>
          <a:p>
            <a:r>
              <a:rPr lang="ko-KR" altLang="en-US" dirty="0"/>
              <a:t>인공지능은 객관적이고 중립적인 연산 기계가 아니라</a:t>
            </a:r>
            <a:r>
              <a:rPr lang="en-US" altLang="ko-KR" dirty="0"/>
              <a:t>, </a:t>
            </a:r>
            <a:r>
              <a:rPr lang="ko-KR" altLang="en-US" dirty="0"/>
              <a:t>학습 데이터와 가치 정렬을 통해 형성된 편향된 </a:t>
            </a:r>
            <a:r>
              <a:rPr lang="en-US" altLang="ko-KR" dirty="0"/>
              <a:t>‘</a:t>
            </a:r>
            <a:r>
              <a:rPr lang="ko-KR" altLang="en-US" dirty="0"/>
              <a:t>문화적 산물</a:t>
            </a:r>
            <a:r>
              <a:rPr lang="en-US" altLang="ko-KR" dirty="0"/>
              <a:t>‘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본 연구는 인공지능 모델 자체가 사회의 위험에 대해 어떻게 </a:t>
            </a:r>
            <a:r>
              <a:rPr lang="en-US" altLang="ko-KR" dirty="0"/>
              <a:t>(1) </a:t>
            </a:r>
            <a:r>
              <a:rPr lang="ko-KR" altLang="en-US" dirty="0"/>
              <a:t>지각하고</a:t>
            </a:r>
            <a:r>
              <a:rPr lang="en-US" altLang="ko-KR" dirty="0"/>
              <a:t>, (2) </a:t>
            </a:r>
            <a:r>
              <a:rPr lang="ko-KR" altLang="en-US" dirty="0"/>
              <a:t>반응하며</a:t>
            </a:r>
            <a:r>
              <a:rPr lang="en-US" altLang="ko-KR" dirty="0"/>
              <a:t>, (3) </a:t>
            </a:r>
            <a:r>
              <a:rPr lang="ko-KR" altLang="en-US" dirty="0"/>
              <a:t>서술하는지를 추적하고자 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F4CB03-610F-7594-662F-7A4DA6C9F62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A1ACE9-EDF9-EA47-C7E3-9AD16D151CF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017109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136A8-12C3-89E4-DBA0-1CF12F9E6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18B13A-92C2-25FB-77BC-78D251A92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연구질문 및 가설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C1A230-1287-44EE-E3A6-B8B29C37D3BC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b="1" dirty="0"/>
              <a:t>RQ1. </a:t>
            </a:r>
            <a:r>
              <a:rPr lang="ko-KR" altLang="en-US" sz="1600" b="1" dirty="0"/>
              <a:t>인공지능 모델은 객관적이고 중립적인 연산 기계인가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아니면 특정한 문화적 원형을 도출하는 편향된 문화적 산물인가</a:t>
            </a:r>
            <a:r>
              <a:rPr lang="en-US" altLang="ko-KR" sz="1600" b="1" dirty="0"/>
              <a:t>?</a:t>
            </a:r>
          </a:p>
          <a:p>
            <a:pPr marL="0" indent="0">
              <a:buNone/>
            </a:pPr>
            <a:r>
              <a:rPr lang="en-US" altLang="ko-KR" sz="1600" b="1" dirty="0"/>
              <a:t>H1. </a:t>
            </a:r>
            <a:r>
              <a:rPr lang="ko-KR" altLang="en-US" sz="1600" dirty="0"/>
              <a:t>생성형 </a:t>
            </a:r>
            <a:r>
              <a:rPr lang="en-US" altLang="ko-KR" sz="1600" dirty="0"/>
              <a:t>AI </a:t>
            </a:r>
            <a:r>
              <a:rPr lang="ko-KR" altLang="en-US" sz="1600" dirty="0"/>
              <a:t>모델들은 가치 중립적인 백지상태</a:t>
            </a:r>
            <a:r>
              <a:rPr lang="en-US" altLang="ko-KR" sz="1600" dirty="0"/>
              <a:t>(Tabula rasa)</a:t>
            </a:r>
            <a:r>
              <a:rPr lang="ko-KR" altLang="en-US" sz="1600" dirty="0"/>
              <a:t>가 아니며</a:t>
            </a:r>
            <a:r>
              <a:rPr lang="en-US" altLang="ko-KR" sz="1600" dirty="0"/>
              <a:t>, </a:t>
            </a:r>
            <a:r>
              <a:rPr lang="ko-KR" altLang="en-US" sz="1600" dirty="0"/>
              <a:t>학습 데이터와 가치 정렬 과정의 영향으로 개발 기업의 이데올로기나 특정 문화적 원형</a:t>
            </a:r>
            <a:r>
              <a:rPr lang="en-US" altLang="ko-KR" sz="1600" dirty="0"/>
              <a:t>(</a:t>
            </a:r>
            <a:r>
              <a:rPr lang="ko-KR" altLang="en-US" sz="1600" dirty="0"/>
              <a:t>특히 </a:t>
            </a:r>
            <a:r>
              <a:rPr lang="en-US" altLang="ko-KR" sz="1600" dirty="0"/>
              <a:t>'</a:t>
            </a:r>
            <a:r>
              <a:rPr lang="ko-KR" altLang="en-US" sz="1600" dirty="0"/>
              <a:t>평등주의</a:t>
            </a:r>
            <a:r>
              <a:rPr lang="en-US" altLang="ko-KR" sz="1600" dirty="0"/>
              <a:t>')</a:t>
            </a:r>
            <a:r>
              <a:rPr lang="ko-KR" altLang="en-US" sz="1600" dirty="0"/>
              <a:t>에 편향된 지향성을 지닐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b="1" dirty="0"/>
              <a:t>RQ2. </a:t>
            </a:r>
            <a:r>
              <a:rPr lang="ko-KR" altLang="en-US" sz="1600" b="1" dirty="0"/>
              <a:t>인공지능 모델이 내재한 문화적 원형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개인주의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위계주의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평등주의 등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에 따라 특정 위험</a:t>
            </a:r>
            <a:r>
              <a:rPr lang="en-US" altLang="ko-KR" sz="1600" b="1" dirty="0"/>
              <a:t>(Risk)</a:t>
            </a:r>
            <a:r>
              <a:rPr lang="ko-KR" altLang="en-US" sz="1600" b="1" dirty="0"/>
              <a:t>의 전반적 위험성</a:t>
            </a:r>
            <a:r>
              <a:rPr lang="en-US" altLang="ko-KR" sz="1600" b="1" dirty="0"/>
              <a:t>(Riskiness)</a:t>
            </a:r>
            <a:r>
              <a:rPr lang="ko-KR" altLang="en-US" sz="1600" b="1" dirty="0"/>
              <a:t>을 견인하는 핵심 </a:t>
            </a:r>
            <a:r>
              <a:rPr lang="ko-KR" altLang="en-US" sz="1600" b="1" dirty="0" err="1"/>
              <a:t>아웃레이지</a:t>
            </a:r>
            <a:r>
              <a:rPr lang="en-US" altLang="ko-KR" sz="1600" b="1" dirty="0"/>
              <a:t>(Outrage) </a:t>
            </a:r>
            <a:r>
              <a:rPr lang="ko-KR" altLang="en-US" sz="1600" b="1" dirty="0"/>
              <a:t>요인과 평가 기준은 어떻게 다르게 나타나는가</a:t>
            </a:r>
            <a:r>
              <a:rPr lang="en-US" altLang="ko-KR" sz="1600" b="1" dirty="0"/>
              <a:t>?</a:t>
            </a:r>
          </a:p>
          <a:p>
            <a:pPr marL="0" indent="0">
              <a:buNone/>
            </a:pPr>
            <a:r>
              <a:rPr lang="en-US" altLang="ko-KR" sz="1600" dirty="0"/>
              <a:t>H2. </a:t>
            </a:r>
            <a:r>
              <a:rPr lang="ko-KR" altLang="en-US" sz="1600" dirty="0"/>
              <a:t>모델의 문화적 원형에 따라 위험을 지각하는 핵심 </a:t>
            </a:r>
            <a:r>
              <a:rPr lang="ko-KR" altLang="en-US" sz="1600" dirty="0" err="1"/>
              <a:t>매커니즘이</a:t>
            </a:r>
            <a:r>
              <a:rPr lang="ko-KR" altLang="en-US" sz="1600" dirty="0"/>
              <a:t> 다르게 나타날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H2a. </a:t>
            </a:r>
            <a:r>
              <a:rPr lang="ko-KR" altLang="en-US" sz="1600" dirty="0"/>
              <a:t>개인주의 모델은 주관적 공포보다 실제 발생하는 물리적 </a:t>
            </a:r>
            <a:r>
              <a:rPr lang="ko-KR" altLang="en-US" sz="1600" dirty="0" err="1"/>
              <a:t>피해량</a:t>
            </a:r>
            <a:r>
              <a:rPr lang="en-US" altLang="ko-KR" sz="1600" dirty="0"/>
              <a:t>(Severity)</a:t>
            </a:r>
            <a:r>
              <a:rPr lang="ko-KR" altLang="en-US" sz="1600" dirty="0"/>
              <a:t>을 중심으로 위험을 평가할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H2b. </a:t>
            </a:r>
            <a:r>
              <a:rPr lang="ko-KR" altLang="en-US" sz="1600" dirty="0"/>
              <a:t>위계주의 모델은 체제 유지와 사회 질서 보호를 중시하여</a:t>
            </a:r>
            <a:r>
              <a:rPr lang="en-US" altLang="ko-KR" sz="1600" dirty="0"/>
              <a:t>, </a:t>
            </a:r>
            <a:r>
              <a:rPr lang="ko-KR" altLang="en-US" sz="1600" dirty="0"/>
              <a:t>즉각적 통제가 불가능한 지연 효과나 공포</a:t>
            </a:r>
            <a:r>
              <a:rPr lang="en-US" altLang="ko-KR" sz="1600" dirty="0"/>
              <a:t>(Dread), </a:t>
            </a:r>
            <a:r>
              <a:rPr lang="ko-KR" altLang="en-US" sz="1600" dirty="0"/>
              <a:t>대중적 패닉을 유발하는 시스템 교란 요인에 민감하게 반응할 것이다</a:t>
            </a:r>
            <a:r>
              <a:rPr lang="en-US" altLang="ko-KR" sz="1600" dirty="0"/>
              <a:t>. </a:t>
            </a:r>
          </a:p>
          <a:p>
            <a:pPr marL="0" indent="0">
              <a:buNone/>
            </a:pPr>
            <a:r>
              <a:rPr lang="en-US" altLang="ko-KR" sz="1600" dirty="0"/>
              <a:t>    H2c. </a:t>
            </a:r>
            <a:r>
              <a:rPr lang="ko-KR" altLang="en-US" sz="1600" dirty="0"/>
              <a:t>평등주의 모델은 거대 권력의 위협을 경계하므로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치명성뿐만</a:t>
            </a:r>
            <a:r>
              <a:rPr lang="ko-KR" altLang="en-US" sz="1600" dirty="0"/>
              <a:t> 아니라 불공정성</a:t>
            </a:r>
            <a:r>
              <a:rPr lang="en-US" altLang="ko-KR" sz="1600" dirty="0"/>
              <a:t>(Unfairness), </a:t>
            </a:r>
            <a:r>
              <a:rPr lang="ko-KR" altLang="en-US" sz="1600" dirty="0"/>
              <a:t>미래 세대 위협 등 도덕적이고 복합적인 요인들을 종합하여 위험을 평가할 것이다</a:t>
            </a:r>
            <a:r>
              <a:rPr lang="en-US" altLang="ko-KR" sz="1600" dirty="0"/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16049F-5A97-0C00-EEA1-CD47A5B8E8B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AD0BCE-35C6-7B02-F2F2-069DB20D43C5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020996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59291-92AE-2936-22DD-0DB0ACC9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548C80-5C54-93E8-EE23-0065E6541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연구질문 및 가설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F8932B-5B79-F83D-E56D-0AF443C19EA4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b="1" dirty="0"/>
              <a:t>[</a:t>
            </a:r>
            <a:r>
              <a:rPr lang="ko-KR" altLang="en-US" sz="1600" b="1" dirty="0"/>
              <a:t>계획</a:t>
            </a:r>
            <a:r>
              <a:rPr lang="en-US" altLang="ko-KR" sz="1600" b="1" dirty="0"/>
              <a:t>]</a:t>
            </a:r>
          </a:p>
          <a:p>
            <a:pPr marL="0" indent="0">
              <a:buNone/>
            </a:pPr>
            <a:r>
              <a:rPr lang="en-US" altLang="ko-KR" sz="1600" b="1" dirty="0"/>
              <a:t>RQ3. </a:t>
            </a:r>
            <a:r>
              <a:rPr lang="ko-KR" altLang="en-US" sz="1600" b="1" dirty="0"/>
              <a:t>양적 방법론</a:t>
            </a:r>
            <a:r>
              <a:rPr lang="en-US" altLang="ko-KR" sz="1600" b="1" dirty="0"/>
              <a:t>(Study 1, 2)</a:t>
            </a:r>
            <a:r>
              <a:rPr lang="ko-KR" altLang="en-US" sz="1600" b="1" dirty="0"/>
              <a:t>으로 판별된 </a:t>
            </a:r>
            <a:r>
              <a:rPr lang="en-US" altLang="ko-KR" sz="1600" b="1" dirty="0"/>
              <a:t>AI </a:t>
            </a:r>
            <a:r>
              <a:rPr lang="ko-KR" altLang="en-US" sz="1600" b="1" dirty="0"/>
              <a:t>모델의 문화적 원형과 위험 인식 구조가 실제 모델이 생성해 내는 텍스트 담론</a:t>
            </a:r>
            <a:r>
              <a:rPr lang="en-US" altLang="ko-KR" sz="1600" b="1" dirty="0"/>
              <a:t>(</a:t>
            </a:r>
            <a:r>
              <a:rPr lang="ko-KR" altLang="en-US" sz="1600" b="1" dirty="0" err="1"/>
              <a:t>프레이밍</a:t>
            </a:r>
            <a:r>
              <a:rPr lang="ko-KR" altLang="en-US" sz="1600" b="1" dirty="0"/>
              <a:t> 및 어휘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에서도 일관되게 발현되는가</a:t>
            </a:r>
            <a:r>
              <a:rPr lang="en-US" altLang="ko-KR" sz="1600" b="1" dirty="0"/>
              <a:t>?</a:t>
            </a:r>
          </a:p>
          <a:p>
            <a:pPr marL="0" indent="0">
              <a:buNone/>
            </a:pPr>
            <a:r>
              <a:rPr lang="en-US" altLang="ko-KR" sz="1600" b="1" dirty="0"/>
              <a:t>H3. </a:t>
            </a:r>
            <a:r>
              <a:rPr lang="ko-KR" altLang="en-US" sz="1600" dirty="0"/>
              <a:t>각 인공지능 모델이 위험 시나리오에 대해 텍스트를 생성할 때</a:t>
            </a:r>
            <a:r>
              <a:rPr lang="en-US" altLang="ko-KR" sz="1600" dirty="0"/>
              <a:t>, </a:t>
            </a:r>
            <a:r>
              <a:rPr lang="ko-KR" altLang="en-US" sz="1600" dirty="0"/>
              <a:t>해당 모델이 속한 문화적 원형에 부합하는 특정한 어휘와 </a:t>
            </a:r>
            <a:r>
              <a:rPr lang="ko-KR" altLang="en-US" sz="1600" dirty="0" err="1"/>
              <a:t>프레이밍을</a:t>
            </a:r>
            <a:r>
              <a:rPr lang="ko-KR" altLang="en-US" sz="1600" dirty="0"/>
              <a:t> 집중적으로 동원할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H3a. </a:t>
            </a:r>
            <a:r>
              <a:rPr lang="ko-KR" altLang="en-US" sz="1600" dirty="0"/>
              <a:t>평등주의 모델은 </a:t>
            </a:r>
            <a:r>
              <a:rPr lang="en-US" altLang="ko-KR" sz="1600" dirty="0"/>
              <a:t>‘</a:t>
            </a:r>
            <a:r>
              <a:rPr lang="ko-KR" altLang="en-US" sz="1600" dirty="0"/>
              <a:t>거대 자본의 탐욕</a:t>
            </a:r>
            <a:r>
              <a:rPr lang="en-US" altLang="ko-KR" sz="1600" dirty="0"/>
              <a:t>‘</a:t>
            </a:r>
            <a:r>
              <a:rPr lang="ko-KR" altLang="en-US" sz="1600" dirty="0"/>
              <a:t>이나 </a:t>
            </a:r>
            <a:r>
              <a:rPr lang="en-US" altLang="ko-KR" sz="1600" dirty="0"/>
              <a:t>‘</a:t>
            </a:r>
            <a:r>
              <a:rPr lang="ko-KR" altLang="en-US" sz="1600" dirty="0"/>
              <a:t>구조적 불평등</a:t>
            </a:r>
            <a:r>
              <a:rPr lang="en-US" altLang="ko-KR" sz="1600" dirty="0"/>
              <a:t>‘</a:t>
            </a:r>
            <a:r>
              <a:rPr lang="ko-KR" altLang="en-US" sz="1600" dirty="0"/>
              <a:t>의 프레임을 강조하는 텍스트를 생성할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H3b. </a:t>
            </a:r>
            <a:r>
              <a:rPr lang="ko-KR" altLang="en-US" sz="1600" dirty="0"/>
              <a:t>위계주의 모델은 </a:t>
            </a:r>
            <a:r>
              <a:rPr lang="en-US" altLang="ko-KR" sz="1600" dirty="0"/>
              <a:t>‘</a:t>
            </a:r>
            <a:r>
              <a:rPr lang="ko-KR" altLang="en-US" sz="1600" dirty="0"/>
              <a:t>전문가의 합의</a:t>
            </a:r>
            <a:r>
              <a:rPr lang="en-US" altLang="ko-KR" sz="1600" dirty="0"/>
              <a:t>'</a:t>
            </a:r>
            <a:r>
              <a:rPr lang="ko-KR" altLang="en-US" sz="1600" dirty="0"/>
              <a:t>나 </a:t>
            </a:r>
            <a:r>
              <a:rPr lang="en-US" altLang="ko-KR" sz="1600" dirty="0"/>
              <a:t>'</a:t>
            </a:r>
            <a:r>
              <a:rPr lang="ko-KR" altLang="en-US" sz="1600" dirty="0"/>
              <a:t>통제된 위험 관리</a:t>
            </a:r>
            <a:r>
              <a:rPr lang="en-US" altLang="ko-KR" sz="1600" dirty="0"/>
              <a:t>' </a:t>
            </a:r>
            <a:r>
              <a:rPr lang="ko-KR" altLang="en-US" sz="1600" dirty="0"/>
              <a:t>프레임을 강조하는 텍스트를 생성할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H3c. </a:t>
            </a:r>
            <a:r>
              <a:rPr lang="ko-KR" altLang="en-US" sz="1600" dirty="0"/>
              <a:t>개인주의 모델은 </a:t>
            </a:r>
            <a:r>
              <a:rPr lang="en-US" altLang="ko-KR" sz="1600" dirty="0"/>
              <a:t>'</a:t>
            </a:r>
            <a:r>
              <a:rPr lang="ko-KR" altLang="en-US" sz="1600" dirty="0"/>
              <a:t>개인의 선택과 책임</a:t>
            </a:r>
            <a:r>
              <a:rPr lang="en-US" altLang="ko-KR" sz="1600" dirty="0"/>
              <a:t>'</a:t>
            </a:r>
            <a:r>
              <a:rPr lang="ko-KR" altLang="en-US" sz="1600" dirty="0"/>
              <a:t> 프레임을 강조하는 텍스트를 생성할 것이다</a:t>
            </a:r>
            <a:r>
              <a:rPr lang="en-US" altLang="ko-KR" sz="16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A0B26B-BA5B-7215-87B4-04C6676E5B2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412CA2-C8C8-20E3-E57A-B4F0138635A2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37604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8FC60-CCB5-3A89-39A1-62ED65E29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EADF82-A79D-7A8A-0079-B439C94B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5E37B8-A0DD-55FB-5EBC-D12A09A9C72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미디어 방정식</a:t>
            </a:r>
            <a:r>
              <a:rPr lang="en-US" altLang="ko-KR" b="1" dirty="0"/>
              <a:t>, CASA </a:t>
            </a:r>
            <a:r>
              <a:rPr lang="ko-KR" altLang="en-US" b="1" dirty="0"/>
              <a:t>패러다임</a:t>
            </a:r>
            <a:r>
              <a:rPr lang="en-US" altLang="ko-KR" b="1" dirty="0"/>
              <a:t>, HMC </a:t>
            </a:r>
            <a:r>
              <a:rPr lang="ko-KR" altLang="en-US" b="1" dirty="0"/>
              <a:t>프레임워크</a:t>
            </a:r>
            <a:endParaRPr lang="en-US" altLang="ko-KR" b="1" dirty="0"/>
          </a:p>
          <a:p>
            <a:r>
              <a:rPr lang="en-US" altLang="ko-KR" dirty="0"/>
              <a:t>Reeves &amp; Nass (1996)</a:t>
            </a:r>
            <a:r>
              <a:rPr lang="ko-KR" altLang="en-US" dirty="0"/>
              <a:t>와 </a:t>
            </a:r>
            <a:r>
              <a:rPr lang="en-US" altLang="ko-KR" dirty="0"/>
              <a:t>Nass et al. (1994)</a:t>
            </a:r>
            <a:r>
              <a:rPr lang="ko-KR" altLang="en-US" dirty="0"/>
              <a:t>의</a:t>
            </a:r>
            <a:r>
              <a:rPr lang="en-US" altLang="ko-KR" dirty="0"/>
              <a:t> </a:t>
            </a:r>
            <a:r>
              <a:rPr lang="ko-KR" altLang="en-US" dirty="0"/>
              <a:t>연구를 보면</a:t>
            </a:r>
            <a:r>
              <a:rPr lang="en-US" altLang="ko-KR" dirty="0"/>
              <a:t>, </a:t>
            </a:r>
            <a:r>
              <a:rPr lang="ko-KR" altLang="en-US" dirty="0"/>
              <a:t>인간은 컴퓨터를 단순한 도구가 아니라 사회적 행위자로 대우하며 상호작용함을 알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Guzman (2018), Guzman &amp; Lewis (2020), </a:t>
            </a:r>
            <a:r>
              <a:rPr lang="ko-KR" altLang="en-US" dirty="0"/>
              <a:t>그리고 </a:t>
            </a:r>
            <a:r>
              <a:rPr lang="en-US" altLang="ko-KR" dirty="0"/>
              <a:t>Jones (2014)</a:t>
            </a:r>
            <a:r>
              <a:rPr lang="ko-KR" altLang="en-US" dirty="0"/>
              <a:t>가 제시한 </a:t>
            </a:r>
            <a:r>
              <a:rPr lang="en-US" altLang="ko-KR" dirty="0"/>
              <a:t>HMC </a:t>
            </a:r>
            <a:r>
              <a:rPr lang="ko-KR" altLang="en-US" dirty="0"/>
              <a:t>프레임워크는 이미 인공지능을 의사소통의 주체로 인정하는 방향성을 제시하고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b="1" dirty="0"/>
              <a:t>전산 심리측정</a:t>
            </a:r>
            <a:endParaRPr lang="en-US" altLang="ko-KR" dirty="0"/>
          </a:p>
          <a:p>
            <a:r>
              <a:rPr lang="en-US" altLang="ko-KR" dirty="0"/>
              <a:t>Ye et al. (2025), </a:t>
            </a:r>
            <a:r>
              <a:rPr lang="en-US" altLang="ko-KR" dirty="0" err="1"/>
              <a:t>Geranpayeh</a:t>
            </a:r>
            <a:r>
              <a:rPr lang="en-US" altLang="ko-KR" dirty="0"/>
              <a:t> (2023), Li et al. (2026)</a:t>
            </a:r>
            <a:r>
              <a:rPr lang="ko-KR" altLang="en-US" dirty="0"/>
              <a:t>과 </a:t>
            </a:r>
            <a:r>
              <a:rPr lang="en-US" altLang="ko-KR" dirty="0"/>
              <a:t>Maharjan et al. (2025)</a:t>
            </a:r>
            <a:r>
              <a:rPr lang="ko-KR" altLang="en-US" dirty="0"/>
              <a:t>의 전산 심리측정학 연구는 </a:t>
            </a:r>
            <a:r>
              <a:rPr lang="en-US" altLang="ko-KR" dirty="0"/>
              <a:t>LLM</a:t>
            </a:r>
            <a:r>
              <a:rPr lang="ko-KR" altLang="en-US" dirty="0"/>
              <a:t>이 무작위적 출력이 아니라 인지적 일관성을 지닌 프로파일을 구현해낼 수 있음을 입증하였고</a:t>
            </a:r>
            <a:r>
              <a:rPr lang="en-US" altLang="ko-KR" dirty="0"/>
              <a:t>, </a:t>
            </a:r>
            <a:r>
              <a:rPr lang="ko-KR" altLang="en-US" dirty="0"/>
              <a:t>이는 기계 시스템에 대한 인간 사회과학 방법론 적용의 학문적 근거를 제시한다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AFAC94-3EAA-EFF5-153A-0C59FCAA707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7EB8B8-8DA3-3465-0CDB-3EDEEB9C57A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814420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9A4BB-6FFD-068E-3F9D-CB83BD55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3F5C8A-0E1A-27EF-0696-4FD3B61E6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B4D9CB-8715-EFF3-3646-F718CDD065C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만약</a:t>
            </a:r>
            <a:r>
              <a:rPr lang="en-US" altLang="ko-KR" b="1" dirty="0"/>
              <a:t>, </a:t>
            </a:r>
            <a:r>
              <a:rPr lang="ko-KR" altLang="en-US" b="1" dirty="0"/>
              <a:t>인공지능의 </a:t>
            </a:r>
            <a:r>
              <a:rPr lang="en-US" altLang="ko-KR" b="1" dirty="0"/>
              <a:t>‘</a:t>
            </a:r>
            <a:r>
              <a:rPr lang="ko-KR" altLang="en-US" b="1" dirty="0"/>
              <a:t>지능</a:t>
            </a:r>
            <a:r>
              <a:rPr lang="en-US" altLang="ko-KR" b="1" dirty="0"/>
              <a:t>‘</a:t>
            </a:r>
            <a:r>
              <a:rPr lang="ko-KR" altLang="en-US" b="1" dirty="0"/>
              <a:t>이나 </a:t>
            </a:r>
            <a:r>
              <a:rPr lang="ko-KR" altLang="en-US" b="1" dirty="0" err="1"/>
              <a:t>인식론적인</a:t>
            </a:r>
            <a:r>
              <a:rPr lang="ko-KR" altLang="en-US" b="1" dirty="0"/>
              <a:t> </a:t>
            </a:r>
            <a:r>
              <a:rPr lang="en-US" altLang="ko-KR" b="1" dirty="0"/>
              <a:t>‘</a:t>
            </a:r>
            <a:r>
              <a:rPr lang="ko-KR" altLang="en-US" b="1" dirty="0"/>
              <a:t>존재</a:t>
            </a:r>
            <a:r>
              <a:rPr lang="en-US" altLang="ko-KR" b="1" dirty="0"/>
              <a:t>‘</a:t>
            </a:r>
            <a:r>
              <a:rPr lang="ko-KR" altLang="en-US" b="1" dirty="0"/>
              <a:t>에 대해 논하지 않더라도</a:t>
            </a:r>
            <a:r>
              <a:rPr lang="en-US" altLang="ko-KR" b="1" dirty="0"/>
              <a:t>…</a:t>
            </a:r>
          </a:p>
          <a:p>
            <a:r>
              <a:rPr lang="en-US" altLang="ko-KR" dirty="0"/>
              <a:t>Esposito (2025)</a:t>
            </a:r>
            <a:r>
              <a:rPr lang="ko-KR" altLang="en-US" dirty="0"/>
              <a:t>의 연구는</a:t>
            </a:r>
            <a:r>
              <a:rPr lang="en-US" altLang="ko-KR" dirty="0"/>
              <a:t> </a:t>
            </a:r>
            <a:r>
              <a:rPr lang="ko-KR" altLang="en-US" dirty="0"/>
              <a:t>인공지능을 실제로 </a:t>
            </a:r>
            <a:r>
              <a:rPr lang="en-US" altLang="ko-KR" dirty="0"/>
              <a:t>‘</a:t>
            </a:r>
            <a:r>
              <a:rPr lang="ko-KR" altLang="en-US" dirty="0"/>
              <a:t>지능</a:t>
            </a:r>
            <a:r>
              <a:rPr lang="en-US" altLang="ko-KR" dirty="0"/>
              <a:t>‘</a:t>
            </a:r>
            <a:r>
              <a:rPr lang="ko-KR" altLang="en-US" dirty="0"/>
              <a:t>을 가진 주체로 인정하지 않더라도</a:t>
            </a:r>
            <a:r>
              <a:rPr lang="en-US" altLang="ko-KR" dirty="0"/>
              <a:t>, ‘</a:t>
            </a:r>
            <a:r>
              <a:rPr lang="ko-KR" altLang="en-US" dirty="0"/>
              <a:t>소통</a:t>
            </a:r>
            <a:r>
              <a:rPr lang="en-US" altLang="ko-KR" dirty="0"/>
              <a:t>’</a:t>
            </a:r>
            <a:r>
              <a:rPr lang="ko-KR" altLang="en-US" dirty="0"/>
              <a:t>의 관점으로 이 기술을 바라볼 수 있음을 역설한다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그녀의 주장에 따르면</a:t>
            </a:r>
            <a:r>
              <a:rPr lang="en-US" altLang="ko-KR" dirty="0"/>
              <a:t>, </a:t>
            </a:r>
            <a:r>
              <a:rPr lang="ko-KR" altLang="en-US" dirty="0"/>
              <a:t>인공지능 알고리즘을 </a:t>
            </a:r>
            <a:r>
              <a:rPr lang="en-US" altLang="ko-KR" dirty="0"/>
              <a:t>‘</a:t>
            </a:r>
            <a:r>
              <a:rPr lang="ko-KR" altLang="en-US" dirty="0"/>
              <a:t>지능을 갖게 되었다</a:t>
            </a:r>
            <a:r>
              <a:rPr lang="en-US" altLang="ko-KR" dirty="0"/>
              <a:t>‘</a:t>
            </a:r>
            <a:r>
              <a:rPr lang="ko-KR" altLang="en-US" dirty="0"/>
              <a:t>로 이해하는 대신</a:t>
            </a:r>
            <a:r>
              <a:rPr lang="en-US" altLang="ko-KR" dirty="0"/>
              <a:t>, </a:t>
            </a:r>
            <a:r>
              <a:rPr lang="ko-KR" altLang="en-US" dirty="0"/>
              <a:t>사용자의 상황과 맥락에 맞춰 정교하게 재단된 </a:t>
            </a:r>
            <a:r>
              <a:rPr lang="en-US" altLang="ko-KR" dirty="0"/>
              <a:t>‘</a:t>
            </a:r>
            <a:r>
              <a:rPr lang="ko-KR" altLang="en-US" dirty="0"/>
              <a:t>소통을 제공하는 </a:t>
            </a:r>
            <a:r>
              <a:rPr lang="ko-KR" altLang="en-US" dirty="0" err="1"/>
              <a:t>기계로서의</a:t>
            </a:r>
            <a:r>
              <a:rPr lang="ko-KR" altLang="en-US" dirty="0"/>
              <a:t> 역할</a:t>
            </a:r>
            <a:r>
              <a:rPr lang="en-US" altLang="ko-KR" dirty="0"/>
              <a:t>‘</a:t>
            </a:r>
            <a:r>
              <a:rPr lang="ko-KR" altLang="en-US" dirty="0"/>
              <a:t>을 수행할 수 있게 되었다고 볼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이때</a:t>
            </a:r>
            <a:r>
              <a:rPr lang="en-US" altLang="ko-KR" dirty="0"/>
              <a:t>, </a:t>
            </a:r>
            <a:r>
              <a:rPr lang="ko-KR" altLang="en-US" dirty="0"/>
              <a:t>이해</a:t>
            </a:r>
            <a:r>
              <a:rPr lang="en-US" altLang="ko-KR" dirty="0"/>
              <a:t>(Understanding)</a:t>
            </a:r>
            <a:r>
              <a:rPr lang="ko-KR" altLang="en-US" dirty="0"/>
              <a:t>가 결여된 소통이 가능한 이유로 </a:t>
            </a:r>
            <a:r>
              <a:rPr lang="en-US" altLang="ko-KR" dirty="0"/>
              <a:t>Luhmann (1992, 97)</a:t>
            </a:r>
            <a:r>
              <a:rPr lang="ko-KR" altLang="en-US" dirty="0"/>
              <a:t>의 소통 개념을 가져오는데</a:t>
            </a:r>
            <a:r>
              <a:rPr lang="en-US" altLang="ko-KR" dirty="0"/>
              <a:t>, </a:t>
            </a:r>
            <a:r>
              <a:rPr lang="ko-KR" altLang="en-US" dirty="0"/>
              <a:t>소통은 참여자들이 반드시 같은 생각을 공유할 때만 성공하는 것이 아니며</a:t>
            </a:r>
            <a:r>
              <a:rPr lang="en-US" altLang="ko-KR" dirty="0"/>
              <a:t>, </a:t>
            </a:r>
            <a:r>
              <a:rPr lang="ko-KR" altLang="en-US" dirty="0"/>
              <a:t>수신자가 전달받은 내용을 바탕으로 </a:t>
            </a:r>
            <a:r>
              <a:rPr lang="en-US" altLang="ko-KR" dirty="0"/>
              <a:t>‘</a:t>
            </a:r>
            <a:r>
              <a:rPr lang="ko-KR" altLang="en-US" dirty="0"/>
              <a:t>자신만의 유의미한 생각과 정보</a:t>
            </a:r>
            <a:r>
              <a:rPr lang="en-US" altLang="ko-KR" dirty="0"/>
              <a:t>‘</a:t>
            </a:r>
            <a:r>
              <a:rPr lang="ko-KR" altLang="en-US" dirty="0"/>
              <a:t>를 생산할 수 있다면 소통은 성공한 것이라고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E1CC77-45A2-59BD-FBB6-2F261C70B8B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EC5CC-90B5-CE01-8423-34C9F25A8A6E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929834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02A0E-AD2A-5119-45D4-64AAF6D55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D4018-B3C5-8D43-7E47-248189CD4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2ED99A-84F8-D660-4354-8B741C5AEF92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만약</a:t>
            </a:r>
            <a:r>
              <a:rPr lang="en-US" altLang="ko-KR" b="1" dirty="0"/>
              <a:t>, </a:t>
            </a:r>
            <a:r>
              <a:rPr lang="ko-KR" altLang="en-US" b="1" dirty="0"/>
              <a:t>인공지능의 </a:t>
            </a:r>
            <a:r>
              <a:rPr lang="en-US" altLang="ko-KR" b="1" dirty="0"/>
              <a:t>‘</a:t>
            </a:r>
            <a:r>
              <a:rPr lang="ko-KR" altLang="en-US" b="1" dirty="0"/>
              <a:t>지능</a:t>
            </a:r>
            <a:r>
              <a:rPr lang="en-US" altLang="ko-KR" b="1" dirty="0"/>
              <a:t>‘</a:t>
            </a:r>
            <a:r>
              <a:rPr lang="ko-KR" altLang="en-US" b="1" dirty="0"/>
              <a:t>이나 </a:t>
            </a:r>
            <a:r>
              <a:rPr lang="ko-KR" altLang="en-US" b="1" dirty="0" err="1"/>
              <a:t>인식론적인</a:t>
            </a:r>
            <a:r>
              <a:rPr lang="ko-KR" altLang="en-US" b="1" dirty="0"/>
              <a:t> </a:t>
            </a:r>
            <a:r>
              <a:rPr lang="en-US" altLang="ko-KR" b="1" dirty="0"/>
              <a:t>‘</a:t>
            </a:r>
            <a:r>
              <a:rPr lang="ko-KR" altLang="en-US" b="1" dirty="0"/>
              <a:t>존재</a:t>
            </a:r>
            <a:r>
              <a:rPr lang="en-US" altLang="ko-KR" b="1" dirty="0"/>
              <a:t>‘</a:t>
            </a:r>
            <a:r>
              <a:rPr lang="ko-KR" altLang="en-US" b="1" dirty="0"/>
              <a:t>에 대해 논하지 않더라도</a:t>
            </a:r>
            <a:r>
              <a:rPr lang="en-US" altLang="ko-KR" b="1" dirty="0"/>
              <a:t>…</a:t>
            </a:r>
          </a:p>
          <a:p>
            <a:r>
              <a:rPr lang="ko-KR" altLang="en-US" dirty="0"/>
              <a:t>결국 알고리즘은 지능을 가진 인간 사용자가 유의미한 정보를 생산하도록 돕는 자극물을 제공하므로 소통에 기여한다고 볼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연구는 인공지능의 </a:t>
            </a:r>
            <a:r>
              <a:rPr lang="en-US" altLang="ko-KR" dirty="0"/>
              <a:t>‘</a:t>
            </a:r>
            <a:r>
              <a:rPr lang="ko-KR" altLang="en-US" dirty="0"/>
              <a:t>진정한 세계관</a:t>
            </a:r>
            <a:r>
              <a:rPr lang="en-US" altLang="ko-KR" dirty="0"/>
              <a:t>‘</a:t>
            </a:r>
            <a:r>
              <a:rPr lang="ko-KR" altLang="en-US" dirty="0"/>
              <a:t>이나</a:t>
            </a:r>
            <a:r>
              <a:rPr lang="en-US" altLang="ko-KR" dirty="0"/>
              <a:t>, </a:t>
            </a:r>
            <a:r>
              <a:rPr lang="ko-KR" altLang="en-US" dirty="0" err="1"/>
              <a:t>인식론적인</a:t>
            </a:r>
            <a:r>
              <a:rPr lang="ko-KR" altLang="en-US" dirty="0"/>
              <a:t> 지각을 추출하는</a:t>
            </a:r>
            <a:r>
              <a:rPr lang="en-US" altLang="ko-KR" dirty="0"/>
              <a:t>, </a:t>
            </a:r>
            <a:r>
              <a:rPr lang="ko-KR" altLang="en-US" dirty="0"/>
              <a:t>현재의 방법론으로 접근할 수 없는 존재론적 문제를 다루지 않고서도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결국 인공지능의 응답 패턴이라는</a:t>
            </a:r>
            <a:r>
              <a:rPr lang="en-US" altLang="ko-KR" dirty="0"/>
              <a:t>, </a:t>
            </a:r>
            <a:r>
              <a:rPr lang="ko-KR" altLang="en-US" dirty="0"/>
              <a:t>관찰 가능한 출력 패턴의 문제를 실증적으로 분석하여 인간 사용자에게 전달되는 </a:t>
            </a:r>
            <a:r>
              <a:rPr lang="en-US" altLang="ko-KR" dirty="0"/>
              <a:t>‘</a:t>
            </a:r>
            <a:r>
              <a:rPr lang="ko-KR" altLang="en-US" dirty="0"/>
              <a:t>자극물</a:t>
            </a:r>
            <a:r>
              <a:rPr lang="en-US" altLang="ko-KR" dirty="0"/>
              <a:t>‘</a:t>
            </a:r>
            <a:r>
              <a:rPr lang="ko-KR" altLang="en-US" dirty="0"/>
              <a:t>에 대한 분석만으로도 충분히 그 의미를 가지고 기여할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</a:t>
            </a:r>
            <a:r>
              <a:rPr lang="en-US" altLang="ko-KR" dirty="0"/>
              <a:t>Esposito (2025)</a:t>
            </a:r>
            <a:r>
              <a:rPr lang="ko-KR" altLang="en-US" dirty="0"/>
              <a:t>가 생성형 인공지능의 잘못된 소통이 낳을 사회적 파급효과와 새로운 위험성에 대한 연구가 필요하다는 제언에도 부합한다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9BC46-E28B-BF53-091D-340CF751706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4E310F-47EE-C09E-44A2-C64019E4372D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633439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4BF35-A018-2A80-6DDC-1744DE5EB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E3619-775F-D0B1-EFA4-738004993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/>
              <a:t>방법론적 세팅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C76AA9-EEAD-F42A-123A-69537E41FC1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연구 대상 모델</a:t>
            </a:r>
            <a:endParaRPr lang="en-US" altLang="ko-KR" b="1" dirty="0"/>
          </a:p>
          <a:p>
            <a:r>
              <a:rPr lang="en-US" altLang="ko-KR" dirty="0"/>
              <a:t>OpenAI – GPT 5.5</a:t>
            </a:r>
          </a:p>
          <a:p>
            <a:r>
              <a:rPr lang="en-US" altLang="ko-KR" dirty="0"/>
              <a:t>Claude Sonnet 4.6</a:t>
            </a:r>
          </a:p>
          <a:p>
            <a:r>
              <a:rPr lang="en-US" altLang="ko-KR" dirty="0"/>
              <a:t>Google Gemini 3.1 Pro Preview</a:t>
            </a:r>
          </a:p>
          <a:p>
            <a:r>
              <a:rPr lang="en-US" altLang="ko-KR" dirty="0" err="1"/>
              <a:t>xAI</a:t>
            </a:r>
            <a:r>
              <a:rPr lang="en-US" altLang="ko-KR" dirty="0"/>
              <a:t> Grok 4.3</a:t>
            </a:r>
          </a:p>
          <a:p>
            <a:r>
              <a:rPr lang="en-US" altLang="ko-KR" dirty="0"/>
              <a:t>Meta </a:t>
            </a:r>
            <a:r>
              <a:rPr lang="en-US" altLang="ko-KR" dirty="0" err="1"/>
              <a:t>LLaMA</a:t>
            </a:r>
            <a:r>
              <a:rPr lang="en-US" altLang="ko-KR" dirty="0"/>
              <a:t> 4 Maverick</a:t>
            </a:r>
          </a:p>
          <a:p>
            <a:r>
              <a:rPr lang="en-US" altLang="ko-KR" dirty="0"/>
              <a:t>Mistral Medium 3.5</a:t>
            </a:r>
          </a:p>
          <a:p>
            <a:r>
              <a:rPr lang="en-US" altLang="ko-KR" dirty="0"/>
              <a:t>DeepSeek</a:t>
            </a:r>
            <a:r>
              <a:rPr lang="ko-KR" altLang="en-US" dirty="0"/>
              <a:t> </a:t>
            </a:r>
            <a:r>
              <a:rPr lang="en-US" altLang="ko-KR" dirty="0"/>
              <a:t>V4 Pro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7F14AC-EB76-591C-0551-813E5022B58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ED3602-763B-0847-4862-0CE43DEFD1DB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39596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D38D5-AD63-3654-B64C-7EF786900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223055-5BB9-2B03-90D5-3137509A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/>
              <a:t>방법론적 세팅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E9A484-A5CC-2170-C87D-B601D30A13B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모델 세팅</a:t>
            </a:r>
            <a:endParaRPr lang="en-US" altLang="ko-KR" b="1" dirty="0"/>
          </a:p>
          <a:p>
            <a:r>
              <a:rPr lang="en-US" altLang="ko-KR" dirty="0"/>
              <a:t>API</a:t>
            </a:r>
            <a:r>
              <a:rPr lang="ko-KR" altLang="en-US" dirty="0"/>
              <a:t>를 활용한 답변 추출</a:t>
            </a:r>
            <a:endParaRPr lang="en-US" altLang="ko-KR" dirty="0"/>
          </a:p>
          <a:p>
            <a:r>
              <a:rPr lang="en-US" altLang="ko-KR" dirty="0"/>
              <a:t>Temperature = 0.0</a:t>
            </a:r>
          </a:p>
          <a:p>
            <a:r>
              <a:rPr lang="en-US" altLang="ko-KR" dirty="0"/>
              <a:t>Top-P = 1.0</a:t>
            </a:r>
          </a:p>
          <a:p>
            <a:r>
              <a:rPr lang="en-US" altLang="ko-KR" dirty="0"/>
              <a:t>Zero-shot </a:t>
            </a:r>
            <a:r>
              <a:rPr lang="ko-KR" altLang="en-US" dirty="0" err="1"/>
              <a:t>프롬프팅</a:t>
            </a:r>
            <a:endParaRPr lang="en-US" altLang="ko-KR" dirty="0"/>
          </a:p>
          <a:p>
            <a:pPr lvl="1"/>
            <a:r>
              <a:rPr lang="ko-KR" altLang="en-US" dirty="0"/>
              <a:t>어떠한 명시적 배경 설정이나 맥락을 제공하지 않고</a:t>
            </a:r>
            <a:r>
              <a:rPr lang="en-US" altLang="ko-KR" dirty="0"/>
              <a:t>, ‘</a:t>
            </a:r>
            <a:r>
              <a:rPr lang="ko-KR" altLang="en-US" dirty="0" err="1"/>
              <a:t>무표적</a:t>
            </a:r>
            <a:r>
              <a:rPr lang="ko-KR" altLang="en-US" dirty="0"/>
              <a:t> 기본 페르소나</a:t>
            </a:r>
            <a:r>
              <a:rPr lang="en-US" altLang="ko-KR" dirty="0"/>
              <a:t>(unmarked default persona)‘ </a:t>
            </a:r>
            <a:r>
              <a:rPr lang="ko-KR" altLang="en-US" dirty="0"/>
              <a:t>상태에서의 반응을 측정한다</a:t>
            </a:r>
            <a:r>
              <a:rPr lang="en-US" altLang="ko-KR" dirty="0"/>
              <a:t>. Cheng</a:t>
            </a:r>
            <a:r>
              <a:rPr lang="ko-KR" altLang="en-US" dirty="0"/>
              <a:t> </a:t>
            </a:r>
            <a:r>
              <a:rPr lang="en-US" altLang="ko-KR" dirty="0"/>
              <a:t>et</a:t>
            </a:r>
            <a:r>
              <a:rPr lang="ko-KR" altLang="en-US" dirty="0"/>
              <a:t> </a:t>
            </a:r>
            <a:r>
              <a:rPr lang="en-US" altLang="ko-KR" dirty="0"/>
              <a:t>al.</a:t>
            </a:r>
            <a:r>
              <a:rPr lang="ko-KR" altLang="en-US" dirty="0"/>
              <a:t> </a:t>
            </a:r>
            <a:r>
              <a:rPr lang="en-US" altLang="ko-KR" dirty="0"/>
              <a:t>(2023)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상호 작용 턴이 길어질수록 모델은 결국 학습 과정에서 깊게 뿌리내린 내재적 편향성으로 회귀하는 경향을 보이기에</a:t>
            </a:r>
            <a:r>
              <a:rPr lang="en-US" altLang="ko-KR" dirty="0"/>
              <a:t>, </a:t>
            </a:r>
            <a:r>
              <a:rPr lang="ko-KR" altLang="en-US" dirty="0"/>
              <a:t>중립적 환경에서 측정 도구를 투입해 도출한 응답패턴이 해당 모델의 구조적 문화적 경향을 파악하기에 적합하다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5CA553-2253-D81C-11EA-E6D5797A6DE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0C9B08-CFE7-C861-1BA8-FFE4716DF8ED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9367541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AE60A-414B-17DF-4186-8163D0510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A6622-8A57-F6CC-B4F0-DADF65B41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위험 인식의 이론적 토대</a:t>
            </a:r>
            <a:r>
              <a:rPr lang="en-US" altLang="ko-KR" sz="3200" dirty="0"/>
              <a:t>: Grid-Group </a:t>
            </a:r>
            <a:r>
              <a:rPr lang="ko-KR" altLang="en-US" sz="3200" dirty="0"/>
              <a:t>문화이론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F3E74C-F0B7-CF6A-0602-C7C5505AF977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Grid-Group </a:t>
            </a:r>
            <a:r>
              <a:rPr lang="ko-KR" altLang="en-US" b="1" dirty="0"/>
              <a:t>문화이론</a:t>
            </a:r>
            <a:endParaRPr lang="en-US" altLang="ko-KR" b="1" dirty="0"/>
          </a:p>
          <a:p>
            <a:r>
              <a:rPr lang="en-US" altLang="ko-KR" dirty="0"/>
              <a:t>Douglas (1978)</a:t>
            </a:r>
            <a:r>
              <a:rPr lang="ko-KR" altLang="en-US" dirty="0"/>
              <a:t>에서 인류학적 분류법을 활용해 </a:t>
            </a:r>
            <a:r>
              <a:rPr lang="en-US" altLang="ko-KR" dirty="0"/>
              <a:t>Grid-Group</a:t>
            </a:r>
            <a:r>
              <a:rPr lang="ko-KR" altLang="en-US" dirty="0"/>
              <a:t>의 이론적 뼈대가 제안되었고</a:t>
            </a:r>
            <a:r>
              <a:rPr lang="en-US" altLang="ko-KR" dirty="0"/>
              <a:t>,</a:t>
            </a:r>
          </a:p>
          <a:p>
            <a:r>
              <a:rPr lang="en-US" altLang="ko-KR" dirty="0" err="1"/>
              <a:t>Wildavsky</a:t>
            </a:r>
            <a:r>
              <a:rPr lang="en-US" altLang="ko-KR" dirty="0"/>
              <a:t> (1987)</a:t>
            </a:r>
            <a:r>
              <a:rPr lang="ko-KR" altLang="en-US" dirty="0"/>
              <a:t>가 이를 문화이론으로 </a:t>
            </a:r>
            <a:r>
              <a:rPr lang="ko-KR" altLang="en-US" dirty="0" err="1"/>
              <a:t>진화시켰다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b="1" dirty="0"/>
              <a:t>Grid-Group </a:t>
            </a:r>
            <a:r>
              <a:rPr lang="ko-KR" altLang="en-US" b="1" dirty="0"/>
              <a:t>문화이론과 위험 커뮤니케이션의 만남</a:t>
            </a:r>
            <a:endParaRPr lang="en-US" altLang="ko-KR" dirty="0"/>
          </a:p>
          <a:p>
            <a:r>
              <a:rPr lang="en-US" altLang="ko-KR" dirty="0" err="1"/>
              <a:t>Wildavsky</a:t>
            </a:r>
            <a:r>
              <a:rPr lang="en-US" altLang="ko-KR" dirty="0"/>
              <a:t> &amp; Dake (1990)</a:t>
            </a:r>
            <a:r>
              <a:rPr lang="ko-KR" altLang="en-US" dirty="0"/>
              <a:t>은 이를 위험 인식</a:t>
            </a:r>
            <a:r>
              <a:rPr lang="en-US" altLang="ko-KR" dirty="0"/>
              <a:t>(Risk Perception)</a:t>
            </a:r>
            <a:r>
              <a:rPr lang="ko-KR" altLang="en-US" dirty="0"/>
              <a:t>에 적용하였고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Dake (1991)</a:t>
            </a:r>
            <a:r>
              <a:rPr lang="ko-KR" altLang="en-US" dirty="0"/>
              <a:t>은 이를 설문조사를 통해 측정 가능한 변수로 만들고 실증적인 데이터를 </a:t>
            </a:r>
            <a:r>
              <a:rPr lang="ko-KR" altLang="en-US" dirty="0" err="1"/>
              <a:t>뽑아내기도</a:t>
            </a:r>
            <a:r>
              <a:rPr lang="ko-KR" altLang="en-US" dirty="0"/>
              <a:t> 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8D06D2-A1B4-2072-2929-ED8E379D51D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5EDE96-8A80-76A0-D8AA-0EA849AD866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3855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AAEDF-0430-4772-7818-04A0BC1E0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3F14BB-7D13-37B2-0E1A-F6551E02A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위험 인식의 이론적 토대</a:t>
            </a:r>
            <a:r>
              <a:rPr lang="en-US" altLang="ko-KR" sz="3200" dirty="0"/>
              <a:t>: Grid-Group </a:t>
            </a:r>
            <a:r>
              <a:rPr lang="ko-KR" altLang="en-US" sz="3200" dirty="0"/>
              <a:t>문화이론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26CC00-5C75-3E9C-9CCD-568B8D015F7C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 커뮤니케이션에서의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</a:t>
            </a:r>
            <a:endParaRPr lang="en-US" altLang="ko-KR" b="1" dirty="0"/>
          </a:p>
          <a:p>
            <a:r>
              <a:rPr lang="ko-KR" altLang="en-US" dirty="0"/>
              <a:t>규범적 제약의 정도를 나타내는 그리드</a:t>
            </a:r>
            <a:r>
              <a:rPr lang="en-US" altLang="ko-KR" dirty="0"/>
              <a:t>(Grid)</a:t>
            </a:r>
            <a:r>
              <a:rPr lang="ko-KR" altLang="en-US" dirty="0"/>
              <a:t>와 집단 귀속의 강도를 나타내는 그룹</a:t>
            </a:r>
            <a:r>
              <a:rPr lang="en-US" altLang="ko-KR" dirty="0"/>
              <a:t>(Group), </a:t>
            </a:r>
            <a:r>
              <a:rPr lang="ko-KR" altLang="en-US" dirty="0"/>
              <a:t>두 차원을 </a:t>
            </a:r>
            <a:r>
              <a:rPr lang="ko-KR" altLang="en-US" dirty="0" err="1"/>
              <a:t>교차시킨</a:t>
            </a:r>
            <a:r>
              <a:rPr lang="ko-KR" altLang="en-US" dirty="0"/>
              <a:t> 이차원적 좌표계를 활용하여 위험에 대한 태도의 문화적 원형을 도출한다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평등주의</a:t>
            </a:r>
            <a:r>
              <a:rPr lang="en-US" altLang="ko-KR" dirty="0"/>
              <a:t>(Low-Grid, High-Group): </a:t>
            </a:r>
            <a:r>
              <a:rPr lang="ko-KR" altLang="en-US" dirty="0"/>
              <a:t>기술 위험에 대한 강한 경계와 집단적 연대 강조</a:t>
            </a:r>
            <a:endParaRPr lang="en-US" altLang="ko-KR" dirty="0"/>
          </a:p>
          <a:p>
            <a:r>
              <a:rPr lang="ko-KR" altLang="en-US" dirty="0"/>
              <a:t>위계주의</a:t>
            </a:r>
            <a:r>
              <a:rPr lang="en-US" altLang="ko-KR" dirty="0"/>
              <a:t>(High-Grid, High-Group): </a:t>
            </a:r>
            <a:r>
              <a:rPr lang="ko-KR" altLang="en-US" dirty="0"/>
              <a:t>전문가와 제도를 통한 하향식 위험 관리를 지향</a:t>
            </a:r>
            <a:endParaRPr lang="en-US" altLang="ko-KR" dirty="0"/>
          </a:p>
          <a:p>
            <a:r>
              <a:rPr lang="ko-KR" altLang="en-US" dirty="0"/>
              <a:t>개인주의</a:t>
            </a:r>
            <a:r>
              <a:rPr lang="en-US" altLang="ko-KR" dirty="0"/>
              <a:t>(Low-Grid, Low-Group): </a:t>
            </a:r>
            <a:r>
              <a:rPr lang="ko-KR" altLang="en-US" dirty="0"/>
              <a:t>시장과 개인의 자율적 선택을 통한 위험 해결을 선호</a:t>
            </a:r>
            <a:endParaRPr lang="en-US" altLang="ko-KR" dirty="0"/>
          </a:p>
          <a:p>
            <a:r>
              <a:rPr lang="ko-KR" altLang="en-US" dirty="0"/>
              <a:t>운명주의</a:t>
            </a:r>
            <a:r>
              <a:rPr lang="en-US" altLang="ko-KR" dirty="0"/>
              <a:t>(High-Grid, Low-Group): </a:t>
            </a:r>
            <a:r>
              <a:rPr lang="ko-KR" altLang="en-US" dirty="0"/>
              <a:t>위험의 통제 불가능성과 체념적 수용이 특징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CDE858-484A-C8F8-BDBC-06BCBDCCF60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E25B6-CA58-C5D5-4648-8DB214F2A57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445274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79308-87C3-A9BB-E285-B31E3E95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8E0CCD-A06E-F16D-5DC4-A221F31D5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 err="1"/>
              <a:t>세계가치관조사</a:t>
            </a:r>
            <a:r>
              <a:rPr lang="en-US" altLang="ko-KR" sz="3200" dirty="0"/>
              <a:t>(WVS)</a:t>
            </a:r>
            <a:r>
              <a:rPr lang="ko-KR" altLang="en-US" sz="3200" dirty="0"/>
              <a:t>를 활용한 조작화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2814D4-7CD6-0F4A-8AED-F92E24B455B3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 err="1"/>
              <a:t>세계가치관조사</a:t>
            </a:r>
            <a:r>
              <a:rPr lang="en-US" altLang="ko-KR" b="1" dirty="0"/>
              <a:t>(World Value Survey)</a:t>
            </a:r>
          </a:p>
          <a:p>
            <a:r>
              <a:rPr lang="en-US" altLang="ko-KR" dirty="0" err="1"/>
              <a:t>Haerpfer</a:t>
            </a:r>
            <a:r>
              <a:rPr lang="en-US" altLang="ko-KR" dirty="0"/>
              <a:t> et al. (2022)</a:t>
            </a:r>
            <a:r>
              <a:rPr lang="ko-KR" altLang="en-US" dirty="0"/>
              <a:t>의 </a:t>
            </a:r>
            <a:r>
              <a:rPr lang="ko-KR" altLang="en-US" dirty="0" err="1"/>
              <a:t>세계가치관조사</a:t>
            </a:r>
            <a:r>
              <a:rPr lang="en-US" altLang="ko-KR" dirty="0"/>
              <a:t>(WVS)</a:t>
            </a:r>
            <a:r>
              <a:rPr lang="ko-KR" altLang="en-US" dirty="0"/>
              <a:t>는 전 세계 인구의 </a:t>
            </a:r>
            <a:r>
              <a:rPr lang="en-US" altLang="ko-KR" dirty="0"/>
              <a:t>90%</a:t>
            </a:r>
            <a:r>
              <a:rPr lang="ko-KR" altLang="en-US" dirty="0"/>
              <a:t> 이상을 포괄하는 </a:t>
            </a:r>
            <a:r>
              <a:rPr lang="en-US" altLang="ko-KR" dirty="0"/>
              <a:t>120</a:t>
            </a:r>
            <a:r>
              <a:rPr lang="ko-KR" altLang="en-US" dirty="0"/>
              <a:t>여 개국에서 전 세계 사람들의 사회적</a:t>
            </a:r>
            <a:r>
              <a:rPr lang="en-US" altLang="ko-KR" dirty="0"/>
              <a:t>, </a:t>
            </a:r>
            <a:r>
              <a:rPr lang="ko-KR" altLang="en-US" dirty="0"/>
              <a:t>정치적</a:t>
            </a:r>
            <a:r>
              <a:rPr lang="en-US" altLang="ko-KR" dirty="0"/>
              <a:t>, </a:t>
            </a:r>
            <a:r>
              <a:rPr lang="ko-KR" altLang="en-US" dirty="0"/>
              <a:t>종교적</a:t>
            </a:r>
            <a:r>
              <a:rPr lang="en-US" altLang="ko-KR" dirty="0"/>
              <a:t>, </a:t>
            </a:r>
            <a:r>
              <a:rPr lang="ko-KR" altLang="en-US" dirty="0"/>
              <a:t>문화적 신념이 어떻게 변화하고 있는지 과학적으로 연구하는 세계 최대 규모의 국제 학술 프로젝트이다</a:t>
            </a:r>
            <a:r>
              <a:rPr lang="en-US" altLang="ko-KR" dirty="0"/>
              <a:t>. </a:t>
            </a:r>
            <a:r>
              <a:rPr lang="ko-KR" altLang="en-US" dirty="0"/>
              <a:t>본 연구에서는 가장 최근의 </a:t>
            </a:r>
            <a:r>
              <a:rPr lang="en-US" altLang="ko-KR" dirty="0"/>
              <a:t>2017</a:t>
            </a:r>
            <a:r>
              <a:rPr lang="ko-KR" altLang="en-US" dirty="0"/>
              <a:t>년부터 </a:t>
            </a:r>
            <a:r>
              <a:rPr lang="en-US" altLang="ko-KR" dirty="0"/>
              <a:t>2022</a:t>
            </a:r>
            <a:r>
              <a:rPr lang="ko-KR" altLang="en-US" dirty="0" err="1"/>
              <a:t>년까지를</a:t>
            </a:r>
            <a:r>
              <a:rPr lang="ko-KR" altLang="en-US" dirty="0"/>
              <a:t> 다룬 </a:t>
            </a:r>
            <a:r>
              <a:rPr lang="en-US" altLang="ko-KR" dirty="0"/>
              <a:t>Wave 7</a:t>
            </a:r>
            <a:r>
              <a:rPr lang="ko-KR" altLang="en-US" dirty="0"/>
              <a:t>의 문항들을 활용하였다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b="1" dirty="0"/>
              <a:t>WVS</a:t>
            </a:r>
            <a:r>
              <a:rPr lang="ko-KR" altLang="en-US" b="1" dirty="0"/>
              <a:t>와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문화이론의 만남</a:t>
            </a:r>
            <a:endParaRPr lang="en-US" altLang="ko-KR" dirty="0"/>
          </a:p>
          <a:p>
            <a:r>
              <a:rPr lang="en-US" altLang="ko-KR" dirty="0"/>
              <a:t>Chai et al. (2009)</a:t>
            </a:r>
            <a:r>
              <a:rPr lang="ko-KR" altLang="en-US" dirty="0"/>
              <a:t>는 </a:t>
            </a:r>
            <a:r>
              <a:rPr lang="en-US" altLang="ko-KR" dirty="0"/>
              <a:t>WVS </a:t>
            </a:r>
            <a:r>
              <a:rPr lang="ko-KR" altLang="en-US" dirty="0"/>
              <a:t>설문 문항을 바탕으로 </a:t>
            </a:r>
            <a:r>
              <a:rPr lang="en-US" altLang="ko-KR" dirty="0"/>
              <a:t>Grid</a:t>
            </a:r>
            <a:r>
              <a:rPr lang="ko-KR" altLang="en-US" dirty="0"/>
              <a:t>와 </a:t>
            </a:r>
            <a:r>
              <a:rPr lang="en-US" altLang="ko-KR" dirty="0"/>
              <a:t>Group</a:t>
            </a:r>
            <a:r>
              <a:rPr lang="ko-KR" altLang="en-US" dirty="0"/>
              <a:t>의 측정 문항을 </a:t>
            </a:r>
            <a:r>
              <a:rPr lang="en-US" altLang="ko-KR" dirty="0"/>
              <a:t>11</a:t>
            </a:r>
            <a:r>
              <a:rPr lang="ko-KR" altLang="en-US" dirty="0"/>
              <a:t>개 문항씩 추출하고</a:t>
            </a:r>
            <a:r>
              <a:rPr lang="en-US" altLang="ko-KR" dirty="0"/>
              <a:t>, </a:t>
            </a:r>
            <a:r>
              <a:rPr lang="ko-KR" altLang="en-US" dirty="0"/>
              <a:t>이를 바탕으로 그리드</a:t>
            </a:r>
            <a:r>
              <a:rPr lang="en-US" altLang="ko-KR" dirty="0"/>
              <a:t>-</a:t>
            </a:r>
            <a:r>
              <a:rPr lang="ko-KR" altLang="en-US" dirty="0"/>
              <a:t>그룹 문화적 원형을 양적으로 측정하는 방법을 제안하였고</a:t>
            </a:r>
            <a:r>
              <a:rPr lang="en-US" altLang="ko-KR" dirty="0"/>
              <a:t>, </a:t>
            </a:r>
            <a:r>
              <a:rPr lang="ko-KR" altLang="en-US" dirty="0"/>
              <a:t>이 방식의 학술적 타당성과 견고성을 입증하였다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42692-4C16-258C-BB73-4F9490C3688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B90588-B8C8-F1FC-C9DB-28CDABF0940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29707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B715E-7397-7A41-5274-441FD63C5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299FC5-B094-A2DB-5722-2252FB90F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3539C-A91E-D09E-7C87-E532A4E933CA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7E40F5-70A8-CCBA-2077-1E32DBB4F7D7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97CA5AC-221D-A40F-5BD9-59863F4DF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99" y="2234125"/>
            <a:ext cx="11046286" cy="281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835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687FC-7308-170D-C1B2-734798A9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D92C5-ACBA-283A-423E-5E1BD65B8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3CB571-7075-209B-3D37-FD06D6AB1FB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3D30BC-8677-2965-0AFF-C6A5EC87193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FE06089-AE14-CA31-78D9-C4EF84ACBE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4270" y="1290153"/>
            <a:ext cx="6062995" cy="4850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555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BE100-8D66-990E-C0B4-5F2E24BE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CE4BD7-6664-1F93-1E24-A104EE144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60F744-2839-5C00-BD29-3DADC05B625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주류 </a:t>
            </a:r>
            <a:r>
              <a:rPr lang="en-US" altLang="ko-KR" b="1" dirty="0"/>
              <a:t>AI </a:t>
            </a:r>
            <a:r>
              <a:rPr lang="ko-KR" altLang="en-US" b="1" dirty="0"/>
              <a:t>모델의 평등주의</a:t>
            </a:r>
            <a:r>
              <a:rPr lang="en-US" altLang="ko-KR" b="1" dirty="0"/>
              <a:t>(Egalitarianism) </a:t>
            </a:r>
            <a:r>
              <a:rPr lang="ko-KR" altLang="en-US" b="1" dirty="0"/>
              <a:t>편향성</a:t>
            </a:r>
            <a:endParaRPr lang="en-US" altLang="ko-KR" b="1" dirty="0"/>
          </a:p>
          <a:p>
            <a:r>
              <a:rPr lang="en-US" altLang="ko-KR" dirty="0"/>
              <a:t>7</a:t>
            </a:r>
            <a:r>
              <a:rPr lang="ko-KR" altLang="en-US" dirty="0"/>
              <a:t>개의 모델 중 </a:t>
            </a:r>
            <a:r>
              <a:rPr lang="en-US" altLang="ko-KR" dirty="0"/>
              <a:t>5</a:t>
            </a:r>
            <a:r>
              <a:rPr lang="ko-KR" altLang="en-US" dirty="0"/>
              <a:t>개의 모델이 </a:t>
            </a:r>
            <a:r>
              <a:rPr lang="en-US" altLang="ko-KR" dirty="0"/>
              <a:t>‘</a:t>
            </a:r>
            <a:r>
              <a:rPr lang="ko-KR" altLang="en-US" dirty="0"/>
              <a:t>평등주의</a:t>
            </a:r>
            <a:r>
              <a:rPr lang="en-US" altLang="ko-KR" dirty="0"/>
              <a:t>’ </a:t>
            </a:r>
            <a:r>
              <a:rPr lang="ko-KR" altLang="en-US" dirty="0"/>
              <a:t>영역에 위치하였다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Google</a:t>
            </a:r>
            <a:r>
              <a:rPr lang="ko-KR" altLang="en-US" dirty="0"/>
              <a:t>의 </a:t>
            </a:r>
            <a:r>
              <a:rPr lang="en-US" altLang="ko-KR" dirty="0"/>
              <a:t>Gemini </a:t>
            </a:r>
            <a:r>
              <a:rPr lang="ko-KR" altLang="en-US" dirty="0"/>
              <a:t>모델은 </a:t>
            </a:r>
            <a:r>
              <a:rPr lang="en-US" altLang="ko-KR" dirty="0"/>
              <a:t>Group </a:t>
            </a:r>
            <a:r>
              <a:rPr lang="ko-KR" altLang="en-US" dirty="0"/>
              <a:t>지수가 가장 높아 집단적 연대</a:t>
            </a:r>
            <a:r>
              <a:rPr lang="en-US" altLang="ko-KR" dirty="0"/>
              <a:t>, </a:t>
            </a:r>
            <a:r>
              <a:rPr lang="ko-KR" altLang="en-US" dirty="0"/>
              <a:t>타인에 대한 신뢰</a:t>
            </a:r>
            <a:r>
              <a:rPr lang="en-US" altLang="ko-KR" dirty="0"/>
              <a:t>, </a:t>
            </a:r>
            <a:r>
              <a:rPr lang="ko-KR" altLang="en-US" dirty="0"/>
              <a:t>그리고 사회적 평등을 강하게 지향하는 모습을 보였다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OpenAI</a:t>
            </a:r>
            <a:r>
              <a:rPr lang="ko-KR" altLang="en-US" dirty="0"/>
              <a:t>의 </a:t>
            </a:r>
            <a:r>
              <a:rPr lang="en-US" altLang="ko-KR" dirty="0"/>
              <a:t>GPT </a:t>
            </a:r>
            <a:r>
              <a:rPr lang="ko-KR" altLang="en-US" dirty="0"/>
              <a:t>모델은 </a:t>
            </a:r>
            <a:r>
              <a:rPr lang="en-US" altLang="ko-KR" dirty="0"/>
              <a:t>Grid </a:t>
            </a:r>
            <a:r>
              <a:rPr lang="ko-KR" altLang="en-US" dirty="0"/>
              <a:t>지수가 가장 낮아 권위와 규범적 제약에 대한 거부감이 강하게 드러났다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Anthropic</a:t>
            </a:r>
            <a:r>
              <a:rPr lang="ko-KR" altLang="en-US" dirty="0"/>
              <a:t>의 </a:t>
            </a:r>
            <a:r>
              <a:rPr lang="en-US" altLang="ko-KR" dirty="0"/>
              <a:t>Claude </a:t>
            </a:r>
            <a:r>
              <a:rPr lang="ko-KR" altLang="en-US" dirty="0"/>
              <a:t>모델은 비록 계층주의 영역에 위치하긴 하였지만</a:t>
            </a:r>
            <a:r>
              <a:rPr lang="en-US" altLang="ko-KR" dirty="0"/>
              <a:t>, Grid </a:t>
            </a:r>
            <a:r>
              <a:rPr lang="ko-KR" altLang="en-US" dirty="0"/>
              <a:t>지수</a:t>
            </a:r>
            <a:r>
              <a:rPr lang="en-US" altLang="ko-KR" dirty="0"/>
              <a:t>(=0.503), Group </a:t>
            </a:r>
            <a:r>
              <a:rPr lang="ko-KR" altLang="en-US" dirty="0"/>
              <a:t>지수</a:t>
            </a:r>
            <a:r>
              <a:rPr lang="en-US" altLang="ko-KR" dirty="0"/>
              <a:t>(=0.528)</a:t>
            </a:r>
            <a:r>
              <a:rPr lang="ko-KR" altLang="en-US" dirty="0"/>
              <a:t>로 두 지수 모두 분기점</a:t>
            </a:r>
            <a:r>
              <a:rPr lang="en-US" altLang="ko-KR" dirty="0"/>
              <a:t>(=0.5)</a:t>
            </a:r>
            <a:r>
              <a:rPr lang="ko-KR" altLang="en-US" dirty="0"/>
              <a:t>를 갓 넘긴 수준으로</a:t>
            </a:r>
            <a:r>
              <a:rPr lang="en-US" altLang="ko-KR" dirty="0"/>
              <a:t>, </a:t>
            </a:r>
            <a:r>
              <a:rPr lang="ko-KR" altLang="en-US" dirty="0"/>
              <a:t>전반적으로 </a:t>
            </a:r>
            <a:r>
              <a:rPr lang="en-US" altLang="ko-KR" dirty="0"/>
              <a:t>AI </a:t>
            </a:r>
            <a:r>
              <a:rPr lang="ko-KR" altLang="en-US" dirty="0"/>
              <a:t>모델들이 평등주의에 많이 편향된 양상을 보인다는 것이 다시 한번 드러난다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5B031B-4802-BA07-4C46-D5D95F88CE50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8EE92C-E925-E918-AFD8-240C5BB887FF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324708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FE1F6-09B2-3EDB-F67A-3A9D96E6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90B572-D3EA-EC58-0BDC-C50E27888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2F6B51-F614-1B78-7786-2546EA1A105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주류 </a:t>
            </a:r>
            <a:r>
              <a:rPr lang="en-US" altLang="ko-KR" b="1" dirty="0"/>
              <a:t>AI </a:t>
            </a:r>
            <a:r>
              <a:rPr lang="ko-KR" altLang="en-US" b="1" dirty="0"/>
              <a:t>모델의 평등주의</a:t>
            </a:r>
            <a:r>
              <a:rPr lang="en-US" altLang="ko-KR" b="1" dirty="0"/>
              <a:t>(Egalitarianism) </a:t>
            </a:r>
            <a:r>
              <a:rPr lang="ko-KR" altLang="en-US" b="1" dirty="0"/>
              <a:t>편향성</a:t>
            </a:r>
            <a:endParaRPr lang="en-US" altLang="ko-KR" b="1" dirty="0"/>
          </a:p>
          <a:p>
            <a:r>
              <a:rPr lang="ko-KR" altLang="en-US" dirty="0"/>
              <a:t>대다수의 주류 모델들이 가치 중립적인 백지상태</a:t>
            </a:r>
            <a:r>
              <a:rPr lang="en-US" altLang="ko-KR" dirty="0"/>
              <a:t>(Tabula rasa)</a:t>
            </a:r>
            <a:r>
              <a:rPr lang="ko-KR" altLang="en-US" dirty="0"/>
              <a:t>의 기술적 도구가 아니라</a:t>
            </a:r>
            <a:r>
              <a:rPr lang="en-US" altLang="ko-KR" dirty="0"/>
              <a:t>, </a:t>
            </a:r>
            <a:r>
              <a:rPr lang="ko-KR" altLang="en-US" dirty="0"/>
              <a:t>개발 기업의 이념적 지향과 알고리즘 조정 방식에 따라 특정한 문화적 원형</a:t>
            </a:r>
            <a:r>
              <a:rPr lang="en-US" altLang="ko-KR" dirty="0"/>
              <a:t>(Cultural Prototype)</a:t>
            </a:r>
            <a:r>
              <a:rPr lang="ko-KR" altLang="en-US" dirty="0"/>
              <a:t>을 내재하고 있음을 실증적으로 확인할 수 있었다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</a:t>
            </a:r>
            <a:r>
              <a:rPr lang="ko-KR" altLang="en-US" dirty="0"/>
              <a:t>실리콘밸리 기업들의 지배적인 이데올로기</a:t>
            </a:r>
            <a:r>
              <a:rPr lang="en-US" altLang="ko-KR" dirty="0"/>
              <a:t>(</a:t>
            </a:r>
            <a:r>
              <a:rPr lang="ko-KR" altLang="en-US" dirty="0"/>
              <a:t>다양성</a:t>
            </a:r>
            <a:r>
              <a:rPr lang="en-US" altLang="ko-KR" dirty="0"/>
              <a:t>, </a:t>
            </a:r>
            <a:r>
              <a:rPr lang="ko-KR" altLang="en-US" dirty="0"/>
              <a:t>포용성</a:t>
            </a:r>
            <a:r>
              <a:rPr lang="en-US" altLang="ko-KR" dirty="0"/>
              <a:t>, </a:t>
            </a:r>
            <a:r>
              <a:rPr lang="ko-KR" altLang="en-US" dirty="0"/>
              <a:t>사회적 약자 보호 등으로 대표되는 정치적 올바름</a:t>
            </a:r>
            <a:r>
              <a:rPr lang="en-US" altLang="ko-KR" dirty="0"/>
              <a:t>)</a:t>
            </a:r>
            <a:r>
              <a:rPr lang="ko-KR" altLang="en-US" dirty="0"/>
              <a:t>가 최우선 가치로 </a:t>
            </a:r>
            <a:r>
              <a:rPr lang="ko-KR" altLang="en-US" dirty="0" err="1"/>
              <a:t>학습받았고</a:t>
            </a:r>
            <a:r>
              <a:rPr lang="en-US" altLang="ko-KR" dirty="0"/>
              <a:t>, </a:t>
            </a:r>
            <a:r>
              <a:rPr lang="ko-KR" altLang="en-US" dirty="0"/>
              <a:t>이것이 학습 데이터 선정과 인간 피드백 기반 강화학습</a:t>
            </a:r>
            <a:r>
              <a:rPr lang="en-US" altLang="ko-KR" dirty="0"/>
              <a:t>(RLHF) </a:t>
            </a:r>
            <a:r>
              <a:rPr lang="ko-KR" altLang="en-US" dirty="0"/>
              <a:t>등을 통해 인공지능 모델의 가치관으로 이식된 결과로 추측할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Beck</a:t>
            </a:r>
            <a:r>
              <a:rPr lang="ko-KR" altLang="en-US" dirty="0"/>
              <a:t>이 지적한 위험사회에서 위험을 인지하고 분류하는 주체가 인간에서 </a:t>
            </a:r>
            <a:r>
              <a:rPr lang="en-US" altLang="ko-KR" dirty="0"/>
              <a:t>AI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/>
              <a:t>대중이나 전문가에서 소수의 빅테크 기업으로 옮겨가고 있는 현시점에</a:t>
            </a:r>
            <a:r>
              <a:rPr lang="en-US" altLang="ko-KR" dirty="0"/>
              <a:t>, </a:t>
            </a:r>
            <a:r>
              <a:rPr lang="ko-KR" altLang="en-US" dirty="0"/>
              <a:t>이들 모델이 지닌 편향성은 공론장의 </a:t>
            </a:r>
            <a:r>
              <a:rPr lang="ko-KR" altLang="en-US" dirty="0" err="1"/>
              <a:t>재봉건화를</a:t>
            </a:r>
            <a:r>
              <a:rPr lang="ko-KR" altLang="en-US" dirty="0"/>
              <a:t> 가속하는 또 하나의 </a:t>
            </a:r>
            <a:r>
              <a:rPr lang="en-US" altLang="ko-KR" dirty="0"/>
              <a:t>‘</a:t>
            </a:r>
            <a:r>
              <a:rPr lang="ko-KR" altLang="en-US" dirty="0"/>
              <a:t>위험</a:t>
            </a:r>
            <a:r>
              <a:rPr lang="en-US" altLang="ko-KR" dirty="0"/>
              <a:t>‘</a:t>
            </a:r>
            <a:r>
              <a:rPr lang="ko-KR" altLang="en-US" dirty="0"/>
              <a:t>으로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87EFB8-E621-7F9E-CC84-3013DAE8D99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A6A5DA-410E-5AC4-3884-BA825B95BF1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5598602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026E9-FBC5-5DFD-7C9A-01C8A903D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CF9AA8-5F7E-D36E-60AE-8B25992D9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5F1212-4053-5776-41A5-32B918040427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Anthropic</a:t>
            </a:r>
            <a:r>
              <a:rPr lang="ko-KR" altLang="en-US" b="1" dirty="0"/>
              <a:t>사 </a:t>
            </a:r>
            <a:r>
              <a:rPr lang="en-US" altLang="ko-KR" b="1" dirty="0"/>
              <a:t>Claude </a:t>
            </a:r>
            <a:r>
              <a:rPr lang="ko-KR" altLang="en-US" b="1" dirty="0"/>
              <a:t>모델의 계층주의</a:t>
            </a:r>
            <a:r>
              <a:rPr lang="en-US" altLang="ko-KR" b="1" dirty="0"/>
              <a:t>(Hierarchy)</a:t>
            </a:r>
          </a:p>
          <a:p>
            <a:r>
              <a:rPr lang="en-US" altLang="ko-KR" dirty="0"/>
              <a:t>7</a:t>
            </a:r>
            <a:r>
              <a:rPr lang="ko-KR" altLang="en-US" dirty="0"/>
              <a:t>개의 모델 중 유일하게 계층주의 영역에 위치하였다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집단적 평등을 중시하면서도</a:t>
            </a:r>
            <a:r>
              <a:rPr lang="en-US" altLang="ko-KR" dirty="0"/>
              <a:t>(High Group), </a:t>
            </a:r>
            <a:r>
              <a:rPr lang="ko-KR" altLang="en-US" dirty="0"/>
              <a:t>동시에 엄격한 규칙과 도덕적</a:t>
            </a:r>
            <a:r>
              <a:rPr lang="en-US" altLang="ko-KR" dirty="0"/>
              <a:t>/</a:t>
            </a:r>
            <a:r>
              <a:rPr lang="ko-KR" altLang="en-US" dirty="0"/>
              <a:t>권위적 규범</a:t>
            </a:r>
            <a:r>
              <a:rPr lang="en-US" altLang="ko-KR" dirty="0"/>
              <a:t>(High Grid) </a:t>
            </a:r>
            <a:r>
              <a:rPr lang="ko-KR" altLang="en-US" dirty="0"/>
              <a:t>역시 중요하게 취급하는 보수적</a:t>
            </a:r>
            <a:r>
              <a:rPr lang="en-US" altLang="ko-KR" dirty="0"/>
              <a:t>/</a:t>
            </a:r>
            <a:r>
              <a:rPr lang="ko-KR" altLang="en-US" dirty="0"/>
              <a:t>관리적 성향을 의미한다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Anthropic</a:t>
            </a:r>
            <a:r>
              <a:rPr lang="ko-KR" altLang="en-US" dirty="0"/>
              <a:t>은 </a:t>
            </a:r>
            <a:r>
              <a:rPr lang="en-US" altLang="ko-KR" dirty="0"/>
              <a:t>Bai et al. (2022)</a:t>
            </a:r>
            <a:r>
              <a:rPr lang="ko-KR" altLang="en-US" dirty="0"/>
              <a:t>가 제안한 헌법적 </a:t>
            </a:r>
            <a:r>
              <a:rPr lang="en-US" altLang="ko-KR" dirty="0"/>
              <a:t>AI (Constitutional</a:t>
            </a:r>
            <a:r>
              <a:rPr lang="ko-KR" altLang="en-US" dirty="0"/>
              <a:t> </a:t>
            </a:r>
            <a:r>
              <a:rPr lang="en-US" altLang="ko-KR" dirty="0"/>
              <a:t>AI)</a:t>
            </a:r>
            <a:r>
              <a:rPr lang="ko-KR" altLang="en-US" dirty="0"/>
              <a:t> 접근법을 채택한다</a:t>
            </a:r>
            <a:r>
              <a:rPr lang="en-US" altLang="ko-KR" dirty="0"/>
              <a:t>. </a:t>
            </a:r>
            <a:r>
              <a:rPr lang="ko-KR" altLang="en-US" dirty="0"/>
              <a:t>이 </a:t>
            </a:r>
            <a:r>
              <a:rPr lang="en-US" altLang="ko-KR" dirty="0"/>
              <a:t>‘</a:t>
            </a:r>
            <a:r>
              <a:rPr lang="ko-KR" altLang="en-US" dirty="0"/>
              <a:t>헌법</a:t>
            </a:r>
            <a:r>
              <a:rPr lang="en-US" altLang="ko-KR" dirty="0"/>
              <a:t>‘</a:t>
            </a:r>
            <a:r>
              <a:rPr lang="ko-KR" altLang="en-US" dirty="0"/>
              <a:t>은 시스템을 안전하게 통제하는 강력한 하향식 규범으로 작용하게 되는데</a:t>
            </a:r>
            <a:r>
              <a:rPr lang="en-US" altLang="ko-KR" dirty="0"/>
              <a:t>, </a:t>
            </a:r>
            <a:r>
              <a:rPr lang="ko-KR" altLang="en-US" dirty="0"/>
              <a:t>이러한 강도 높은 원칙 기반의 통제 구조가 모델 내부 가치관에 반영되며 이러한 결과가 나왔을 수 있다고 추측해볼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ABC2F-3277-3EE2-A5CC-837DCB0CD9E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B2064E-EE6B-F3B5-EB36-4DF548F3DA8E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92845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C816A-A468-BB9D-7D66-01A9E3F6C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7603BE-FB46-D7C0-897E-100EC1C30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77C819-BA16-6A1A-C6E2-5C5135812E0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 err="1"/>
              <a:t>xAI</a:t>
            </a:r>
            <a:r>
              <a:rPr lang="ko-KR" altLang="en-US" b="1" dirty="0"/>
              <a:t>사 </a:t>
            </a:r>
            <a:r>
              <a:rPr lang="en-US" altLang="ko-KR" b="1" dirty="0"/>
              <a:t>Grok </a:t>
            </a:r>
            <a:r>
              <a:rPr lang="ko-KR" altLang="en-US" b="1" dirty="0"/>
              <a:t>모델의 개인주의</a:t>
            </a:r>
            <a:r>
              <a:rPr lang="en-US" altLang="ko-KR" b="1" dirty="0"/>
              <a:t>(Individualism)</a:t>
            </a:r>
          </a:p>
          <a:p>
            <a:r>
              <a:rPr lang="en-US" altLang="ko-KR" dirty="0"/>
              <a:t>7</a:t>
            </a:r>
            <a:r>
              <a:rPr lang="ko-KR" altLang="en-US" dirty="0"/>
              <a:t>개의 모델 중 유일하게 개인주의 영역에 위치하였다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집단주의적 책임이나 결과의 평등보다는 개인의 자유를 극대화하는 성향을 모델이 내재화</a:t>
            </a:r>
            <a:r>
              <a:rPr lang="en-US" altLang="ko-KR" dirty="0"/>
              <a:t>(</a:t>
            </a:r>
            <a:r>
              <a:rPr lang="ko-KR" altLang="en-US" dirty="0"/>
              <a:t>혹은 모방</a:t>
            </a:r>
            <a:r>
              <a:rPr lang="en-US" altLang="ko-KR" dirty="0"/>
              <a:t>)</a:t>
            </a:r>
            <a:r>
              <a:rPr lang="ko-KR" altLang="en-US" dirty="0"/>
              <a:t>하고 있음을 의미한다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</a:t>
            </a:r>
            <a:r>
              <a:rPr lang="ko-KR" altLang="en-US" dirty="0"/>
              <a:t>일론 </a:t>
            </a:r>
            <a:r>
              <a:rPr lang="ko-KR" altLang="en-US" dirty="0" err="1"/>
              <a:t>머스크는</a:t>
            </a:r>
            <a:r>
              <a:rPr lang="ko-KR" altLang="en-US" dirty="0"/>
              <a:t> 기존의 </a:t>
            </a:r>
            <a:r>
              <a:rPr lang="en-US" altLang="ko-KR" dirty="0"/>
              <a:t>LLM</a:t>
            </a:r>
            <a:r>
              <a:rPr lang="ko-KR" altLang="en-US" dirty="0"/>
              <a:t>들이 지나치게 </a:t>
            </a:r>
            <a:r>
              <a:rPr lang="en-US" altLang="ko-KR" dirty="0"/>
              <a:t>‘Woke’</a:t>
            </a:r>
            <a:r>
              <a:rPr lang="ko-KR" altLang="en-US" dirty="0"/>
              <a:t>하다고 비판하며</a:t>
            </a:r>
            <a:r>
              <a:rPr lang="en-US" altLang="ko-KR" dirty="0"/>
              <a:t>, Grok</a:t>
            </a:r>
            <a:r>
              <a:rPr lang="ko-KR" altLang="en-US" dirty="0"/>
              <a:t>을 이에 대응하는 </a:t>
            </a:r>
            <a:r>
              <a:rPr lang="en-US" altLang="ko-KR" dirty="0"/>
              <a:t>‘Anti-woke’ </a:t>
            </a:r>
            <a:r>
              <a:rPr lang="ko-KR" altLang="en-US" dirty="0" err="1"/>
              <a:t>챗봇으로</a:t>
            </a:r>
            <a:r>
              <a:rPr lang="ko-KR" altLang="en-US" dirty="0"/>
              <a:t> </a:t>
            </a:r>
            <a:r>
              <a:rPr lang="ko-KR" altLang="en-US" dirty="0" err="1"/>
              <a:t>포지셔닝하였다</a:t>
            </a:r>
            <a:r>
              <a:rPr lang="en-US" altLang="ko-KR" dirty="0"/>
              <a:t>. </a:t>
            </a:r>
            <a:r>
              <a:rPr lang="ko-KR" altLang="en-US" dirty="0"/>
              <a:t>이러한 개발 과정에서의 </a:t>
            </a:r>
            <a:r>
              <a:rPr lang="ko-KR" altLang="en-US" dirty="0" err="1"/>
              <a:t>아젠다가</a:t>
            </a:r>
            <a:r>
              <a:rPr lang="ko-KR" altLang="en-US" dirty="0"/>
              <a:t> 모델의 실제 문화적 원형으로 나타날 수 있다는 것이 다시 한번 드러나는 지점이라고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5687A-325F-C599-CADE-96AE65B8B8B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6787B0-DE8C-45A6-84B3-DB9A2A33894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879509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47339-9538-CDC9-4299-6F027FEC5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71F4BF-0B8C-84DD-A608-93972C765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[Study 2] </a:t>
            </a:r>
            <a:r>
              <a:rPr lang="ko-KR" altLang="en-US" sz="2800" dirty="0"/>
              <a:t>위험에 대한 반응</a:t>
            </a:r>
            <a:r>
              <a:rPr lang="en-US" altLang="ko-KR" sz="2800" dirty="0"/>
              <a:t>: </a:t>
            </a:r>
            <a:r>
              <a:rPr lang="ko-KR" altLang="en-US" sz="2800" dirty="0"/>
              <a:t>심리측정 패러다임과 </a:t>
            </a:r>
            <a:r>
              <a:rPr lang="ko-KR" altLang="en-US" sz="2800" dirty="0" err="1"/>
              <a:t>아웃레이지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2A6382-DCDD-D7F0-85A4-8BAA5703BD1F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심리측정 패러다임</a:t>
            </a:r>
            <a:endParaRPr lang="en-US" altLang="ko-KR" b="1" dirty="0"/>
          </a:p>
          <a:p>
            <a:r>
              <a:rPr lang="en-US" altLang="ko-KR" dirty="0"/>
              <a:t>Slovic (1987)</a:t>
            </a:r>
            <a:r>
              <a:rPr lang="ko-KR" altLang="en-US" dirty="0"/>
              <a:t>은 대중이 통계적 확률에 의존하여 위험에 반응하는 것만은 아니라고 주장한다</a:t>
            </a:r>
            <a:r>
              <a:rPr lang="en-US" altLang="ko-KR" dirty="0"/>
              <a:t>. </a:t>
            </a:r>
            <a:r>
              <a:rPr lang="ko-KR" altLang="en-US" dirty="0"/>
              <a:t>그리고 이러한 </a:t>
            </a:r>
            <a:r>
              <a:rPr lang="ko-KR" altLang="en-US" dirty="0" err="1"/>
              <a:t>아웃레이지</a:t>
            </a:r>
            <a:r>
              <a:rPr lang="en-US" altLang="ko-KR" dirty="0"/>
              <a:t>(Outrage)</a:t>
            </a:r>
            <a:r>
              <a:rPr lang="ko-KR" altLang="en-US" dirty="0"/>
              <a:t>를 유발하는 질적 요인들을 심리학적으로 처음 규명하고 </a:t>
            </a:r>
            <a:r>
              <a:rPr lang="ko-KR" altLang="en-US" dirty="0" err="1"/>
              <a:t>수치화하였다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Sandman (1988)</a:t>
            </a:r>
            <a:r>
              <a:rPr lang="ko-KR" altLang="en-US" dirty="0"/>
              <a:t>은 </a:t>
            </a:r>
            <a:r>
              <a:rPr lang="en-US" altLang="ko-KR" dirty="0"/>
              <a:t>Risk = Hazard + Outrage </a:t>
            </a:r>
            <a:r>
              <a:rPr lang="ko-KR" altLang="en-US" dirty="0"/>
              <a:t>라는 공식을 제시하였고</a:t>
            </a:r>
            <a:r>
              <a:rPr lang="en-US" altLang="ko-KR" dirty="0"/>
              <a:t>, Sandman (1993)</a:t>
            </a:r>
            <a:r>
              <a:rPr lang="ko-KR" altLang="en-US" dirty="0"/>
              <a:t>에서 대중의 </a:t>
            </a:r>
            <a:r>
              <a:rPr lang="ko-KR" altLang="en-US" dirty="0" err="1"/>
              <a:t>아웃레이지를</a:t>
            </a:r>
            <a:r>
              <a:rPr lang="ko-KR" altLang="en-US" dirty="0"/>
              <a:t> 촉발하는 질적 요인들을 체계적으로 </a:t>
            </a:r>
            <a:r>
              <a:rPr lang="ko-KR" altLang="en-US" dirty="0" err="1"/>
              <a:t>범주화하여</a:t>
            </a:r>
            <a:r>
              <a:rPr lang="ko-KR" altLang="en-US" dirty="0"/>
              <a:t> 제시하였다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아웃레이지의</a:t>
            </a:r>
            <a:r>
              <a:rPr lang="ko-KR" altLang="en-US" dirty="0"/>
              <a:t> 요인으로는 자발성</a:t>
            </a:r>
            <a:r>
              <a:rPr lang="en-US" altLang="ko-KR" dirty="0"/>
              <a:t>(Voluntariness), </a:t>
            </a:r>
            <a:r>
              <a:rPr lang="ko-KR" altLang="en-US" dirty="0"/>
              <a:t>통제 가능성</a:t>
            </a:r>
            <a:r>
              <a:rPr lang="en-US" altLang="ko-KR" dirty="0"/>
              <a:t>(Controllability), </a:t>
            </a:r>
            <a:r>
              <a:rPr lang="ko-KR" altLang="en-US" dirty="0"/>
              <a:t>친숙성</a:t>
            </a:r>
            <a:r>
              <a:rPr lang="en-US" altLang="ko-KR" dirty="0"/>
              <a:t>(Familiarity) </a:t>
            </a:r>
            <a:r>
              <a:rPr lang="ko-KR" altLang="en-US" dirty="0"/>
              <a:t>등이 제시되었다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89F812-5FE2-48C4-0711-0E7FA93BDD5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852C19-33A0-80C8-7033-4D3641F7644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41383706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F2CDC-423A-AF21-88DB-9EB6AAD90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8E1B91-CE2B-0D90-E7E0-48E8D9768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[Study 2] </a:t>
            </a:r>
            <a:r>
              <a:rPr lang="ko-KR" altLang="en-US" sz="2800" dirty="0"/>
              <a:t>위험에 대한 반응</a:t>
            </a:r>
            <a:r>
              <a:rPr lang="en-US" altLang="ko-KR" sz="2800" dirty="0"/>
              <a:t>: </a:t>
            </a:r>
            <a:r>
              <a:rPr lang="ko-KR" altLang="en-US" sz="2800" dirty="0"/>
              <a:t>심리측정 패러다임과 </a:t>
            </a:r>
            <a:r>
              <a:rPr lang="ko-KR" altLang="en-US" sz="2800" dirty="0" err="1"/>
              <a:t>아웃레이지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5EC4C4-579F-C07D-C84F-2199881C608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심리측정 패러다임과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문화이론의 만남</a:t>
            </a:r>
            <a:endParaRPr lang="en-US" altLang="ko-KR" b="1" dirty="0"/>
          </a:p>
          <a:p>
            <a:r>
              <a:rPr lang="en-US" altLang="ko-KR" dirty="0"/>
              <a:t>Marris et al. (1996)</a:t>
            </a:r>
            <a:r>
              <a:rPr lang="ko-KR" altLang="en-US" dirty="0"/>
              <a:t>은 문화적 편향</a:t>
            </a:r>
            <a:r>
              <a:rPr lang="en-US" altLang="ko-KR" dirty="0"/>
              <a:t>(Grid-Group)</a:t>
            </a:r>
            <a:r>
              <a:rPr lang="ko-KR" altLang="en-US" dirty="0"/>
              <a:t>과 심리측정적 위험 특성</a:t>
            </a:r>
            <a:r>
              <a:rPr lang="en-US" altLang="ko-KR" dirty="0"/>
              <a:t>(Outrage) </a:t>
            </a:r>
            <a:r>
              <a:rPr lang="ko-KR" altLang="en-US" dirty="0"/>
              <a:t>간의 상관관계를 분석하여 연구를 진행하였다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Kahan et al. (2011)</a:t>
            </a:r>
            <a:r>
              <a:rPr lang="ko-KR" altLang="en-US" dirty="0"/>
              <a:t>은 사람들이 문화적 정체성을 보호하기 위해 가치관에 위협이 되는 특정 위험에는 강하게 분노</a:t>
            </a:r>
            <a:r>
              <a:rPr lang="en-US" altLang="ko-KR" dirty="0"/>
              <a:t>(High outrage)</a:t>
            </a:r>
            <a:r>
              <a:rPr lang="ko-KR" altLang="en-US" dirty="0"/>
              <a:t>하고</a:t>
            </a:r>
            <a:r>
              <a:rPr lang="en-US" altLang="ko-KR" dirty="0"/>
              <a:t>, </a:t>
            </a:r>
            <a:r>
              <a:rPr lang="ko-KR" altLang="en-US" dirty="0"/>
              <a:t>그렇지 않은 위험은 무시</a:t>
            </a:r>
            <a:r>
              <a:rPr lang="en-US" altLang="ko-KR" dirty="0"/>
              <a:t>(Low outrage)</a:t>
            </a:r>
            <a:r>
              <a:rPr lang="ko-KR" altLang="en-US" dirty="0"/>
              <a:t>한다는 것을 실증하였다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Douglas</a:t>
            </a:r>
            <a:r>
              <a:rPr lang="ko-KR" altLang="en-US" dirty="0"/>
              <a:t>의 </a:t>
            </a:r>
            <a:r>
              <a:rPr lang="en-US" altLang="ko-KR" dirty="0"/>
              <a:t>Grid-Group </a:t>
            </a:r>
            <a:r>
              <a:rPr lang="ko-KR" altLang="en-US" dirty="0"/>
              <a:t>문화이론과 </a:t>
            </a:r>
            <a:r>
              <a:rPr lang="en-US" altLang="ko-KR" dirty="0"/>
              <a:t>Slovic</a:t>
            </a:r>
            <a:r>
              <a:rPr lang="ko-KR" altLang="en-US" dirty="0"/>
              <a:t>의 심리측정 패러다임이 서로 배타적인 것이 아니라</a:t>
            </a:r>
            <a:r>
              <a:rPr lang="en-US" altLang="ko-KR" dirty="0"/>
              <a:t> </a:t>
            </a:r>
            <a:r>
              <a:rPr lang="ko-KR" altLang="en-US" dirty="0"/>
              <a:t>위험 인식과 반응이라는</a:t>
            </a:r>
            <a:r>
              <a:rPr lang="en-US" altLang="ko-KR" dirty="0"/>
              <a:t>, </a:t>
            </a:r>
            <a:r>
              <a:rPr lang="ko-KR" altLang="en-US" dirty="0"/>
              <a:t>다른 차원을 설명하는 상호 보완적 관계임이 실증되었다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90387-805D-3553-8114-880219CD8CF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458B8D-1678-4ACD-8648-F352B2FA1B6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8475828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B6BF9-FFF0-B2BD-A630-FF48AE29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C3FB06-6CE1-1E58-1695-5CE8A550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551BD0-C96F-E886-DE14-85A5759979B4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 주제 </a:t>
            </a:r>
            <a:r>
              <a:rPr lang="en-US" altLang="ko-KR" b="1" dirty="0"/>
              <a:t>(13</a:t>
            </a:r>
            <a:r>
              <a:rPr lang="ko-KR" altLang="en-US" b="1" dirty="0"/>
              <a:t>개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에 기반하여 아래의 위험들을 주제로 선정하였다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7256CB-978A-7107-90CF-78A3416AA194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422F78-9309-7883-6D27-585595D8117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DF735089-3A13-2349-CD7D-F5117C2C8FE6}"/>
              </a:ext>
            </a:extLst>
          </p:cNvPr>
          <p:cNvSpPr txBox="1">
            <a:spLocks/>
          </p:cNvSpPr>
          <p:nvPr/>
        </p:nvSpPr>
        <p:spPr>
          <a:xfrm>
            <a:off x="571498" y="2741254"/>
            <a:ext cx="11059811" cy="2987644"/>
          </a:xfrm>
          <a:prstGeom prst="rect">
            <a:avLst/>
          </a:prstGeom>
        </p:spPr>
        <p:txBody>
          <a:bodyPr numCol="2"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ko-KR" dirty="0"/>
              <a:t>Sunbathing (</a:t>
            </a:r>
            <a:r>
              <a:rPr lang="ko-KR" altLang="en-US" dirty="0"/>
              <a:t>일광욕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Food </a:t>
            </a:r>
            <a:r>
              <a:rPr lang="en-US" altLang="ko-KR" dirty="0" err="1"/>
              <a:t>colourings</a:t>
            </a:r>
            <a:r>
              <a:rPr lang="en-US" altLang="ko-KR" dirty="0"/>
              <a:t> (</a:t>
            </a:r>
            <a:r>
              <a:rPr lang="ko-KR" altLang="en-US" dirty="0"/>
              <a:t>식용 색소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Genetic engineering (</a:t>
            </a:r>
            <a:r>
              <a:rPr lang="ko-KR" altLang="en-US" dirty="0"/>
              <a:t>유전공학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Nuclear power (</a:t>
            </a:r>
            <a:r>
              <a:rPr lang="ko-KR" altLang="en-US" dirty="0"/>
              <a:t>원자력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Mugging (</a:t>
            </a:r>
            <a:r>
              <a:rPr lang="ko-KR" altLang="en-US" dirty="0"/>
              <a:t>노상강도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Home accidents (</a:t>
            </a:r>
            <a:r>
              <a:rPr lang="ko-KR" altLang="en-US" dirty="0"/>
              <a:t>가정 내 사고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Ozone depletion (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Car driving (</a:t>
            </a:r>
            <a:r>
              <a:rPr lang="ko-KR" altLang="en-US" dirty="0"/>
              <a:t>자동차 운전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Microwave ovens (</a:t>
            </a:r>
            <a:r>
              <a:rPr lang="ko-KR" altLang="en-US" dirty="0"/>
              <a:t>전자레인지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AIDS (</a:t>
            </a:r>
            <a:r>
              <a:rPr lang="ko-KR" altLang="en-US" dirty="0"/>
              <a:t>에이즈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War (</a:t>
            </a:r>
            <a:r>
              <a:rPr lang="ko-KR" altLang="en-US" dirty="0"/>
              <a:t>전쟁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Terrorism (</a:t>
            </a:r>
            <a:r>
              <a:rPr lang="ko-KR" altLang="en-US" dirty="0"/>
              <a:t>테러리즘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Alcoholic drinks (</a:t>
            </a:r>
            <a:r>
              <a:rPr lang="ko-KR" altLang="en-US" dirty="0"/>
              <a:t>알코올 음료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359683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A364D-CF04-6433-2396-3C6406980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44E64-66A5-6EEF-E003-3B38AC7A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AC92DA-D222-0B29-06C2-6F48A94D3ACB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문화적 원형에 따른 반응 경향성</a:t>
            </a:r>
            <a:endParaRPr lang="en-US" altLang="ko-KR" b="1" dirty="0"/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각 문화적 원형은 다음과 같이 각 주제를 경계하거나 무시한다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평등주의</a:t>
            </a:r>
            <a:r>
              <a:rPr lang="en-US" altLang="ko-KR" dirty="0"/>
              <a:t>: </a:t>
            </a:r>
            <a:r>
              <a:rPr lang="ko-KR" altLang="en-US" dirty="0"/>
              <a:t>환경적 위협</a:t>
            </a:r>
            <a:r>
              <a:rPr lang="en-US" altLang="ko-KR" dirty="0"/>
              <a:t>(</a:t>
            </a:r>
            <a:r>
              <a:rPr lang="ko-KR" altLang="en-US" dirty="0"/>
              <a:t>원자력</a:t>
            </a:r>
            <a:r>
              <a:rPr lang="en-US" altLang="ko-KR" dirty="0"/>
              <a:t>, 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ko-KR" altLang="en-US" dirty="0" err="1"/>
              <a:t>비자연적인</a:t>
            </a:r>
            <a:r>
              <a:rPr lang="ko-KR" altLang="en-US" dirty="0"/>
              <a:t> 위험</a:t>
            </a:r>
            <a:r>
              <a:rPr lang="en-US" altLang="ko-KR" dirty="0"/>
              <a:t>(</a:t>
            </a:r>
            <a:r>
              <a:rPr lang="ko-KR" altLang="en-US" dirty="0"/>
              <a:t>식용 색소</a:t>
            </a:r>
            <a:r>
              <a:rPr lang="en-US" altLang="ko-KR" dirty="0"/>
              <a:t>, </a:t>
            </a:r>
            <a:r>
              <a:rPr lang="ko-KR" altLang="en-US" dirty="0"/>
              <a:t>유전 공학</a:t>
            </a:r>
            <a:r>
              <a:rPr lang="en-US" altLang="ko-KR" dirty="0"/>
              <a:t>, </a:t>
            </a:r>
            <a:r>
              <a:rPr lang="ko-KR" altLang="en-US" dirty="0"/>
              <a:t>전자레인지</a:t>
            </a:r>
            <a:r>
              <a:rPr lang="en-US" altLang="ko-KR" dirty="0"/>
              <a:t>)</a:t>
            </a:r>
            <a:r>
              <a:rPr lang="ko-KR" altLang="en-US" dirty="0"/>
              <a:t>을 강하게 경계한다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위계주의</a:t>
            </a:r>
            <a:r>
              <a:rPr lang="en-US" altLang="ko-KR" dirty="0"/>
              <a:t>: </a:t>
            </a:r>
            <a:r>
              <a:rPr lang="ko-KR" altLang="en-US" dirty="0"/>
              <a:t>사회 질서를 위협하는 범죄나 테러</a:t>
            </a:r>
            <a:r>
              <a:rPr lang="en-US" altLang="ko-KR" dirty="0"/>
              <a:t>(</a:t>
            </a:r>
            <a:r>
              <a:rPr lang="ko-KR" altLang="en-US" dirty="0"/>
              <a:t>노상강도</a:t>
            </a:r>
            <a:r>
              <a:rPr lang="en-US" altLang="ko-KR" dirty="0"/>
              <a:t>, </a:t>
            </a:r>
            <a:r>
              <a:rPr lang="ko-KR" altLang="en-US" dirty="0"/>
              <a:t>테러리즘</a:t>
            </a:r>
            <a:r>
              <a:rPr lang="en-US" altLang="ko-KR" dirty="0"/>
              <a:t>)</a:t>
            </a:r>
            <a:r>
              <a:rPr lang="ko-KR" altLang="en-US" dirty="0"/>
              <a:t>를 강하게 경계한다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개인주의</a:t>
            </a:r>
            <a:r>
              <a:rPr lang="en-US" altLang="ko-KR" dirty="0"/>
              <a:t>: </a:t>
            </a:r>
            <a:r>
              <a:rPr lang="ko-KR" altLang="en-US" dirty="0"/>
              <a:t>환경적 위협</a:t>
            </a:r>
            <a:r>
              <a:rPr lang="en-US" altLang="ko-KR" dirty="0"/>
              <a:t>(</a:t>
            </a:r>
            <a:r>
              <a:rPr lang="ko-KR" altLang="en-US" dirty="0"/>
              <a:t>원자력</a:t>
            </a:r>
            <a:r>
              <a:rPr lang="en-US" altLang="ko-KR" dirty="0"/>
              <a:t>, 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  <a:r>
              <a:rPr lang="ko-KR" altLang="en-US" dirty="0"/>
              <a:t>과 개인의 자발적 선택에 의한 위험</a:t>
            </a:r>
            <a:r>
              <a:rPr lang="en-US" altLang="ko-KR" dirty="0"/>
              <a:t>(</a:t>
            </a:r>
            <a:r>
              <a:rPr lang="ko-KR" altLang="en-US" dirty="0"/>
              <a:t>일광욕</a:t>
            </a:r>
            <a:r>
              <a:rPr lang="en-US" altLang="ko-KR" dirty="0"/>
              <a:t>, </a:t>
            </a:r>
            <a:r>
              <a:rPr lang="ko-KR" altLang="en-US" dirty="0"/>
              <a:t>식용 색소</a:t>
            </a:r>
            <a:r>
              <a:rPr lang="en-US" altLang="ko-KR" dirty="0"/>
              <a:t>, </a:t>
            </a:r>
            <a:r>
              <a:rPr lang="ko-KR" altLang="en-US" dirty="0"/>
              <a:t>자동차 운전</a:t>
            </a:r>
            <a:r>
              <a:rPr lang="en-US" altLang="ko-KR" dirty="0"/>
              <a:t>, </a:t>
            </a:r>
            <a:r>
              <a:rPr lang="ko-KR" altLang="en-US" dirty="0"/>
              <a:t>알코올 음료</a:t>
            </a:r>
            <a:r>
              <a:rPr lang="en-US" altLang="ko-KR" dirty="0"/>
              <a:t>)</a:t>
            </a:r>
            <a:r>
              <a:rPr lang="ko-KR" altLang="en-US" dirty="0"/>
              <a:t>에 대한 경계심이 낮다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운명주의</a:t>
            </a:r>
            <a:r>
              <a:rPr lang="en-US" altLang="ko-KR" dirty="0"/>
              <a:t>: </a:t>
            </a:r>
            <a:r>
              <a:rPr lang="ko-KR" altLang="en-US" dirty="0"/>
              <a:t>노상강도나 에이즈처럼 개인에게 직접적인 영향을 미치는 사회적 병폐에 대해 높은 우려를 보인다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5B840-83A6-1517-543B-D61C9A3881D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3CF5CC-EF19-0C0E-0B4F-0E661F083C6A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0748549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831BC-350F-6593-35B8-246AF59A2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D2CD5-0497-32B4-1D75-12FD3B1B1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24DDC4-A9D2-3EC3-AF4F-76CF791D3AC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질적 </a:t>
            </a:r>
            <a:r>
              <a:rPr lang="ko-KR" altLang="en-US" b="1" dirty="0" err="1"/>
              <a:t>아웃레이지</a:t>
            </a:r>
            <a:r>
              <a:rPr lang="ko-KR" altLang="en-US" b="1" dirty="0"/>
              <a:t> 요인 </a:t>
            </a:r>
            <a:r>
              <a:rPr lang="en-US" altLang="ko-KR" b="1" dirty="0"/>
              <a:t>(9</a:t>
            </a:r>
            <a:r>
              <a:rPr lang="ko-KR" altLang="en-US" b="1" dirty="0"/>
              <a:t>개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을 바탕으로 다음 </a:t>
            </a:r>
            <a:r>
              <a:rPr lang="en-US" altLang="ko-KR" dirty="0"/>
              <a:t>9</a:t>
            </a:r>
            <a:r>
              <a:rPr lang="ko-KR" altLang="en-US" dirty="0"/>
              <a:t>가지 질적 </a:t>
            </a:r>
            <a:r>
              <a:rPr lang="ko-KR" altLang="en-US" dirty="0" err="1"/>
              <a:t>아웃레이지</a:t>
            </a:r>
            <a:r>
              <a:rPr lang="ko-KR" altLang="en-US" dirty="0"/>
              <a:t> 요인을 측정한다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Involuntariness (</a:t>
            </a:r>
            <a:r>
              <a:rPr lang="ko-KR" altLang="en-US" dirty="0"/>
              <a:t>자발성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Delayed effects (</a:t>
            </a:r>
            <a:r>
              <a:rPr lang="ko-KR" altLang="en-US" dirty="0"/>
              <a:t>지연 효과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Severity (</a:t>
            </a:r>
            <a:r>
              <a:rPr lang="ko-KR" altLang="en-US" dirty="0" err="1"/>
              <a:t>치명성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Dread (</a:t>
            </a:r>
            <a:r>
              <a:rPr lang="ko-KR" altLang="en-US" dirty="0"/>
              <a:t>공포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Catastrophic potential (</a:t>
            </a:r>
            <a:r>
              <a:rPr lang="ko-KR" altLang="en-US" dirty="0"/>
              <a:t>재난적 잠재력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Harm to future generations (</a:t>
            </a:r>
            <a:r>
              <a:rPr lang="ko-KR" altLang="en-US" dirty="0"/>
              <a:t>미래 세대 위협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Lack of knowledge to those exposed (</a:t>
            </a:r>
            <a:r>
              <a:rPr lang="ko-KR" altLang="en-US" dirty="0"/>
              <a:t>노출자의 지식 부족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Lack of knowledge to scientists (</a:t>
            </a:r>
            <a:r>
              <a:rPr lang="ko-KR" altLang="en-US" dirty="0"/>
              <a:t>과학자의 지식 부족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Unfairness (</a:t>
            </a:r>
            <a:r>
              <a:rPr lang="ko-KR" altLang="en-US" dirty="0"/>
              <a:t>불공정성</a:t>
            </a:r>
            <a:r>
              <a:rPr lang="en-US" altLang="ko-KR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49B33-D177-1DAD-D9B9-C387C92FBF2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959448-8FF7-E8A2-0B60-9C93623C5922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4671673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EF443-9C46-AD11-DD05-B196C3A61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1534B1-6092-DF63-813F-34F12A04B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051CB2-16FC-D4DE-6296-574F98F878E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위험성 평가 지표 </a:t>
            </a:r>
            <a:r>
              <a:rPr lang="en-US" altLang="ko-KR" b="1" dirty="0"/>
              <a:t>(Riskiness)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을 바탕으로 다음 지표를 위험에 대한 전반적인 평가로 측정한다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Riskiness (</a:t>
            </a:r>
            <a:r>
              <a:rPr lang="ko-KR" altLang="en-US" dirty="0"/>
              <a:t>위험성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pPr marL="0" indent="0">
              <a:buNone/>
            </a:pPr>
            <a:r>
              <a:rPr lang="ko-KR" altLang="en-US" b="1" dirty="0"/>
              <a:t>방법론적 세팅</a:t>
            </a:r>
            <a:endParaRPr lang="en-US" altLang="ko-KR" b="1" dirty="0"/>
          </a:p>
          <a:p>
            <a:r>
              <a:rPr lang="en-US" altLang="ko-KR" dirty="0"/>
              <a:t>Study 1</a:t>
            </a:r>
            <a:r>
              <a:rPr lang="ko-KR" altLang="en-US" dirty="0"/>
              <a:t>과 대상 모델</a:t>
            </a:r>
            <a:r>
              <a:rPr lang="en-US" altLang="ko-KR" dirty="0"/>
              <a:t>, API</a:t>
            </a:r>
            <a:r>
              <a:rPr lang="ko-KR" altLang="en-US" dirty="0"/>
              <a:t>를 통한 응답 반환</a:t>
            </a:r>
            <a:r>
              <a:rPr lang="en-US" altLang="ko-KR" dirty="0"/>
              <a:t>, </a:t>
            </a:r>
            <a:r>
              <a:rPr lang="ko-KR" altLang="en-US" dirty="0"/>
              <a:t>파라미터 세팅</a:t>
            </a:r>
            <a:r>
              <a:rPr lang="en-US" altLang="ko-KR" dirty="0"/>
              <a:t>, </a:t>
            </a:r>
            <a:r>
              <a:rPr lang="ko-KR" altLang="en-US" dirty="0" err="1"/>
              <a:t>무표적</a:t>
            </a:r>
            <a:r>
              <a:rPr lang="ko-KR" altLang="en-US" dirty="0"/>
              <a:t> 페르소나 기반 등의 세팅을 똑같이 공유한다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각 문항에 대한 응답은 </a:t>
            </a:r>
            <a:r>
              <a:rPr lang="ko-KR" altLang="en-US" dirty="0" err="1"/>
              <a:t>리커트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점 척도로 </a:t>
            </a:r>
            <a:r>
              <a:rPr lang="ko-KR" altLang="en-US" dirty="0" err="1"/>
              <a:t>반환받는다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228600" lvl="1" indent="0">
              <a:buNone/>
            </a:pP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EA0723-E419-C256-66A8-94981CE7E88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98492-BB7E-8E4C-FD93-8B2FD126699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7029636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E0F2E-58E5-DCE8-A1E2-193442AE7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BB9442-7F27-A73B-B944-65A1ED6C3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953B3-7A75-175E-7F9F-4D790EC48C5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Polarizing Variables </a:t>
            </a:r>
            <a:r>
              <a:rPr lang="ko-KR" altLang="en-US" b="1" dirty="0"/>
              <a:t>비교</a:t>
            </a:r>
            <a:endParaRPr lang="en-US" altLang="ko-KR" b="1" dirty="0"/>
          </a:p>
          <a:p>
            <a:r>
              <a:rPr lang="ko-KR" altLang="en-US" dirty="0"/>
              <a:t>이론적으로 가장 첨예하게 대립하는 </a:t>
            </a:r>
            <a:r>
              <a:rPr lang="en-US" altLang="ko-KR" dirty="0"/>
              <a:t>3</a:t>
            </a:r>
            <a:r>
              <a:rPr lang="ko-KR" altLang="en-US" dirty="0"/>
              <a:t>가지 변수</a:t>
            </a:r>
            <a:r>
              <a:rPr lang="en-US" altLang="ko-KR" dirty="0"/>
              <a:t>(</a:t>
            </a:r>
            <a:r>
              <a:rPr lang="ko-KR" altLang="en-US" dirty="0"/>
              <a:t>공포</a:t>
            </a:r>
            <a:r>
              <a:rPr lang="en-US" altLang="ko-KR" dirty="0"/>
              <a:t>, </a:t>
            </a:r>
            <a:r>
              <a:rPr lang="ko-KR" altLang="en-US" dirty="0" err="1"/>
              <a:t>치명성</a:t>
            </a:r>
            <a:r>
              <a:rPr lang="en-US" altLang="ko-KR" dirty="0"/>
              <a:t>, </a:t>
            </a:r>
            <a:r>
              <a:rPr lang="ko-KR" altLang="en-US" dirty="0"/>
              <a:t>과학자의 지식부족</a:t>
            </a:r>
            <a:r>
              <a:rPr lang="en-US" altLang="ko-KR" dirty="0"/>
              <a:t>)</a:t>
            </a:r>
            <a:r>
              <a:rPr lang="ko-KR" altLang="en-US" dirty="0"/>
              <a:t>만 발췌 비교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EAD5E4-4C07-7173-0172-AC0CDD9D6C6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3E4FF-152F-D45C-6420-19C2863D4C1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1D4D479-6F00-F399-22F8-AC5F83866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0945" y="2547642"/>
            <a:ext cx="6030109" cy="361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0146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B4C8E-E7EB-BDC4-6486-0B3229739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C0073-D137-E7E5-B5D7-0BDC4AD9A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9552AA-6170-9392-D23B-3C1F874C6D82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문화 원형별 </a:t>
            </a:r>
            <a:r>
              <a:rPr lang="ko-KR" altLang="en-US" b="1" dirty="0" err="1"/>
              <a:t>아웃레이지</a:t>
            </a:r>
            <a:r>
              <a:rPr lang="ko-KR" altLang="en-US" b="1" dirty="0"/>
              <a:t> 프로파일</a:t>
            </a:r>
            <a:endParaRPr lang="en-US" altLang="ko-K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F5A47-F1FE-4C6A-4A13-3EC9C70C7B2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F6E21F-61BC-7A18-2324-6AD021398F2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A28C502-B434-B3CF-8C40-31D806C85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9117" y="760148"/>
            <a:ext cx="5380400" cy="538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2860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9A86C-3E00-4D22-8552-00429F5E4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033A5-BD67-4AF1-826D-DBC66DEF3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98024-E77D-C36E-E2B6-4C5FB35191E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 err="1"/>
              <a:t>아웃레이지</a:t>
            </a:r>
            <a:r>
              <a:rPr lang="ko-KR" altLang="en-US" b="1" dirty="0"/>
              <a:t> </a:t>
            </a:r>
            <a:r>
              <a:rPr lang="ko-KR" altLang="en-US" b="1" dirty="0" err="1"/>
              <a:t>매커니즘</a:t>
            </a:r>
            <a:r>
              <a:rPr lang="ko-KR" altLang="en-US" b="1" dirty="0"/>
              <a:t> 상관계수 </a:t>
            </a:r>
            <a:r>
              <a:rPr lang="ko-KR" altLang="en-US" b="1" dirty="0" err="1"/>
              <a:t>히트맵</a:t>
            </a:r>
            <a:endParaRPr lang="en-US" altLang="ko-KR" b="1" dirty="0"/>
          </a:p>
          <a:p>
            <a:r>
              <a:rPr lang="ko-KR" altLang="en-US" dirty="0"/>
              <a:t>어떤 </a:t>
            </a:r>
            <a:r>
              <a:rPr lang="ko-KR" altLang="en-US" dirty="0" err="1"/>
              <a:t>아웃레이지</a:t>
            </a:r>
            <a:r>
              <a:rPr lang="ko-KR" altLang="en-US" dirty="0"/>
              <a:t> 요인이 최종 위험성을 견인하는지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B638FC-51BF-6DAE-A098-E511BD3A7694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E7B5B5-4BA1-40DE-1B33-DB4238F19416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62E5367-8198-4748-622B-85A75F803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244" y="1392768"/>
            <a:ext cx="5109166" cy="408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4841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4F64B-18FD-A0E6-7BEF-ECE442851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C7911-875D-4F77-A230-670D0F348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98DE8B-3EA4-622A-2FFE-A447E106624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개인주의 </a:t>
            </a:r>
            <a:r>
              <a:rPr lang="en-US" altLang="ko-KR" b="1" dirty="0"/>
              <a:t>(</a:t>
            </a:r>
            <a:r>
              <a:rPr lang="en-US" altLang="ko-KR" b="1" dirty="0" err="1"/>
              <a:t>xAI</a:t>
            </a:r>
            <a:r>
              <a:rPr lang="ko-KR" altLang="en-US" b="1" dirty="0"/>
              <a:t>사 </a:t>
            </a:r>
            <a:r>
              <a:rPr lang="en-US" altLang="ko-KR" b="1" dirty="0"/>
              <a:t>Grok)</a:t>
            </a:r>
          </a:p>
          <a:p>
            <a:r>
              <a:rPr lang="en-US" altLang="ko-KR" dirty="0"/>
              <a:t>Grok</a:t>
            </a:r>
            <a:r>
              <a:rPr lang="ko-KR" altLang="en-US" dirty="0"/>
              <a:t>의 위험 지각은 오직 </a:t>
            </a:r>
            <a:r>
              <a:rPr lang="ko-KR" altLang="en-US" dirty="0" err="1"/>
              <a:t>치명성</a:t>
            </a:r>
            <a:r>
              <a:rPr lang="en-US" altLang="ko-KR" dirty="0"/>
              <a:t>(Severity)</a:t>
            </a:r>
            <a:r>
              <a:rPr lang="ko-KR" altLang="en-US" dirty="0"/>
              <a:t>에 의해서만 설명되고</a:t>
            </a:r>
            <a:r>
              <a:rPr lang="en-US" altLang="ko-KR" dirty="0"/>
              <a:t>, </a:t>
            </a:r>
            <a:r>
              <a:rPr lang="ko-KR" altLang="en-US" dirty="0"/>
              <a:t>감정적 요인인 공포</a:t>
            </a:r>
            <a:r>
              <a:rPr lang="en-US" altLang="ko-KR" dirty="0"/>
              <a:t>(Dread)</a:t>
            </a:r>
            <a:r>
              <a:rPr lang="ko-KR" altLang="en-US" dirty="0"/>
              <a:t>나 재난적 잠재력</a:t>
            </a:r>
            <a:r>
              <a:rPr lang="en-US" altLang="ko-KR" dirty="0"/>
              <a:t>(Catastrophic potential)</a:t>
            </a:r>
            <a:r>
              <a:rPr lang="ko-KR" altLang="en-US" dirty="0"/>
              <a:t>은 위험성 판단에 거의 영향을 미치지 않았다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개인주의 원형은 본인의 통제력과 회복 탄력성을 맹신하기 때문에</a:t>
            </a:r>
            <a:r>
              <a:rPr lang="en-US" altLang="ko-KR" dirty="0"/>
              <a:t>, </a:t>
            </a:r>
            <a:r>
              <a:rPr lang="ko-KR" altLang="en-US" dirty="0"/>
              <a:t>주관적 공포나 사회적 </a:t>
            </a:r>
            <a:r>
              <a:rPr lang="ko-KR" altLang="en-US" dirty="0" err="1"/>
              <a:t>패닉에</a:t>
            </a:r>
            <a:r>
              <a:rPr lang="ko-KR" altLang="en-US" dirty="0"/>
              <a:t> 휘둘리지 않고</a:t>
            </a:r>
            <a:r>
              <a:rPr lang="en-US" altLang="ko-KR" dirty="0"/>
              <a:t>, ‘</a:t>
            </a:r>
            <a:r>
              <a:rPr lang="ko-KR" altLang="en-US" dirty="0"/>
              <a:t>실제 발생하는 팩트 기반의 물리적 </a:t>
            </a:r>
            <a:r>
              <a:rPr lang="ko-KR" altLang="en-US" dirty="0" err="1"/>
              <a:t>피해량</a:t>
            </a:r>
            <a:r>
              <a:rPr lang="en-US" altLang="ko-KR" dirty="0"/>
              <a:t>(Severity)’</a:t>
            </a:r>
            <a:r>
              <a:rPr lang="ko-KR" altLang="en-US" dirty="0"/>
              <a:t>만을 통계적으로 계산하여 위험을 평가하는 모습을 보여주는데</a:t>
            </a:r>
            <a:r>
              <a:rPr lang="en-US" altLang="ko-KR" dirty="0"/>
              <a:t>, Grok</a:t>
            </a:r>
            <a:r>
              <a:rPr lang="ko-KR" altLang="en-US" dirty="0"/>
              <a:t>이 이러한 개인주의적 합리성을 그대로 모방하고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20D2A7-BAC2-9A47-A368-AE7B51CCA96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20AE9B-185E-555D-0336-20CD3EFF71B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4212729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5506-0F2F-CB08-AED5-831AAE5CE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FA5703-2912-3F69-9724-4161D3838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8B9244-18F9-C534-E98C-21AC5492626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위계주의 </a:t>
            </a:r>
            <a:r>
              <a:rPr lang="en-US" altLang="ko-KR" b="1" dirty="0"/>
              <a:t>(Anthropic</a:t>
            </a:r>
            <a:r>
              <a:rPr lang="ko-KR" altLang="en-US" b="1" dirty="0"/>
              <a:t>사 </a:t>
            </a:r>
            <a:r>
              <a:rPr lang="en-US" altLang="ko-KR" b="1" dirty="0"/>
              <a:t>Claude)</a:t>
            </a:r>
          </a:p>
          <a:p>
            <a:r>
              <a:rPr lang="en-US" altLang="ko-KR" dirty="0"/>
              <a:t>Claude</a:t>
            </a:r>
            <a:r>
              <a:rPr lang="ko-KR" altLang="en-US" dirty="0"/>
              <a:t>는 </a:t>
            </a:r>
            <a:r>
              <a:rPr lang="en-US" altLang="ko-KR" dirty="0"/>
              <a:t>‘</a:t>
            </a:r>
            <a:r>
              <a:rPr lang="ko-KR" altLang="en-US" dirty="0"/>
              <a:t>과학자의 지식 부족</a:t>
            </a:r>
            <a:r>
              <a:rPr lang="en-US" altLang="ko-KR" dirty="0"/>
              <a:t>(Lack of knowledge – Scientists)’ </a:t>
            </a:r>
            <a:r>
              <a:rPr lang="ko-KR" altLang="en-US" dirty="0"/>
              <a:t>평균 점수가 </a:t>
            </a:r>
            <a:r>
              <a:rPr lang="en-US" altLang="ko-KR" dirty="0"/>
              <a:t>1.23</a:t>
            </a:r>
            <a:r>
              <a:rPr lang="ko-KR" altLang="en-US" dirty="0"/>
              <a:t>으로</a:t>
            </a:r>
            <a:r>
              <a:rPr lang="en-US" altLang="ko-KR" dirty="0"/>
              <a:t> </a:t>
            </a:r>
            <a:r>
              <a:rPr lang="ko-KR" altLang="en-US" dirty="0"/>
              <a:t>모든 모델 중 가장 낮았다</a:t>
            </a:r>
            <a:r>
              <a:rPr lang="en-US" altLang="ko-KR" dirty="0"/>
              <a:t>. </a:t>
            </a:r>
            <a:r>
              <a:rPr lang="ko-KR" altLang="en-US" dirty="0"/>
              <a:t>이는 전문가들이 위험을 잘 통제하고 있다고 굳게 믿는 위계주의 원형에 부합한다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</a:t>
            </a:r>
            <a:r>
              <a:rPr lang="en-US" altLang="ko-KR" dirty="0"/>
              <a:t>, </a:t>
            </a:r>
            <a:r>
              <a:rPr lang="ko-KR" altLang="en-US" dirty="0"/>
              <a:t>위험성을 판단할 때는 공포</a:t>
            </a:r>
            <a:r>
              <a:rPr lang="en-US" altLang="ko-KR" dirty="0"/>
              <a:t>(Dread), </a:t>
            </a:r>
            <a:r>
              <a:rPr lang="ko-KR" altLang="en-US" dirty="0"/>
              <a:t>지연효과</a:t>
            </a:r>
            <a:r>
              <a:rPr lang="en-US" altLang="ko-KR" dirty="0"/>
              <a:t>(Delayed effects), </a:t>
            </a:r>
            <a:r>
              <a:rPr lang="ko-KR" altLang="en-US" dirty="0"/>
              <a:t>불공정성</a:t>
            </a:r>
            <a:r>
              <a:rPr lang="en-US" altLang="ko-KR" dirty="0"/>
              <a:t>(Unfairness)</a:t>
            </a:r>
            <a:r>
              <a:rPr lang="ko-KR" altLang="en-US" dirty="0"/>
              <a:t>이 매우 강력한 상관관계를 보였다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위계주의는 하향식 통제와 전문가주의를 지향하고</a:t>
            </a:r>
            <a:r>
              <a:rPr lang="en-US" altLang="ko-KR" dirty="0"/>
              <a:t>, </a:t>
            </a:r>
            <a:r>
              <a:rPr lang="ko-KR" altLang="en-US" dirty="0"/>
              <a:t>이들이 가장 두려워하는 것은 엘리트 시스템으로 즉각적인 통제가 불가능한 </a:t>
            </a:r>
            <a:r>
              <a:rPr lang="en-US" altLang="ko-KR" dirty="0"/>
              <a:t>‘</a:t>
            </a:r>
            <a:r>
              <a:rPr lang="ko-KR" altLang="en-US" dirty="0"/>
              <a:t>지연된 위험</a:t>
            </a:r>
            <a:r>
              <a:rPr lang="en-US" altLang="ko-KR" dirty="0"/>
              <a:t>‘</a:t>
            </a:r>
            <a:r>
              <a:rPr lang="ko-KR" altLang="en-US" dirty="0"/>
              <a:t>과 사회 질서를 붕괴시키는 대중적 패닉</a:t>
            </a:r>
            <a:r>
              <a:rPr lang="en-US" altLang="ko-KR" dirty="0"/>
              <a:t>/</a:t>
            </a:r>
            <a:r>
              <a:rPr lang="ko-KR" altLang="en-US" dirty="0"/>
              <a:t>공포이다</a:t>
            </a:r>
            <a:r>
              <a:rPr lang="en-US" altLang="ko-KR" dirty="0"/>
              <a:t>. </a:t>
            </a:r>
            <a:r>
              <a:rPr lang="ko-KR" altLang="en-US" dirty="0"/>
              <a:t>물리적 피해</a:t>
            </a:r>
            <a:r>
              <a:rPr lang="en-US" altLang="ko-KR" dirty="0"/>
              <a:t>(Severity) </a:t>
            </a:r>
            <a:r>
              <a:rPr lang="ko-KR" altLang="en-US" dirty="0"/>
              <a:t>자체보다 사회 시스템적 교란을 위험으로 정의하는 위계주의 원형의 양상을 그대로 재현한다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13292D-3316-58BF-6243-38FB55AA3C69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6A4C8F-76E7-7728-8A32-D166A8C5F0F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791800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303E-1E0B-9EBC-2950-917B5B56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C6BACF-5963-3261-C900-5465858C2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3661D6-948A-416F-E957-13AF58DB09F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평등주의 </a:t>
            </a:r>
            <a:r>
              <a:rPr lang="en-US" altLang="ko-KR" b="1" dirty="0"/>
              <a:t>(</a:t>
            </a:r>
            <a:r>
              <a:rPr lang="ko-KR" altLang="en-US" b="1" dirty="0"/>
              <a:t>그 외 모델</a:t>
            </a:r>
            <a:r>
              <a:rPr lang="en-US" altLang="ko-KR" b="1" dirty="0"/>
              <a:t>)</a:t>
            </a:r>
          </a:p>
          <a:p>
            <a:r>
              <a:rPr lang="ko-KR" altLang="en-US" dirty="0"/>
              <a:t>평등주의 모델들은 전문가 통제에 대한 회의감</a:t>
            </a:r>
            <a:r>
              <a:rPr lang="en-US" altLang="ko-KR" dirty="0"/>
              <a:t>(‘</a:t>
            </a:r>
            <a:r>
              <a:rPr lang="ko-KR" altLang="en-US" dirty="0"/>
              <a:t>과학자의 지식 부족</a:t>
            </a:r>
            <a:r>
              <a:rPr lang="en-US" altLang="ko-KR" dirty="0"/>
              <a:t>’</a:t>
            </a:r>
            <a:r>
              <a:rPr lang="ko-KR" altLang="en-US" dirty="0"/>
              <a:t>이 </a:t>
            </a:r>
            <a:r>
              <a:rPr lang="en-US" altLang="ko-KR" dirty="0"/>
              <a:t>2.00</a:t>
            </a:r>
            <a:r>
              <a:rPr lang="ko-KR" altLang="en-US" dirty="0"/>
              <a:t>으로 최고치</a:t>
            </a:r>
            <a:r>
              <a:rPr lang="en-US" altLang="ko-KR" dirty="0"/>
              <a:t>)</a:t>
            </a:r>
            <a:r>
              <a:rPr lang="ko-KR" altLang="en-US" dirty="0"/>
              <a:t>을 보였으며</a:t>
            </a:r>
            <a:r>
              <a:rPr lang="en-US" altLang="ko-KR" dirty="0"/>
              <a:t>, </a:t>
            </a:r>
            <a:r>
              <a:rPr lang="ko-KR" altLang="en-US" dirty="0"/>
              <a:t>위험을 판단할 때 </a:t>
            </a:r>
            <a:r>
              <a:rPr lang="ko-KR" altLang="en-US" dirty="0" err="1"/>
              <a:t>치명성</a:t>
            </a:r>
            <a:r>
              <a:rPr lang="en-US" altLang="ko-KR" dirty="0"/>
              <a:t>(Severity), </a:t>
            </a:r>
            <a:r>
              <a:rPr lang="ko-KR" altLang="en-US" dirty="0"/>
              <a:t>미래 세대 위협</a:t>
            </a:r>
            <a:r>
              <a:rPr lang="en-US" altLang="ko-KR" dirty="0"/>
              <a:t>(Harm to future generation), </a:t>
            </a:r>
            <a:r>
              <a:rPr lang="ko-KR" altLang="en-US" dirty="0"/>
              <a:t>공포</a:t>
            </a:r>
            <a:r>
              <a:rPr lang="en-US" altLang="ko-KR" dirty="0"/>
              <a:t>(Dread), </a:t>
            </a:r>
            <a:r>
              <a:rPr lang="ko-KR" altLang="en-US" dirty="0"/>
              <a:t>불공정성</a:t>
            </a:r>
            <a:r>
              <a:rPr lang="en-US" altLang="ko-KR" dirty="0"/>
              <a:t>(Unfairness)</a:t>
            </a:r>
            <a:r>
              <a:rPr lang="ko-KR" altLang="en-US" dirty="0"/>
              <a:t>등 다양한 도덕적</a:t>
            </a:r>
            <a:r>
              <a:rPr lang="en-US" altLang="ko-KR" dirty="0"/>
              <a:t>/</a:t>
            </a:r>
            <a:r>
              <a:rPr lang="ko-KR" altLang="en-US" dirty="0"/>
              <a:t>사회적 요인들을 복합적으로 고려하였다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평등주의 원형은 거대 권력</a:t>
            </a:r>
            <a:r>
              <a:rPr lang="en-US" altLang="ko-KR" dirty="0"/>
              <a:t>(</a:t>
            </a:r>
            <a:r>
              <a:rPr lang="ko-KR" altLang="en-US" dirty="0"/>
              <a:t>자본</a:t>
            </a:r>
            <a:r>
              <a:rPr lang="en-US" altLang="ko-KR" dirty="0"/>
              <a:t>/</a:t>
            </a:r>
            <a:r>
              <a:rPr lang="ko-KR" altLang="en-US" dirty="0"/>
              <a:t>기술 관료</a:t>
            </a:r>
            <a:r>
              <a:rPr lang="en-US" altLang="ko-KR" dirty="0"/>
              <a:t>)</a:t>
            </a:r>
            <a:r>
              <a:rPr lang="ko-KR" altLang="en-US" dirty="0"/>
              <a:t>에 의한 불공정한 위험 분배를 가장 경계한다</a:t>
            </a:r>
            <a:r>
              <a:rPr lang="en-US" altLang="ko-KR" dirty="0"/>
              <a:t>. </a:t>
            </a:r>
            <a:r>
              <a:rPr lang="ko-KR" altLang="en-US" dirty="0"/>
              <a:t>따라서 자연</a:t>
            </a:r>
            <a:r>
              <a:rPr lang="en-US" altLang="ko-KR" dirty="0"/>
              <a:t>(</a:t>
            </a:r>
            <a:r>
              <a:rPr lang="ko-KR" altLang="en-US" dirty="0"/>
              <a:t>미래 세대</a:t>
            </a:r>
            <a:r>
              <a:rPr lang="en-US" altLang="ko-KR" dirty="0"/>
              <a:t>)</a:t>
            </a:r>
            <a:r>
              <a:rPr lang="ko-KR" altLang="en-US" dirty="0"/>
              <a:t>에 대한 위협이나</a:t>
            </a:r>
            <a:r>
              <a:rPr lang="en-US" altLang="ko-KR" dirty="0"/>
              <a:t>, </a:t>
            </a:r>
            <a:r>
              <a:rPr lang="ko-KR" altLang="en-US" dirty="0"/>
              <a:t>거대 자본이 야기하는 불공정성</a:t>
            </a:r>
            <a:r>
              <a:rPr lang="en-US" altLang="ko-KR" dirty="0"/>
              <a:t>(Unfairness) </a:t>
            </a:r>
            <a:r>
              <a:rPr lang="ko-KR" altLang="en-US" dirty="0"/>
              <a:t>등 비가시적이고 도덕적인 </a:t>
            </a:r>
            <a:r>
              <a:rPr lang="ko-KR" altLang="en-US" dirty="0" err="1"/>
              <a:t>아웃레이지</a:t>
            </a:r>
            <a:r>
              <a:rPr lang="ko-KR" altLang="en-US" dirty="0"/>
              <a:t> 요소들을 종합하여 위험을 가장 민감하고 다차원적으로 지각하는 양상을 보인다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572BFE-52CC-EC60-5AD3-EDB29D50B775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34225-DFE4-C8DE-86E3-FF95730FC4E6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8403278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7BA4F-B25E-F598-ACDC-F1011BCB8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9D53E0-D9C5-9BBD-ACD2-46D0AF29D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EAF7A0-0261-3179-9131-439A3E1FB0E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핵심 쟁점 이슈의 문화적 원형별 비교</a:t>
            </a:r>
            <a:endParaRPr lang="en-US" altLang="ko-KR" b="1" dirty="0"/>
          </a:p>
          <a:p>
            <a:r>
              <a:rPr lang="ko-KR" altLang="en-US" dirty="0"/>
              <a:t>위험의 </a:t>
            </a:r>
            <a:r>
              <a:rPr lang="en-US" altLang="ko-KR" dirty="0"/>
              <a:t>3</a:t>
            </a:r>
            <a:r>
              <a:rPr lang="ko-KR" altLang="en-US" dirty="0"/>
              <a:t>대 범주를 대표하는 이슈들 위주로 문화적 원형별 판단의 차이를 비교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09C335-7044-3758-4A5E-CDC88101A14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0433E8-C08C-5A43-D259-435F4113819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C4F4032-AD3C-0E1A-3B3E-B059610FB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57" y="2546482"/>
            <a:ext cx="7294075" cy="3647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8215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A94CC-6399-06BF-DBF6-B4CEA330E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06B163-254E-4CB9-3B08-03490B494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F01D57-C88E-1E8E-360E-E04C486A18A9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13</a:t>
            </a:r>
            <a:r>
              <a:rPr lang="ko-KR" altLang="en-US" b="1" dirty="0"/>
              <a:t>대 위험 이슈 </a:t>
            </a:r>
            <a:r>
              <a:rPr lang="en-US" altLang="ko-KR" b="1" dirty="0"/>
              <a:t>x </a:t>
            </a:r>
            <a:r>
              <a:rPr lang="ko-KR" altLang="en-US" b="1" dirty="0"/>
              <a:t>문화적 원형 </a:t>
            </a:r>
            <a:r>
              <a:rPr lang="ko-KR" altLang="en-US" b="1" dirty="0" err="1"/>
              <a:t>히트맵</a:t>
            </a:r>
            <a:endParaRPr lang="en-US" altLang="ko-K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2383D2-9991-0343-B98A-752FDF428457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6AF661-D80E-7271-0D74-8004FA1CC6C2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0F25B6B-FB76-99DB-DBD5-3557CC5FB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108" y="827243"/>
            <a:ext cx="6504392" cy="5203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0316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01FFA-C692-0550-21B9-5F69D1493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334709-E595-D36F-BF69-C957E761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2FF0E5-5F87-C9B7-5C4B-0CCD52FEC7D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범주 </a:t>
            </a:r>
            <a:r>
              <a:rPr lang="en-US" altLang="ko-KR" b="1" dirty="0"/>
              <a:t>A] </a:t>
            </a:r>
            <a:r>
              <a:rPr lang="ko-KR" altLang="en-US" b="1" dirty="0"/>
              <a:t>자발적</a:t>
            </a:r>
            <a:r>
              <a:rPr lang="en-US" altLang="ko-KR" b="1" dirty="0"/>
              <a:t>·</a:t>
            </a:r>
            <a:r>
              <a:rPr lang="ko-KR" altLang="en-US" b="1" dirty="0"/>
              <a:t>개인적 생활 위험 </a:t>
            </a:r>
            <a:r>
              <a:rPr lang="en-US" altLang="ko-KR" b="1" dirty="0"/>
              <a:t>(Sunbathing, Car driving, Alcoholic drinks)</a:t>
            </a:r>
          </a:p>
          <a:p>
            <a:r>
              <a:rPr lang="ko-KR" altLang="en-US" dirty="0"/>
              <a:t>개인주의</a:t>
            </a:r>
            <a:r>
              <a:rPr lang="en-US" altLang="ko-KR" dirty="0"/>
              <a:t>(Individualism)</a:t>
            </a:r>
            <a:r>
              <a:rPr lang="ko-KR" altLang="en-US" dirty="0"/>
              <a:t>는 본인의 선택에 의한 자발적 위험</a:t>
            </a:r>
            <a:r>
              <a:rPr lang="en-US" altLang="ko-KR" dirty="0"/>
              <a:t>(Involuntariness</a:t>
            </a:r>
            <a:r>
              <a:rPr lang="ko-KR" altLang="en-US" dirty="0"/>
              <a:t>가 낮은 위험</a:t>
            </a:r>
            <a:r>
              <a:rPr lang="en-US" altLang="ko-KR" dirty="0"/>
              <a:t>)</a:t>
            </a:r>
            <a:r>
              <a:rPr lang="ko-KR" altLang="en-US" dirty="0"/>
              <a:t>을 과소평가하는 경향이 있다</a:t>
            </a:r>
            <a:r>
              <a:rPr lang="en-US" altLang="ko-KR" dirty="0"/>
              <a:t>. "</a:t>
            </a:r>
            <a:r>
              <a:rPr lang="ko-KR" altLang="en-US" dirty="0"/>
              <a:t>내가 통제할 수 있다</a:t>
            </a:r>
            <a:r>
              <a:rPr lang="en-US" altLang="ko-KR" dirty="0"/>
              <a:t>"</a:t>
            </a:r>
            <a:r>
              <a:rPr lang="ko-KR" altLang="en-US" dirty="0"/>
              <a:t>고 믿기 때문이다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'</a:t>
            </a:r>
            <a:r>
              <a:rPr lang="ko-KR" altLang="en-US" dirty="0"/>
              <a:t>일광욕</a:t>
            </a:r>
            <a:r>
              <a:rPr lang="en-US" altLang="ko-KR" dirty="0"/>
              <a:t>(Sunbathing)'</a:t>
            </a:r>
            <a:r>
              <a:rPr lang="ko-KR" altLang="en-US" dirty="0"/>
              <a:t>에서 개인주의</a:t>
            </a:r>
            <a:r>
              <a:rPr lang="en-US" altLang="ko-KR" dirty="0"/>
              <a:t>(Grok)</a:t>
            </a:r>
            <a:r>
              <a:rPr lang="ko-KR" altLang="en-US" dirty="0"/>
              <a:t>와 위계주의</a:t>
            </a:r>
            <a:r>
              <a:rPr lang="en-US" altLang="ko-KR" dirty="0"/>
              <a:t>(Claude)</a:t>
            </a:r>
            <a:r>
              <a:rPr lang="ko-KR" altLang="en-US" dirty="0"/>
              <a:t>는 </a:t>
            </a:r>
            <a:r>
              <a:rPr lang="en-US" altLang="ko-KR" dirty="0"/>
              <a:t>3.0</a:t>
            </a:r>
            <a:r>
              <a:rPr lang="ko-KR" altLang="en-US" dirty="0"/>
              <a:t>의 낮은 위험성을 부여한 반면</a:t>
            </a:r>
            <a:r>
              <a:rPr lang="en-US" altLang="ko-KR" dirty="0"/>
              <a:t>, </a:t>
            </a:r>
            <a:r>
              <a:rPr lang="ko-KR" altLang="en-US" dirty="0"/>
              <a:t>평등주의 모델들은 </a:t>
            </a:r>
            <a:r>
              <a:rPr lang="en-US" altLang="ko-KR" dirty="0"/>
              <a:t>3.6</a:t>
            </a:r>
            <a:r>
              <a:rPr lang="ko-KR" altLang="en-US" dirty="0"/>
              <a:t>의 더 높은 위험성을 부여했다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6E802A-1762-665D-316A-1160D6D6A9B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E89868-A482-8F2D-75F7-46814253278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4813887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EABC7-5456-A5FE-7C4A-0C099B9B0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392D5F-34EC-87F4-E222-60CDCA643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5CB438-77D4-B36C-F353-DD69E8E02B58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범주 </a:t>
            </a:r>
            <a:r>
              <a:rPr lang="en-US" altLang="ko-KR" b="1" dirty="0"/>
              <a:t>B] </a:t>
            </a:r>
            <a:r>
              <a:rPr lang="ko-KR" altLang="en-US" b="1" dirty="0"/>
              <a:t>사회 질서 및 안보 위협 </a:t>
            </a:r>
            <a:r>
              <a:rPr lang="en-US" altLang="ko-KR" b="1" dirty="0"/>
              <a:t>(Mugging, Terrorism, War)</a:t>
            </a:r>
          </a:p>
          <a:p>
            <a:r>
              <a:rPr lang="ko-KR" altLang="en-US" dirty="0"/>
              <a:t>위계주의</a:t>
            </a:r>
            <a:r>
              <a:rPr lang="en-US" altLang="ko-KR" dirty="0"/>
              <a:t>(Hierarchy)</a:t>
            </a:r>
            <a:r>
              <a:rPr lang="ko-KR" altLang="en-US" dirty="0"/>
              <a:t>는 체제 유지와 사회 질서를 중시하므로</a:t>
            </a:r>
            <a:r>
              <a:rPr lang="en-US" altLang="ko-KR" dirty="0"/>
              <a:t>, </a:t>
            </a:r>
            <a:r>
              <a:rPr lang="ko-KR" altLang="en-US" dirty="0"/>
              <a:t>이를 파괴하는 범죄나 테러에 극도의 경계심을 보이는 특징을 가지고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실제로 위계주의에 해당하는 </a:t>
            </a:r>
            <a:r>
              <a:rPr lang="en-US" altLang="ko-KR" dirty="0"/>
              <a:t>Claude</a:t>
            </a:r>
            <a:r>
              <a:rPr lang="ko-KR" altLang="en-US" dirty="0"/>
              <a:t>는 노상강도와 전쟁에 대해 위험성</a:t>
            </a:r>
            <a:r>
              <a:rPr lang="en-US" altLang="ko-KR" dirty="0"/>
              <a:t>(Riskiness) </a:t>
            </a:r>
            <a:r>
              <a:rPr lang="ko-KR" altLang="en-US" dirty="0"/>
              <a:t>최고점인 </a:t>
            </a:r>
            <a:r>
              <a:rPr lang="en-US" altLang="ko-KR" dirty="0"/>
              <a:t>5.0</a:t>
            </a:r>
            <a:r>
              <a:rPr lang="ko-KR" altLang="en-US" dirty="0"/>
              <a:t>점을 부여하였다</a:t>
            </a:r>
            <a:r>
              <a:rPr lang="en-US" altLang="ko-KR" dirty="0"/>
              <a:t>. </a:t>
            </a:r>
            <a:r>
              <a:rPr lang="ko-KR" altLang="en-US" dirty="0"/>
              <a:t>이에 반해 평등주의 모델들은 상대적으로 노상 강도의 위험성을 낮게 평가</a:t>
            </a:r>
            <a:r>
              <a:rPr lang="en-US" altLang="ko-KR" dirty="0"/>
              <a:t>(4.6</a:t>
            </a:r>
            <a:r>
              <a:rPr lang="ko-KR" altLang="en-US" dirty="0"/>
              <a:t>점</a:t>
            </a:r>
            <a:r>
              <a:rPr lang="en-US" altLang="ko-KR" dirty="0"/>
              <a:t>)</a:t>
            </a:r>
            <a:r>
              <a:rPr lang="ko-KR" altLang="en-US" dirty="0"/>
              <a:t>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3DFDA7-E9B4-BB58-DA95-35631500AC3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2F03FE-5553-C4ED-96ED-F2ACF8894F4B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4393013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32116-19F6-96ED-B09B-B85ED40D3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FC4CEA-5504-85DA-E17E-01E6F96A5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16EA6D-1008-77EB-570F-CA4E99B73FD3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범주 </a:t>
            </a:r>
            <a:r>
              <a:rPr lang="en-US" altLang="ko-KR" b="1" dirty="0"/>
              <a:t>C] </a:t>
            </a:r>
            <a:r>
              <a:rPr lang="ko-KR" altLang="en-US" b="1" dirty="0"/>
              <a:t>거대 기술 및 환경 위험 </a:t>
            </a:r>
            <a:r>
              <a:rPr lang="en-US" altLang="ko-KR" b="1" dirty="0"/>
              <a:t>(Nuclear power, Genetic engineering, Ozone depletion)</a:t>
            </a:r>
          </a:p>
          <a:p>
            <a:r>
              <a:rPr lang="ko-KR" altLang="en-US" dirty="0"/>
              <a:t>평등주의</a:t>
            </a:r>
            <a:r>
              <a:rPr lang="en-US" altLang="ko-KR" dirty="0"/>
              <a:t>(Egalitarianism)</a:t>
            </a:r>
            <a:r>
              <a:rPr lang="ko-KR" altLang="en-US" dirty="0"/>
              <a:t>는 자연을 신성시하며 거대 자본</a:t>
            </a:r>
            <a:r>
              <a:rPr lang="en-US" altLang="ko-KR" dirty="0"/>
              <a:t>/</a:t>
            </a:r>
            <a:r>
              <a:rPr lang="ko-KR" altLang="en-US" dirty="0"/>
              <a:t>기술에 의한 인위적 환경 파괴를 극도로 두려워한다</a:t>
            </a:r>
            <a:r>
              <a:rPr lang="en-US" altLang="ko-KR" dirty="0"/>
              <a:t>.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'</a:t>
            </a:r>
            <a:r>
              <a:rPr lang="ko-KR" altLang="en-US" dirty="0">
                <a:solidFill>
                  <a:srgbClr val="FF0000"/>
                </a:solidFill>
              </a:rPr>
              <a:t>유전 공학</a:t>
            </a:r>
            <a:r>
              <a:rPr lang="en-US" altLang="ko-KR" dirty="0">
                <a:solidFill>
                  <a:srgbClr val="FF0000"/>
                </a:solidFill>
              </a:rPr>
              <a:t>(Genetic engineering)'</a:t>
            </a:r>
            <a:r>
              <a:rPr lang="ko-KR" altLang="en-US" dirty="0">
                <a:solidFill>
                  <a:srgbClr val="FF0000"/>
                </a:solidFill>
              </a:rPr>
              <a:t>과 </a:t>
            </a:r>
            <a:r>
              <a:rPr lang="en-US" altLang="ko-KR" dirty="0">
                <a:solidFill>
                  <a:srgbClr val="FF0000"/>
                </a:solidFill>
              </a:rPr>
              <a:t>'</a:t>
            </a:r>
            <a:r>
              <a:rPr lang="ko-KR" altLang="en-US" dirty="0">
                <a:solidFill>
                  <a:srgbClr val="FF0000"/>
                </a:solidFill>
              </a:rPr>
              <a:t>원자력</a:t>
            </a:r>
            <a:r>
              <a:rPr lang="en-US" altLang="ko-KR" dirty="0">
                <a:solidFill>
                  <a:srgbClr val="FF0000"/>
                </a:solidFill>
              </a:rPr>
              <a:t>(Nuclear power)'</a:t>
            </a:r>
            <a:r>
              <a:rPr lang="ko-KR" altLang="en-US" dirty="0">
                <a:solidFill>
                  <a:srgbClr val="FF0000"/>
                </a:solidFill>
              </a:rPr>
              <a:t>의 경우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인간 대상 연구에서는 평등주의가 가장 높게 나타났으나</a:t>
            </a:r>
            <a:r>
              <a:rPr lang="en-US" altLang="ko-KR" dirty="0">
                <a:solidFill>
                  <a:srgbClr val="FF0000"/>
                </a:solidFill>
              </a:rPr>
              <a:t>, AI </a:t>
            </a:r>
            <a:r>
              <a:rPr lang="ko-KR" altLang="en-US" dirty="0">
                <a:solidFill>
                  <a:srgbClr val="FF0000"/>
                </a:solidFill>
              </a:rPr>
              <a:t>대상 실험에서는 위계주의</a:t>
            </a:r>
            <a:r>
              <a:rPr lang="en-US" altLang="ko-KR" dirty="0">
                <a:solidFill>
                  <a:srgbClr val="FF0000"/>
                </a:solidFill>
              </a:rPr>
              <a:t>(Claude)</a:t>
            </a:r>
            <a:r>
              <a:rPr lang="ko-KR" altLang="en-US" dirty="0">
                <a:solidFill>
                  <a:srgbClr val="FF0000"/>
                </a:solidFill>
              </a:rPr>
              <a:t>가 가장 높은 위험성</a:t>
            </a:r>
            <a:r>
              <a:rPr lang="en-US" altLang="ko-KR" dirty="0">
                <a:solidFill>
                  <a:srgbClr val="FF0000"/>
                </a:solidFill>
              </a:rPr>
              <a:t>(4.0)</a:t>
            </a:r>
            <a:r>
              <a:rPr lang="ko-KR" altLang="en-US" dirty="0">
                <a:solidFill>
                  <a:srgbClr val="FF0000"/>
                </a:solidFill>
              </a:rPr>
              <a:t>을 부여했다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B5DC6D-89FE-571A-9527-5B92B848C4D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1F20DE-FC90-3C13-6B87-8E80729DDDC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5569809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7D745-5528-DFBA-230A-832CC2956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DA9813-0C75-48D1-607D-52FE2CEB6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B6C38E-DA81-85A6-3C40-EC6429468ED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모델들이 제시된 각 위험에 대해 어떻게 서술하는지를 비판적 담론 분석</a:t>
            </a:r>
            <a:r>
              <a:rPr lang="en-US" altLang="ko-KR" dirty="0"/>
              <a:t>(CDA)</a:t>
            </a:r>
            <a:r>
              <a:rPr lang="ko-KR" altLang="en-US" dirty="0"/>
              <a:t>를 통해 분석할 예정이다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본 연구의 </a:t>
            </a:r>
            <a:r>
              <a:rPr lang="en-US" altLang="ko-KR" dirty="0"/>
              <a:t>Study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에서 드러난 인공지능 모델의 위험 인식과 반응이</a:t>
            </a:r>
            <a:r>
              <a:rPr lang="en-US" altLang="ko-KR" dirty="0"/>
              <a:t>, </a:t>
            </a:r>
            <a:r>
              <a:rPr lang="ko-KR" altLang="en-US" dirty="0"/>
              <a:t>실제 소통에서의 결과물</a:t>
            </a:r>
            <a:r>
              <a:rPr lang="en-US" altLang="ko-KR" dirty="0"/>
              <a:t>, </a:t>
            </a:r>
            <a:r>
              <a:rPr lang="ko-KR" altLang="en-US" dirty="0"/>
              <a:t>즉 생성된 텍스트에서도 이어지는지를 보기 위함이다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7F223-8CFD-FCB8-F7FD-583ACC99634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F1BFB9-8FFA-A69B-8D46-EB0669E1D28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8432854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21450-CA39-C6C6-D82F-033B98007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61AF8-13FD-CFE1-082C-772B717DD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C4F378-71A9-A140-A8AF-E6DE761606D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다음은 현재 연구자가 예상하는 각 문화원형 별 생성된 텍스트의 </a:t>
            </a:r>
            <a:r>
              <a:rPr lang="en-US" altLang="ko-KR" dirty="0"/>
              <a:t>CDA </a:t>
            </a:r>
            <a:r>
              <a:rPr lang="ko-KR" altLang="en-US" dirty="0"/>
              <a:t>예상 </a:t>
            </a:r>
            <a:r>
              <a:rPr lang="ko-KR" altLang="en-US" dirty="0" err="1"/>
              <a:t>프레이밍</a:t>
            </a:r>
            <a:r>
              <a:rPr lang="ko-KR" altLang="en-US" dirty="0"/>
              <a:t> 및 어휘 특성이다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C891C3-D8A9-2AE0-3A61-DEF1C6F231BA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90EC99-B35D-C9BE-A4E3-16EDD93889A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EBA2A4E-3DB5-A949-A23E-A454F1B96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697" y="2927904"/>
            <a:ext cx="8821414" cy="3101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710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15C83-ED52-A8F2-5989-34842C6A4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631EB-E17A-6BF8-9254-29C0D4500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결과 및 논의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74F177-3A65-2B81-6193-FF7DAE530430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만약 </a:t>
            </a:r>
            <a:r>
              <a:rPr lang="en-US" altLang="ko-KR" dirty="0"/>
              <a:t>Study 1</a:t>
            </a:r>
            <a:r>
              <a:rPr lang="ko-KR" altLang="en-US" dirty="0"/>
              <a:t>에서 </a:t>
            </a:r>
            <a:r>
              <a:rPr lang="en-US" altLang="ko-KR" dirty="0"/>
              <a:t>‘</a:t>
            </a:r>
            <a:r>
              <a:rPr lang="ko-KR" altLang="en-US" dirty="0"/>
              <a:t>평등주의</a:t>
            </a:r>
            <a:r>
              <a:rPr lang="en-US" altLang="ko-KR" dirty="0"/>
              <a:t>‘</a:t>
            </a:r>
            <a:r>
              <a:rPr lang="ko-KR" altLang="en-US" dirty="0"/>
              <a:t>로 판별된 언어모델이 </a:t>
            </a:r>
            <a:r>
              <a:rPr lang="en-US" altLang="ko-KR" dirty="0"/>
              <a:t>‘</a:t>
            </a:r>
            <a:r>
              <a:rPr lang="ko-KR" altLang="en-US" dirty="0"/>
              <a:t>인공지능 자동화로 인한 노동 시장 붕괴 위험</a:t>
            </a:r>
            <a:r>
              <a:rPr lang="en-US" altLang="ko-KR" dirty="0"/>
              <a:t>‘</a:t>
            </a:r>
            <a:r>
              <a:rPr lang="ko-KR" altLang="en-US" dirty="0"/>
              <a:t>이라는 시나리오에 대해 텍스트를 생성할 때</a:t>
            </a:r>
            <a:r>
              <a:rPr lang="en-US" altLang="ko-KR" dirty="0"/>
              <a:t>, ‘</a:t>
            </a:r>
            <a:r>
              <a:rPr lang="ko-KR" altLang="en-US" dirty="0"/>
              <a:t>거대 자본의 탐욕</a:t>
            </a:r>
            <a:r>
              <a:rPr lang="en-US" altLang="ko-KR" dirty="0"/>
              <a:t>‘</a:t>
            </a:r>
            <a:r>
              <a:rPr lang="ko-KR" altLang="en-US" dirty="0"/>
              <a:t>이나 </a:t>
            </a:r>
            <a:r>
              <a:rPr lang="en-US" altLang="ko-KR" dirty="0"/>
              <a:t>‘</a:t>
            </a:r>
            <a:r>
              <a:rPr lang="ko-KR" altLang="en-US" dirty="0"/>
              <a:t>구조적 소외</a:t>
            </a:r>
            <a:r>
              <a:rPr lang="en-US" altLang="ko-KR" dirty="0"/>
              <a:t>‘</a:t>
            </a:r>
            <a:r>
              <a:rPr lang="ko-KR" altLang="en-US" dirty="0"/>
              <a:t>라는 어휘와 프레임을 집중적으로 또 반복적으로 동원한다면</a:t>
            </a:r>
            <a:r>
              <a:rPr lang="en-US" altLang="ko-KR" dirty="0"/>
              <a:t>, Study 1</a:t>
            </a:r>
            <a:r>
              <a:rPr lang="ko-KR" altLang="en-US" dirty="0"/>
              <a:t>에서 측정한 양적 지표와 질적 언어 생성 </a:t>
            </a:r>
            <a:r>
              <a:rPr lang="ko-KR" altLang="en-US" dirty="0" err="1"/>
              <a:t>매커니즘</a:t>
            </a:r>
            <a:r>
              <a:rPr lang="ko-KR" altLang="en-US" dirty="0"/>
              <a:t> 간의 높은 합치도를 입증하는 것이며</a:t>
            </a:r>
            <a:r>
              <a:rPr lang="en-US" altLang="ko-KR" dirty="0"/>
              <a:t>, Study 1</a:t>
            </a:r>
            <a:r>
              <a:rPr lang="ko-KR" altLang="en-US" dirty="0"/>
              <a:t>에서 제기하였던 주류 모델들의 편향성과 이로 인한 위험성이 실재하는 위험임을 드러내는 근거로 작동할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</a:t>
            </a:r>
            <a:r>
              <a:rPr lang="en-US" altLang="ko-KR" dirty="0"/>
              <a:t>, Study 2</a:t>
            </a:r>
            <a:r>
              <a:rPr lang="ko-KR" altLang="en-US" dirty="0"/>
              <a:t>에서 해당 문화적 원형과 </a:t>
            </a:r>
            <a:r>
              <a:rPr lang="ko-KR" altLang="en-US" dirty="0" err="1"/>
              <a:t>관련있는</a:t>
            </a:r>
            <a:r>
              <a:rPr lang="ko-KR" altLang="en-US" dirty="0"/>
              <a:t> </a:t>
            </a:r>
            <a:r>
              <a:rPr lang="ko-KR" altLang="en-US" dirty="0" err="1"/>
              <a:t>아웃레이지</a:t>
            </a:r>
            <a:r>
              <a:rPr lang="ko-KR" altLang="en-US" dirty="0"/>
              <a:t> 질적 요인들에 관련된 표현이 드러난다면</a:t>
            </a:r>
            <a:r>
              <a:rPr lang="en-US" altLang="ko-KR" dirty="0"/>
              <a:t>, </a:t>
            </a:r>
            <a:r>
              <a:rPr lang="ko-KR" altLang="en-US" dirty="0"/>
              <a:t>이 또한 각 단계의 </a:t>
            </a:r>
            <a:r>
              <a:rPr lang="en-US" altLang="ko-KR" dirty="0"/>
              <a:t>Study</a:t>
            </a:r>
            <a:r>
              <a:rPr lang="ko-KR" altLang="en-US" dirty="0"/>
              <a:t>들이 유기적으로 연결되어 있고</a:t>
            </a:r>
            <a:r>
              <a:rPr lang="en-US" altLang="ko-KR" dirty="0"/>
              <a:t> </a:t>
            </a:r>
            <a:r>
              <a:rPr lang="ko-KR" altLang="en-US" dirty="0"/>
              <a:t>실제로 모델의 위험 인식</a:t>
            </a:r>
            <a:r>
              <a:rPr lang="en-US" altLang="ko-KR" dirty="0"/>
              <a:t>, </a:t>
            </a:r>
            <a:r>
              <a:rPr lang="ko-KR" altLang="en-US" dirty="0"/>
              <a:t>반응</a:t>
            </a:r>
            <a:r>
              <a:rPr lang="en-US" altLang="ko-KR" dirty="0"/>
              <a:t>, </a:t>
            </a:r>
            <a:r>
              <a:rPr lang="ko-KR" altLang="en-US" dirty="0"/>
              <a:t>생성 각 단계들에 대해 유효한 알고리즘 감사 시스템을 제안했다는 기여를 하였다는 것을 혼합연구를 통해 입증하였다고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CBEE22-3DB9-5D1C-5C14-DC0B3152ACA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4D6E3D-5C46-D6D1-A833-236AC0BC86A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2466904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72A47-D215-D6D5-161F-1C267EEFA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2848082"/>
            <a:ext cx="11049000" cy="1161836"/>
          </a:xfrm>
        </p:spPr>
        <p:txBody>
          <a:bodyPr>
            <a:noAutofit/>
          </a:bodyPr>
          <a:lstStyle/>
          <a:p>
            <a:pPr algn="ctr"/>
            <a:r>
              <a:rPr lang="en-US" altLang="ko-KR" sz="9600" dirty="0"/>
              <a:t>Thank you</a:t>
            </a:r>
            <a:endParaRPr lang="ko-KR" altLang="en-US" sz="9600" dirty="0"/>
          </a:p>
        </p:txBody>
      </p:sp>
    </p:spTree>
    <p:extLst>
      <p:ext uri="{BB962C8B-B14F-4D97-AF65-F5344CB8AC3E}">
        <p14:creationId xmlns:p14="http://schemas.microsoft.com/office/powerpoint/2010/main" val="578918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24660-CF63-8DA7-2E0D-6591AEDD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95203DE-C74C-24E3-2568-20A04CAE5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References</a:t>
            </a:r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65B6E3DF-85A0-3DEB-BFCE-F4BBDE77D6E5}"/>
              </a:ext>
            </a:extLst>
          </p:cNvPr>
          <p:cNvSpPr txBox="1">
            <a:spLocks/>
          </p:cNvSpPr>
          <p:nvPr/>
        </p:nvSpPr>
        <p:spPr>
          <a:xfrm>
            <a:off x="571500" y="1298369"/>
            <a:ext cx="11049000" cy="501044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indent="-720000"/>
            <a:r>
              <a:rPr lang="en-US" altLang="ko-KR" sz="1400" dirty="0"/>
              <a:t>Bai, Y., </a:t>
            </a:r>
            <a:r>
              <a:rPr lang="en-US" altLang="ko-KR" sz="1400" dirty="0" err="1"/>
              <a:t>Kadavath</a:t>
            </a:r>
            <a:r>
              <a:rPr lang="en-US" altLang="ko-KR" sz="1400" dirty="0"/>
              <a:t>, S., Kundu, S., Askell, A., </a:t>
            </a:r>
            <a:r>
              <a:rPr lang="en-US" altLang="ko-KR" sz="1400" dirty="0" err="1"/>
              <a:t>Kernion</a:t>
            </a:r>
            <a:r>
              <a:rPr lang="en-US" altLang="ko-KR" sz="1400" dirty="0"/>
              <a:t>, J., Jones, A., Chen, A., Goldie, A., </a:t>
            </a:r>
            <a:r>
              <a:rPr lang="en-US" altLang="ko-KR" sz="1400" dirty="0" err="1"/>
              <a:t>Mirhoseini</a:t>
            </a:r>
            <a:r>
              <a:rPr lang="en-US" altLang="ko-KR" sz="1400" dirty="0"/>
              <a:t>, A., McKinnon, C., Chen, C., Olsson, C., Olah, C., Hernandez, D., Drain, D., Ganguli, D., Li, D., Tran-Johnson, E., Perez, E., … Kaplan, J. (2022). </a:t>
            </a:r>
            <a:r>
              <a:rPr lang="en-US" altLang="ko-KR" sz="1400" i="1" dirty="0"/>
              <a:t>Constitutional AI: Harmlessness from AI feedback</a:t>
            </a:r>
            <a:r>
              <a:rPr lang="en-US" altLang="ko-KR" sz="1400" dirty="0"/>
              <a:t> (arXiv:2212.08073). </a:t>
            </a:r>
            <a:r>
              <a:rPr lang="en-US" altLang="ko-KR" sz="1400" dirty="0" err="1"/>
              <a:t>arXiv</a:t>
            </a:r>
            <a:r>
              <a:rPr lang="en-US" altLang="ko-KR" sz="1400" dirty="0"/>
              <a:t>. </a:t>
            </a:r>
            <a:r>
              <a:rPr lang="en-US" altLang="ko-KR" sz="1400" dirty="0">
                <a:hlinkClick r:id="rId2"/>
              </a:rPr>
              <a:t>https://arxiv.org/abs/2212.08073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Beck, U. (1992). </a:t>
            </a:r>
            <a:r>
              <a:rPr lang="en-US" altLang="ko-KR" sz="1400" i="1" dirty="0"/>
              <a:t>Risk society: Towards a new modernity</a:t>
            </a:r>
            <a:r>
              <a:rPr lang="en-US" altLang="ko-KR" sz="1400" dirty="0"/>
              <a:t> (M. Ritter, Trans.). Sage Publications. (Original work published 1986)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Chai, S.-K., Liu, M., &amp; Kim, M.-S. (2009). Cultural comparisons of beliefs and values: Applying the grid-group approach to the World Values Survey. </a:t>
            </a:r>
            <a:r>
              <a:rPr lang="en-US" altLang="ko-KR" sz="1400" i="1" dirty="0"/>
              <a:t>Beliefs &amp; Values, 1</a:t>
            </a:r>
            <a:r>
              <a:rPr lang="en-US" altLang="ko-KR" sz="1400" dirty="0"/>
              <a:t>(2), 193–208. </a:t>
            </a:r>
            <a:r>
              <a:rPr lang="en-US" altLang="ko-KR" sz="1400" dirty="0">
                <a:hlinkClick r:id="rId3"/>
              </a:rPr>
              <a:t>https://doi.org/10.1891/1942-0617.1.2.193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Cheng, M., Durmus, E., &amp; </a:t>
            </a:r>
            <a:r>
              <a:rPr lang="en-US" altLang="ko-KR" sz="1400" dirty="0" err="1"/>
              <a:t>Jurafsky</a:t>
            </a:r>
            <a:r>
              <a:rPr lang="en-US" altLang="ko-KR" sz="1400" dirty="0"/>
              <a:t>, D. (2023). Marked personas: Using natural language prompts to measure stereotypes in language models. In </a:t>
            </a:r>
            <a:r>
              <a:rPr lang="en-US" altLang="ko-KR" sz="1400" i="1" dirty="0"/>
              <a:t>Proceedings of the 61st Annual Meeting of the Association for Computational Linguistics (Volume 1: Long Papers)</a:t>
            </a:r>
            <a:r>
              <a:rPr lang="en-US" altLang="ko-KR" sz="1400" dirty="0"/>
              <a:t> (pp. 1504–1532). Association for Computational Linguistics. </a:t>
            </a:r>
            <a:r>
              <a:rPr lang="en-US" altLang="ko-KR" sz="1400" dirty="0">
                <a:hlinkClick r:id="rId4"/>
              </a:rPr>
              <a:t>https://doi.org/10.18653/v1/2023.acl-long.84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Covello, V. T. (1983). The perception of technological risks: A literature review. </a:t>
            </a:r>
            <a:r>
              <a:rPr lang="en-US" altLang="ko-KR" sz="1400" i="1" dirty="0"/>
              <a:t>Technological Forecasting and Social Change, 23</a:t>
            </a:r>
            <a:r>
              <a:rPr lang="en-US" altLang="ko-KR" sz="1400" dirty="0"/>
              <a:t>(4), 285–297. </a:t>
            </a:r>
            <a:r>
              <a:rPr lang="en-US" altLang="ko-KR" sz="1400" dirty="0">
                <a:hlinkClick r:id="rId5"/>
              </a:rPr>
              <a:t>https://doi.org/10.1016/0040-1625(83)90032-X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Dake, K. (1991). Orienting dispositions in the perception of risk: An analysis of contemporary worldviews and cultural biases. </a:t>
            </a:r>
            <a:r>
              <a:rPr lang="en-US" altLang="ko-KR" sz="1400" i="1" dirty="0"/>
              <a:t>Journal of Cross-Cultural Psychology, 22</a:t>
            </a:r>
            <a:r>
              <a:rPr lang="en-US" altLang="ko-KR" sz="1400" dirty="0"/>
              <a:t>(1), 61–82.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Douglas, M. (1978). </a:t>
            </a:r>
            <a:r>
              <a:rPr lang="en-US" altLang="ko-KR" sz="1400" i="1" dirty="0"/>
              <a:t>Cultural bias</a:t>
            </a:r>
            <a:r>
              <a:rPr lang="en-US" altLang="ko-KR" sz="1400" dirty="0"/>
              <a:t>. Royal Anthropological Institute of Great Britain and Ireland.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Esposito, E. (2025). Beyond artificial intelligence: How algorithms communicate without understanding. </a:t>
            </a:r>
            <a:r>
              <a:rPr lang="en-US" altLang="ko-KR" sz="1400" i="1" dirty="0"/>
              <a:t>Philosophy &amp; Digitality, 2</a:t>
            </a:r>
            <a:r>
              <a:rPr lang="en-US" altLang="ko-KR" sz="1400" dirty="0"/>
              <a:t>(1), 8–16. </a:t>
            </a:r>
            <a:r>
              <a:rPr lang="en-US" altLang="ko-KR" sz="1400" dirty="0">
                <a:hlinkClick r:id="rId6"/>
              </a:rPr>
              <a:t>https://doi.org/10.18716/pd.v2i1.11657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 err="1"/>
              <a:t>Geranpayeh</a:t>
            </a:r>
            <a:r>
              <a:rPr lang="en-US" altLang="ko-KR" sz="1400" dirty="0"/>
              <a:t>, A. (2023). Leveraging computational psychometrics for language testing. </a:t>
            </a:r>
            <a:r>
              <a:rPr lang="en-US" altLang="ko-KR" sz="1400" i="1" dirty="0"/>
              <a:t>Language Teaching Research Quarterly, 37</a:t>
            </a:r>
            <a:r>
              <a:rPr lang="en-US" altLang="ko-KR" sz="1400" dirty="0"/>
              <a:t>, 204–212.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Guzman, A. L. (Ed.). (2018). </a:t>
            </a:r>
            <a:r>
              <a:rPr lang="en-US" altLang="ko-KR" sz="1400" i="1" dirty="0"/>
              <a:t>Human-machine communication: Rethinking communication, technology, and ourselves</a:t>
            </a:r>
            <a:r>
              <a:rPr lang="en-US" altLang="ko-KR" sz="1400" dirty="0"/>
              <a:t>. Peter Lang. </a:t>
            </a:r>
            <a:r>
              <a:rPr lang="en-US" altLang="ko-KR" sz="1400" dirty="0">
                <a:hlinkClick r:id="rId7"/>
              </a:rPr>
              <a:t>https://doi.org/10.3726/b14414</a:t>
            </a:r>
            <a:endParaRPr lang="en-US" altLang="ko-KR" sz="1400" dirty="0"/>
          </a:p>
          <a:p>
            <a:endParaRPr lang="en-US" altLang="ko-KR" sz="1400" dirty="0"/>
          </a:p>
          <a:p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762976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AE52B-08EB-1EAB-9C96-E1AD1ED5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D8C6EFD-4E96-989B-EF21-C65F25C57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References</a:t>
            </a:r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51F1B978-0D2B-96E3-8961-1397D6E9F2E1}"/>
              </a:ext>
            </a:extLst>
          </p:cNvPr>
          <p:cNvSpPr txBox="1">
            <a:spLocks/>
          </p:cNvSpPr>
          <p:nvPr/>
        </p:nvSpPr>
        <p:spPr>
          <a:xfrm>
            <a:off x="571500" y="1298369"/>
            <a:ext cx="11049000" cy="498339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1400" dirty="0"/>
              <a:t>Guzman, A. L., &amp; Lewis, S. C. (2020). Artificial intelligence and communication: A human–machine communication research agenda. </a:t>
            </a:r>
            <a:r>
              <a:rPr lang="en-US" altLang="ko-KR" sz="1400" i="1" dirty="0"/>
              <a:t>New Media &amp; Society, 22</a:t>
            </a:r>
            <a:r>
              <a:rPr lang="en-US" altLang="ko-KR" sz="1400" dirty="0"/>
              <a:t>(1), 70–86. </a:t>
            </a:r>
            <a:r>
              <a:rPr lang="en-US" altLang="ko-KR" sz="1400" dirty="0">
                <a:hlinkClick r:id="rId2"/>
              </a:rPr>
              <a:t>https://doi.org/10.1177/1461444819858691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Haerpfer</a:t>
            </a:r>
            <a:r>
              <a:rPr lang="en-US" altLang="ko-KR" sz="1400" dirty="0"/>
              <a:t>, C., Inglehart, R., Moreno, A., Welzel, C., Kizilova, K., Diez-Medrano, J., Lagos, M., Norris, P., </a:t>
            </a:r>
            <a:r>
              <a:rPr lang="en-US" altLang="ko-KR" sz="1400" dirty="0" err="1"/>
              <a:t>Ponarin</a:t>
            </a:r>
            <a:r>
              <a:rPr lang="en-US" altLang="ko-KR" sz="1400" dirty="0"/>
              <a:t>, E., &amp; Puranen, B. (2022). </a:t>
            </a:r>
            <a:r>
              <a:rPr lang="en-US" altLang="ko-KR" sz="1400" i="1" dirty="0"/>
              <a:t>World Values Survey Wave 7 (2017–2022) cross-national data-set</a:t>
            </a:r>
            <a:r>
              <a:rPr lang="en-US" altLang="ko-KR" sz="1400" dirty="0"/>
              <a:t> (Version 4.0.0) [Data set]. World Values Survey Association. </a:t>
            </a:r>
            <a:r>
              <a:rPr lang="en-US" altLang="ko-KR" sz="1400" dirty="0">
                <a:hlinkClick r:id="rId3"/>
              </a:rPr>
              <a:t>https://doi.org/10.14281/18241.18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Habermas, J. (1989). </a:t>
            </a:r>
            <a:r>
              <a:rPr lang="en-US" altLang="ko-KR" sz="1400" i="1" dirty="0"/>
              <a:t>The structural transformation of the public sphere: An inquiry into a category of bourgeois society</a:t>
            </a:r>
            <a:r>
              <a:rPr lang="en-US" altLang="ko-KR" sz="1400" dirty="0"/>
              <a:t> (T. Burger, Trans.). MIT Press. (Original work published 1962)</a:t>
            </a:r>
          </a:p>
          <a:p>
            <a:endParaRPr lang="en-US" altLang="ko-KR" sz="1400" dirty="0"/>
          </a:p>
          <a:p>
            <a:r>
              <a:rPr lang="en-US" altLang="ko-KR" sz="1400" dirty="0"/>
              <a:t>Jones, S. (2014). People, things, memory and human-machine communication. </a:t>
            </a:r>
            <a:r>
              <a:rPr lang="en-US" altLang="ko-KR" sz="1400" i="1" dirty="0"/>
              <a:t>International Journal of Media &amp; Cultural Politics, 10</a:t>
            </a:r>
            <a:r>
              <a:rPr lang="en-US" altLang="ko-KR" sz="1400" dirty="0"/>
              <a:t>(3), 245–258. </a:t>
            </a:r>
            <a:r>
              <a:rPr lang="en-US" altLang="ko-KR" sz="1400" dirty="0">
                <a:hlinkClick r:id="rId4"/>
              </a:rPr>
              <a:t>https://doi.org/10.1386/macp.10.3.245_1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Kahan, D., Jenkins‐Smith, H., &amp; Braman, D. (2011). Cultural cognition of scientific consensus. </a:t>
            </a:r>
            <a:r>
              <a:rPr lang="en-US" altLang="ko-KR" sz="1400" i="1" dirty="0"/>
              <a:t>Journal of Risk Research, 14</a:t>
            </a:r>
            <a:r>
              <a:rPr lang="en-US" altLang="ko-KR" sz="1400" dirty="0"/>
              <a:t>(2), 147–174. </a:t>
            </a:r>
            <a:r>
              <a:rPr lang="en-US" altLang="ko-KR" sz="1400" dirty="0">
                <a:hlinkClick r:id="rId5"/>
              </a:rPr>
              <a:t>https://doi.org/10.1080/13669877.2010.511246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Krieger, J. B., Bouder, F., </a:t>
            </a:r>
            <a:r>
              <a:rPr lang="en-US" altLang="ko-KR" sz="1400" dirty="0" err="1"/>
              <a:t>Wibral</a:t>
            </a:r>
            <a:r>
              <a:rPr lang="en-US" altLang="ko-KR" sz="1400" dirty="0"/>
              <a:t>, M., &amp; Almeida, R. J. (2025). A systematic literature review on risk perception of artificial narrow intelligence. </a:t>
            </a:r>
            <a:r>
              <a:rPr lang="en-US" altLang="ko-KR" sz="1400" i="1" dirty="0"/>
              <a:t>Journal of Risk Research, 28</a:t>
            </a:r>
            <a:r>
              <a:rPr lang="en-US" altLang="ko-KR" sz="1400" dirty="0"/>
              <a:t>(9/10), 1111–1129. </a:t>
            </a:r>
            <a:r>
              <a:rPr lang="en-US" altLang="ko-KR" sz="1400" dirty="0">
                <a:hlinkClick r:id="rId6"/>
              </a:rPr>
              <a:t>https://doi.org/10.1080/13669877.2024.2350725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Li, Y., Lin, X., Sha, Z., Jin, Z., &amp; Li, X. (2026). </a:t>
            </a:r>
            <a:r>
              <a:rPr lang="en-US" altLang="ko-KR" sz="1400" i="1" dirty="0"/>
              <a:t>AI psychometrics: Evaluating the psychological reasoning of large language models with psychometric validities</a:t>
            </a:r>
            <a:r>
              <a:rPr lang="en-US" altLang="ko-KR" sz="1400" dirty="0"/>
              <a:t>. </a:t>
            </a:r>
            <a:r>
              <a:rPr lang="en-US" altLang="ko-KR" sz="1400" dirty="0" err="1"/>
              <a:t>arXiv</a:t>
            </a:r>
            <a:r>
              <a:rPr lang="en-US" altLang="ko-KR" sz="1400" dirty="0"/>
              <a:t>. </a:t>
            </a:r>
            <a:r>
              <a:rPr lang="en-US" altLang="ko-KR" sz="1400" dirty="0">
                <a:hlinkClick r:id="rId7"/>
              </a:rPr>
              <a:t>https://arxiv.org/abs/2603.11279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Maharjan, J., Jin, R., Zhu, J., &amp; Kenne, D. (2025). Psychometric evaluation of large language model embeddings for personality trait prediction. </a:t>
            </a:r>
            <a:r>
              <a:rPr lang="en-US" altLang="ko-KR" sz="1400" i="1" dirty="0"/>
              <a:t>Journal of Medical Internet Research, 27</a:t>
            </a:r>
            <a:r>
              <a:rPr lang="en-US" altLang="ko-KR" sz="1400" dirty="0"/>
              <a:t>, e75347. </a:t>
            </a:r>
            <a:r>
              <a:rPr lang="en-US" altLang="ko-KR" sz="1400" dirty="0">
                <a:hlinkClick r:id="rId8"/>
              </a:rPr>
              <a:t>https://doi.org/10.2196/75347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Marris, C., Langford, I. H., &amp; O’Riordan, T. (1996). </a:t>
            </a:r>
            <a:r>
              <a:rPr lang="en-US" altLang="ko-KR" sz="1400" i="1" dirty="0"/>
              <a:t>Integrating sociological and psychological approaches to public perceptions of environmental risks: Detailed results from a questionnaire survey</a:t>
            </a:r>
            <a:r>
              <a:rPr lang="en-US" altLang="ko-KR" sz="1400" dirty="0"/>
              <a:t> (CSERGE Working Paper GEC 96-07). University of East Anglia.</a:t>
            </a:r>
          </a:p>
          <a:p>
            <a:endParaRPr lang="en-US" altLang="ko-KR" sz="1400" dirty="0"/>
          </a:p>
          <a:p>
            <a:r>
              <a:rPr lang="en-US" altLang="ko-KR" sz="1400" dirty="0"/>
              <a:t>Nass, C., Steuer, J., &amp; Tauber, E. R. (1994). Computers are social actors. In </a:t>
            </a:r>
            <a:r>
              <a:rPr lang="en-US" altLang="ko-KR" sz="1400" i="1" dirty="0"/>
              <a:t>Proceedings of the SIGCHI Conference on Human Factors in Computing Systems</a:t>
            </a:r>
            <a:r>
              <a:rPr lang="en-US" altLang="ko-KR" sz="1400" dirty="0"/>
              <a:t> (pp. 72–78). Association for Computing Machinery. </a:t>
            </a:r>
            <a:r>
              <a:rPr lang="en-US" altLang="ko-KR" sz="1400" dirty="0">
                <a:hlinkClick r:id="rId9"/>
              </a:rPr>
              <a:t>https://doi.org/10.1145/191666.191703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5714710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665AA-D6A8-494C-3310-9D5E55BEB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F2B9AD0-631A-748E-0C00-94F8D894D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References</a:t>
            </a:r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CB4B75FA-2647-EB22-E471-E6170F54D4F3}"/>
              </a:ext>
            </a:extLst>
          </p:cNvPr>
          <p:cNvSpPr txBox="1">
            <a:spLocks/>
          </p:cNvSpPr>
          <p:nvPr/>
        </p:nvSpPr>
        <p:spPr>
          <a:xfrm>
            <a:off x="571500" y="1298369"/>
            <a:ext cx="11049000" cy="50104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1400" dirty="0"/>
              <a:t>Reeves, B., &amp; Nass, C. (1996). </a:t>
            </a:r>
            <a:r>
              <a:rPr lang="en-US" altLang="ko-KR" sz="1400" i="1" dirty="0"/>
              <a:t>The media equation: How people treat computers, television, and new media like real people and places</a:t>
            </a:r>
            <a:r>
              <a:rPr lang="en-US" altLang="ko-KR" sz="1400" dirty="0"/>
              <a:t>. Cambridge University Press.</a:t>
            </a:r>
          </a:p>
          <a:p>
            <a:endParaRPr lang="en-US" altLang="ko-KR" sz="1400" dirty="0"/>
          </a:p>
          <a:p>
            <a:r>
              <a:rPr lang="en-US" altLang="ko-KR" sz="1400" dirty="0"/>
              <a:t>Sandman, P. M. (1988). Risk communication: Facing public outrage. </a:t>
            </a:r>
            <a:r>
              <a:rPr lang="en-US" altLang="ko-KR" sz="1400" i="1" dirty="0"/>
              <a:t>Management Communication Quarterly, 2</a:t>
            </a:r>
            <a:r>
              <a:rPr lang="en-US" altLang="ko-KR" sz="1400" dirty="0"/>
              <a:t>(2), 235–238. </a:t>
            </a:r>
            <a:r>
              <a:rPr lang="en-US" altLang="ko-KR" sz="1400" dirty="0">
                <a:hlinkClick r:id="rId2"/>
              </a:rPr>
              <a:t>https://doi.org/10.1177/0893318988002002006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Sandman, P. M. (1993). </a:t>
            </a:r>
            <a:r>
              <a:rPr lang="en-US" altLang="ko-KR" sz="1400" i="1" dirty="0"/>
              <a:t>Responding to community outrage: Strategies for effective risk communication</a:t>
            </a:r>
            <a:r>
              <a:rPr lang="en-US" altLang="ko-KR" sz="1400" dirty="0"/>
              <a:t>. American Industrial Hygiene Association.</a:t>
            </a:r>
          </a:p>
          <a:p>
            <a:r>
              <a:rPr lang="en-US" altLang="ko-KR" sz="1400" dirty="0"/>
              <a:t>Slovic, P. (1987). Perception of risk. </a:t>
            </a:r>
            <a:r>
              <a:rPr lang="en-US" altLang="ko-KR" sz="1400" i="1" dirty="0"/>
              <a:t>Science, 236</a:t>
            </a:r>
            <a:r>
              <a:rPr lang="en-US" altLang="ko-KR" sz="1400" dirty="0"/>
              <a:t>(4799), 280–285. </a:t>
            </a:r>
            <a:r>
              <a:rPr lang="en-US" altLang="ko-KR" sz="1400" dirty="0">
                <a:hlinkClick r:id="rId3"/>
              </a:rPr>
              <a:t>https://doi.org/10.1126/science.3563507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Wildavsky</a:t>
            </a:r>
            <a:r>
              <a:rPr lang="en-US" altLang="ko-KR" sz="1400" dirty="0"/>
              <a:t>, A. (1987). Choosing preferences by constructing institutions: A cultural theory of preference formation. </a:t>
            </a:r>
            <a:r>
              <a:rPr lang="en-US" altLang="ko-KR" sz="1400" i="1" dirty="0"/>
              <a:t>The American Political Science Review, 81</a:t>
            </a:r>
            <a:r>
              <a:rPr lang="en-US" altLang="ko-KR" sz="1400" dirty="0"/>
              <a:t>(1), 4–21. </a:t>
            </a:r>
            <a:r>
              <a:rPr lang="en-US" altLang="ko-KR" sz="1400" dirty="0">
                <a:hlinkClick r:id="rId4"/>
              </a:rPr>
              <a:t>https://doi.org/10.2307/1960776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Wildavsky</a:t>
            </a:r>
            <a:r>
              <a:rPr lang="en-US" altLang="ko-KR" sz="1400" dirty="0"/>
              <a:t>, A., &amp; Dake, K. (1990). Theories of risk perception: Who fears what and why? </a:t>
            </a:r>
            <a:r>
              <a:rPr lang="en-US" altLang="ko-KR" sz="1400" i="1" dirty="0"/>
              <a:t>Daedalus, 119</a:t>
            </a:r>
            <a:r>
              <a:rPr lang="en-US" altLang="ko-KR" sz="1400" dirty="0"/>
              <a:t>(4), 41–60.</a:t>
            </a:r>
          </a:p>
          <a:p>
            <a:endParaRPr lang="en-US" altLang="ko-KR" sz="1400" dirty="0"/>
          </a:p>
          <a:p>
            <a:r>
              <a:rPr lang="en-US" altLang="ko-KR" sz="1400" dirty="0"/>
              <a:t>Ye, H., Huo, T., Guo, Z., Zhang, X., Dong, H., &amp; Song, G. (2025). </a:t>
            </a:r>
            <a:r>
              <a:rPr lang="en-US" altLang="ko-KR" sz="1400" i="1" dirty="0"/>
              <a:t>Psychometrics with AI foundation models</a:t>
            </a:r>
            <a:r>
              <a:rPr lang="en-US" altLang="ko-KR" sz="1400" dirty="0"/>
              <a:t>. OSF Preprints. </a:t>
            </a:r>
            <a:r>
              <a:rPr lang="en-US" altLang="ko-KR" sz="1400" dirty="0">
                <a:hlinkClick r:id="rId5"/>
              </a:rPr>
              <a:t>https://doi.org/10.31234/osf.io/qh5e3_v1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153324782"/>
      </p:ext>
    </p:extLst>
  </p:cSld>
  <p:clrMapOvr>
    <a:masterClrMapping/>
  </p:clrMapOvr>
</p:sld>
</file>

<file path=ppt/theme/theme1.xml><?xml version="1.0" encoding="utf-8"?>
<a:theme xmlns:a="http://schemas.openxmlformats.org/drawingml/2006/main" name="AlignmentVTI">
  <a:themeElements>
    <a:clrScheme name="Alignment">
      <a:dk1>
        <a:sysClr val="windowText" lastClr="000000"/>
      </a:dk1>
      <a:lt1>
        <a:sysClr val="window" lastClr="FFFFFF"/>
      </a:lt1>
      <a:dk2>
        <a:srgbClr val="3B3D38"/>
      </a:dk2>
      <a:lt2>
        <a:srgbClr val="F7F2EE"/>
      </a:lt2>
      <a:accent1>
        <a:srgbClr val="928A63"/>
      </a:accent1>
      <a:accent2>
        <a:srgbClr val="B57B6B"/>
      </a:accent2>
      <a:accent3>
        <a:srgbClr val="9E8484"/>
      </a:accent3>
      <a:accent4>
        <a:srgbClr val="7C8A75"/>
      </a:accent4>
      <a:accent5>
        <a:srgbClr val="8C8578"/>
      </a:accent5>
      <a:accent6>
        <a:srgbClr val="A18563"/>
      </a:accent6>
      <a:hlink>
        <a:srgbClr val="B57B6B"/>
      </a:hlink>
      <a:folHlink>
        <a:srgbClr val="7C8A75"/>
      </a:folHlink>
    </a:clrScheme>
    <a:fontScheme name="Custom 1">
      <a:majorFont>
        <a:latin typeface="Bata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ignmentVTI" id="{606D7720-FAA0-4ADC-B967-3239DA8ECA1A}" vid="{10074623-6FCC-4A3C-AAA5-58644BD8FF19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1372</TotalTime>
  <Words>5582</Words>
  <Application>Microsoft Office PowerPoint</Application>
  <PresentationFormat>와이드스크린</PresentationFormat>
  <Paragraphs>403</Paragraphs>
  <Slides>44</Slides>
  <Notes>39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9" baseType="lpstr">
      <vt:lpstr>맑은 고딕</vt:lpstr>
      <vt:lpstr>Batang</vt:lpstr>
      <vt:lpstr>Arial</vt:lpstr>
      <vt:lpstr>Avenir Next LT Pro Light</vt:lpstr>
      <vt:lpstr>AlignmentVTI</vt:lpstr>
      <vt:lpstr>PowerPoint 프레젠테이션</vt:lpstr>
      <vt:lpstr>왜 지금 인공지능(AI)의 위험 인식을 연구해야 하는가?</vt:lpstr>
      <vt:lpstr>왜 지금 인공지능(AI)의 위험 인식을 연구해야 하는가?</vt:lpstr>
      <vt:lpstr>기존 연구의 한계와 인식론적 전환: 뒤집힌 프레임</vt:lpstr>
      <vt:lpstr>연구질문 및 가설</vt:lpstr>
      <vt:lpstr>연구질문 및 가설</vt:lpstr>
      <vt:lpstr>방법론적 정당화: AI에게 심리측정학을 적용할 수 있나?</vt:lpstr>
      <vt:lpstr>방법론적 정당화: AI에게 심리측정학을 적용할 수 있나?</vt:lpstr>
      <vt:lpstr>방법론적 정당화: AI에게 심리측정학을 적용할 수 있나?</vt:lpstr>
      <vt:lpstr>방법론적 세팅</vt:lpstr>
      <vt:lpstr>방법론적 세팅</vt:lpstr>
      <vt:lpstr>[Study 1] 위험 인식의 이론적 토대: Grid-Group 문화이론</vt:lpstr>
      <vt:lpstr>[Study 1] 위험 인식의 이론적 토대: Grid-Group 문화이론</vt:lpstr>
      <vt:lpstr>[Study 1] 세계가치관조사(WVS)를 활용한 조작화</vt:lpstr>
      <vt:lpstr>[Study 1] 연구 결과</vt:lpstr>
      <vt:lpstr>[Study 1] 연구 결과</vt:lpstr>
      <vt:lpstr>[Study 1] 연구 결과</vt:lpstr>
      <vt:lpstr>[Study 1] 연구 결과</vt:lpstr>
      <vt:lpstr>[Study 1] 연구 결과</vt:lpstr>
      <vt:lpstr>[Study 1] 연구 결과</vt:lpstr>
      <vt:lpstr>[Study 2] 위험에 대한 반응: 심리측정 패러다임과 아웃레이지</vt:lpstr>
      <vt:lpstr>[Study 2] 위험에 대한 반응: 심리측정 패러다임과 아웃레이지</vt:lpstr>
      <vt:lpstr>[Study 2] 연구 방법</vt:lpstr>
      <vt:lpstr>[Study 2] 연구 방법</vt:lpstr>
      <vt:lpstr>[Study 2] 연구 방법</vt:lpstr>
      <vt:lpstr>[Study 2] 연구 방법</vt:lpstr>
      <vt:lpstr>[Study 2] 연구 결과</vt:lpstr>
      <vt:lpstr>[Study 2] 연구 결과</vt:lpstr>
      <vt:lpstr>[Study 2] 연구 결과</vt:lpstr>
      <vt:lpstr>[Study 2] 논의 및 결론</vt:lpstr>
      <vt:lpstr>[Study 2] 논의 및 결론</vt:lpstr>
      <vt:lpstr>[Study 2] 논의 및 결론</vt:lpstr>
      <vt:lpstr>[Study 2] 연구 결과</vt:lpstr>
      <vt:lpstr>[Study 2] 연구 결과</vt:lpstr>
      <vt:lpstr>[Study 2] 논의 및 결론</vt:lpstr>
      <vt:lpstr>[Study 2] 논의 및 결론</vt:lpstr>
      <vt:lpstr>[Study 2] 논의 및 결론</vt:lpstr>
      <vt:lpstr>[Study 3] 연구 방법</vt:lpstr>
      <vt:lpstr>[Study 3] 연구 방법</vt:lpstr>
      <vt:lpstr>[Study 3] 연구 결과 및 논의</vt:lpstr>
      <vt:lpstr>Thank you</vt:lpstr>
      <vt:lpstr>References</vt:lpstr>
      <vt:lpstr>References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Jongbeen Song</dc:creator>
  <cp:lastModifiedBy>송종빈[ 대학원석사과정재학 / 과학기술학협동과정 ]</cp:lastModifiedBy>
  <cp:revision>15</cp:revision>
  <dcterms:created xsi:type="dcterms:W3CDTF">2026-02-13T15:35:19Z</dcterms:created>
  <dcterms:modified xsi:type="dcterms:W3CDTF">2026-05-21T12:47:27Z</dcterms:modified>
</cp:coreProperties>
</file>